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We were assigned Saini et al. (2023), a hybrid Random Forest + XGBoost model for detecting Advanced Persistent Threats. For the mid-term we implemented the complete method, moved it to a genuine APT dataset, and evaluated it critically.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has four parts. The question running through it: does the paper's hybrid model really detect APTs once it is tested on APT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combines Random Forest and XGBoost and reports 98.92% accuracy with a 0.52% false positive rate, beating 13 other models on four public datasets. Our task was to reproduce this and to check it on data that actually contains APT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APTs move through stages: reconnaissance, establishing a foothold, lateral movement and exfiltration. They are slow and designed to look normal. So to evaluate APT detection, the data must contain a real multi-stage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says APT but evaluates on general intrusion datasets: isolated DoS, brute-force, botnet and scan attacks, with no campaign and no stage labels. NSL-KDD is based on 1998 traffic. DAPT2020 was built for APT research, labels every flow with its stage, and uses the same CICFlowMeter features as CIC-IDS2017/2018, so the paper's pipeline runs on it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DAPT2020 has 86,691 labelled flows over five days. The classes are extremely imbalanced: 62,454 benign flows versus only 15 exfiltration flows. Note the log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four data problems. The most serious: one file has no header row, so a standard loader treats the first flow as the header and loses almost all Lateral Movement flows. After fixing it, our benign count matches the published count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step follows Section 3.2 and Algorithm 1 of the paper. Step 2 is highlighted because of where the paper places it, before the split; we return to that shortly. Feature selection keeps 30 features; the top one is destination port, the same as in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Algorithm 1 of the paper: RandomForestClassifier and XGBClassifier, combined by combo's SimpleClassifierAggregator with method 'average'; 100 trees, learning rate 1.0, max depth 4. Reading the library source shows that predict() averages the hard labels with a 0.5 threshold, so with two models it is an OR rule. We reproduce that exactly and also test proper probability averaging.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states that it balanced the whole dataset and then split it, so synthetic SMOTE flows created from real flows end up in the test set. Our fix changes only the order: split first, then balance the training data. Everything else is identical, so any difference is caused by the leak.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experiments: an exact replication, a corrected leakage-free version, and an extension that predicts the APT stage. Fifteen models in total: the paper's 13 baselines, the hybrid as published, and a soft-vote variant. The key models are repeated over five random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model, same pipeline. On APT traffic, accuracy falls from 98.9% to 96.4% and the false positive rate rises from 0.5% to about 6%. With the leak removed, F1 falls from 96.5% to 89.5% and precision from 94% to 83%. APT traffic is designed to look normal, so it is harder than the DoS and brute-force attacks in the paper's 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bars: the paper's protocol. Blue bars: leakage-free. Every model loses F1 on untouched real traffic. Tree ensembles are the strongest family; deep learning does not help on these tabular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claims the hybrid beats every model. Over five random splits it is statistically tied with Random Forest and XGBoost on F1. The OR rule trades false alarms for recall. Its AUC is consistently the highest, so the combined score is slightly better; it is the fixed OR decision rule that costs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possible because DAPT2020 labels stages. Reconnaissance and foothold are recognised almost perfectly, lateral movement at 90%. Exfiltration is the weak point: only 15 flows exist in the whole dataset and 5 in the test set, too few to learn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 sources. False alarms: over half involve the attacker's hosts but are labelled benign, pointing to labelling gaps in DAPT2020; on clearly benign traffic the FPR is about 3%. Misses: high-volume activities like scans and brute force are almost always caught; the rare, stealthy steps such as SQL injection, command injection, privilege escalation and CSRF are missed far more often. Those are exactly the APT-like behaviours.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findings. The most important for the evaluation: we implemented the method faithfully, tested it on a real APT dataset, and found a flaw in the paper's protocol that inflates its reported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plan for the second half. The time-based evaluation matters most: our random split lets flows from the same attack session appear in both train and test, so results are still somewhat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1.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526"/>
        </a:solidFill>
      </p:bgPr>
    </p:bg>
    <p:spTree>
      <p:nvGrpSpPr>
        <p:cNvPr id="1" name=""/>
        <p:cNvGrpSpPr/>
        <p:nvPr/>
      </p:nvGrpSpPr>
      <p:grpSpPr>
        <a:xfrm>
          <a:off x="0" y="0"/>
          <a:ext cx="0" cy="0"/>
          <a:chOff x="0" y="0"/>
          <a:chExt cx="0" cy="0"/>
        </a:xfrm>
      </p:grpSpPr>
      <p:sp>
        <p:nvSpPr>
          <p:cNvPr id="2" name="Shape 0"/>
          <p:cNvSpPr/>
          <p:nvPr/>
        </p:nvSpPr>
        <p:spPr>
          <a:xfrm>
            <a:off x="7205741" y="955184"/>
            <a:ext cx="748326" cy="692069"/>
          </a:xfrm>
          <a:prstGeom prst="line">
            <a:avLst/>
          </a:prstGeom>
          <a:noFill/>
          <a:ln w="9525">
            <a:solidFill>
              <a:srgbClr val="2C3E5C"/>
            </a:solidFill>
            <a:prstDash val="solid"/>
          </a:ln>
        </p:spPr>
      </p:sp>
      <p:sp>
        <p:nvSpPr>
          <p:cNvPr id="3" name="Shape 1"/>
          <p:cNvSpPr/>
          <p:nvPr/>
        </p:nvSpPr>
        <p:spPr>
          <a:xfrm flipV="1">
            <a:off x="7205741" y="907570"/>
            <a:ext cx="1053336" cy="47614"/>
          </a:xfrm>
          <a:prstGeom prst="line">
            <a:avLst/>
          </a:prstGeom>
          <a:noFill/>
          <a:ln w="9525">
            <a:solidFill>
              <a:srgbClr val="2C3E5C"/>
            </a:solidFill>
            <a:prstDash val="solid"/>
          </a:ln>
        </p:spPr>
      </p:sp>
      <p:sp>
        <p:nvSpPr>
          <p:cNvPr id="4" name="Shape 2"/>
          <p:cNvSpPr/>
          <p:nvPr/>
        </p:nvSpPr>
        <p:spPr>
          <a:xfrm flipH="1">
            <a:off x="7954066" y="907570"/>
            <a:ext cx="305010" cy="739683"/>
          </a:xfrm>
          <a:prstGeom prst="line">
            <a:avLst/>
          </a:prstGeom>
          <a:noFill/>
          <a:ln w="9525">
            <a:solidFill>
              <a:srgbClr val="2C3E5C"/>
            </a:solidFill>
            <a:prstDash val="solid"/>
          </a:ln>
        </p:spPr>
      </p:sp>
      <p:sp>
        <p:nvSpPr>
          <p:cNvPr id="5" name="Shape 3"/>
          <p:cNvSpPr/>
          <p:nvPr/>
        </p:nvSpPr>
        <p:spPr>
          <a:xfrm>
            <a:off x="8259077" y="907570"/>
            <a:ext cx="353187" cy="889203"/>
          </a:xfrm>
          <a:prstGeom prst="line">
            <a:avLst/>
          </a:prstGeom>
          <a:noFill/>
          <a:ln w="9525">
            <a:solidFill>
              <a:srgbClr val="2C3E5C"/>
            </a:solidFill>
            <a:prstDash val="solid"/>
          </a:ln>
        </p:spPr>
      </p:sp>
      <p:sp>
        <p:nvSpPr>
          <p:cNvPr id="6" name="Shape 4"/>
          <p:cNvSpPr/>
          <p:nvPr/>
        </p:nvSpPr>
        <p:spPr>
          <a:xfrm flipV="1">
            <a:off x="9772504" y="827385"/>
            <a:ext cx="996307" cy="20615"/>
          </a:xfrm>
          <a:prstGeom prst="line">
            <a:avLst/>
          </a:prstGeom>
          <a:noFill/>
          <a:ln w="9525">
            <a:solidFill>
              <a:srgbClr val="2C3E5C"/>
            </a:solidFill>
            <a:prstDash val="solid"/>
          </a:ln>
        </p:spPr>
      </p:sp>
      <p:sp>
        <p:nvSpPr>
          <p:cNvPr id="7" name="Shape 5"/>
          <p:cNvSpPr/>
          <p:nvPr/>
        </p:nvSpPr>
        <p:spPr>
          <a:xfrm flipH="1">
            <a:off x="9645554" y="848000"/>
            <a:ext cx="126950" cy="1116667"/>
          </a:xfrm>
          <a:prstGeom prst="line">
            <a:avLst/>
          </a:prstGeom>
          <a:noFill/>
          <a:ln w="9525">
            <a:solidFill>
              <a:srgbClr val="2C3E5C"/>
            </a:solidFill>
            <a:prstDash val="solid"/>
          </a:ln>
        </p:spPr>
      </p:sp>
      <p:sp>
        <p:nvSpPr>
          <p:cNvPr id="8" name="Shape 6"/>
          <p:cNvSpPr/>
          <p:nvPr/>
        </p:nvSpPr>
        <p:spPr>
          <a:xfrm>
            <a:off x="10768811" y="827385"/>
            <a:ext cx="441335" cy="602007"/>
          </a:xfrm>
          <a:prstGeom prst="line">
            <a:avLst/>
          </a:prstGeom>
          <a:noFill/>
          <a:ln w="9525">
            <a:solidFill>
              <a:srgbClr val="2C3E5C"/>
            </a:solidFill>
            <a:prstDash val="solid"/>
          </a:ln>
        </p:spPr>
      </p:sp>
      <p:sp>
        <p:nvSpPr>
          <p:cNvPr id="9" name="Shape 7"/>
          <p:cNvSpPr/>
          <p:nvPr/>
        </p:nvSpPr>
        <p:spPr>
          <a:xfrm flipV="1">
            <a:off x="10768811" y="651345"/>
            <a:ext cx="729575" cy="176040"/>
          </a:xfrm>
          <a:prstGeom prst="line">
            <a:avLst/>
          </a:prstGeom>
          <a:noFill/>
          <a:ln w="9525">
            <a:solidFill>
              <a:srgbClr val="2C3E5C"/>
            </a:solidFill>
            <a:prstDash val="solid"/>
          </a:ln>
        </p:spPr>
      </p:sp>
      <p:sp>
        <p:nvSpPr>
          <p:cNvPr id="10" name="Shape 8"/>
          <p:cNvSpPr/>
          <p:nvPr/>
        </p:nvSpPr>
        <p:spPr>
          <a:xfrm flipH="1">
            <a:off x="11210146" y="651345"/>
            <a:ext cx="288240" cy="778047"/>
          </a:xfrm>
          <a:prstGeom prst="line">
            <a:avLst/>
          </a:prstGeom>
          <a:noFill/>
          <a:ln w="9525">
            <a:solidFill>
              <a:srgbClr val="2C3E5C"/>
            </a:solidFill>
            <a:prstDash val="solid"/>
          </a:ln>
        </p:spPr>
      </p:sp>
      <p:sp>
        <p:nvSpPr>
          <p:cNvPr id="11" name="Shape 9"/>
          <p:cNvSpPr/>
          <p:nvPr/>
        </p:nvSpPr>
        <p:spPr>
          <a:xfrm>
            <a:off x="7954066" y="1647254"/>
            <a:ext cx="658197" cy="149520"/>
          </a:xfrm>
          <a:prstGeom prst="line">
            <a:avLst/>
          </a:prstGeom>
          <a:noFill/>
          <a:ln w="9525">
            <a:solidFill>
              <a:srgbClr val="2C3E5C"/>
            </a:solidFill>
            <a:prstDash val="solid"/>
          </a:ln>
        </p:spPr>
      </p:sp>
      <p:sp>
        <p:nvSpPr>
          <p:cNvPr id="12" name="Shape 10"/>
          <p:cNvSpPr/>
          <p:nvPr/>
        </p:nvSpPr>
        <p:spPr>
          <a:xfrm>
            <a:off x="8612264" y="1796773"/>
            <a:ext cx="147344" cy="819445"/>
          </a:xfrm>
          <a:prstGeom prst="line">
            <a:avLst/>
          </a:prstGeom>
          <a:noFill/>
          <a:ln w="9525">
            <a:solidFill>
              <a:srgbClr val="2C3E5C"/>
            </a:solidFill>
            <a:prstDash val="solid"/>
          </a:ln>
        </p:spPr>
      </p:sp>
      <p:sp>
        <p:nvSpPr>
          <p:cNvPr id="13" name="Shape 11"/>
          <p:cNvSpPr/>
          <p:nvPr/>
        </p:nvSpPr>
        <p:spPr>
          <a:xfrm>
            <a:off x="9645554" y="1964667"/>
            <a:ext cx="286388" cy="372897"/>
          </a:xfrm>
          <a:prstGeom prst="line">
            <a:avLst/>
          </a:prstGeom>
          <a:noFill/>
          <a:ln w="9525">
            <a:solidFill>
              <a:srgbClr val="2C3E5C"/>
            </a:solidFill>
            <a:prstDash val="solid"/>
          </a:ln>
        </p:spPr>
      </p:sp>
      <p:sp>
        <p:nvSpPr>
          <p:cNvPr id="14" name="Shape 12"/>
          <p:cNvSpPr/>
          <p:nvPr/>
        </p:nvSpPr>
        <p:spPr>
          <a:xfrm>
            <a:off x="8612264" y="1796773"/>
            <a:ext cx="1033290" cy="167894"/>
          </a:xfrm>
          <a:prstGeom prst="line">
            <a:avLst/>
          </a:prstGeom>
          <a:noFill/>
          <a:ln w="9525">
            <a:solidFill>
              <a:srgbClr val="2C3E5C"/>
            </a:solidFill>
            <a:prstDash val="solid"/>
          </a:ln>
        </p:spPr>
      </p:sp>
      <p:sp>
        <p:nvSpPr>
          <p:cNvPr id="15" name="Shape 13"/>
          <p:cNvSpPr/>
          <p:nvPr/>
        </p:nvSpPr>
        <p:spPr>
          <a:xfrm flipV="1">
            <a:off x="10718710" y="1429392"/>
            <a:ext cx="491436" cy="177545"/>
          </a:xfrm>
          <a:prstGeom prst="line">
            <a:avLst/>
          </a:prstGeom>
          <a:noFill/>
          <a:ln w="12700">
            <a:solidFill>
              <a:srgbClr val="E0533A">
                <a:alpha val="55000"/>
              </a:srgbClr>
            </a:solidFill>
            <a:prstDash val="solid"/>
          </a:ln>
        </p:spPr>
      </p:sp>
      <p:sp>
        <p:nvSpPr>
          <p:cNvPr id="16" name="Shape 14"/>
          <p:cNvSpPr/>
          <p:nvPr/>
        </p:nvSpPr>
        <p:spPr>
          <a:xfrm flipH="1">
            <a:off x="10718710" y="827385"/>
            <a:ext cx="50102" cy="779552"/>
          </a:xfrm>
          <a:prstGeom prst="line">
            <a:avLst/>
          </a:prstGeom>
          <a:noFill/>
          <a:ln w="12700">
            <a:solidFill>
              <a:srgbClr val="E0533A">
                <a:alpha val="55000"/>
              </a:srgbClr>
            </a:solidFill>
            <a:prstDash val="solid"/>
          </a:ln>
        </p:spPr>
      </p:sp>
      <p:sp>
        <p:nvSpPr>
          <p:cNvPr id="17" name="Shape 15"/>
          <p:cNvSpPr/>
          <p:nvPr/>
        </p:nvSpPr>
        <p:spPr>
          <a:xfrm flipH="1">
            <a:off x="7505966" y="1647254"/>
            <a:ext cx="448100" cy="794658"/>
          </a:xfrm>
          <a:prstGeom prst="line">
            <a:avLst/>
          </a:prstGeom>
          <a:noFill/>
          <a:ln w="9525">
            <a:solidFill>
              <a:srgbClr val="2C3E5C"/>
            </a:solidFill>
            <a:prstDash val="solid"/>
          </a:ln>
        </p:spPr>
      </p:sp>
      <p:sp>
        <p:nvSpPr>
          <p:cNvPr id="18" name="Shape 16"/>
          <p:cNvSpPr/>
          <p:nvPr/>
        </p:nvSpPr>
        <p:spPr>
          <a:xfrm>
            <a:off x="7505966" y="2441912"/>
            <a:ext cx="516056" cy="1004824"/>
          </a:xfrm>
          <a:prstGeom prst="line">
            <a:avLst/>
          </a:prstGeom>
          <a:noFill/>
          <a:ln w="9525">
            <a:solidFill>
              <a:srgbClr val="2C3E5C"/>
            </a:solidFill>
            <a:prstDash val="solid"/>
          </a:ln>
        </p:spPr>
      </p:sp>
      <p:sp>
        <p:nvSpPr>
          <p:cNvPr id="19" name="Shape 17"/>
          <p:cNvSpPr/>
          <p:nvPr/>
        </p:nvSpPr>
        <p:spPr>
          <a:xfrm>
            <a:off x="8759608" y="2616218"/>
            <a:ext cx="103799" cy="971881"/>
          </a:xfrm>
          <a:prstGeom prst="line">
            <a:avLst/>
          </a:prstGeom>
          <a:noFill/>
          <a:ln w="9525">
            <a:solidFill>
              <a:srgbClr val="2C3E5C"/>
            </a:solidFill>
            <a:prstDash val="solid"/>
          </a:ln>
        </p:spPr>
      </p:sp>
      <p:sp>
        <p:nvSpPr>
          <p:cNvPr id="20" name="Shape 18"/>
          <p:cNvSpPr/>
          <p:nvPr/>
        </p:nvSpPr>
        <p:spPr>
          <a:xfrm>
            <a:off x="9931942" y="2337564"/>
            <a:ext cx="821290" cy="164037"/>
          </a:xfrm>
          <a:prstGeom prst="line">
            <a:avLst/>
          </a:prstGeom>
          <a:noFill/>
          <a:ln w="9525">
            <a:solidFill>
              <a:srgbClr val="2C3E5C"/>
            </a:solidFill>
            <a:prstDash val="solid"/>
          </a:ln>
        </p:spPr>
      </p:sp>
      <p:sp>
        <p:nvSpPr>
          <p:cNvPr id="21" name="Shape 19"/>
          <p:cNvSpPr/>
          <p:nvPr/>
        </p:nvSpPr>
        <p:spPr>
          <a:xfrm>
            <a:off x="10718710" y="1606937"/>
            <a:ext cx="34522" cy="894663"/>
          </a:xfrm>
          <a:prstGeom prst="line">
            <a:avLst/>
          </a:prstGeom>
          <a:noFill/>
          <a:ln w="12700">
            <a:solidFill>
              <a:srgbClr val="E0533A">
                <a:alpha val="55000"/>
              </a:srgbClr>
            </a:solidFill>
            <a:prstDash val="solid"/>
          </a:ln>
        </p:spPr>
      </p:sp>
      <p:sp>
        <p:nvSpPr>
          <p:cNvPr id="22" name="Shape 20"/>
          <p:cNvSpPr/>
          <p:nvPr/>
        </p:nvSpPr>
        <p:spPr>
          <a:xfrm>
            <a:off x="8022022" y="3446736"/>
            <a:ext cx="841385" cy="141363"/>
          </a:xfrm>
          <a:prstGeom prst="line">
            <a:avLst/>
          </a:prstGeom>
          <a:noFill/>
          <a:ln w="9525">
            <a:solidFill>
              <a:srgbClr val="2C3E5C"/>
            </a:solidFill>
            <a:prstDash val="solid"/>
          </a:ln>
        </p:spPr>
      </p:sp>
      <p:sp>
        <p:nvSpPr>
          <p:cNvPr id="23" name="Shape 21"/>
          <p:cNvSpPr/>
          <p:nvPr/>
        </p:nvSpPr>
        <p:spPr>
          <a:xfrm flipH="1">
            <a:off x="7969833" y="3446736"/>
            <a:ext cx="52189" cy="1007594"/>
          </a:xfrm>
          <a:prstGeom prst="line">
            <a:avLst/>
          </a:prstGeom>
          <a:noFill/>
          <a:ln w="9525">
            <a:solidFill>
              <a:srgbClr val="2C3E5C"/>
            </a:solidFill>
            <a:prstDash val="solid"/>
          </a:ln>
        </p:spPr>
      </p:sp>
      <p:sp>
        <p:nvSpPr>
          <p:cNvPr id="24" name="Shape 22"/>
          <p:cNvSpPr/>
          <p:nvPr/>
        </p:nvSpPr>
        <p:spPr>
          <a:xfrm>
            <a:off x="8863407" y="3588099"/>
            <a:ext cx="35397" cy="586619"/>
          </a:xfrm>
          <a:prstGeom prst="line">
            <a:avLst/>
          </a:prstGeom>
          <a:noFill/>
          <a:ln w="9525">
            <a:solidFill>
              <a:srgbClr val="2C3E5C"/>
            </a:solidFill>
            <a:prstDash val="solid"/>
          </a:ln>
        </p:spPr>
      </p:sp>
      <p:sp>
        <p:nvSpPr>
          <p:cNvPr id="25" name="Shape 23"/>
          <p:cNvSpPr/>
          <p:nvPr/>
        </p:nvSpPr>
        <p:spPr>
          <a:xfrm>
            <a:off x="8863407" y="3588099"/>
            <a:ext cx="608979" cy="430898"/>
          </a:xfrm>
          <a:prstGeom prst="line">
            <a:avLst/>
          </a:prstGeom>
          <a:noFill/>
          <a:ln w="9525">
            <a:solidFill>
              <a:srgbClr val="2C3E5C"/>
            </a:solidFill>
            <a:prstDash val="solid"/>
          </a:ln>
        </p:spPr>
      </p:sp>
      <p:sp>
        <p:nvSpPr>
          <p:cNvPr id="26" name="Shape 24"/>
          <p:cNvSpPr/>
          <p:nvPr/>
        </p:nvSpPr>
        <p:spPr>
          <a:xfrm>
            <a:off x="10233423" y="3391327"/>
            <a:ext cx="387941" cy="632359"/>
          </a:xfrm>
          <a:prstGeom prst="line">
            <a:avLst/>
          </a:prstGeom>
          <a:noFill/>
          <a:ln w="9525">
            <a:solidFill>
              <a:srgbClr val="2C3E5C"/>
            </a:solidFill>
            <a:prstDash val="solid"/>
          </a:ln>
        </p:spPr>
      </p:sp>
      <p:sp>
        <p:nvSpPr>
          <p:cNvPr id="27" name="Shape 25"/>
          <p:cNvSpPr/>
          <p:nvPr/>
        </p:nvSpPr>
        <p:spPr>
          <a:xfrm flipH="1">
            <a:off x="9472386" y="3391327"/>
            <a:ext cx="761038" cy="627670"/>
          </a:xfrm>
          <a:prstGeom prst="line">
            <a:avLst/>
          </a:prstGeom>
          <a:noFill/>
          <a:ln w="9525">
            <a:solidFill>
              <a:srgbClr val="2C3E5C"/>
            </a:solidFill>
            <a:prstDash val="solid"/>
          </a:ln>
        </p:spPr>
      </p:sp>
      <p:sp>
        <p:nvSpPr>
          <p:cNvPr id="28" name="Shape 26"/>
          <p:cNvSpPr/>
          <p:nvPr/>
        </p:nvSpPr>
        <p:spPr>
          <a:xfrm flipH="1">
            <a:off x="10621365" y="3380222"/>
            <a:ext cx="1080097" cy="643463"/>
          </a:xfrm>
          <a:prstGeom prst="line">
            <a:avLst/>
          </a:prstGeom>
          <a:noFill/>
          <a:ln w="9525">
            <a:solidFill>
              <a:srgbClr val="2C3E5C"/>
            </a:solidFill>
            <a:prstDash val="solid"/>
          </a:ln>
        </p:spPr>
      </p:sp>
      <p:sp>
        <p:nvSpPr>
          <p:cNvPr id="29" name="Shape 27"/>
          <p:cNvSpPr/>
          <p:nvPr/>
        </p:nvSpPr>
        <p:spPr>
          <a:xfrm flipH="1">
            <a:off x="11294596" y="3380222"/>
            <a:ext cx="406865" cy="1194910"/>
          </a:xfrm>
          <a:prstGeom prst="line">
            <a:avLst/>
          </a:prstGeom>
          <a:noFill/>
          <a:ln w="12700">
            <a:solidFill>
              <a:srgbClr val="E0533A">
                <a:alpha val="55000"/>
              </a:srgbClr>
            </a:solidFill>
            <a:prstDash val="solid"/>
          </a:ln>
        </p:spPr>
      </p:sp>
      <p:sp>
        <p:nvSpPr>
          <p:cNvPr id="30" name="Shape 28"/>
          <p:cNvSpPr/>
          <p:nvPr/>
        </p:nvSpPr>
        <p:spPr>
          <a:xfrm>
            <a:off x="7087029" y="3971246"/>
            <a:ext cx="882804" cy="483084"/>
          </a:xfrm>
          <a:prstGeom prst="line">
            <a:avLst/>
          </a:prstGeom>
          <a:noFill/>
          <a:ln w="9525">
            <a:solidFill>
              <a:srgbClr val="2C3E5C"/>
            </a:solidFill>
            <a:prstDash val="solid"/>
          </a:ln>
        </p:spPr>
      </p:sp>
      <p:sp>
        <p:nvSpPr>
          <p:cNvPr id="31" name="Shape 29"/>
          <p:cNvSpPr/>
          <p:nvPr/>
        </p:nvSpPr>
        <p:spPr>
          <a:xfrm flipH="1">
            <a:off x="7087029" y="3446736"/>
            <a:ext cx="934993" cy="524510"/>
          </a:xfrm>
          <a:prstGeom prst="line">
            <a:avLst/>
          </a:prstGeom>
          <a:noFill/>
          <a:ln w="9525">
            <a:solidFill>
              <a:srgbClr val="2C3E5C"/>
            </a:solidFill>
            <a:prstDash val="solid"/>
          </a:ln>
        </p:spPr>
      </p:sp>
      <p:sp>
        <p:nvSpPr>
          <p:cNvPr id="32" name="Shape 30"/>
          <p:cNvSpPr/>
          <p:nvPr/>
        </p:nvSpPr>
        <p:spPr>
          <a:xfrm>
            <a:off x="7969833" y="4454330"/>
            <a:ext cx="112471" cy="628593"/>
          </a:xfrm>
          <a:prstGeom prst="line">
            <a:avLst/>
          </a:prstGeom>
          <a:noFill/>
          <a:ln w="9525">
            <a:solidFill>
              <a:srgbClr val="2C3E5C"/>
            </a:solidFill>
            <a:prstDash val="solid"/>
          </a:ln>
        </p:spPr>
      </p:sp>
      <p:sp>
        <p:nvSpPr>
          <p:cNvPr id="33" name="Shape 31"/>
          <p:cNvSpPr/>
          <p:nvPr/>
        </p:nvSpPr>
        <p:spPr>
          <a:xfrm flipH="1">
            <a:off x="7272762" y="4454330"/>
            <a:ext cx="697071" cy="612303"/>
          </a:xfrm>
          <a:prstGeom prst="line">
            <a:avLst/>
          </a:prstGeom>
          <a:noFill/>
          <a:ln w="9525">
            <a:solidFill>
              <a:srgbClr val="2C3E5C"/>
            </a:solidFill>
            <a:prstDash val="solid"/>
          </a:ln>
        </p:spPr>
      </p:sp>
      <p:sp>
        <p:nvSpPr>
          <p:cNvPr id="34" name="Shape 32"/>
          <p:cNvSpPr/>
          <p:nvPr/>
        </p:nvSpPr>
        <p:spPr>
          <a:xfrm flipV="1">
            <a:off x="8898804" y="4018997"/>
            <a:ext cx="573582" cy="155721"/>
          </a:xfrm>
          <a:prstGeom prst="line">
            <a:avLst/>
          </a:prstGeom>
          <a:noFill/>
          <a:ln w="9525">
            <a:solidFill>
              <a:srgbClr val="2C3E5C"/>
            </a:solidFill>
            <a:prstDash val="solid"/>
          </a:ln>
        </p:spPr>
      </p:sp>
      <p:sp>
        <p:nvSpPr>
          <p:cNvPr id="35" name="Shape 33"/>
          <p:cNvSpPr/>
          <p:nvPr/>
        </p:nvSpPr>
        <p:spPr>
          <a:xfrm>
            <a:off x="10621365" y="4023686"/>
            <a:ext cx="673232" cy="551447"/>
          </a:xfrm>
          <a:prstGeom prst="line">
            <a:avLst/>
          </a:prstGeom>
          <a:noFill/>
          <a:ln w="12700">
            <a:solidFill>
              <a:srgbClr val="E0533A">
                <a:alpha val="55000"/>
              </a:srgbClr>
            </a:solidFill>
            <a:prstDash val="solid"/>
          </a:ln>
        </p:spPr>
      </p:sp>
      <p:sp>
        <p:nvSpPr>
          <p:cNvPr id="36" name="Shape 34"/>
          <p:cNvSpPr/>
          <p:nvPr/>
        </p:nvSpPr>
        <p:spPr>
          <a:xfrm>
            <a:off x="7272762" y="5066632"/>
            <a:ext cx="809543" cy="16291"/>
          </a:xfrm>
          <a:prstGeom prst="line">
            <a:avLst/>
          </a:prstGeom>
          <a:noFill/>
          <a:ln w="9525">
            <a:solidFill>
              <a:srgbClr val="2C3E5C"/>
            </a:solidFill>
            <a:prstDash val="solid"/>
          </a:ln>
        </p:spPr>
      </p:sp>
      <p:sp>
        <p:nvSpPr>
          <p:cNvPr id="37" name="Shape 35"/>
          <p:cNvSpPr/>
          <p:nvPr/>
        </p:nvSpPr>
        <p:spPr>
          <a:xfrm flipH="1">
            <a:off x="7215511" y="5066632"/>
            <a:ext cx="57251" cy="919193"/>
          </a:xfrm>
          <a:prstGeom prst="line">
            <a:avLst/>
          </a:prstGeom>
          <a:noFill/>
          <a:ln w="9525">
            <a:solidFill>
              <a:srgbClr val="2C3E5C"/>
            </a:solidFill>
            <a:prstDash val="solid"/>
          </a:ln>
        </p:spPr>
      </p:sp>
      <p:sp>
        <p:nvSpPr>
          <p:cNvPr id="38" name="Shape 36"/>
          <p:cNvSpPr/>
          <p:nvPr/>
        </p:nvSpPr>
        <p:spPr>
          <a:xfrm flipH="1">
            <a:off x="8871787" y="4174718"/>
            <a:ext cx="27017" cy="618657"/>
          </a:xfrm>
          <a:prstGeom prst="line">
            <a:avLst/>
          </a:prstGeom>
          <a:noFill/>
          <a:ln w="9525">
            <a:solidFill>
              <a:srgbClr val="2C3E5C"/>
            </a:solidFill>
            <a:prstDash val="solid"/>
          </a:ln>
        </p:spPr>
      </p:sp>
      <p:sp>
        <p:nvSpPr>
          <p:cNvPr id="39" name="Shape 37"/>
          <p:cNvSpPr/>
          <p:nvPr/>
        </p:nvSpPr>
        <p:spPr>
          <a:xfrm>
            <a:off x="8871787" y="4793375"/>
            <a:ext cx="695431" cy="271400"/>
          </a:xfrm>
          <a:prstGeom prst="line">
            <a:avLst/>
          </a:prstGeom>
          <a:noFill/>
          <a:ln w="9525">
            <a:solidFill>
              <a:srgbClr val="2C3E5C"/>
            </a:solidFill>
            <a:prstDash val="solid"/>
          </a:ln>
        </p:spPr>
      </p:sp>
      <p:sp>
        <p:nvSpPr>
          <p:cNvPr id="40" name="Shape 38"/>
          <p:cNvSpPr/>
          <p:nvPr/>
        </p:nvSpPr>
        <p:spPr>
          <a:xfrm>
            <a:off x="9567218" y="5064775"/>
            <a:ext cx="198884" cy="981952"/>
          </a:xfrm>
          <a:prstGeom prst="line">
            <a:avLst/>
          </a:prstGeom>
          <a:noFill/>
          <a:ln w="9525">
            <a:solidFill>
              <a:srgbClr val="2C3E5C"/>
            </a:solidFill>
            <a:prstDash val="solid"/>
          </a:ln>
        </p:spPr>
      </p:sp>
      <p:sp>
        <p:nvSpPr>
          <p:cNvPr id="41" name="Shape 39"/>
          <p:cNvSpPr/>
          <p:nvPr/>
        </p:nvSpPr>
        <p:spPr>
          <a:xfrm flipH="1">
            <a:off x="7215511" y="5082923"/>
            <a:ext cx="866793" cy="902903"/>
          </a:xfrm>
          <a:prstGeom prst="line">
            <a:avLst/>
          </a:prstGeom>
          <a:noFill/>
          <a:ln w="9525">
            <a:solidFill>
              <a:srgbClr val="2C3E5C"/>
            </a:solidFill>
            <a:prstDash val="solid"/>
          </a:ln>
        </p:spPr>
      </p:sp>
      <p:sp>
        <p:nvSpPr>
          <p:cNvPr id="42" name="Shape 40"/>
          <p:cNvSpPr/>
          <p:nvPr/>
        </p:nvSpPr>
        <p:spPr>
          <a:xfrm flipV="1">
            <a:off x="8943895" y="6046727"/>
            <a:ext cx="822207" cy="190647"/>
          </a:xfrm>
          <a:prstGeom prst="line">
            <a:avLst/>
          </a:prstGeom>
          <a:noFill/>
          <a:ln w="9525">
            <a:solidFill>
              <a:srgbClr val="2C3E5C"/>
            </a:solidFill>
            <a:prstDash val="solid"/>
          </a:ln>
        </p:spPr>
      </p:sp>
      <p:sp>
        <p:nvSpPr>
          <p:cNvPr id="43" name="Shape 41"/>
          <p:cNvSpPr/>
          <p:nvPr/>
        </p:nvSpPr>
        <p:spPr>
          <a:xfrm flipH="1">
            <a:off x="8943895" y="5064775"/>
            <a:ext cx="623323" cy="1172599"/>
          </a:xfrm>
          <a:prstGeom prst="line">
            <a:avLst/>
          </a:prstGeom>
          <a:noFill/>
          <a:ln w="9525">
            <a:solidFill>
              <a:srgbClr val="2C3E5C"/>
            </a:solidFill>
            <a:prstDash val="solid"/>
          </a:ln>
        </p:spPr>
      </p:sp>
      <p:sp>
        <p:nvSpPr>
          <p:cNvPr id="44" name="Shape 42"/>
          <p:cNvSpPr/>
          <p:nvPr/>
        </p:nvSpPr>
        <p:spPr>
          <a:xfrm flipV="1">
            <a:off x="9766102" y="5700768"/>
            <a:ext cx="763661" cy="345959"/>
          </a:xfrm>
          <a:prstGeom prst="line">
            <a:avLst/>
          </a:prstGeom>
          <a:noFill/>
          <a:ln w="9525">
            <a:solidFill>
              <a:srgbClr val="2C3E5C"/>
            </a:solidFill>
            <a:prstDash val="solid"/>
          </a:ln>
        </p:spPr>
      </p:sp>
      <p:sp>
        <p:nvSpPr>
          <p:cNvPr id="45" name="Shape 43"/>
          <p:cNvSpPr/>
          <p:nvPr/>
        </p:nvSpPr>
        <p:spPr>
          <a:xfrm>
            <a:off x="10529763" y="5700768"/>
            <a:ext cx="948024" cy="612014"/>
          </a:xfrm>
          <a:prstGeom prst="line">
            <a:avLst/>
          </a:prstGeom>
          <a:noFill/>
          <a:ln w="9525">
            <a:solidFill>
              <a:srgbClr val="2C3E5C"/>
            </a:solidFill>
            <a:prstDash val="solid"/>
          </a:ln>
        </p:spPr>
      </p:sp>
      <p:sp>
        <p:nvSpPr>
          <p:cNvPr id="46" name="Shape 44"/>
          <p:cNvSpPr/>
          <p:nvPr/>
        </p:nvSpPr>
        <p:spPr>
          <a:xfrm>
            <a:off x="9766102" y="6046727"/>
            <a:ext cx="1711685" cy="266055"/>
          </a:xfrm>
          <a:prstGeom prst="line">
            <a:avLst/>
          </a:prstGeom>
          <a:noFill/>
          <a:ln w="9525">
            <a:solidFill>
              <a:srgbClr val="2C3E5C"/>
            </a:solidFill>
            <a:prstDash val="solid"/>
          </a:ln>
        </p:spPr>
      </p:sp>
      <p:sp>
        <p:nvSpPr>
          <p:cNvPr id="47" name="Shape 45"/>
          <p:cNvSpPr/>
          <p:nvPr/>
        </p:nvSpPr>
        <p:spPr>
          <a:xfrm>
            <a:off x="7150997" y="900440"/>
            <a:ext cx="109488" cy="109488"/>
          </a:xfrm>
          <a:prstGeom prst="ellipse">
            <a:avLst/>
          </a:prstGeom>
          <a:solidFill>
            <a:srgbClr val="4B6388"/>
          </a:solidFill>
          <a:ln w="12700">
            <a:solidFill>
              <a:srgbClr val="4B6388"/>
            </a:solidFill>
            <a:prstDash val="solid"/>
          </a:ln>
        </p:spPr>
      </p:sp>
      <p:sp>
        <p:nvSpPr>
          <p:cNvPr id="48" name="Shape 46"/>
          <p:cNvSpPr/>
          <p:nvPr/>
        </p:nvSpPr>
        <p:spPr>
          <a:xfrm>
            <a:off x="8222750" y="871243"/>
            <a:ext cx="72654" cy="72654"/>
          </a:xfrm>
          <a:prstGeom prst="ellipse">
            <a:avLst/>
          </a:prstGeom>
          <a:solidFill>
            <a:srgbClr val="4B6388"/>
          </a:solidFill>
          <a:ln w="12700">
            <a:solidFill>
              <a:srgbClr val="4B6388"/>
            </a:solidFill>
            <a:prstDash val="solid"/>
          </a:ln>
        </p:spPr>
      </p:sp>
      <p:sp>
        <p:nvSpPr>
          <p:cNvPr id="49" name="Shape 47"/>
          <p:cNvSpPr/>
          <p:nvPr/>
        </p:nvSpPr>
        <p:spPr>
          <a:xfrm>
            <a:off x="9736099" y="811595"/>
            <a:ext cx="72810" cy="72810"/>
          </a:xfrm>
          <a:prstGeom prst="ellipse">
            <a:avLst/>
          </a:prstGeom>
          <a:solidFill>
            <a:srgbClr val="4B6388"/>
          </a:solidFill>
          <a:ln w="12700">
            <a:solidFill>
              <a:srgbClr val="4B6388"/>
            </a:solidFill>
            <a:prstDash val="solid"/>
          </a:ln>
        </p:spPr>
      </p:sp>
      <p:sp>
        <p:nvSpPr>
          <p:cNvPr id="50" name="Shape 48"/>
          <p:cNvSpPr/>
          <p:nvPr/>
        </p:nvSpPr>
        <p:spPr>
          <a:xfrm>
            <a:off x="10716103" y="774677"/>
            <a:ext cx="105417" cy="105417"/>
          </a:xfrm>
          <a:prstGeom prst="ellipse">
            <a:avLst/>
          </a:prstGeom>
          <a:solidFill>
            <a:srgbClr val="4B6388"/>
          </a:solidFill>
          <a:ln w="12700">
            <a:solidFill>
              <a:srgbClr val="4B6388"/>
            </a:solidFill>
            <a:prstDash val="solid"/>
          </a:ln>
        </p:spPr>
      </p:sp>
      <p:sp>
        <p:nvSpPr>
          <p:cNvPr id="51" name="Shape 49"/>
          <p:cNvSpPr/>
          <p:nvPr/>
        </p:nvSpPr>
        <p:spPr>
          <a:xfrm>
            <a:off x="11435271" y="588230"/>
            <a:ext cx="126229" cy="126229"/>
          </a:xfrm>
          <a:prstGeom prst="ellipse">
            <a:avLst/>
          </a:prstGeom>
          <a:solidFill>
            <a:srgbClr val="4B6388"/>
          </a:solidFill>
          <a:ln w="12700">
            <a:solidFill>
              <a:srgbClr val="4B6388"/>
            </a:solidFill>
            <a:prstDash val="solid"/>
          </a:ln>
        </p:spPr>
      </p:sp>
      <p:sp>
        <p:nvSpPr>
          <p:cNvPr id="52" name="Shape 50"/>
          <p:cNvSpPr/>
          <p:nvPr/>
        </p:nvSpPr>
        <p:spPr>
          <a:xfrm>
            <a:off x="7911070" y="1604257"/>
            <a:ext cx="85993" cy="85993"/>
          </a:xfrm>
          <a:prstGeom prst="ellipse">
            <a:avLst/>
          </a:prstGeom>
          <a:solidFill>
            <a:srgbClr val="4B6388"/>
          </a:solidFill>
          <a:ln w="12700">
            <a:solidFill>
              <a:srgbClr val="4B6388"/>
            </a:solidFill>
            <a:prstDash val="solid"/>
          </a:ln>
        </p:spPr>
      </p:sp>
      <p:sp>
        <p:nvSpPr>
          <p:cNvPr id="53" name="Shape 51"/>
          <p:cNvSpPr/>
          <p:nvPr/>
        </p:nvSpPr>
        <p:spPr>
          <a:xfrm>
            <a:off x="8550640" y="1735149"/>
            <a:ext cx="123248" cy="123248"/>
          </a:xfrm>
          <a:prstGeom prst="ellipse">
            <a:avLst/>
          </a:prstGeom>
          <a:solidFill>
            <a:srgbClr val="4B6388"/>
          </a:solidFill>
          <a:ln w="12700">
            <a:solidFill>
              <a:srgbClr val="4B6388"/>
            </a:solidFill>
            <a:prstDash val="solid"/>
          </a:ln>
        </p:spPr>
      </p:sp>
      <p:sp>
        <p:nvSpPr>
          <p:cNvPr id="54" name="Shape 52"/>
          <p:cNvSpPr/>
          <p:nvPr/>
        </p:nvSpPr>
        <p:spPr>
          <a:xfrm>
            <a:off x="9601499" y="1920613"/>
            <a:ext cx="88109" cy="88109"/>
          </a:xfrm>
          <a:prstGeom prst="ellipse">
            <a:avLst/>
          </a:prstGeom>
          <a:solidFill>
            <a:srgbClr val="4B6388"/>
          </a:solidFill>
          <a:ln w="12700">
            <a:solidFill>
              <a:srgbClr val="4B6388"/>
            </a:solidFill>
            <a:prstDash val="solid"/>
          </a:ln>
        </p:spPr>
      </p:sp>
      <p:sp>
        <p:nvSpPr>
          <p:cNvPr id="55" name="Shape 53"/>
          <p:cNvSpPr/>
          <p:nvPr/>
        </p:nvSpPr>
        <p:spPr>
          <a:xfrm>
            <a:off x="10499254" y="1387481"/>
            <a:ext cx="438912" cy="438912"/>
          </a:xfrm>
          <a:prstGeom prst="ellipse">
            <a:avLst/>
          </a:prstGeom>
          <a:solidFill>
            <a:srgbClr val="E0533A">
              <a:alpha val="20000"/>
            </a:srgbClr>
          </a:solidFill>
          <a:ln w="12700">
            <a:solidFill>
              <a:srgbClr val="E0533A">
                <a:alpha val="20000"/>
              </a:srgbClr>
            </a:solidFill>
            <a:prstDash val="solid"/>
          </a:ln>
        </p:spPr>
      </p:sp>
      <p:sp>
        <p:nvSpPr>
          <p:cNvPr id="56" name="Shape 54"/>
          <p:cNvSpPr/>
          <p:nvPr/>
        </p:nvSpPr>
        <p:spPr>
          <a:xfrm>
            <a:off x="10636414" y="1524641"/>
            <a:ext cx="164592" cy="164592"/>
          </a:xfrm>
          <a:prstGeom prst="ellipse">
            <a:avLst/>
          </a:prstGeom>
          <a:solidFill>
            <a:srgbClr val="E0533A"/>
          </a:solidFill>
          <a:ln w="12700">
            <a:solidFill>
              <a:srgbClr val="E0533A"/>
            </a:solidFill>
            <a:prstDash val="solid"/>
          </a:ln>
        </p:spPr>
      </p:sp>
      <p:sp>
        <p:nvSpPr>
          <p:cNvPr id="57" name="Shape 55"/>
          <p:cNvSpPr/>
          <p:nvPr/>
        </p:nvSpPr>
        <p:spPr>
          <a:xfrm>
            <a:off x="11153797" y="1373043"/>
            <a:ext cx="112698" cy="112698"/>
          </a:xfrm>
          <a:prstGeom prst="ellipse">
            <a:avLst/>
          </a:prstGeom>
          <a:solidFill>
            <a:srgbClr val="4B6388"/>
          </a:solidFill>
          <a:ln w="12700">
            <a:solidFill>
              <a:srgbClr val="4B6388"/>
            </a:solidFill>
            <a:prstDash val="solid"/>
          </a:ln>
        </p:spPr>
      </p:sp>
      <p:sp>
        <p:nvSpPr>
          <p:cNvPr id="58" name="Shape 56"/>
          <p:cNvSpPr/>
          <p:nvPr/>
        </p:nvSpPr>
        <p:spPr>
          <a:xfrm>
            <a:off x="7453037" y="2388983"/>
            <a:ext cx="105858" cy="105858"/>
          </a:xfrm>
          <a:prstGeom prst="ellipse">
            <a:avLst/>
          </a:prstGeom>
          <a:solidFill>
            <a:srgbClr val="4B6388"/>
          </a:solidFill>
          <a:ln w="12700">
            <a:solidFill>
              <a:srgbClr val="4B6388"/>
            </a:solidFill>
            <a:prstDash val="solid"/>
          </a:ln>
        </p:spPr>
      </p:sp>
      <p:sp>
        <p:nvSpPr>
          <p:cNvPr id="59" name="Shape 57"/>
          <p:cNvSpPr/>
          <p:nvPr/>
        </p:nvSpPr>
        <p:spPr>
          <a:xfrm>
            <a:off x="8725321" y="2581932"/>
            <a:ext cx="68574" cy="68574"/>
          </a:xfrm>
          <a:prstGeom prst="ellipse">
            <a:avLst/>
          </a:prstGeom>
          <a:solidFill>
            <a:srgbClr val="4B6388"/>
          </a:solidFill>
          <a:ln w="12700">
            <a:solidFill>
              <a:srgbClr val="4B6388"/>
            </a:solidFill>
            <a:prstDash val="solid"/>
          </a:ln>
        </p:spPr>
      </p:sp>
      <p:sp>
        <p:nvSpPr>
          <p:cNvPr id="60" name="Shape 58"/>
          <p:cNvSpPr/>
          <p:nvPr/>
        </p:nvSpPr>
        <p:spPr>
          <a:xfrm>
            <a:off x="9890764" y="2296385"/>
            <a:ext cx="82357" cy="82357"/>
          </a:xfrm>
          <a:prstGeom prst="ellipse">
            <a:avLst/>
          </a:prstGeom>
          <a:solidFill>
            <a:srgbClr val="4B6388"/>
          </a:solidFill>
          <a:ln w="12700">
            <a:solidFill>
              <a:srgbClr val="4B6388"/>
            </a:solidFill>
            <a:prstDash val="solid"/>
          </a:ln>
        </p:spPr>
      </p:sp>
      <p:sp>
        <p:nvSpPr>
          <p:cNvPr id="61" name="Shape 59"/>
          <p:cNvSpPr/>
          <p:nvPr/>
        </p:nvSpPr>
        <p:spPr>
          <a:xfrm>
            <a:off x="10699977" y="2448345"/>
            <a:ext cx="106510" cy="106510"/>
          </a:xfrm>
          <a:prstGeom prst="ellipse">
            <a:avLst/>
          </a:prstGeom>
          <a:solidFill>
            <a:srgbClr val="4B6388"/>
          </a:solidFill>
          <a:ln w="12700">
            <a:solidFill>
              <a:srgbClr val="4B6388"/>
            </a:solidFill>
            <a:prstDash val="solid"/>
          </a:ln>
        </p:spPr>
      </p:sp>
      <p:sp>
        <p:nvSpPr>
          <p:cNvPr id="62" name="Shape 60"/>
          <p:cNvSpPr/>
          <p:nvPr/>
        </p:nvSpPr>
        <p:spPr>
          <a:xfrm>
            <a:off x="7974260" y="3398974"/>
            <a:ext cx="95524" cy="95524"/>
          </a:xfrm>
          <a:prstGeom prst="ellipse">
            <a:avLst/>
          </a:prstGeom>
          <a:solidFill>
            <a:srgbClr val="4B6388"/>
          </a:solidFill>
          <a:ln w="12700">
            <a:solidFill>
              <a:srgbClr val="4B6388"/>
            </a:solidFill>
            <a:prstDash val="solid"/>
          </a:ln>
        </p:spPr>
      </p:sp>
      <p:sp>
        <p:nvSpPr>
          <p:cNvPr id="63" name="Shape 61"/>
          <p:cNvSpPr/>
          <p:nvPr/>
        </p:nvSpPr>
        <p:spPr>
          <a:xfrm>
            <a:off x="8811311" y="3536003"/>
            <a:ext cx="104192" cy="104192"/>
          </a:xfrm>
          <a:prstGeom prst="ellipse">
            <a:avLst/>
          </a:prstGeom>
          <a:solidFill>
            <a:srgbClr val="4B6388"/>
          </a:solidFill>
          <a:ln w="12700">
            <a:solidFill>
              <a:srgbClr val="4B6388"/>
            </a:solidFill>
            <a:prstDash val="solid"/>
          </a:ln>
        </p:spPr>
      </p:sp>
      <p:sp>
        <p:nvSpPr>
          <p:cNvPr id="64" name="Shape 62"/>
          <p:cNvSpPr/>
          <p:nvPr/>
        </p:nvSpPr>
        <p:spPr>
          <a:xfrm>
            <a:off x="10194212" y="3352115"/>
            <a:ext cx="78424" cy="78424"/>
          </a:xfrm>
          <a:prstGeom prst="ellipse">
            <a:avLst/>
          </a:prstGeom>
          <a:solidFill>
            <a:srgbClr val="4B6388"/>
          </a:solidFill>
          <a:ln w="12700">
            <a:solidFill>
              <a:srgbClr val="4B6388"/>
            </a:solidFill>
            <a:prstDash val="solid"/>
          </a:ln>
        </p:spPr>
      </p:sp>
      <p:sp>
        <p:nvSpPr>
          <p:cNvPr id="65" name="Shape 63"/>
          <p:cNvSpPr/>
          <p:nvPr/>
        </p:nvSpPr>
        <p:spPr>
          <a:xfrm>
            <a:off x="11646475" y="3325236"/>
            <a:ext cx="109973" cy="109973"/>
          </a:xfrm>
          <a:prstGeom prst="ellipse">
            <a:avLst/>
          </a:prstGeom>
          <a:solidFill>
            <a:srgbClr val="4B6388"/>
          </a:solidFill>
          <a:ln w="12700">
            <a:solidFill>
              <a:srgbClr val="4B6388"/>
            </a:solidFill>
            <a:prstDash val="solid"/>
          </a:ln>
        </p:spPr>
      </p:sp>
      <p:sp>
        <p:nvSpPr>
          <p:cNvPr id="66" name="Shape 64"/>
          <p:cNvSpPr/>
          <p:nvPr/>
        </p:nvSpPr>
        <p:spPr>
          <a:xfrm>
            <a:off x="7044947" y="3929163"/>
            <a:ext cx="84165" cy="84165"/>
          </a:xfrm>
          <a:prstGeom prst="ellipse">
            <a:avLst/>
          </a:prstGeom>
          <a:solidFill>
            <a:srgbClr val="4B6388"/>
          </a:solidFill>
          <a:ln w="12700">
            <a:solidFill>
              <a:srgbClr val="4B6388"/>
            </a:solidFill>
            <a:prstDash val="solid"/>
          </a:ln>
        </p:spPr>
      </p:sp>
      <p:sp>
        <p:nvSpPr>
          <p:cNvPr id="67" name="Shape 65"/>
          <p:cNvSpPr/>
          <p:nvPr/>
        </p:nvSpPr>
        <p:spPr>
          <a:xfrm>
            <a:off x="7934885" y="4419381"/>
            <a:ext cx="69897" cy="69897"/>
          </a:xfrm>
          <a:prstGeom prst="ellipse">
            <a:avLst/>
          </a:prstGeom>
          <a:solidFill>
            <a:srgbClr val="4B6388"/>
          </a:solidFill>
          <a:ln w="12700">
            <a:solidFill>
              <a:srgbClr val="4B6388"/>
            </a:solidFill>
            <a:prstDash val="solid"/>
          </a:ln>
        </p:spPr>
      </p:sp>
      <p:sp>
        <p:nvSpPr>
          <p:cNvPr id="68" name="Shape 66"/>
          <p:cNvSpPr/>
          <p:nvPr/>
        </p:nvSpPr>
        <p:spPr>
          <a:xfrm>
            <a:off x="8849072" y="4124986"/>
            <a:ext cx="99464" cy="99464"/>
          </a:xfrm>
          <a:prstGeom prst="ellipse">
            <a:avLst/>
          </a:prstGeom>
          <a:solidFill>
            <a:srgbClr val="4B6388"/>
          </a:solidFill>
          <a:ln w="12700">
            <a:solidFill>
              <a:srgbClr val="4B6388"/>
            </a:solidFill>
            <a:prstDash val="solid"/>
          </a:ln>
        </p:spPr>
      </p:sp>
      <p:sp>
        <p:nvSpPr>
          <p:cNvPr id="69" name="Shape 67"/>
          <p:cNvSpPr/>
          <p:nvPr/>
        </p:nvSpPr>
        <p:spPr>
          <a:xfrm>
            <a:off x="9428191" y="3974802"/>
            <a:ext cx="88390" cy="88390"/>
          </a:xfrm>
          <a:prstGeom prst="ellipse">
            <a:avLst/>
          </a:prstGeom>
          <a:solidFill>
            <a:srgbClr val="4B6388"/>
          </a:solidFill>
          <a:ln w="12700">
            <a:solidFill>
              <a:srgbClr val="4B6388"/>
            </a:solidFill>
            <a:prstDash val="solid"/>
          </a:ln>
        </p:spPr>
      </p:sp>
      <p:sp>
        <p:nvSpPr>
          <p:cNvPr id="70" name="Shape 68"/>
          <p:cNvSpPr/>
          <p:nvPr/>
        </p:nvSpPr>
        <p:spPr>
          <a:xfrm>
            <a:off x="10583566" y="3985887"/>
            <a:ext cx="75598" cy="75598"/>
          </a:xfrm>
          <a:prstGeom prst="ellipse">
            <a:avLst/>
          </a:prstGeom>
          <a:solidFill>
            <a:srgbClr val="4B6388"/>
          </a:solidFill>
          <a:ln w="12700">
            <a:solidFill>
              <a:srgbClr val="4B6388"/>
            </a:solidFill>
            <a:prstDash val="solid"/>
          </a:ln>
        </p:spPr>
      </p:sp>
      <p:sp>
        <p:nvSpPr>
          <p:cNvPr id="71" name="Shape 69"/>
          <p:cNvSpPr/>
          <p:nvPr/>
        </p:nvSpPr>
        <p:spPr>
          <a:xfrm>
            <a:off x="11075140" y="4355677"/>
            <a:ext cx="438912" cy="438912"/>
          </a:xfrm>
          <a:prstGeom prst="ellipse">
            <a:avLst/>
          </a:prstGeom>
          <a:solidFill>
            <a:srgbClr val="E0533A">
              <a:alpha val="20000"/>
            </a:srgbClr>
          </a:solidFill>
          <a:ln w="12700">
            <a:solidFill>
              <a:srgbClr val="E0533A">
                <a:alpha val="20000"/>
              </a:srgbClr>
            </a:solidFill>
            <a:prstDash val="solid"/>
          </a:ln>
        </p:spPr>
      </p:sp>
      <p:sp>
        <p:nvSpPr>
          <p:cNvPr id="72" name="Shape 70"/>
          <p:cNvSpPr/>
          <p:nvPr/>
        </p:nvSpPr>
        <p:spPr>
          <a:xfrm>
            <a:off x="11212300" y="4492837"/>
            <a:ext cx="164592" cy="164592"/>
          </a:xfrm>
          <a:prstGeom prst="ellipse">
            <a:avLst/>
          </a:prstGeom>
          <a:solidFill>
            <a:srgbClr val="E0533A"/>
          </a:solidFill>
          <a:ln w="12700">
            <a:solidFill>
              <a:srgbClr val="E0533A"/>
            </a:solidFill>
            <a:prstDash val="solid"/>
          </a:ln>
        </p:spPr>
      </p:sp>
      <p:sp>
        <p:nvSpPr>
          <p:cNvPr id="73" name="Shape 71"/>
          <p:cNvSpPr/>
          <p:nvPr/>
        </p:nvSpPr>
        <p:spPr>
          <a:xfrm>
            <a:off x="7214623" y="5008493"/>
            <a:ext cx="116279" cy="116279"/>
          </a:xfrm>
          <a:prstGeom prst="ellipse">
            <a:avLst/>
          </a:prstGeom>
          <a:solidFill>
            <a:srgbClr val="4B6388"/>
          </a:solidFill>
          <a:ln w="12700">
            <a:solidFill>
              <a:srgbClr val="4B6388"/>
            </a:solidFill>
            <a:prstDash val="solid"/>
          </a:ln>
        </p:spPr>
      </p:sp>
      <p:sp>
        <p:nvSpPr>
          <p:cNvPr id="74" name="Shape 72"/>
          <p:cNvSpPr/>
          <p:nvPr/>
        </p:nvSpPr>
        <p:spPr>
          <a:xfrm>
            <a:off x="8020373" y="5020992"/>
            <a:ext cx="123863" cy="123863"/>
          </a:xfrm>
          <a:prstGeom prst="ellipse">
            <a:avLst/>
          </a:prstGeom>
          <a:solidFill>
            <a:srgbClr val="4B6388"/>
          </a:solidFill>
          <a:ln w="12700">
            <a:solidFill>
              <a:srgbClr val="4B6388"/>
            </a:solidFill>
            <a:prstDash val="solid"/>
          </a:ln>
        </p:spPr>
      </p:sp>
      <p:sp>
        <p:nvSpPr>
          <p:cNvPr id="75" name="Shape 73"/>
          <p:cNvSpPr/>
          <p:nvPr/>
        </p:nvSpPr>
        <p:spPr>
          <a:xfrm>
            <a:off x="8815761" y="4737348"/>
            <a:ext cx="112053" cy="112053"/>
          </a:xfrm>
          <a:prstGeom prst="ellipse">
            <a:avLst/>
          </a:prstGeom>
          <a:solidFill>
            <a:srgbClr val="4B6388"/>
          </a:solidFill>
          <a:ln w="12700">
            <a:solidFill>
              <a:srgbClr val="4B6388"/>
            </a:solidFill>
            <a:prstDash val="solid"/>
          </a:ln>
        </p:spPr>
      </p:sp>
      <p:sp>
        <p:nvSpPr>
          <p:cNvPr id="76" name="Shape 74"/>
          <p:cNvSpPr/>
          <p:nvPr/>
        </p:nvSpPr>
        <p:spPr>
          <a:xfrm>
            <a:off x="9535053" y="5032609"/>
            <a:ext cx="64331" cy="64331"/>
          </a:xfrm>
          <a:prstGeom prst="ellipse">
            <a:avLst/>
          </a:prstGeom>
          <a:solidFill>
            <a:srgbClr val="4B6388"/>
          </a:solidFill>
          <a:ln w="12700">
            <a:solidFill>
              <a:srgbClr val="4B6388"/>
            </a:solidFill>
            <a:prstDash val="solid"/>
          </a:ln>
        </p:spPr>
      </p:sp>
      <p:sp>
        <p:nvSpPr>
          <p:cNvPr id="77" name="Shape 75"/>
          <p:cNvSpPr/>
          <p:nvPr/>
        </p:nvSpPr>
        <p:spPr>
          <a:xfrm>
            <a:off x="7169649" y="5939964"/>
            <a:ext cx="91725" cy="91725"/>
          </a:xfrm>
          <a:prstGeom prst="ellipse">
            <a:avLst/>
          </a:prstGeom>
          <a:solidFill>
            <a:srgbClr val="4B6388"/>
          </a:solidFill>
          <a:ln w="12700">
            <a:solidFill>
              <a:srgbClr val="4B6388"/>
            </a:solidFill>
            <a:prstDash val="solid"/>
          </a:ln>
        </p:spPr>
      </p:sp>
      <p:sp>
        <p:nvSpPr>
          <p:cNvPr id="78" name="Shape 76"/>
          <p:cNvSpPr/>
          <p:nvPr/>
        </p:nvSpPr>
        <p:spPr>
          <a:xfrm>
            <a:off x="8884675" y="6178154"/>
            <a:ext cx="118440" cy="118440"/>
          </a:xfrm>
          <a:prstGeom prst="ellipse">
            <a:avLst/>
          </a:prstGeom>
          <a:solidFill>
            <a:srgbClr val="4B6388"/>
          </a:solidFill>
          <a:ln w="12700">
            <a:solidFill>
              <a:srgbClr val="4B6388"/>
            </a:solidFill>
            <a:prstDash val="solid"/>
          </a:ln>
        </p:spPr>
      </p:sp>
      <p:sp>
        <p:nvSpPr>
          <p:cNvPr id="79" name="Shape 77"/>
          <p:cNvSpPr/>
          <p:nvPr/>
        </p:nvSpPr>
        <p:spPr>
          <a:xfrm>
            <a:off x="9715879" y="5996504"/>
            <a:ext cx="100446" cy="100446"/>
          </a:xfrm>
          <a:prstGeom prst="ellipse">
            <a:avLst/>
          </a:prstGeom>
          <a:solidFill>
            <a:srgbClr val="4B6388"/>
          </a:solidFill>
          <a:ln w="12700">
            <a:solidFill>
              <a:srgbClr val="4B6388"/>
            </a:solidFill>
            <a:prstDash val="solid"/>
          </a:ln>
        </p:spPr>
      </p:sp>
      <p:sp>
        <p:nvSpPr>
          <p:cNvPr id="80" name="Shape 78"/>
          <p:cNvSpPr/>
          <p:nvPr/>
        </p:nvSpPr>
        <p:spPr>
          <a:xfrm>
            <a:off x="10475348" y="5646353"/>
            <a:ext cx="108831" cy="108831"/>
          </a:xfrm>
          <a:prstGeom prst="ellipse">
            <a:avLst/>
          </a:prstGeom>
          <a:solidFill>
            <a:srgbClr val="4B6388"/>
          </a:solidFill>
          <a:ln w="12700">
            <a:solidFill>
              <a:srgbClr val="4B6388"/>
            </a:solidFill>
            <a:prstDash val="solid"/>
          </a:ln>
        </p:spPr>
      </p:sp>
      <p:sp>
        <p:nvSpPr>
          <p:cNvPr id="81" name="Shape 79"/>
          <p:cNvSpPr/>
          <p:nvPr/>
        </p:nvSpPr>
        <p:spPr>
          <a:xfrm>
            <a:off x="11425664" y="6260658"/>
            <a:ext cx="104248" cy="104248"/>
          </a:xfrm>
          <a:prstGeom prst="ellipse">
            <a:avLst/>
          </a:prstGeom>
          <a:solidFill>
            <a:srgbClr val="4B6388"/>
          </a:solidFill>
          <a:ln w="12700">
            <a:solidFill>
              <a:srgbClr val="4B6388"/>
            </a:solidFill>
            <a:prstDash val="solid"/>
          </a:ln>
        </p:spPr>
      </p:sp>
      <p:sp>
        <p:nvSpPr>
          <p:cNvPr id="82" name="Text 80"/>
          <p:cNvSpPr txBox="1"/>
          <p:nvPr/>
        </p:nvSpPr>
        <p:spPr>
          <a:xfrm>
            <a:off x="685800" y="1097280"/>
            <a:ext cx="6035040" cy="274320"/>
          </a:xfrm>
          <a:prstGeom prst="rect">
            <a:avLst/>
          </a:prstGeom>
          <a:noFill/>
          <a:ln/>
        </p:spPr>
        <p:txBody>
          <a:bodyPr wrap="square" lIns="0" tIns="0" rIns="0" bIns="0" rtlCol="0" anchor="t"/>
          <a:lstStyle/>
          <a:p>
            <a:pPr indent="0" marL="0">
              <a:buNone/>
            </a:pPr>
            <a:r>
              <a:rPr lang="en-US" sz="1200" b="1" dirty="0">
                <a:solidFill>
                  <a:srgbClr val="F08A6E"/>
                </a:solidFill>
                <a:latin typeface="Arial" pitchFamily="34" charset="0"/>
                <a:ea typeface="Arial" pitchFamily="34" charset="-122"/>
                <a:cs typeface="Arial" pitchFamily="34" charset="-120"/>
              </a:rPr>
              <a:t>MID-TERM EVALUATION   ·   PROJECT 16</a:t>
            </a:r>
            <a:endParaRPr lang="en-US" sz="1200" dirty="0"/>
          </a:p>
        </p:txBody>
      </p:sp>
      <p:sp>
        <p:nvSpPr>
          <p:cNvPr id="83" name="Text 81"/>
          <p:cNvSpPr txBox="1"/>
          <p:nvPr/>
        </p:nvSpPr>
        <p:spPr>
          <a:xfrm>
            <a:off x="685800" y="1554480"/>
            <a:ext cx="6035040" cy="2514600"/>
          </a:xfrm>
          <a:prstGeom prst="rect">
            <a:avLst/>
          </a:prstGeom>
          <a:noFill/>
          <a:ln/>
        </p:spPr>
        <p:txBody>
          <a:bodyPr wrap="square" lIns="0" tIns="0" rIns="0" bIns="0" rtlCol="0" anchor="t"/>
          <a:lstStyle/>
          <a:p>
            <a:pPr indent="0" marL="0">
              <a:buNone/>
            </a:pPr>
            <a:r>
              <a:rPr lang="en-US" sz="3800" dirty="0">
                <a:solidFill>
                  <a:srgbClr val="FFFFFF"/>
                </a:solidFill>
                <a:latin typeface="Georgia" pitchFamily="34" charset="0"/>
                <a:ea typeface="Georgia" pitchFamily="34" charset="-122"/>
                <a:cs typeface="Georgia" pitchFamily="34" charset="-120"/>
              </a:rPr>
              <a:t>Anomaly Detection Using Machine Learning for Advanced Persistent Threats (APT)</a:t>
            </a:r>
            <a:endParaRPr lang="en-US" sz="3800" dirty="0"/>
          </a:p>
        </p:txBody>
      </p:sp>
      <p:sp>
        <p:nvSpPr>
          <p:cNvPr id="84" name="Text 82"/>
          <p:cNvSpPr txBox="1"/>
          <p:nvPr/>
        </p:nvSpPr>
        <p:spPr>
          <a:xfrm>
            <a:off x="685800" y="4206240"/>
            <a:ext cx="5760720" cy="86868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A hybrid Random Forest + XGBoost ensemble, re-implemented and evaluated on the APT-specific DAPT2020 dataset</a:t>
            </a:r>
            <a:endParaRPr lang="en-US" sz="1600" dirty="0"/>
          </a:p>
        </p:txBody>
      </p:sp>
      <p:sp>
        <p:nvSpPr>
          <p:cNvPr id="85" name="Text 83"/>
          <p:cNvSpPr txBox="1"/>
          <p:nvPr/>
        </p:nvSpPr>
        <p:spPr>
          <a:xfrm>
            <a:off x="685800" y="5715000"/>
            <a:ext cx="5852160" cy="502920"/>
          </a:xfrm>
          <a:prstGeom prst="rect">
            <a:avLst/>
          </a:prstGeom>
          <a:noFill/>
          <a:ln/>
        </p:spPr>
        <p:txBody>
          <a:bodyPr wrap="square" lIns="0" tIns="0" rIns="0" bIns="0" rtlCol="0" anchor="t"/>
          <a:lstStyle/>
          <a:p>
            <a:pPr indent="0" marL="0">
              <a:buNone/>
            </a:pPr>
            <a:r>
              <a:rPr lang="en-US" sz="1050" dirty="0">
                <a:solidFill>
                  <a:srgbClr val="6F7F96"/>
                </a:solidFill>
                <a:latin typeface="Arial" pitchFamily="34" charset="0"/>
                <a:ea typeface="Arial" pitchFamily="34" charset="-122"/>
                <a:cs typeface="Arial" pitchFamily="34" charset="-120"/>
              </a:rPr>
              <a:t>Based on: Saini N., Bhat Kasaragod V., Prakasha K., Das A.K. Concurrency and Computation: Practice and Experience, 35(28), e7865, 2023</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1234440"/>
            <a:ext cx="3657600" cy="82296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Agenda</a:t>
            </a:r>
            <a:endParaRPr lang="en-US" sz="4000" dirty="0"/>
          </a:p>
        </p:txBody>
      </p:sp>
      <p:sp>
        <p:nvSpPr>
          <p:cNvPr id="3" name="Text 1"/>
          <p:cNvSpPr txBox="1"/>
          <p:nvPr/>
        </p:nvSpPr>
        <p:spPr>
          <a:xfrm>
            <a:off x="685800" y="2194560"/>
            <a:ext cx="3383280" cy="1097280"/>
          </a:xfrm>
          <a:prstGeom prst="rect">
            <a:avLst/>
          </a:prstGeom>
          <a:noFill/>
          <a:ln/>
        </p:spPr>
        <p:txBody>
          <a:bodyPr wrap="square" lIns="0" tIns="0" rIns="0" bIns="0" rtlCol="0" anchor="t"/>
          <a:lstStyle/>
          <a:p>
            <a:pPr indent="0" marL="0">
              <a:buNone/>
            </a:pPr>
            <a:r>
              <a:rPr lang="en-US" sz="1500" i="1" dirty="0">
                <a:solidFill>
                  <a:srgbClr val="55606E"/>
                </a:solidFill>
                <a:latin typeface="Arial" pitchFamily="34" charset="0"/>
                <a:ea typeface="Arial" pitchFamily="34" charset="-122"/>
                <a:cs typeface="Arial" pitchFamily="34" charset="-120"/>
              </a:rPr>
              <a:t>Four parts, one question: does the paper's hybrid model really detect APTs?</a:t>
            </a:r>
            <a:endParaRPr lang="en-US" sz="1500" dirty="0"/>
          </a:p>
        </p:txBody>
      </p:sp>
      <p:sp>
        <p:nvSpPr>
          <p:cNvPr id="4" name="Text 2"/>
          <p:cNvSpPr txBox="1"/>
          <p:nvPr/>
        </p:nvSpPr>
        <p:spPr>
          <a:xfrm>
            <a:off x="4846320" y="109728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01</a:t>
            </a:r>
            <a:endParaRPr lang="en-US" sz="3000" dirty="0"/>
          </a:p>
        </p:txBody>
      </p:sp>
      <p:sp>
        <p:nvSpPr>
          <p:cNvPr id="5" name="Text 3"/>
          <p:cNvSpPr txBox="1"/>
          <p:nvPr/>
        </p:nvSpPr>
        <p:spPr>
          <a:xfrm>
            <a:off x="5852160" y="114300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Background</a:t>
            </a:r>
            <a:endParaRPr lang="en-US" sz="2000" dirty="0"/>
          </a:p>
        </p:txBody>
      </p:sp>
      <p:sp>
        <p:nvSpPr>
          <p:cNvPr id="6" name="Text 4"/>
          <p:cNvSpPr txBox="1"/>
          <p:nvPr/>
        </p:nvSpPr>
        <p:spPr>
          <a:xfrm>
            <a:off x="5852160" y="157276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The paper, what makes an APT different, and why its datasets fall short</a:t>
            </a:r>
            <a:endParaRPr lang="en-US" sz="1300" dirty="0"/>
          </a:p>
        </p:txBody>
      </p:sp>
      <p:sp>
        <p:nvSpPr>
          <p:cNvPr id="7" name="Shape 5"/>
          <p:cNvSpPr/>
          <p:nvPr/>
        </p:nvSpPr>
        <p:spPr>
          <a:xfrm>
            <a:off x="4846320" y="2167128"/>
            <a:ext cx="6659575" cy="914"/>
          </a:xfrm>
          <a:prstGeom prst="line">
            <a:avLst/>
          </a:prstGeom>
          <a:noFill/>
          <a:ln w="9525">
            <a:solidFill>
              <a:srgbClr val="E2E6EC"/>
            </a:solidFill>
            <a:prstDash val="solid"/>
          </a:ln>
        </p:spPr>
      </p:sp>
      <p:sp>
        <p:nvSpPr>
          <p:cNvPr id="8" name="Text 6"/>
          <p:cNvSpPr txBox="1"/>
          <p:nvPr/>
        </p:nvSpPr>
        <p:spPr>
          <a:xfrm>
            <a:off x="4846320" y="228600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02</a:t>
            </a:r>
            <a:endParaRPr lang="en-US" sz="3000" dirty="0"/>
          </a:p>
        </p:txBody>
      </p:sp>
      <p:sp>
        <p:nvSpPr>
          <p:cNvPr id="9" name="Text 7"/>
          <p:cNvSpPr txBox="1"/>
          <p:nvPr/>
        </p:nvSpPr>
        <p:spPr>
          <a:xfrm>
            <a:off x="5852160" y="233172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Data &amp; method</a:t>
            </a:r>
            <a:endParaRPr lang="en-US" sz="2000" dirty="0"/>
          </a:p>
        </p:txBody>
      </p:sp>
      <p:sp>
        <p:nvSpPr>
          <p:cNvPr id="10" name="Text 8"/>
          <p:cNvSpPr txBox="1"/>
          <p:nvPr/>
        </p:nvSpPr>
        <p:spPr>
          <a:xfrm>
            <a:off x="5852160" y="276148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DAPT2020, the pipeline, the hybrid model and a flaw in the protocol</a:t>
            </a:r>
            <a:endParaRPr lang="en-US" sz="1300" dirty="0"/>
          </a:p>
        </p:txBody>
      </p:sp>
      <p:sp>
        <p:nvSpPr>
          <p:cNvPr id="11" name="Shape 9"/>
          <p:cNvSpPr/>
          <p:nvPr/>
        </p:nvSpPr>
        <p:spPr>
          <a:xfrm>
            <a:off x="4846320" y="3355848"/>
            <a:ext cx="6659575" cy="914"/>
          </a:xfrm>
          <a:prstGeom prst="line">
            <a:avLst/>
          </a:prstGeom>
          <a:noFill/>
          <a:ln w="9525">
            <a:solidFill>
              <a:srgbClr val="E2E6EC"/>
            </a:solidFill>
            <a:prstDash val="solid"/>
          </a:ln>
        </p:spPr>
      </p:sp>
      <p:sp>
        <p:nvSpPr>
          <p:cNvPr id="12" name="Text 10"/>
          <p:cNvSpPr txBox="1"/>
          <p:nvPr/>
        </p:nvSpPr>
        <p:spPr>
          <a:xfrm>
            <a:off x="4846320" y="347472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03</a:t>
            </a:r>
            <a:endParaRPr lang="en-US" sz="3000" dirty="0"/>
          </a:p>
        </p:txBody>
      </p:sp>
      <p:sp>
        <p:nvSpPr>
          <p:cNvPr id="13" name="Text 11"/>
          <p:cNvSpPr txBox="1"/>
          <p:nvPr/>
        </p:nvSpPr>
        <p:spPr>
          <a:xfrm>
            <a:off x="5852160" y="352044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Results</a:t>
            </a:r>
            <a:endParaRPr lang="en-US" sz="2000" dirty="0"/>
          </a:p>
        </p:txBody>
      </p:sp>
      <p:sp>
        <p:nvSpPr>
          <p:cNvPr id="14" name="Text 12"/>
          <p:cNvSpPr txBox="1"/>
          <p:nvPr/>
        </p:nvSpPr>
        <p:spPr>
          <a:xfrm>
            <a:off x="5852160" y="395020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Five results on real APT traffic, including 15 models and 5 random seeds</a:t>
            </a:r>
            <a:endParaRPr lang="en-US" sz="1300" dirty="0"/>
          </a:p>
        </p:txBody>
      </p:sp>
      <p:sp>
        <p:nvSpPr>
          <p:cNvPr id="15" name="Shape 13"/>
          <p:cNvSpPr/>
          <p:nvPr/>
        </p:nvSpPr>
        <p:spPr>
          <a:xfrm>
            <a:off x="4846320" y="4544568"/>
            <a:ext cx="6659575" cy="914"/>
          </a:xfrm>
          <a:prstGeom prst="line">
            <a:avLst/>
          </a:prstGeom>
          <a:noFill/>
          <a:ln w="9525">
            <a:solidFill>
              <a:srgbClr val="E2E6EC"/>
            </a:solidFill>
            <a:prstDash val="solid"/>
          </a:ln>
        </p:spPr>
      </p:sp>
      <p:sp>
        <p:nvSpPr>
          <p:cNvPr id="16" name="Text 14"/>
          <p:cNvSpPr txBox="1"/>
          <p:nvPr/>
        </p:nvSpPr>
        <p:spPr>
          <a:xfrm>
            <a:off x="4846320" y="466344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04</a:t>
            </a:r>
            <a:endParaRPr lang="en-US" sz="3000" dirty="0"/>
          </a:p>
        </p:txBody>
      </p:sp>
      <p:sp>
        <p:nvSpPr>
          <p:cNvPr id="17" name="Text 15"/>
          <p:cNvSpPr txBox="1"/>
          <p:nvPr/>
        </p:nvSpPr>
        <p:spPr>
          <a:xfrm>
            <a:off x="5852160" y="470916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Conclusions</a:t>
            </a:r>
            <a:endParaRPr lang="en-US" sz="2000" dirty="0"/>
          </a:p>
        </p:txBody>
      </p:sp>
      <p:sp>
        <p:nvSpPr>
          <p:cNvPr id="18" name="Text 16"/>
          <p:cNvSpPr txBox="1"/>
          <p:nvPr/>
        </p:nvSpPr>
        <p:spPr>
          <a:xfrm>
            <a:off x="5852160" y="513892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What we have shown so far and the plan for the final evaluation</a:t>
            </a:r>
            <a:endParaRPr lang="en-US" sz="1300" dirty="0"/>
          </a:p>
        </p:txBody>
      </p:sp>
      <p:sp>
        <p:nvSpPr>
          <p:cNvPr id="19" name="Text 1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0" name="Text 1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526"/>
        </a:solidFill>
      </p:bgPr>
    </p:bg>
    <p:spTree>
      <p:nvGrpSpPr>
        <p:cNvPr id="1" name=""/>
        <p:cNvGrpSpPr/>
        <p:nvPr/>
      </p:nvGrpSpPr>
      <p:grpSpPr>
        <a:xfrm>
          <a:off x="0" y="0"/>
          <a:ext cx="0" cy="0"/>
          <a:chOff x="0" y="0"/>
          <a:chExt cx="0" cy="0"/>
        </a:xfrm>
      </p:grpSpPr>
      <p:sp>
        <p:nvSpPr>
          <p:cNvPr id="2" name="Shape 0"/>
          <p:cNvSpPr/>
          <p:nvPr/>
        </p:nvSpPr>
        <p:spPr>
          <a:xfrm>
            <a:off x="6724324" y="693081"/>
            <a:ext cx="928311" cy="419835"/>
          </a:xfrm>
          <a:prstGeom prst="line">
            <a:avLst/>
          </a:prstGeom>
          <a:noFill/>
          <a:ln w="9525">
            <a:solidFill>
              <a:srgbClr val="2C3E5C"/>
            </a:solidFill>
            <a:prstDash val="solid"/>
          </a:ln>
        </p:spPr>
      </p:sp>
      <p:sp>
        <p:nvSpPr>
          <p:cNvPr id="3" name="Shape 1"/>
          <p:cNvSpPr/>
          <p:nvPr/>
        </p:nvSpPr>
        <p:spPr>
          <a:xfrm flipH="1">
            <a:off x="6437404" y="693081"/>
            <a:ext cx="286919" cy="1003812"/>
          </a:xfrm>
          <a:prstGeom prst="line">
            <a:avLst/>
          </a:prstGeom>
          <a:noFill/>
          <a:ln w="9525">
            <a:solidFill>
              <a:srgbClr val="2C3E5C"/>
            </a:solidFill>
            <a:prstDash val="solid"/>
          </a:ln>
        </p:spPr>
      </p:sp>
      <p:sp>
        <p:nvSpPr>
          <p:cNvPr id="4" name="Shape 2"/>
          <p:cNvSpPr/>
          <p:nvPr/>
        </p:nvSpPr>
        <p:spPr>
          <a:xfrm>
            <a:off x="7652634" y="1112917"/>
            <a:ext cx="52930" cy="568127"/>
          </a:xfrm>
          <a:prstGeom prst="line">
            <a:avLst/>
          </a:prstGeom>
          <a:noFill/>
          <a:ln w="9525">
            <a:solidFill>
              <a:srgbClr val="2C3E5C"/>
            </a:solidFill>
            <a:prstDash val="solid"/>
          </a:ln>
        </p:spPr>
      </p:sp>
      <p:sp>
        <p:nvSpPr>
          <p:cNvPr id="5" name="Shape 3"/>
          <p:cNvSpPr/>
          <p:nvPr/>
        </p:nvSpPr>
        <p:spPr>
          <a:xfrm flipV="1">
            <a:off x="7652634" y="803133"/>
            <a:ext cx="811815" cy="309784"/>
          </a:xfrm>
          <a:prstGeom prst="line">
            <a:avLst/>
          </a:prstGeom>
          <a:noFill/>
          <a:ln w="9525">
            <a:solidFill>
              <a:srgbClr val="2C3E5C"/>
            </a:solidFill>
            <a:prstDash val="solid"/>
          </a:ln>
        </p:spPr>
      </p:sp>
      <p:sp>
        <p:nvSpPr>
          <p:cNvPr id="6" name="Shape 4"/>
          <p:cNvSpPr/>
          <p:nvPr/>
        </p:nvSpPr>
        <p:spPr>
          <a:xfrm flipV="1">
            <a:off x="8464450" y="732343"/>
            <a:ext cx="792931" cy="70790"/>
          </a:xfrm>
          <a:prstGeom prst="line">
            <a:avLst/>
          </a:prstGeom>
          <a:noFill/>
          <a:ln w="9525">
            <a:solidFill>
              <a:srgbClr val="2C3E5C"/>
            </a:solidFill>
            <a:prstDash val="solid"/>
          </a:ln>
        </p:spPr>
      </p:sp>
      <p:sp>
        <p:nvSpPr>
          <p:cNvPr id="7" name="Shape 5"/>
          <p:cNvSpPr/>
          <p:nvPr/>
        </p:nvSpPr>
        <p:spPr>
          <a:xfrm flipV="1">
            <a:off x="9257381" y="564562"/>
            <a:ext cx="1016479" cy="167781"/>
          </a:xfrm>
          <a:prstGeom prst="line">
            <a:avLst/>
          </a:prstGeom>
          <a:noFill/>
          <a:ln w="9525">
            <a:solidFill>
              <a:srgbClr val="2C3E5C"/>
            </a:solidFill>
            <a:prstDash val="solid"/>
          </a:ln>
        </p:spPr>
      </p:sp>
      <p:sp>
        <p:nvSpPr>
          <p:cNvPr id="8" name="Shape 6"/>
          <p:cNvSpPr/>
          <p:nvPr/>
        </p:nvSpPr>
        <p:spPr>
          <a:xfrm>
            <a:off x="10273859" y="564562"/>
            <a:ext cx="809812" cy="315465"/>
          </a:xfrm>
          <a:prstGeom prst="line">
            <a:avLst/>
          </a:prstGeom>
          <a:noFill/>
          <a:ln w="12700">
            <a:solidFill>
              <a:srgbClr val="E0533A">
                <a:alpha val="55000"/>
              </a:srgbClr>
            </a:solidFill>
            <a:prstDash val="solid"/>
          </a:ln>
        </p:spPr>
      </p:sp>
      <p:sp>
        <p:nvSpPr>
          <p:cNvPr id="9" name="Shape 7"/>
          <p:cNvSpPr/>
          <p:nvPr/>
        </p:nvSpPr>
        <p:spPr>
          <a:xfrm>
            <a:off x="10273859" y="564562"/>
            <a:ext cx="180642" cy="921854"/>
          </a:xfrm>
          <a:prstGeom prst="line">
            <a:avLst/>
          </a:prstGeom>
          <a:noFill/>
          <a:ln w="9525">
            <a:solidFill>
              <a:srgbClr val="2C3E5C"/>
            </a:solidFill>
            <a:prstDash val="solid"/>
          </a:ln>
        </p:spPr>
      </p:sp>
      <p:sp>
        <p:nvSpPr>
          <p:cNvPr id="10" name="Shape 8"/>
          <p:cNvSpPr/>
          <p:nvPr/>
        </p:nvSpPr>
        <p:spPr>
          <a:xfrm>
            <a:off x="11083671" y="880027"/>
            <a:ext cx="127185" cy="694656"/>
          </a:xfrm>
          <a:prstGeom prst="line">
            <a:avLst/>
          </a:prstGeom>
          <a:noFill/>
          <a:ln w="12700">
            <a:solidFill>
              <a:srgbClr val="E0533A">
                <a:alpha val="55000"/>
              </a:srgbClr>
            </a:solidFill>
            <a:prstDash val="solid"/>
          </a:ln>
        </p:spPr>
      </p:sp>
      <p:sp>
        <p:nvSpPr>
          <p:cNvPr id="11" name="Shape 9"/>
          <p:cNvSpPr/>
          <p:nvPr/>
        </p:nvSpPr>
        <p:spPr>
          <a:xfrm>
            <a:off x="6437404" y="1696893"/>
            <a:ext cx="271152" cy="793144"/>
          </a:xfrm>
          <a:prstGeom prst="line">
            <a:avLst/>
          </a:prstGeom>
          <a:noFill/>
          <a:ln w="9525">
            <a:solidFill>
              <a:srgbClr val="2C3E5C"/>
            </a:solidFill>
            <a:prstDash val="solid"/>
          </a:ln>
        </p:spPr>
      </p:sp>
      <p:sp>
        <p:nvSpPr>
          <p:cNvPr id="12" name="Shape 10"/>
          <p:cNvSpPr/>
          <p:nvPr/>
        </p:nvSpPr>
        <p:spPr>
          <a:xfrm>
            <a:off x="7705564" y="1681044"/>
            <a:ext cx="23395" cy="1060546"/>
          </a:xfrm>
          <a:prstGeom prst="line">
            <a:avLst/>
          </a:prstGeom>
          <a:noFill/>
          <a:ln w="9525">
            <a:solidFill>
              <a:srgbClr val="2C3E5C"/>
            </a:solidFill>
            <a:prstDash val="solid"/>
          </a:ln>
        </p:spPr>
      </p:sp>
      <p:sp>
        <p:nvSpPr>
          <p:cNvPr id="13" name="Shape 11"/>
          <p:cNvSpPr/>
          <p:nvPr/>
        </p:nvSpPr>
        <p:spPr>
          <a:xfrm flipH="1">
            <a:off x="9584973" y="1979448"/>
            <a:ext cx="119031" cy="330665"/>
          </a:xfrm>
          <a:prstGeom prst="line">
            <a:avLst/>
          </a:prstGeom>
          <a:noFill/>
          <a:ln w="9525">
            <a:solidFill>
              <a:srgbClr val="2C3E5C"/>
            </a:solidFill>
            <a:prstDash val="solid"/>
          </a:ln>
        </p:spPr>
      </p:sp>
      <p:sp>
        <p:nvSpPr>
          <p:cNvPr id="14" name="Shape 12"/>
          <p:cNvSpPr/>
          <p:nvPr/>
        </p:nvSpPr>
        <p:spPr>
          <a:xfrm>
            <a:off x="9704004" y="1979448"/>
            <a:ext cx="366415" cy="312572"/>
          </a:xfrm>
          <a:prstGeom prst="line">
            <a:avLst/>
          </a:prstGeom>
          <a:noFill/>
          <a:ln w="9525">
            <a:solidFill>
              <a:srgbClr val="2C3E5C"/>
            </a:solidFill>
            <a:prstDash val="solid"/>
          </a:ln>
        </p:spPr>
      </p:sp>
      <p:sp>
        <p:nvSpPr>
          <p:cNvPr id="15" name="Shape 13"/>
          <p:cNvSpPr/>
          <p:nvPr/>
        </p:nvSpPr>
        <p:spPr>
          <a:xfrm>
            <a:off x="10454501" y="1486416"/>
            <a:ext cx="756355" cy="88267"/>
          </a:xfrm>
          <a:prstGeom prst="line">
            <a:avLst/>
          </a:prstGeom>
          <a:noFill/>
          <a:ln w="9525">
            <a:solidFill>
              <a:srgbClr val="2C3E5C"/>
            </a:solidFill>
            <a:prstDash val="solid"/>
          </a:ln>
        </p:spPr>
      </p:sp>
      <p:sp>
        <p:nvSpPr>
          <p:cNvPr id="16" name="Shape 14"/>
          <p:cNvSpPr/>
          <p:nvPr/>
        </p:nvSpPr>
        <p:spPr>
          <a:xfrm flipH="1">
            <a:off x="10454501" y="880027"/>
            <a:ext cx="629170" cy="606389"/>
          </a:xfrm>
          <a:prstGeom prst="line">
            <a:avLst/>
          </a:prstGeom>
          <a:noFill/>
          <a:ln w="12700">
            <a:solidFill>
              <a:srgbClr val="E0533A">
                <a:alpha val="55000"/>
              </a:srgbClr>
            </a:solidFill>
            <a:prstDash val="solid"/>
          </a:ln>
        </p:spPr>
      </p:sp>
      <p:sp>
        <p:nvSpPr>
          <p:cNvPr id="17" name="Shape 15"/>
          <p:cNvSpPr/>
          <p:nvPr/>
        </p:nvSpPr>
        <p:spPr>
          <a:xfrm>
            <a:off x="6708556" y="2490037"/>
            <a:ext cx="623782" cy="611111"/>
          </a:xfrm>
          <a:prstGeom prst="line">
            <a:avLst/>
          </a:prstGeom>
          <a:noFill/>
          <a:ln w="12700">
            <a:solidFill>
              <a:srgbClr val="E0533A">
                <a:alpha val="55000"/>
              </a:srgbClr>
            </a:solidFill>
            <a:prstDash val="solid"/>
          </a:ln>
        </p:spPr>
      </p:sp>
      <p:sp>
        <p:nvSpPr>
          <p:cNvPr id="18" name="Shape 16"/>
          <p:cNvSpPr/>
          <p:nvPr/>
        </p:nvSpPr>
        <p:spPr>
          <a:xfrm flipH="1">
            <a:off x="7332338" y="2741590"/>
            <a:ext cx="396621" cy="359558"/>
          </a:xfrm>
          <a:prstGeom prst="line">
            <a:avLst/>
          </a:prstGeom>
          <a:noFill/>
          <a:ln w="12700">
            <a:solidFill>
              <a:srgbClr val="E0533A">
                <a:alpha val="55000"/>
              </a:srgbClr>
            </a:solidFill>
            <a:prstDash val="solid"/>
          </a:ln>
        </p:spPr>
      </p:sp>
      <p:sp>
        <p:nvSpPr>
          <p:cNvPr id="19" name="Shape 17"/>
          <p:cNvSpPr/>
          <p:nvPr/>
        </p:nvSpPr>
        <p:spPr>
          <a:xfrm>
            <a:off x="6708556" y="2490037"/>
            <a:ext cx="1020403" cy="251553"/>
          </a:xfrm>
          <a:prstGeom prst="line">
            <a:avLst/>
          </a:prstGeom>
          <a:noFill/>
          <a:ln w="9525">
            <a:solidFill>
              <a:srgbClr val="2C3E5C"/>
            </a:solidFill>
            <a:prstDash val="solid"/>
          </a:ln>
        </p:spPr>
      </p:sp>
      <p:sp>
        <p:nvSpPr>
          <p:cNvPr id="20" name="Shape 18"/>
          <p:cNvSpPr/>
          <p:nvPr/>
        </p:nvSpPr>
        <p:spPr>
          <a:xfrm flipV="1">
            <a:off x="8840915" y="2310113"/>
            <a:ext cx="744058" cy="547424"/>
          </a:xfrm>
          <a:prstGeom prst="line">
            <a:avLst/>
          </a:prstGeom>
          <a:noFill/>
          <a:ln w="9525">
            <a:solidFill>
              <a:srgbClr val="2C3E5C"/>
            </a:solidFill>
            <a:prstDash val="solid"/>
          </a:ln>
        </p:spPr>
      </p:sp>
      <p:sp>
        <p:nvSpPr>
          <p:cNvPr id="21" name="Shape 19"/>
          <p:cNvSpPr/>
          <p:nvPr/>
        </p:nvSpPr>
        <p:spPr>
          <a:xfrm>
            <a:off x="8840915" y="2857537"/>
            <a:ext cx="716153" cy="745180"/>
          </a:xfrm>
          <a:prstGeom prst="line">
            <a:avLst/>
          </a:prstGeom>
          <a:noFill/>
          <a:ln w="9525">
            <a:solidFill>
              <a:srgbClr val="2C3E5C"/>
            </a:solidFill>
            <a:prstDash val="solid"/>
          </a:ln>
        </p:spPr>
      </p:sp>
      <p:sp>
        <p:nvSpPr>
          <p:cNvPr id="22" name="Shape 20"/>
          <p:cNvSpPr/>
          <p:nvPr/>
        </p:nvSpPr>
        <p:spPr>
          <a:xfrm flipV="1">
            <a:off x="9584973" y="2292019"/>
            <a:ext cx="485446" cy="18094"/>
          </a:xfrm>
          <a:prstGeom prst="line">
            <a:avLst/>
          </a:prstGeom>
          <a:noFill/>
          <a:ln w="9525">
            <a:solidFill>
              <a:srgbClr val="2C3E5C"/>
            </a:solidFill>
            <a:prstDash val="solid"/>
          </a:ln>
        </p:spPr>
      </p:sp>
      <p:sp>
        <p:nvSpPr>
          <p:cNvPr id="23" name="Shape 21"/>
          <p:cNvSpPr/>
          <p:nvPr/>
        </p:nvSpPr>
        <p:spPr>
          <a:xfrm>
            <a:off x="11218349" y="2763714"/>
            <a:ext cx="420044" cy="496625"/>
          </a:xfrm>
          <a:prstGeom prst="line">
            <a:avLst/>
          </a:prstGeom>
          <a:noFill/>
          <a:ln w="9525">
            <a:solidFill>
              <a:srgbClr val="2C3E5C"/>
            </a:solidFill>
            <a:prstDash val="solid"/>
          </a:ln>
        </p:spPr>
      </p:sp>
      <p:sp>
        <p:nvSpPr>
          <p:cNvPr id="24" name="Shape 22"/>
          <p:cNvSpPr/>
          <p:nvPr/>
        </p:nvSpPr>
        <p:spPr>
          <a:xfrm flipH="1">
            <a:off x="10731348" y="2763714"/>
            <a:ext cx="487002" cy="468275"/>
          </a:xfrm>
          <a:prstGeom prst="line">
            <a:avLst/>
          </a:prstGeom>
          <a:noFill/>
          <a:ln w="9525">
            <a:solidFill>
              <a:srgbClr val="2C3E5C"/>
            </a:solidFill>
            <a:prstDash val="solid"/>
          </a:ln>
        </p:spPr>
      </p:sp>
      <p:sp>
        <p:nvSpPr>
          <p:cNvPr id="25" name="Shape 23"/>
          <p:cNvSpPr/>
          <p:nvPr/>
        </p:nvSpPr>
        <p:spPr>
          <a:xfrm flipH="1">
            <a:off x="6407188" y="3538530"/>
            <a:ext cx="148444" cy="467365"/>
          </a:xfrm>
          <a:prstGeom prst="line">
            <a:avLst/>
          </a:prstGeom>
          <a:noFill/>
          <a:ln w="9525">
            <a:solidFill>
              <a:srgbClr val="2C3E5C"/>
            </a:solidFill>
            <a:prstDash val="solid"/>
          </a:ln>
        </p:spPr>
      </p:sp>
      <p:sp>
        <p:nvSpPr>
          <p:cNvPr id="26" name="Shape 24"/>
          <p:cNvSpPr/>
          <p:nvPr/>
        </p:nvSpPr>
        <p:spPr>
          <a:xfrm flipV="1">
            <a:off x="6555632" y="3101149"/>
            <a:ext cx="776706" cy="437381"/>
          </a:xfrm>
          <a:prstGeom prst="line">
            <a:avLst/>
          </a:prstGeom>
          <a:noFill/>
          <a:ln w="12700">
            <a:solidFill>
              <a:srgbClr val="E0533A">
                <a:alpha val="55000"/>
              </a:srgbClr>
            </a:solidFill>
            <a:prstDash val="solid"/>
          </a:ln>
        </p:spPr>
      </p:sp>
      <p:sp>
        <p:nvSpPr>
          <p:cNvPr id="27" name="Shape 25"/>
          <p:cNvSpPr/>
          <p:nvPr/>
        </p:nvSpPr>
        <p:spPr>
          <a:xfrm>
            <a:off x="9557068" y="3602717"/>
            <a:ext cx="133671" cy="515754"/>
          </a:xfrm>
          <a:prstGeom prst="line">
            <a:avLst/>
          </a:prstGeom>
          <a:noFill/>
          <a:ln w="9525">
            <a:solidFill>
              <a:srgbClr val="2C3E5C"/>
            </a:solidFill>
            <a:prstDash val="solid"/>
          </a:ln>
        </p:spPr>
      </p:sp>
      <p:sp>
        <p:nvSpPr>
          <p:cNvPr id="28" name="Shape 26"/>
          <p:cNvSpPr/>
          <p:nvPr/>
        </p:nvSpPr>
        <p:spPr>
          <a:xfrm>
            <a:off x="9557068" y="3602717"/>
            <a:ext cx="587494" cy="728329"/>
          </a:xfrm>
          <a:prstGeom prst="line">
            <a:avLst/>
          </a:prstGeom>
          <a:noFill/>
          <a:ln w="9525">
            <a:solidFill>
              <a:srgbClr val="2C3E5C"/>
            </a:solidFill>
            <a:prstDash val="solid"/>
          </a:ln>
        </p:spPr>
      </p:sp>
      <p:sp>
        <p:nvSpPr>
          <p:cNvPr id="29" name="Shape 27"/>
          <p:cNvSpPr/>
          <p:nvPr/>
        </p:nvSpPr>
        <p:spPr>
          <a:xfrm>
            <a:off x="10731348" y="3231988"/>
            <a:ext cx="907045" cy="28350"/>
          </a:xfrm>
          <a:prstGeom prst="line">
            <a:avLst/>
          </a:prstGeom>
          <a:noFill/>
          <a:ln w="9525">
            <a:solidFill>
              <a:srgbClr val="2C3E5C"/>
            </a:solidFill>
            <a:prstDash val="solid"/>
          </a:ln>
        </p:spPr>
      </p:sp>
      <p:sp>
        <p:nvSpPr>
          <p:cNvPr id="30" name="Shape 28"/>
          <p:cNvSpPr/>
          <p:nvPr/>
        </p:nvSpPr>
        <p:spPr>
          <a:xfrm>
            <a:off x="6407188" y="4005895"/>
            <a:ext cx="253837" cy="1088980"/>
          </a:xfrm>
          <a:prstGeom prst="line">
            <a:avLst/>
          </a:prstGeom>
          <a:noFill/>
          <a:ln w="9525">
            <a:solidFill>
              <a:srgbClr val="2C3E5C"/>
            </a:solidFill>
            <a:prstDash val="solid"/>
          </a:ln>
        </p:spPr>
      </p:sp>
      <p:sp>
        <p:nvSpPr>
          <p:cNvPr id="31" name="Shape 29"/>
          <p:cNvSpPr/>
          <p:nvPr/>
        </p:nvSpPr>
        <p:spPr>
          <a:xfrm flipH="1">
            <a:off x="7550885" y="4444202"/>
            <a:ext cx="351778" cy="500081"/>
          </a:xfrm>
          <a:prstGeom prst="line">
            <a:avLst/>
          </a:prstGeom>
          <a:noFill/>
          <a:ln w="9525">
            <a:solidFill>
              <a:srgbClr val="2C3E5C"/>
            </a:solidFill>
            <a:prstDash val="solid"/>
          </a:ln>
        </p:spPr>
      </p:sp>
      <p:sp>
        <p:nvSpPr>
          <p:cNvPr id="32" name="Shape 30"/>
          <p:cNvSpPr/>
          <p:nvPr/>
        </p:nvSpPr>
        <p:spPr>
          <a:xfrm flipV="1">
            <a:off x="7902663" y="4101021"/>
            <a:ext cx="540350" cy="343181"/>
          </a:xfrm>
          <a:prstGeom prst="line">
            <a:avLst/>
          </a:prstGeom>
          <a:noFill/>
          <a:ln w="9525">
            <a:solidFill>
              <a:srgbClr val="2C3E5C"/>
            </a:solidFill>
            <a:prstDash val="solid"/>
          </a:ln>
        </p:spPr>
      </p:sp>
      <p:sp>
        <p:nvSpPr>
          <p:cNvPr id="33" name="Shape 31"/>
          <p:cNvSpPr/>
          <p:nvPr/>
        </p:nvSpPr>
        <p:spPr>
          <a:xfrm>
            <a:off x="8443013" y="4101021"/>
            <a:ext cx="376346" cy="1105569"/>
          </a:xfrm>
          <a:prstGeom prst="line">
            <a:avLst/>
          </a:prstGeom>
          <a:noFill/>
          <a:ln w="9525">
            <a:solidFill>
              <a:srgbClr val="2C3E5C"/>
            </a:solidFill>
            <a:prstDash val="solid"/>
          </a:ln>
        </p:spPr>
      </p:sp>
      <p:sp>
        <p:nvSpPr>
          <p:cNvPr id="34" name="Shape 32"/>
          <p:cNvSpPr/>
          <p:nvPr/>
        </p:nvSpPr>
        <p:spPr>
          <a:xfrm>
            <a:off x="9690740" y="4118471"/>
            <a:ext cx="453822" cy="212575"/>
          </a:xfrm>
          <a:prstGeom prst="line">
            <a:avLst/>
          </a:prstGeom>
          <a:noFill/>
          <a:ln w="9525">
            <a:solidFill>
              <a:srgbClr val="2C3E5C"/>
            </a:solidFill>
            <a:prstDash val="solid"/>
          </a:ln>
        </p:spPr>
      </p:sp>
      <p:sp>
        <p:nvSpPr>
          <p:cNvPr id="35" name="Shape 33"/>
          <p:cNvSpPr/>
          <p:nvPr/>
        </p:nvSpPr>
        <p:spPr>
          <a:xfrm flipV="1">
            <a:off x="10144562" y="4330483"/>
            <a:ext cx="827788" cy="914"/>
          </a:xfrm>
          <a:prstGeom prst="line">
            <a:avLst/>
          </a:prstGeom>
          <a:noFill/>
          <a:ln w="9525">
            <a:solidFill>
              <a:srgbClr val="2C3E5C"/>
            </a:solidFill>
            <a:prstDash val="solid"/>
          </a:ln>
        </p:spPr>
      </p:sp>
      <p:sp>
        <p:nvSpPr>
          <p:cNvPr id="36" name="Shape 34"/>
          <p:cNvSpPr/>
          <p:nvPr/>
        </p:nvSpPr>
        <p:spPr>
          <a:xfrm>
            <a:off x="10731348" y="3231988"/>
            <a:ext cx="241003" cy="1098494"/>
          </a:xfrm>
          <a:prstGeom prst="line">
            <a:avLst/>
          </a:prstGeom>
          <a:noFill/>
          <a:ln w="9525">
            <a:solidFill>
              <a:srgbClr val="2C3E5C"/>
            </a:solidFill>
            <a:prstDash val="solid"/>
          </a:ln>
        </p:spPr>
      </p:sp>
      <p:sp>
        <p:nvSpPr>
          <p:cNvPr id="37" name="Shape 35"/>
          <p:cNvSpPr/>
          <p:nvPr/>
        </p:nvSpPr>
        <p:spPr>
          <a:xfrm>
            <a:off x="6661025" y="5094875"/>
            <a:ext cx="208860" cy="759512"/>
          </a:xfrm>
          <a:prstGeom prst="line">
            <a:avLst/>
          </a:prstGeom>
          <a:noFill/>
          <a:ln w="9525">
            <a:solidFill>
              <a:srgbClr val="2C3E5C"/>
            </a:solidFill>
            <a:prstDash val="solid"/>
          </a:ln>
        </p:spPr>
      </p:sp>
      <p:sp>
        <p:nvSpPr>
          <p:cNvPr id="38" name="Shape 36"/>
          <p:cNvSpPr/>
          <p:nvPr/>
        </p:nvSpPr>
        <p:spPr>
          <a:xfrm flipV="1">
            <a:off x="6661025" y="4944283"/>
            <a:ext cx="889860" cy="150592"/>
          </a:xfrm>
          <a:prstGeom prst="line">
            <a:avLst/>
          </a:prstGeom>
          <a:noFill/>
          <a:ln w="9525">
            <a:solidFill>
              <a:srgbClr val="2C3E5C"/>
            </a:solidFill>
            <a:prstDash val="solid"/>
          </a:ln>
        </p:spPr>
      </p:sp>
      <p:sp>
        <p:nvSpPr>
          <p:cNvPr id="39" name="Shape 37"/>
          <p:cNvSpPr/>
          <p:nvPr/>
        </p:nvSpPr>
        <p:spPr>
          <a:xfrm flipV="1">
            <a:off x="8819359" y="4842491"/>
            <a:ext cx="635927" cy="364098"/>
          </a:xfrm>
          <a:prstGeom prst="line">
            <a:avLst/>
          </a:prstGeom>
          <a:noFill/>
          <a:ln w="9525">
            <a:solidFill>
              <a:srgbClr val="2C3E5C"/>
            </a:solidFill>
            <a:prstDash val="solid"/>
          </a:ln>
        </p:spPr>
      </p:sp>
      <p:sp>
        <p:nvSpPr>
          <p:cNvPr id="40" name="Shape 38"/>
          <p:cNvSpPr/>
          <p:nvPr/>
        </p:nvSpPr>
        <p:spPr>
          <a:xfrm flipH="1">
            <a:off x="8537081" y="5206589"/>
            <a:ext cx="282278" cy="785703"/>
          </a:xfrm>
          <a:prstGeom prst="line">
            <a:avLst/>
          </a:prstGeom>
          <a:noFill/>
          <a:ln w="9525">
            <a:solidFill>
              <a:srgbClr val="2C3E5C"/>
            </a:solidFill>
            <a:prstDash val="solid"/>
          </a:ln>
        </p:spPr>
      </p:sp>
      <p:sp>
        <p:nvSpPr>
          <p:cNvPr id="41" name="Shape 39"/>
          <p:cNvSpPr/>
          <p:nvPr/>
        </p:nvSpPr>
        <p:spPr>
          <a:xfrm>
            <a:off x="9455287" y="4842491"/>
            <a:ext cx="574190" cy="434935"/>
          </a:xfrm>
          <a:prstGeom prst="line">
            <a:avLst/>
          </a:prstGeom>
          <a:noFill/>
          <a:ln w="9525">
            <a:solidFill>
              <a:srgbClr val="2C3E5C"/>
            </a:solidFill>
            <a:prstDash val="solid"/>
          </a:ln>
        </p:spPr>
      </p:sp>
      <p:sp>
        <p:nvSpPr>
          <p:cNvPr id="42" name="Shape 40"/>
          <p:cNvSpPr/>
          <p:nvPr/>
        </p:nvSpPr>
        <p:spPr>
          <a:xfrm flipH="1">
            <a:off x="9780859" y="5277426"/>
            <a:ext cx="248618" cy="404534"/>
          </a:xfrm>
          <a:prstGeom prst="line">
            <a:avLst/>
          </a:prstGeom>
          <a:noFill/>
          <a:ln w="9525">
            <a:solidFill>
              <a:srgbClr val="2C3E5C"/>
            </a:solidFill>
            <a:prstDash val="solid"/>
          </a:ln>
        </p:spPr>
      </p:sp>
      <p:sp>
        <p:nvSpPr>
          <p:cNvPr id="43" name="Shape 41"/>
          <p:cNvSpPr/>
          <p:nvPr/>
        </p:nvSpPr>
        <p:spPr>
          <a:xfrm flipV="1">
            <a:off x="6869885" y="5825527"/>
            <a:ext cx="1051305" cy="28860"/>
          </a:xfrm>
          <a:prstGeom prst="line">
            <a:avLst/>
          </a:prstGeom>
          <a:noFill/>
          <a:ln w="9525">
            <a:solidFill>
              <a:srgbClr val="2C3E5C"/>
            </a:solidFill>
            <a:prstDash val="solid"/>
          </a:ln>
        </p:spPr>
      </p:sp>
      <p:sp>
        <p:nvSpPr>
          <p:cNvPr id="44" name="Shape 42"/>
          <p:cNvSpPr/>
          <p:nvPr/>
        </p:nvSpPr>
        <p:spPr>
          <a:xfrm>
            <a:off x="7921191" y="5825527"/>
            <a:ext cx="615891" cy="166766"/>
          </a:xfrm>
          <a:prstGeom prst="line">
            <a:avLst/>
          </a:prstGeom>
          <a:noFill/>
          <a:ln w="9525">
            <a:solidFill>
              <a:srgbClr val="2C3E5C"/>
            </a:solidFill>
            <a:prstDash val="solid"/>
          </a:ln>
        </p:spPr>
      </p:sp>
      <p:sp>
        <p:nvSpPr>
          <p:cNvPr id="45" name="Shape 43"/>
          <p:cNvSpPr/>
          <p:nvPr/>
        </p:nvSpPr>
        <p:spPr>
          <a:xfrm>
            <a:off x="7550885" y="4944283"/>
            <a:ext cx="370306" cy="881244"/>
          </a:xfrm>
          <a:prstGeom prst="line">
            <a:avLst/>
          </a:prstGeom>
          <a:noFill/>
          <a:ln w="9525">
            <a:solidFill>
              <a:srgbClr val="2C3E5C"/>
            </a:solidFill>
            <a:prstDash val="solid"/>
          </a:ln>
        </p:spPr>
      </p:sp>
      <p:sp>
        <p:nvSpPr>
          <p:cNvPr id="46" name="Shape 44"/>
          <p:cNvSpPr/>
          <p:nvPr/>
        </p:nvSpPr>
        <p:spPr>
          <a:xfrm>
            <a:off x="9780859" y="5681960"/>
            <a:ext cx="541828" cy="499870"/>
          </a:xfrm>
          <a:prstGeom prst="line">
            <a:avLst/>
          </a:prstGeom>
          <a:noFill/>
          <a:ln w="9525">
            <a:solidFill>
              <a:srgbClr val="2C3E5C"/>
            </a:solidFill>
            <a:prstDash val="solid"/>
          </a:ln>
        </p:spPr>
      </p:sp>
      <p:sp>
        <p:nvSpPr>
          <p:cNvPr id="47" name="Shape 45"/>
          <p:cNvSpPr/>
          <p:nvPr/>
        </p:nvSpPr>
        <p:spPr>
          <a:xfrm>
            <a:off x="10029477" y="5277426"/>
            <a:ext cx="293210" cy="904404"/>
          </a:xfrm>
          <a:prstGeom prst="line">
            <a:avLst/>
          </a:prstGeom>
          <a:noFill/>
          <a:ln w="9525">
            <a:solidFill>
              <a:srgbClr val="2C3E5C"/>
            </a:solidFill>
            <a:prstDash val="solid"/>
          </a:ln>
        </p:spPr>
      </p:sp>
      <p:sp>
        <p:nvSpPr>
          <p:cNvPr id="48" name="Shape 46"/>
          <p:cNvSpPr/>
          <p:nvPr/>
        </p:nvSpPr>
        <p:spPr>
          <a:xfrm flipV="1">
            <a:off x="10322687" y="6071926"/>
            <a:ext cx="1196179" cy="109904"/>
          </a:xfrm>
          <a:prstGeom prst="line">
            <a:avLst/>
          </a:prstGeom>
          <a:noFill/>
          <a:ln w="9525">
            <a:solidFill>
              <a:srgbClr val="2C3E5C"/>
            </a:solidFill>
            <a:prstDash val="solid"/>
          </a:ln>
        </p:spPr>
      </p:sp>
      <p:sp>
        <p:nvSpPr>
          <p:cNvPr id="49" name="Shape 47"/>
          <p:cNvSpPr/>
          <p:nvPr/>
        </p:nvSpPr>
        <p:spPr>
          <a:xfrm>
            <a:off x="10029477" y="5277426"/>
            <a:ext cx="1489389" cy="794500"/>
          </a:xfrm>
          <a:prstGeom prst="line">
            <a:avLst/>
          </a:prstGeom>
          <a:noFill/>
          <a:ln w="9525">
            <a:solidFill>
              <a:srgbClr val="2C3E5C"/>
            </a:solidFill>
            <a:prstDash val="solid"/>
          </a:ln>
        </p:spPr>
      </p:sp>
      <p:sp>
        <p:nvSpPr>
          <p:cNvPr id="50" name="Shape 48"/>
          <p:cNvSpPr/>
          <p:nvPr/>
        </p:nvSpPr>
        <p:spPr>
          <a:xfrm>
            <a:off x="6671336" y="640093"/>
            <a:ext cx="105975" cy="105975"/>
          </a:xfrm>
          <a:prstGeom prst="ellipse">
            <a:avLst/>
          </a:prstGeom>
          <a:solidFill>
            <a:srgbClr val="4B6388"/>
          </a:solidFill>
          <a:ln w="12700">
            <a:solidFill>
              <a:srgbClr val="4B6388"/>
            </a:solidFill>
            <a:prstDash val="solid"/>
          </a:ln>
        </p:spPr>
      </p:sp>
      <p:sp>
        <p:nvSpPr>
          <p:cNvPr id="51" name="Shape 49"/>
          <p:cNvSpPr/>
          <p:nvPr/>
        </p:nvSpPr>
        <p:spPr>
          <a:xfrm>
            <a:off x="7593970" y="1054252"/>
            <a:ext cx="117329" cy="117329"/>
          </a:xfrm>
          <a:prstGeom prst="ellipse">
            <a:avLst/>
          </a:prstGeom>
          <a:solidFill>
            <a:srgbClr val="4B6388"/>
          </a:solidFill>
          <a:ln w="12700">
            <a:solidFill>
              <a:srgbClr val="4B6388"/>
            </a:solidFill>
            <a:prstDash val="solid"/>
          </a:ln>
        </p:spPr>
      </p:sp>
      <p:sp>
        <p:nvSpPr>
          <p:cNvPr id="52" name="Shape 50"/>
          <p:cNvSpPr/>
          <p:nvPr/>
        </p:nvSpPr>
        <p:spPr>
          <a:xfrm>
            <a:off x="8417434" y="756117"/>
            <a:ext cx="94031" cy="94031"/>
          </a:xfrm>
          <a:prstGeom prst="ellipse">
            <a:avLst/>
          </a:prstGeom>
          <a:solidFill>
            <a:srgbClr val="4B6388"/>
          </a:solidFill>
          <a:ln w="12700">
            <a:solidFill>
              <a:srgbClr val="4B6388"/>
            </a:solidFill>
            <a:prstDash val="solid"/>
          </a:ln>
        </p:spPr>
      </p:sp>
      <p:sp>
        <p:nvSpPr>
          <p:cNvPr id="53" name="Shape 51"/>
          <p:cNvSpPr/>
          <p:nvPr/>
        </p:nvSpPr>
        <p:spPr>
          <a:xfrm>
            <a:off x="9198088" y="673050"/>
            <a:ext cx="118586" cy="118586"/>
          </a:xfrm>
          <a:prstGeom prst="ellipse">
            <a:avLst/>
          </a:prstGeom>
          <a:solidFill>
            <a:srgbClr val="4B6388"/>
          </a:solidFill>
          <a:ln w="12700">
            <a:solidFill>
              <a:srgbClr val="4B6388"/>
            </a:solidFill>
            <a:prstDash val="solid"/>
          </a:ln>
        </p:spPr>
      </p:sp>
      <p:sp>
        <p:nvSpPr>
          <p:cNvPr id="54" name="Shape 52"/>
          <p:cNvSpPr/>
          <p:nvPr/>
        </p:nvSpPr>
        <p:spPr>
          <a:xfrm>
            <a:off x="10228726" y="519428"/>
            <a:ext cx="90267" cy="90267"/>
          </a:xfrm>
          <a:prstGeom prst="ellipse">
            <a:avLst/>
          </a:prstGeom>
          <a:solidFill>
            <a:srgbClr val="4B6388"/>
          </a:solidFill>
          <a:ln w="12700">
            <a:solidFill>
              <a:srgbClr val="4B6388"/>
            </a:solidFill>
            <a:prstDash val="solid"/>
          </a:ln>
        </p:spPr>
      </p:sp>
      <p:sp>
        <p:nvSpPr>
          <p:cNvPr id="55" name="Shape 53"/>
          <p:cNvSpPr/>
          <p:nvPr/>
        </p:nvSpPr>
        <p:spPr>
          <a:xfrm>
            <a:off x="10864215" y="660571"/>
            <a:ext cx="438912" cy="438912"/>
          </a:xfrm>
          <a:prstGeom prst="ellipse">
            <a:avLst/>
          </a:prstGeom>
          <a:solidFill>
            <a:srgbClr val="E0533A">
              <a:alpha val="20000"/>
            </a:srgbClr>
          </a:solidFill>
          <a:ln w="12700">
            <a:solidFill>
              <a:srgbClr val="E0533A">
                <a:alpha val="20000"/>
              </a:srgbClr>
            </a:solidFill>
            <a:prstDash val="solid"/>
          </a:ln>
        </p:spPr>
      </p:sp>
      <p:sp>
        <p:nvSpPr>
          <p:cNvPr id="56" name="Shape 54"/>
          <p:cNvSpPr/>
          <p:nvPr/>
        </p:nvSpPr>
        <p:spPr>
          <a:xfrm>
            <a:off x="11001375" y="797731"/>
            <a:ext cx="164592" cy="164592"/>
          </a:xfrm>
          <a:prstGeom prst="ellipse">
            <a:avLst/>
          </a:prstGeom>
          <a:solidFill>
            <a:srgbClr val="E0533A"/>
          </a:solidFill>
          <a:ln w="12700">
            <a:solidFill>
              <a:srgbClr val="E0533A"/>
            </a:solidFill>
            <a:prstDash val="solid"/>
          </a:ln>
        </p:spPr>
      </p:sp>
      <p:sp>
        <p:nvSpPr>
          <p:cNvPr id="57" name="Shape 55"/>
          <p:cNvSpPr/>
          <p:nvPr/>
        </p:nvSpPr>
        <p:spPr>
          <a:xfrm>
            <a:off x="6403548" y="1663037"/>
            <a:ext cx="67712" cy="67712"/>
          </a:xfrm>
          <a:prstGeom prst="ellipse">
            <a:avLst/>
          </a:prstGeom>
          <a:solidFill>
            <a:srgbClr val="4B6388"/>
          </a:solidFill>
          <a:ln w="12700">
            <a:solidFill>
              <a:srgbClr val="4B6388"/>
            </a:solidFill>
            <a:prstDash val="solid"/>
          </a:ln>
        </p:spPr>
      </p:sp>
      <p:sp>
        <p:nvSpPr>
          <p:cNvPr id="58" name="Shape 56"/>
          <p:cNvSpPr/>
          <p:nvPr/>
        </p:nvSpPr>
        <p:spPr>
          <a:xfrm>
            <a:off x="7667254" y="1642733"/>
            <a:ext cx="76621" cy="76621"/>
          </a:xfrm>
          <a:prstGeom prst="ellipse">
            <a:avLst/>
          </a:prstGeom>
          <a:solidFill>
            <a:srgbClr val="4B6388"/>
          </a:solidFill>
          <a:ln w="12700">
            <a:solidFill>
              <a:srgbClr val="4B6388"/>
            </a:solidFill>
            <a:prstDash val="solid"/>
          </a:ln>
        </p:spPr>
      </p:sp>
      <p:sp>
        <p:nvSpPr>
          <p:cNvPr id="59" name="Shape 57"/>
          <p:cNvSpPr/>
          <p:nvPr/>
        </p:nvSpPr>
        <p:spPr>
          <a:xfrm>
            <a:off x="9664247" y="1939690"/>
            <a:ext cx="79514" cy="79514"/>
          </a:xfrm>
          <a:prstGeom prst="ellipse">
            <a:avLst/>
          </a:prstGeom>
          <a:solidFill>
            <a:srgbClr val="4B6388"/>
          </a:solidFill>
          <a:ln w="12700">
            <a:solidFill>
              <a:srgbClr val="4B6388"/>
            </a:solidFill>
            <a:prstDash val="solid"/>
          </a:ln>
        </p:spPr>
      </p:sp>
      <p:sp>
        <p:nvSpPr>
          <p:cNvPr id="60" name="Shape 58"/>
          <p:cNvSpPr/>
          <p:nvPr/>
        </p:nvSpPr>
        <p:spPr>
          <a:xfrm>
            <a:off x="10401557" y="1433472"/>
            <a:ext cx="105887" cy="105887"/>
          </a:xfrm>
          <a:prstGeom prst="ellipse">
            <a:avLst/>
          </a:prstGeom>
          <a:solidFill>
            <a:srgbClr val="4B6388"/>
          </a:solidFill>
          <a:ln w="12700">
            <a:solidFill>
              <a:srgbClr val="4B6388"/>
            </a:solidFill>
            <a:prstDash val="solid"/>
          </a:ln>
        </p:spPr>
      </p:sp>
      <p:sp>
        <p:nvSpPr>
          <p:cNvPr id="61" name="Shape 59"/>
          <p:cNvSpPr/>
          <p:nvPr/>
        </p:nvSpPr>
        <p:spPr>
          <a:xfrm>
            <a:off x="11176566" y="1540394"/>
            <a:ext cx="68579" cy="68579"/>
          </a:xfrm>
          <a:prstGeom prst="ellipse">
            <a:avLst/>
          </a:prstGeom>
          <a:solidFill>
            <a:srgbClr val="4B6388"/>
          </a:solidFill>
          <a:ln w="12700">
            <a:solidFill>
              <a:srgbClr val="4B6388"/>
            </a:solidFill>
            <a:prstDash val="solid"/>
          </a:ln>
        </p:spPr>
      </p:sp>
      <p:sp>
        <p:nvSpPr>
          <p:cNvPr id="62" name="Shape 60"/>
          <p:cNvSpPr/>
          <p:nvPr/>
        </p:nvSpPr>
        <p:spPr>
          <a:xfrm>
            <a:off x="6653154" y="2434635"/>
            <a:ext cx="110804" cy="110804"/>
          </a:xfrm>
          <a:prstGeom prst="ellipse">
            <a:avLst/>
          </a:prstGeom>
          <a:solidFill>
            <a:srgbClr val="4B6388"/>
          </a:solidFill>
          <a:ln w="12700">
            <a:solidFill>
              <a:srgbClr val="4B6388"/>
            </a:solidFill>
            <a:prstDash val="solid"/>
          </a:ln>
        </p:spPr>
      </p:sp>
      <p:sp>
        <p:nvSpPr>
          <p:cNvPr id="63" name="Shape 61"/>
          <p:cNvSpPr/>
          <p:nvPr/>
        </p:nvSpPr>
        <p:spPr>
          <a:xfrm>
            <a:off x="7683920" y="2696550"/>
            <a:ext cx="90079" cy="90079"/>
          </a:xfrm>
          <a:prstGeom prst="ellipse">
            <a:avLst/>
          </a:prstGeom>
          <a:solidFill>
            <a:srgbClr val="4B6388"/>
          </a:solidFill>
          <a:ln w="12700">
            <a:solidFill>
              <a:srgbClr val="4B6388"/>
            </a:solidFill>
            <a:prstDash val="solid"/>
          </a:ln>
        </p:spPr>
      </p:sp>
      <p:sp>
        <p:nvSpPr>
          <p:cNvPr id="64" name="Shape 62"/>
          <p:cNvSpPr/>
          <p:nvPr/>
        </p:nvSpPr>
        <p:spPr>
          <a:xfrm>
            <a:off x="8778101" y="2794722"/>
            <a:ext cx="125628" cy="125628"/>
          </a:xfrm>
          <a:prstGeom prst="ellipse">
            <a:avLst/>
          </a:prstGeom>
          <a:solidFill>
            <a:srgbClr val="4B6388"/>
          </a:solidFill>
          <a:ln w="12700">
            <a:solidFill>
              <a:srgbClr val="4B6388"/>
            </a:solidFill>
            <a:prstDash val="solid"/>
          </a:ln>
        </p:spPr>
      </p:sp>
      <p:sp>
        <p:nvSpPr>
          <p:cNvPr id="65" name="Shape 63"/>
          <p:cNvSpPr/>
          <p:nvPr/>
        </p:nvSpPr>
        <p:spPr>
          <a:xfrm>
            <a:off x="9543491" y="2268631"/>
            <a:ext cx="82964" cy="82964"/>
          </a:xfrm>
          <a:prstGeom prst="ellipse">
            <a:avLst/>
          </a:prstGeom>
          <a:solidFill>
            <a:srgbClr val="4B6388"/>
          </a:solidFill>
          <a:ln w="12700">
            <a:solidFill>
              <a:srgbClr val="4B6388"/>
            </a:solidFill>
            <a:prstDash val="solid"/>
          </a:ln>
        </p:spPr>
      </p:sp>
      <p:sp>
        <p:nvSpPr>
          <p:cNvPr id="66" name="Shape 64"/>
          <p:cNvSpPr/>
          <p:nvPr/>
        </p:nvSpPr>
        <p:spPr>
          <a:xfrm>
            <a:off x="10018899" y="2240499"/>
            <a:ext cx="103040" cy="103040"/>
          </a:xfrm>
          <a:prstGeom prst="ellipse">
            <a:avLst/>
          </a:prstGeom>
          <a:solidFill>
            <a:srgbClr val="4B6388"/>
          </a:solidFill>
          <a:ln w="12700">
            <a:solidFill>
              <a:srgbClr val="4B6388"/>
            </a:solidFill>
            <a:prstDash val="solid"/>
          </a:ln>
        </p:spPr>
      </p:sp>
      <p:sp>
        <p:nvSpPr>
          <p:cNvPr id="67" name="Shape 65"/>
          <p:cNvSpPr/>
          <p:nvPr/>
        </p:nvSpPr>
        <p:spPr>
          <a:xfrm>
            <a:off x="11172719" y="2718083"/>
            <a:ext cx="91261" cy="91261"/>
          </a:xfrm>
          <a:prstGeom prst="ellipse">
            <a:avLst/>
          </a:prstGeom>
          <a:solidFill>
            <a:srgbClr val="4B6388"/>
          </a:solidFill>
          <a:ln w="12700">
            <a:solidFill>
              <a:srgbClr val="4B6388"/>
            </a:solidFill>
            <a:prstDash val="solid"/>
          </a:ln>
        </p:spPr>
      </p:sp>
      <p:sp>
        <p:nvSpPr>
          <p:cNvPr id="68" name="Shape 66"/>
          <p:cNvSpPr/>
          <p:nvPr/>
        </p:nvSpPr>
        <p:spPr>
          <a:xfrm>
            <a:off x="6520172" y="3503070"/>
            <a:ext cx="70919" cy="70919"/>
          </a:xfrm>
          <a:prstGeom prst="ellipse">
            <a:avLst/>
          </a:prstGeom>
          <a:solidFill>
            <a:srgbClr val="4B6388"/>
          </a:solidFill>
          <a:ln w="12700">
            <a:solidFill>
              <a:srgbClr val="4B6388"/>
            </a:solidFill>
            <a:prstDash val="solid"/>
          </a:ln>
        </p:spPr>
      </p:sp>
      <p:sp>
        <p:nvSpPr>
          <p:cNvPr id="69" name="Shape 67"/>
          <p:cNvSpPr/>
          <p:nvPr/>
        </p:nvSpPr>
        <p:spPr>
          <a:xfrm>
            <a:off x="7112882" y="2881693"/>
            <a:ext cx="438912" cy="438912"/>
          </a:xfrm>
          <a:prstGeom prst="ellipse">
            <a:avLst/>
          </a:prstGeom>
          <a:solidFill>
            <a:srgbClr val="E0533A">
              <a:alpha val="20000"/>
            </a:srgbClr>
          </a:solidFill>
          <a:ln w="12700">
            <a:solidFill>
              <a:srgbClr val="E0533A">
                <a:alpha val="20000"/>
              </a:srgbClr>
            </a:solidFill>
            <a:prstDash val="solid"/>
          </a:ln>
        </p:spPr>
      </p:sp>
      <p:sp>
        <p:nvSpPr>
          <p:cNvPr id="70" name="Shape 68"/>
          <p:cNvSpPr/>
          <p:nvPr/>
        </p:nvSpPr>
        <p:spPr>
          <a:xfrm>
            <a:off x="7250042" y="3018853"/>
            <a:ext cx="164592" cy="164592"/>
          </a:xfrm>
          <a:prstGeom prst="ellipse">
            <a:avLst/>
          </a:prstGeom>
          <a:solidFill>
            <a:srgbClr val="E0533A"/>
          </a:solidFill>
          <a:ln w="12700">
            <a:solidFill>
              <a:srgbClr val="E0533A"/>
            </a:solidFill>
            <a:prstDash val="solid"/>
          </a:ln>
        </p:spPr>
      </p:sp>
      <p:sp>
        <p:nvSpPr>
          <p:cNvPr id="71" name="Shape 69"/>
          <p:cNvSpPr/>
          <p:nvPr/>
        </p:nvSpPr>
        <p:spPr>
          <a:xfrm>
            <a:off x="9514440" y="3560088"/>
            <a:ext cx="85257" cy="85257"/>
          </a:xfrm>
          <a:prstGeom prst="ellipse">
            <a:avLst/>
          </a:prstGeom>
          <a:solidFill>
            <a:srgbClr val="4B6388"/>
          </a:solidFill>
          <a:ln w="12700">
            <a:solidFill>
              <a:srgbClr val="4B6388"/>
            </a:solidFill>
            <a:prstDash val="solid"/>
          </a:ln>
        </p:spPr>
      </p:sp>
      <p:sp>
        <p:nvSpPr>
          <p:cNvPr id="72" name="Shape 70"/>
          <p:cNvSpPr/>
          <p:nvPr/>
        </p:nvSpPr>
        <p:spPr>
          <a:xfrm>
            <a:off x="10681158" y="3181798"/>
            <a:ext cx="100380" cy="100380"/>
          </a:xfrm>
          <a:prstGeom prst="ellipse">
            <a:avLst/>
          </a:prstGeom>
          <a:solidFill>
            <a:srgbClr val="4B6388"/>
          </a:solidFill>
          <a:ln w="12700">
            <a:solidFill>
              <a:srgbClr val="4B6388"/>
            </a:solidFill>
            <a:prstDash val="solid"/>
          </a:ln>
        </p:spPr>
      </p:sp>
      <p:sp>
        <p:nvSpPr>
          <p:cNvPr id="73" name="Shape 71"/>
          <p:cNvSpPr/>
          <p:nvPr/>
        </p:nvSpPr>
        <p:spPr>
          <a:xfrm>
            <a:off x="11599383" y="3221328"/>
            <a:ext cx="78020" cy="78020"/>
          </a:xfrm>
          <a:prstGeom prst="ellipse">
            <a:avLst/>
          </a:prstGeom>
          <a:solidFill>
            <a:srgbClr val="4B6388"/>
          </a:solidFill>
          <a:ln w="12700">
            <a:solidFill>
              <a:srgbClr val="4B6388"/>
            </a:solidFill>
            <a:prstDash val="solid"/>
          </a:ln>
        </p:spPr>
      </p:sp>
      <p:sp>
        <p:nvSpPr>
          <p:cNvPr id="74" name="Shape 72"/>
          <p:cNvSpPr/>
          <p:nvPr/>
        </p:nvSpPr>
        <p:spPr>
          <a:xfrm>
            <a:off x="6361487" y="3960193"/>
            <a:ext cx="91402" cy="91402"/>
          </a:xfrm>
          <a:prstGeom prst="ellipse">
            <a:avLst/>
          </a:prstGeom>
          <a:solidFill>
            <a:srgbClr val="4B6388"/>
          </a:solidFill>
          <a:ln w="12700">
            <a:solidFill>
              <a:srgbClr val="4B6388"/>
            </a:solidFill>
            <a:prstDash val="solid"/>
          </a:ln>
        </p:spPr>
      </p:sp>
      <p:sp>
        <p:nvSpPr>
          <p:cNvPr id="75" name="Shape 73"/>
          <p:cNvSpPr/>
          <p:nvPr/>
        </p:nvSpPr>
        <p:spPr>
          <a:xfrm>
            <a:off x="7868495" y="4410034"/>
            <a:ext cx="68335" cy="68335"/>
          </a:xfrm>
          <a:prstGeom prst="ellipse">
            <a:avLst/>
          </a:prstGeom>
          <a:solidFill>
            <a:srgbClr val="4B6388"/>
          </a:solidFill>
          <a:ln w="12700">
            <a:solidFill>
              <a:srgbClr val="4B6388"/>
            </a:solidFill>
            <a:prstDash val="solid"/>
          </a:ln>
        </p:spPr>
      </p:sp>
      <p:sp>
        <p:nvSpPr>
          <p:cNvPr id="76" name="Shape 74"/>
          <p:cNvSpPr/>
          <p:nvPr/>
        </p:nvSpPr>
        <p:spPr>
          <a:xfrm>
            <a:off x="8405081" y="4063088"/>
            <a:ext cx="75865" cy="75865"/>
          </a:xfrm>
          <a:prstGeom prst="ellipse">
            <a:avLst/>
          </a:prstGeom>
          <a:solidFill>
            <a:srgbClr val="4B6388"/>
          </a:solidFill>
          <a:ln w="12700">
            <a:solidFill>
              <a:srgbClr val="4B6388"/>
            </a:solidFill>
            <a:prstDash val="solid"/>
          </a:ln>
        </p:spPr>
      </p:sp>
      <p:sp>
        <p:nvSpPr>
          <p:cNvPr id="77" name="Shape 75"/>
          <p:cNvSpPr/>
          <p:nvPr/>
        </p:nvSpPr>
        <p:spPr>
          <a:xfrm>
            <a:off x="9630833" y="4058564"/>
            <a:ext cx="119813" cy="119813"/>
          </a:xfrm>
          <a:prstGeom prst="ellipse">
            <a:avLst/>
          </a:prstGeom>
          <a:solidFill>
            <a:srgbClr val="4B6388"/>
          </a:solidFill>
          <a:ln w="12700">
            <a:solidFill>
              <a:srgbClr val="4B6388"/>
            </a:solidFill>
            <a:prstDash val="solid"/>
          </a:ln>
        </p:spPr>
      </p:sp>
      <p:sp>
        <p:nvSpPr>
          <p:cNvPr id="78" name="Shape 76"/>
          <p:cNvSpPr/>
          <p:nvPr/>
        </p:nvSpPr>
        <p:spPr>
          <a:xfrm>
            <a:off x="10081258" y="4267742"/>
            <a:ext cx="126608" cy="126608"/>
          </a:xfrm>
          <a:prstGeom prst="ellipse">
            <a:avLst/>
          </a:prstGeom>
          <a:solidFill>
            <a:srgbClr val="4B6388"/>
          </a:solidFill>
          <a:ln w="12700">
            <a:solidFill>
              <a:srgbClr val="4B6388"/>
            </a:solidFill>
            <a:prstDash val="solid"/>
          </a:ln>
        </p:spPr>
      </p:sp>
      <p:sp>
        <p:nvSpPr>
          <p:cNvPr id="79" name="Shape 77"/>
          <p:cNvSpPr/>
          <p:nvPr/>
        </p:nvSpPr>
        <p:spPr>
          <a:xfrm>
            <a:off x="10920605" y="4278738"/>
            <a:ext cx="103490" cy="103490"/>
          </a:xfrm>
          <a:prstGeom prst="ellipse">
            <a:avLst/>
          </a:prstGeom>
          <a:solidFill>
            <a:srgbClr val="4B6388"/>
          </a:solidFill>
          <a:ln w="12700">
            <a:solidFill>
              <a:srgbClr val="4B6388"/>
            </a:solidFill>
            <a:prstDash val="solid"/>
          </a:ln>
        </p:spPr>
      </p:sp>
      <p:sp>
        <p:nvSpPr>
          <p:cNvPr id="80" name="Shape 78"/>
          <p:cNvSpPr/>
          <p:nvPr/>
        </p:nvSpPr>
        <p:spPr>
          <a:xfrm>
            <a:off x="6600226" y="5034076"/>
            <a:ext cx="121597" cy="121597"/>
          </a:xfrm>
          <a:prstGeom prst="ellipse">
            <a:avLst/>
          </a:prstGeom>
          <a:solidFill>
            <a:srgbClr val="4B6388"/>
          </a:solidFill>
          <a:ln w="12700">
            <a:solidFill>
              <a:srgbClr val="4B6388"/>
            </a:solidFill>
            <a:prstDash val="solid"/>
          </a:ln>
        </p:spPr>
      </p:sp>
      <p:sp>
        <p:nvSpPr>
          <p:cNvPr id="81" name="Shape 79"/>
          <p:cNvSpPr/>
          <p:nvPr/>
        </p:nvSpPr>
        <p:spPr>
          <a:xfrm>
            <a:off x="7504516" y="4897914"/>
            <a:ext cx="92738" cy="92738"/>
          </a:xfrm>
          <a:prstGeom prst="ellipse">
            <a:avLst/>
          </a:prstGeom>
          <a:solidFill>
            <a:srgbClr val="4B6388"/>
          </a:solidFill>
          <a:ln w="12700">
            <a:solidFill>
              <a:srgbClr val="4B6388"/>
            </a:solidFill>
            <a:prstDash val="solid"/>
          </a:ln>
        </p:spPr>
      </p:sp>
      <p:sp>
        <p:nvSpPr>
          <p:cNvPr id="82" name="Shape 80"/>
          <p:cNvSpPr/>
          <p:nvPr/>
        </p:nvSpPr>
        <p:spPr>
          <a:xfrm>
            <a:off x="8770444" y="5157674"/>
            <a:ext cx="97831" cy="97831"/>
          </a:xfrm>
          <a:prstGeom prst="ellipse">
            <a:avLst/>
          </a:prstGeom>
          <a:solidFill>
            <a:srgbClr val="4B6388"/>
          </a:solidFill>
          <a:ln w="12700">
            <a:solidFill>
              <a:srgbClr val="4B6388"/>
            </a:solidFill>
            <a:prstDash val="solid"/>
          </a:ln>
        </p:spPr>
      </p:sp>
      <p:sp>
        <p:nvSpPr>
          <p:cNvPr id="83" name="Shape 81"/>
          <p:cNvSpPr/>
          <p:nvPr/>
        </p:nvSpPr>
        <p:spPr>
          <a:xfrm>
            <a:off x="9413553" y="4800757"/>
            <a:ext cx="83468" cy="83468"/>
          </a:xfrm>
          <a:prstGeom prst="ellipse">
            <a:avLst/>
          </a:prstGeom>
          <a:solidFill>
            <a:srgbClr val="4B6388"/>
          </a:solidFill>
          <a:ln w="12700">
            <a:solidFill>
              <a:srgbClr val="4B6388"/>
            </a:solidFill>
            <a:prstDash val="solid"/>
          </a:ln>
        </p:spPr>
      </p:sp>
      <p:sp>
        <p:nvSpPr>
          <p:cNvPr id="84" name="Shape 82"/>
          <p:cNvSpPr/>
          <p:nvPr/>
        </p:nvSpPr>
        <p:spPr>
          <a:xfrm>
            <a:off x="9984821" y="5232770"/>
            <a:ext cx="89312" cy="89312"/>
          </a:xfrm>
          <a:prstGeom prst="ellipse">
            <a:avLst/>
          </a:prstGeom>
          <a:solidFill>
            <a:srgbClr val="4B6388"/>
          </a:solidFill>
          <a:ln w="12700">
            <a:solidFill>
              <a:srgbClr val="4B6388"/>
            </a:solidFill>
            <a:prstDash val="solid"/>
          </a:ln>
        </p:spPr>
      </p:sp>
      <p:sp>
        <p:nvSpPr>
          <p:cNvPr id="85" name="Shape 83"/>
          <p:cNvSpPr/>
          <p:nvPr/>
        </p:nvSpPr>
        <p:spPr>
          <a:xfrm>
            <a:off x="6833158" y="5817659"/>
            <a:ext cx="73455" cy="73455"/>
          </a:xfrm>
          <a:prstGeom prst="ellipse">
            <a:avLst/>
          </a:prstGeom>
          <a:solidFill>
            <a:srgbClr val="4B6388"/>
          </a:solidFill>
          <a:ln w="12700">
            <a:solidFill>
              <a:srgbClr val="4B6388"/>
            </a:solidFill>
            <a:prstDash val="solid"/>
          </a:ln>
        </p:spPr>
      </p:sp>
      <p:sp>
        <p:nvSpPr>
          <p:cNvPr id="86" name="Shape 84"/>
          <p:cNvSpPr/>
          <p:nvPr/>
        </p:nvSpPr>
        <p:spPr>
          <a:xfrm>
            <a:off x="7879824" y="5784160"/>
            <a:ext cx="82734" cy="82734"/>
          </a:xfrm>
          <a:prstGeom prst="ellipse">
            <a:avLst/>
          </a:prstGeom>
          <a:solidFill>
            <a:srgbClr val="4B6388"/>
          </a:solidFill>
          <a:ln w="12700">
            <a:solidFill>
              <a:srgbClr val="4B6388"/>
            </a:solidFill>
            <a:prstDash val="solid"/>
          </a:ln>
        </p:spPr>
      </p:sp>
      <p:sp>
        <p:nvSpPr>
          <p:cNvPr id="87" name="Shape 85"/>
          <p:cNvSpPr/>
          <p:nvPr/>
        </p:nvSpPr>
        <p:spPr>
          <a:xfrm>
            <a:off x="8483702" y="5938913"/>
            <a:ext cx="106759" cy="106759"/>
          </a:xfrm>
          <a:prstGeom prst="ellipse">
            <a:avLst/>
          </a:prstGeom>
          <a:solidFill>
            <a:srgbClr val="4B6388"/>
          </a:solidFill>
          <a:ln w="12700">
            <a:solidFill>
              <a:srgbClr val="4B6388"/>
            </a:solidFill>
            <a:prstDash val="solid"/>
          </a:ln>
        </p:spPr>
      </p:sp>
      <p:sp>
        <p:nvSpPr>
          <p:cNvPr id="88" name="Shape 86"/>
          <p:cNvSpPr/>
          <p:nvPr/>
        </p:nvSpPr>
        <p:spPr>
          <a:xfrm>
            <a:off x="9733487" y="5634588"/>
            <a:ext cx="94745" cy="94745"/>
          </a:xfrm>
          <a:prstGeom prst="ellipse">
            <a:avLst/>
          </a:prstGeom>
          <a:solidFill>
            <a:srgbClr val="4B6388"/>
          </a:solidFill>
          <a:ln w="12700">
            <a:solidFill>
              <a:srgbClr val="4B6388"/>
            </a:solidFill>
            <a:prstDash val="solid"/>
          </a:ln>
        </p:spPr>
      </p:sp>
      <p:sp>
        <p:nvSpPr>
          <p:cNvPr id="89" name="Shape 87"/>
          <p:cNvSpPr/>
          <p:nvPr/>
        </p:nvSpPr>
        <p:spPr>
          <a:xfrm>
            <a:off x="10271175" y="6130318"/>
            <a:ext cx="103024" cy="103024"/>
          </a:xfrm>
          <a:prstGeom prst="ellipse">
            <a:avLst/>
          </a:prstGeom>
          <a:solidFill>
            <a:srgbClr val="4B6388"/>
          </a:solidFill>
          <a:ln w="12700">
            <a:solidFill>
              <a:srgbClr val="4B6388"/>
            </a:solidFill>
            <a:prstDash val="solid"/>
          </a:ln>
        </p:spPr>
      </p:sp>
      <p:sp>
        <p:nvSpPr>
          <p:cNvPr id="90" name="Shape 88"/>
          <p:cNvSpPr/>
          <p:nvPr/>
        </p:nvSpPr>
        <p:spPr>
          <a:xfrm>
            <a:off x="11485516" y="6038575"/>
            <a:ext cx="66701" cy="66701"/>
          </a:xfrm>
          <a:prstGeom prst="ellipse">
            <a:avLst/>
          </a:prstGeom>
          <a:solidFill>
            <a:srgbClr val="4B6388"/>
          </a:solidFill>
          <a:ln w="12700">
            <a:solidFill>
              <a:srgbClr val="4B6388"/>
            </a:solidFill>
            <a:prstDash val="solid"/>
          </a:ln>
        </p:spPr>
      </p:sp>
      <p:sp>
        <p:nvSpPr>
          <p:cNvPr id="91" name="Text 89"/>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01</a:t>
            </a:r>
            <a:endParaRPr lang="en-US" sz="9600" dirty="0"/>
          </a:p>
        </p:txBody>
      </p:sp>
      <p:sp>
        <p:nvSpPr>
          <p:cNvPr id="92" name="Text 90"/>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Background</a:t>
            </a:r>
            <a:endParaRPr lang="en-US" sz="4400" dirty="0"/>
          </a:p>
        </p:txBody>
      </p:sp>
      <p:sp>
        <p:nvSpPr>
          <p:cNvPr id="93" name="Text 91"/>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The paper, what makes an APT different, and why its datasets fall short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01 · BACKGROUND</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paper: a hybrid ensemble for APT detection</a:t>
            </a:r>
            <a:endParaRPr lang="en-US" sz="3000" dirty="0"/>
          </a:p>
        </p:txBody>
      </p:sp>
      <p:sp>
        <p:nvSpPr>
          <p:cNvPr id="4" name="Shape 2"/>
          <p:cNvSpPr/>
          <p:nvPr/>
        </p:nvSpPr>
        <p:spPr>
          <a:xfrm>
            <a:off x="685800" y="1828800"/>
            <a:ext cx="5074920" cy="4251960"/>
          </a:xfrm>
          <a:prstGeom prst="roundRect">
            <a:avLst>
              <a:gd name="adj" fmla="val 1290"/>
            </a:avLst>
          </a:prstGeom>
          <a:solidFill>
            <a:srgbClr val="F4F6F9"/>
          </a:solidFill>
          <a:ln w="12700">
            <a:solidFill>
              <a:srgbClr val="F4F6F9"/>
            </a:solidFill>
            <a:prstDash val="solid"/>
          </a:ln>
        </p:spPr>
      </p:sp>
      <p:sp>
        <p:nvSpPr>
          <p:cNvPr id="5" name="Text 3"/>
          <p:cNvSpPr txBox="1"/>
          <p:nvPr/>
        </p:nvSpPr>
        <p:spPr>
          <a:xfrm>
            <a:off x="1051560" y="2148840"/>
            <a:ext cx="4389120" cy="27432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CONCURRENCY AND COMPUTATION: PRACTICE AND EXPERIENCE  ·  2023</a:t>
            </a:r>
            <a:endParaRPr lang="en-US" sz="950" dirty="0"/>
          </a:p>
        </p:txBody>
      </p:sp>
      <p:sp>
        <p:nvSpPr>
          <p:cNvPr id="6" name="Text 4"/>
          <p:cNvSpPr txBox="1"/>
          <p:nvPr/>
        </p:nvSpPr>
        <p:spPr>
          <a:xfrm>
            <a:off x="1051560" y="2514600"/>
            <a:ext cx="4389120" cy="1463040"/>
          </a:xfrm>
          <a:prstGeom prst="rect">
            <a:avLst/>
          </a:prstGeom>
          <a:noFill/>
          <a:ln/>
        </p:spPr>
        <p:txBody>
          <a:bodyPr wrap="square" lIns="0" tIns="0" rIns="0" bIns="0" rtlCol="0" anchor="t"/>
          <a:lstStyle/>
          <a:p>
            <a:pPr indent="0" marL="0">
              <a:buNone/>
            </a:pPr>
            <a:r>
              <a:rPr lang="en-US" sz="1900" dirty="0">
                <a:solidFill>
                  <a:srgbClr val="0F1B2D"/>
                </a:solidFill>
                <a:latin typeface="Georgia" pitchFamily="34" charset="0"/>
                <a:ea typeface="Georgia" pitchFamily="34" charset="-122"/>
                <a:cs typeface="Georgia" pitchFamily="34" charset="-120"/>
              </a:rPr>
              <a:t>A hybrid ensemble machine learning model for detecting APT attacks based on network behavior anomaly detection</a:t>
            </a:r>
            <a:endParaRPr lang="en-US" sz="1900" dirty="0"/>
          </a:p>
        </p:txBody>
      </p:sp>
      <p:sp>
        <p:nvSpPr>
          <p:cNvPr id="7" name="Text 5"/>
          <p:cNvSpPr txBox="1"/>
          <p:nvPr/>
        </p:nvSpPr>
        <p:spPr>
          <a:xfrm>
            <a:off x="1051560" y="3794760"/>
            <a:ext cx="4389120" cy="59436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Neeraj Saini, Vivekananda Bhat Kasaragod, Krishna Prakasha, Ashok Kumar Das</a:t>
            </a:r>
            <a:endParaRPr lang="en-US" sz="1300" dirty="0"/>
          </a:p>
        </p:txBody>
      </p:sp>
      <p:sp>
        <p:nvSpPr>
          <p:cNvPr id="8" name="Text 6"/>
          <p:cNvSpPr txBox="1"/>
          <p:nvPr/>
        </p:nvSpPr>
        <p:spPr>
          <a:xfrm>
            <a:off x="1051560" y="4434840"/>
            <a:ext cx="4389120" cy="274320"/>
          </a:xfrm>
          <a:prstGeom prst="rect">
            <a:avLst/>
          </a:prstGeom>
          <a:noFill/>
          <a:ln/>
        </p:spPr>
        <p:txBody>
          <a:bodyPr wrap="square" lIns="0" tIns="0" rIns="0" bIns="0" rtlCol="0" anchor="t"/>
          <a:lstStyle/>
          <a:p>
            <a:pPr indent="0" marL="0">
              <a:buNone/>
            </a:pPr>
            <a:r>
              <a:rPr lang="en-US" sz="1200" dirty="0">
                <a:solidFill>
                  <a:srgbClr val="8A94A3"/>
                </a:solidFill>
                <a:latin typeface="Arial" pitchFamily="34" charset="0"/>
                <a:ea typeface="Arial" pitchFamily="34" charset="-122"/>
                <a:cs typeface="Arial" pitchFamily="34" charset="-120"/>
              </a:rPr>
              <a:t>Manipal Institute of Technology  ·  IIIT Hyderabad</a:t>
            </a:r>
            <a:endParaRPr lang="en-US" sz="1200" dirty="0"/>
          </a:p>
        </p:txBody>
      </p:sp>
      <p:sp>
        <p:nvSpPr>
          <p:cNvPr id="9" name="Text 7"/>
          <p:cNvSpPr txBox="1"/>
          <p:nvPr/>
        </p:nvSpPr>
        <p:spPr>
          <a:xfrm>
            <a:off x="1051560" y="5532120"/>
            <a:ext cx="4389120" cy="274320"/>
          </a:xfrm>
          <a:prstGeom prst="rect">
            <a:avLst/>
          </a:prstGeom>
          <a:noFill/>
          <a:ln/>
        </p:spPr>
        <p:txBody>
          <a:bodyPr wrap="square" lIns="0" tIns="0" rIns="0" bIns="0" rtlCol="0" anchor="t"/>
          <a:lstStyle/>
          <a:p>
            <a:pPr indent="0" marL="0">
              <a:buNone/>
            </a:pPr>
            <a:r>
              <a:rPr lang="en-US" sz="1200" dirty="0">
                <a:solidFill>
                  <a:srgbClr val="2A78D6"/>
                </a:solidFill>
                <a:latin typeface="Arial" pitchFamily="34" charset="0"/>
                <a:ea typeface="Arial" pitchFamily="34" charset="-122"/>
                <a:cs typeface="Arial" pitchFamily="34" charset="-120"/>
              </a:rPr>
              <a:t>doi.org/10.1002/cpe.7865</a:t>
            </a:r>
            <a:endParaRPr lang="en-US" sz="1200" dirty="0"/>
          </a:p>
        </p:txBody>
      </p:sp>
      <p:sp>
        <p:nvSpPr>
          <p:cNvPr id="10" name="Text 8"/>
          <p:cNvSpPr txBox="1"/>
          <p:nvPr/>
        </p:nvSpPr>
        <p:spPr>
          <a:xfrm>
            <a:off x="6263640" y="1828800"/>
            <a:ext cx="5212080" cy="365760"/>
          </a:xfrm>
          <a:prstGeom prst="rect">
            <a:avLst/>
          </a:prstGeom>
          <a:noFill/>
          <a:ln/>
        </p:spPr>
        <p:txBody>
          <a:bodyPr wrap="square" lIns="0" tIns="0" rIns="0" bIns="0" rtlCol="0" anchor="t"/>
          <a:lstStyle/>
          <a:p>
            <a:pPr indent="0" marL="0">
              <a:buNone/>
            </a:pPr>
            <a:r>
              <a:rPr lang="en-US" sz="1600" b="1" dirty="0">
                <a:solidFill>
                  <a:srgbClr val="0F1B2D"/>
                </a:solidFill>
                <a:latin typeface="Arial" pitchFamily="34" charset="0"/>
                <a:ea typeface="Arial" pitchFamily="34" charset="-122"/>
                <a:cs typeface="Arial" pitchFamily="34" charset="-120"/>
              </a:rPr>
              <a:t>What the paper claims</a:t>
            </a:r>
            <a:endParaRPr lang="en-US" sz="1600" dirty="0"/>
          </a:p>
        </p:txBody>
      </p:sp>
      <p:sp>
        <p:nvSpPr>
          <p:cNvPr id="11" name="Text 9"/>
          <p:cNvSpPr txBox="1"/>
          <p:nvPr/>
        </p:nvSpPr>
        <p:spPr>
          <a:xfrm>
            <a:off x="6263640" y="23774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98.92%</a:t>
            </a:r>
            <a:endParaRPr lang="en-US" sz="4000" dirty="0"/>
          </a:p>
        </p:txBody>
      </p:sp>
      <p:sp>
        <p:nvSpPr>
          <p:cNvPr id="12" name="Text 10"/>
          <p:cNvSpPr txBox="1"/>
          <p:nvPr/>
        </p:nvSpPr>
        <p:spPr>
          <a:xfrm>
            <a:off x="6263640" y="31272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accuracy on</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CSE-CIC-IDS2018</a:t>
            </a:r>
            <a:endParaRPr lang="en-US" sz="1250" dirty="0"/>
          </a:p>
        </p:txBody>
      </p:sp>
      <p:sp>
        <p:nvSpPr>
          <p:cNvPr id="13" name="Text 11"/>
          <p:cNvSpPr txBox="1"/>
          <p:nvPr/>
        </p:nvSpPr>
        <p:spPr>
          <a:xfrm>
            <a:off x="8961120" y="23774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0.52%</a:t>
            </a:r>
            <a:endParaRPr lang="en-US" sz="4000" dirty="0"/>
          </a:p>
        </p:txBody>
      </p:sp>
      <p:sp>
        <p:nvSpPr>
          <p:cNvPr id="14" name="Text 12"/>
          <p:cNvSpPr txBox="1"/>
          <p:nvPr/>
        </p:nvSpPr>
        <p:spPr>
          <a:xfrm>
            <a:off x="8961120" y="31272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false positive</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rate</a:t>
            </a:r>
            <a:endParaRPr lang="en-US" sz="1250" dirty="0"/>
          </a:p>
        </p:txBody>
      </p:sp>
      <p:sp>
        <p:nvSpPr>
          <p:cNvPr id="15" name="Text 13"/>
          <p:cNvSpPr txBox="1"/>
          <p:nvPr/>
        </p:nvSpPr>
        <p:spPr>
          <a:xfrm>
            <a:off x="6263640" y="39776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4</a:t>
            </a:r>
            <a:endParaRPr lang="en-US" sz="4000" dirty="0"/>
          </a:p>
        </p:txBody>
      </p:sp>
      <p:sp>
        <p:nvSpPr>
          <p:cNvPr id="16" name="Text 14"/>
          <p:cNvSpPr txBox="1"/>
          <p:nvPr/>
        </p:nvSpPr>
        <p:spPr>
          <a:xfrm>
            <a:off x="6263640" y="47274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public intrusion</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datasets</a:t>
            </a:r>
            <a:endParaRPr lang="en-US" sz="1250" dirty="0"/>
          </a:p>
        </p:txBody>
      </p:sp>
      <p:sp>
        <p:nvSpPr>
          <p:cNvPr id="17" name="Text 15"/>
          <p:cNvSpPr txBox="1"/>
          <p:nvPr/>
        </p:nvSpPr>
        <p:spPr>
          <a:xfrm>
            <a:off x="8961120" y="39776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13</a:t>
            </a:r>
            <a:endParaRPr lang="en-US" sz="4000" dirty="0"/>
          </a:p>
        </p:txBody>
      </p:sp>
      <p:sp>
        <p:nvSpPr>
          <p:cNvPr id="18" name="Text 16"/>
          <p:cNvSpPr txBox="1"/>
          <p:nvPr/>
        </p:nvSpPr>
        <p:spPr>
          <a:xfrm>
            <a:off x="8961120" y="47274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baseline models,</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including CNN and MLP</a:t>
            </a:r>
            <a:endParaRPr lang="en-US" sz="1250" dirty="0"/>
          </a:p>
        </p:txBody>
      </p:sp>
      <p:sp>
        <p:nvSpPr>
          <p:cNvPr id="19" name="Text 17"/>
          <p:cNvSpPr txBox="1"/>
          <p:nvPr/>
        </p:nvSpPr>
        <p:spPr>
          <a:xfrm>
            <a:off x="6263640" y="5532120"/>
            <a:ext cx="5257800" cy="548640"/>
          </a:xfrm>
          <a:prstGeom prst="rect">
            <a:avLst/>
          </a:prstGeom>
          <a:noFill/>
          <a:ln/>
        </p:spPr>
        <p:txBody>
          <a:bodyPr wrap="square" lIns="0" tIns="0" rIns="0" bIns="0" rtlCol="0" anchor="t"/>
          <a:lstStyle/>
          <a:p>
            <a:pPr indent="0" marL="0">
              <a:buNone/>
            </a:pPr>
            <a:r>
              <a:rPr lang="en-US" sz="1350" i="1" dirty="0">
                <a:solidFill>
                  <a:srgbClr val="55606E"/>
                </a:solidFill>
                <a:latin typeface="Arial" pitchFamily="34" charset="0"/>
                <a:ea typeface="Arial" pitchFamily="34" charset="-122"/>
                <a:cs typeface="Arial" pitchFamily="34" charset="-120"/>
              </a:rPr>
              <a:t>Our task: implement it fully, test it on a genuine APT dataset, and check whether the claims hold.</a:t>
            </a:r>
            <a:endParaRPr lang="en-US" sz="1350" dirty="0"/>
          </a:p>
        </p:txBody>
      </p:sp>
      <p:sp>
        <p:nvSpPr>
          <p:cNvPr id="20" name="Text 18"/>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1" name="Text 19"/>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01 · BACKGROUND</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An APT is a campaign, not a single attack</a:t>
            </a:r>
            <a:endParaRPr lang="en-US" sz="3000" dirty="0"/>
          </a:p>
        </p:txBody>
      </p:sp>
      <p:sp>
        <p:nvSpPr>
          <p:cNvPr id="4" name="Shape 2"/>
          <p:cNvSpPr/>
          <p:nvPr/>
        </p:nvSpPr>
        <p:spPr>
          <a:xfrm>
            <a:off x="2038312" y="2743200"/>
            <a:ext cx="8115071" cy="914"/>
          </a:xfrm>
          <a:prstGeom prst="line">
            <a:avLst/>
          </a:prstGeom>
          <a:noFill/>
          <a:ln w="19050">
            <a:solidFill>
              <a:srgbClr val="E2E6EC"/>
            </a:solidFill>
            <a:prstDash val="solid"/>
          </a:ln>
        </p:spPr>
      </p:sp>
      <p:sp>
        <p:nvSpPr>
          <p:cNvPr id="5" name="Text 3"/>
          <p:cNvSpPr txBox="1"/>
          <p:nvPr/>
        </p:nvSpPr>
        <p:spPr>
          <a:xfrm>
            <a:off x="1123912"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1</a:t>
            </a:r>
            <a:endParaRPr lang="en-US" sz="1000" dirty="0"/>
          </a:p>
        </p:txBody>
      </p:sp>
      <p:sp>
        <p:nvSpPr>
          <p:cNvPr id="6" name="Shape 4"/>
          <p:cNvSpPr/>
          <p:nvPr/>
        </p:nvSpPr>
        <p:spPr>
          <a:xfrm>
            <a:off x="1535392" y="2240280"/>
            <a:ext cx="1005840" cy="1005840"/>
          </a:xfrm>
          <a:prstGeom prst="ellipse">
            <a:avLst/>
          </a:prstGeom>
          <a:solidFill>
            <a:srgbClr val="0B1526"/>
          </a:solidFill>
          <a:ln w="12700">
            <a:solidFill>
              <a:srgbClr val="0B1526"/>
            </a:solidFill>
            <a:prstDash val="solid"/>
          </a:ln>
        </p:spPr>
      </p:sp>
      <p:pic>
        <p:nvPicPr>
          <p:cNvPr id="7" name="Image 0" descr="preencoded.png">    </p:cNvPr>
          <p:cNvPicPr>
            <a:picLocks noChangeAspect="1"/>
          </p:cNvPicPr>
          <p:nvPr/>
        </p:nvPicPr>
        <p:blipFill>
          <a:blip r:embed="rId1"/>
          <a:stretch>
            <a:fillRect/>
          </a:stretch>
        </p:blipFill>
        <p:spPr>
          <a:xfrm>
            <a:off x="1806969" y="2511857"/>
            <a:ext cx="462686" cy="462686"/>
          </a:xfrm>
          <a:prstGeom prst="rect">
            <a:avLst/>
          </a:prstGeom>
        </p:spPr>
      </p:pic>
      <p:sp>
        <p:nvSpPr>
          <p:cNvPr id="8" name="Text 5"/>
          <p:cNvSpPr txBox="1"/>
          <p:nvPr/>
        </p:nvSpPr>
        <p:spPr>
          <a:xfrm>
            <a:off x="803872"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Reconnaissance</a:t>
            </a:r>
            <a:endParaRPr lang="en-US" sz="1700" dirty="0"/>
          </a:p>
        </p:txBody>
      </p:sp>
      <p:sp>
        <p:nvSpPr>
          <p:cNvPr id="9" name="Text 6"/>
          <p:cNvSpPr txBox="1"/>
          <p:nvPr/>
        </p:nvSpPr>
        <p:spPr>
          <a:xfrm>
            <a:off x="849592"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Scan and map the target: ports, pages, accounts</a:t>
            </a:r>
            <a:endParaRPr lang="en-US" sz="1300" dirty="0"/>
          </a:p>
        </p:txBody>
      </p:sp>
      <p:sp>
        <p:nvSpPr>
          <p:cNvPr id="10" name="Text 7"/>
          <p:cNvSpPr txBox="1"/>
          <p:nvPr/>
        </p:nvSpPr>
        <p:spPr>
          <a:xfrm>
            <a:off x="3828936"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2</a:t>
            </a:r>
            <a:endParaRPr lang="en-US" sz="1000" dirty="0"/>
          </a:p>
        </p:txBody>
      </p:sp>
      <p:sp>
        <p:nvSpPr>
          <p:cNvPr id="11" name="Shape 8"/>
          <p:cNvSpPr/>
          <p:nvPr/>
        </p:nvSpPr>
        <p:spPr>
          <a:xfrm>
            <a:off x="4240416" y="2240280"/>
            <a:ext cx="1005840" cy="1005840"/>
          </a:xfrm>
          <a:prstGeom prst="ellipse">
            <a:avLst/>
          </a:prstGeom>
          <a:solidFill>
            <a:srgbClr val="0B1526"/>
          </a:solidFill>
          <a:ln w="12700">
            <a:solidFill>
              <a:srgbClr val="0B1526"/>
            </a:solidFill>
            <a:prstDash val="solid"/>
          </a:ln>
        </p:spPr>
      </p:sp>
      <p:pic>
        <p:nvPicPr>
          <p:cNvPr id="12" name="Image 1" descr="preencoded.png">    </p:cNvPr>
          <p:cNvPicPr>
            <a:picLocks noChangeAspect="1"/>
          </p:cNvPicPr>
          <p:nvPr/>
        </p:nvPicPr>
        <p:blipFill>
          <a:blip r:embed="rId2"/>
          <a:stretch>
            <a:fillRect/>
          </a:stretch>
        </p:blipFill>
        <p:spPr>
          <a:xfrm>
            <a:off x="4511993" y="2511857"/>
            <a:ext cx="462686" cy="462686"/>
          </a:xfrm>
          <a:prstGeom prst="rect">
            <a:avLst/>
          </a:prstGeom>
        </p:spPr>
      </p:pic>
      <p:sp>
        <p:nvSpPr>
          <p:cNvPr id="13" name="Text 9"/>
          <p:cNvSpPr txBox="1"/>
          <p:nvPr/>
        </p:nvSpPr>
        <p:spPr>
          <a:xfrm>
            <a:off x="3508896"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Establish foothold</a:t>
            </a:r>
            <a:endParaRPr lang="en-US" sz="1700" dirty="0"/>
          </a:p>
        </p:txBody>
      </p:sp>
      <p:sp>
        <p:nvSpPr>
          <p:cNvPr id="14" name="Text 10"/>
          <p:cNvSpPr txBox="1"/>
          <p:nvPr/>
        </p:nvSpPr>
        <p:spPr>
          <a:xfrm>
            <a:off x="3554616"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Exploit a weakness and plant a backdoor</a:t>
            </a:r>
            <a:endParaRPr lang="en-US" sz="1300" dirty="0"/>
          </a:p>
        </p:txBody>
      </p:sp>
      <p:sp>
        <p:nvSpPr>
          <p:cNvPr id="15" name="Text 11"/>
          <p:cNvSpPr txBox="1"/>
          <p:nvPr/>
        </p:nvSpPr>
        <p:spPr>
          <a:xfrm>
            <a:off x="6533959"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3</a:t>
            </a:r>
            <a:endParaRPr lang="en-US" sz="1000" dirty="0"/>
          </a:p>
        </p:txBody>
      </p:sp>
      <p:sp>
        <p:nvSpPr>
          <p:cNvPr id="16" name="Shape 12"/>
          <p:cNvSpPr/>
          <p:nvPr/>
        </p:nvSpPr>
        <p:spPr>
          <a:xfrm>
            <a:off x="6945439" y="2240280"/>
            <a:ext cx="1005840" cy="1005840"/>
          </a:xfrm>
          <a:prstGeom prst="ellipse">
            <a:avLst/>
          </a:prstGeom>
          <a:solidFill>
            <a:srgbClr val="0B1526"/>
          </a:solidFill>
          <a:ln w="12700">
            <a:solidFill>
              <a:srgbClr val="0B1526"/>
            </a:solidFill>
            <a:prstDash val="solid"/>
          </a:ln>
        </p:spPr>
      </p:sp>
      <p:pic>
        <p:nvPicPr>
          <p:cNvPr id="17" name="Image 2" descr="preencoded.png">    </p:cNvPr>
          <p:cNvPicPr>
            <a:picLocks noChangeAspect="1"/>
          </p:cNvPicPr>
          <p:nvPr/>
        </p:nvPicPr>
        <p:blipFill>
          <a:blip r:embed="rId3"/>
          <a:stretch>
            <a:fillRect/>
          </a:stretch>
        </p:blipFill>
        <p:spPr>
          <a:xfrm>
            <a:off x="7217016" y="2511857"/>
            <a:ext cx="462686" cy="462686"/>
          </a:xfrm>
          <a:prstGeom prst="rect">
            <a:avLst/>
          </a:prstGeom>
        </p:spPr>
      </p:pic>
      <p:sp>
        <p:nvSpPr>
          <p:cNvPr id="18" name="Text 13"/>
          <p:cNvSpPr txBox="1"/>
          <p:nvPr/>
        </p:nvSpPr>
        <p:spPr>
          <a:xfrm>
            <a:off x="6213919"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Lateral movement</a:t>
            </a:r>
            <a:endParaRPr lang="en-US" sz="1700" dirty="0"/>
          </a:p>
        </p:txBody>
      </p:sp>
      <p:sp>
        <p:nvSpPr>
          <p:cNvPr id="19" name="Text 14"/>
          <p:cNvSpPr txBox="1"/>
          <p:nvPr/>
        </p:nvSpPr>
        <p:spPr>
          <a:xfrm>
            <a:off x="6259639"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Spread inside the network, escalate privileges</a:t>
            </a:r>
            <a:endParaRPr lang="en-US" sz="1300" dirty="0"/>
          </a:p>
        </p:txBody>
      </p:sp>
      <p:sp>
        <p:nvSpPr>
          <p:cNvPr id="20" name="Text 15"/>
          <p:cNvSpPr txBox="1"/>
          <p:nvPr/>
        </p:nvSpPr>
        <p:spPr>
          <a:xfrm>
            <a:off x="9238983"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4</a:t>
            </a:r>
            <a:endParaRPr lang="en-US" sz="1000" dirty="0"/>
          </a:p>
        </p:txBody>
      </p:sp>
      <p:sp>
        <p:nvSpPr>
          <p:cNvPr id="21" name="Shape 16"/>
          <p:cNvSpPr/>
          <p:nvPr/>
        </p:nvSpPr>
        <p:spPr>
          <a:xfrm>
            <a:off x="9650463" y="2240280"/>
            <a:ext cx="1005840" cy="1005840"/>
          </a:xfrm>
          <a:prstGeom prst="ellipse">
            <a:avLst/>
          </a:prstGeom>
          <a:solidFill>
            <a:srgbClr val="E0533A"/>
          </a:solidFill>
          <a:ln w="12700">
            <a:solidFill>
              <a:srgbClr val="E0533A"/>
            </a:solidFill>
            <a:prstDash val="solid"/>
          </a:ln>
        </p:spPr>
      </p:sp>
      <p:pic>
        <p:nvPicPr>
          <p:cNvPr id="22" name="Image 3" descr="preencoded.png">    </p:cNvPr>
          <p:cNvPicPr>
            <a:picLocks noChangeAspect="1"/>
          </p:cNvPicPr>
          <p:nvPr/>
        </p:nvPicPr>
        <p:blipFill>
          <a:blip r:embed="rId4"/>
          <a:stretch>
            <a:fillRect/>
          </a:stretch>
        </p:blipFill>
        <p:spPr>
          <a:xfrm>
            <a:off x="9922040" y="2511857"/>
            <a:ext cx="462686" cy="462686"/>
          </a:xfrm>
          <a:prstGeom prst="rect">
            <a:avLst/>
          </a:prstGeom>
        </p:spPr>
      </p:pic>
      <p:sp>
        <p:nvSpPr>
          <p:cNvPr id="23" name="Text 17"/>
          <p:cNvSpPr txBox="1"/>
          <p:nvPr/>
        </p:nvSpPr>
        <p:spPr>
          <a:xfrm>
            <a:off x="8918943"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Data exfiltration</a:t>
            </a:r>
            <a:endParaRPr lang="en-US" sz="1700" dirty="0"/>
          </a:p>
        </p:txBody>
      </p:sp>
      <p:sp>
        <p:nvSpPr>
          <p:cNvPr id="24" name="Text 18"/>
          <p:cNvSpPr txBox="1"/>
          <p:nvPr/>
        </p:nvSpPr>
        <p:spPr>
          <a:xfrm>
            <a:off x="8964663"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Quietly send the stolen data out</a:t>
            </a:r>
            <a:endParaRPr lang="en-US" sz="1300" dirty="0"/>
          </a:p>
        </p:txBody>
      </p:sp>
      <p:sp>
        <p:nvSpPr>
          <p:cNvPr id="25" name="Shape 19"/>
          <p:cNvSpPr/>
          <p:nvPr/>
        </p:nvSpPr>
        <p:spPr>
          <a:xfrm>
            <a:off x="685800" y="4846320"/>
            <a:ext cx="10820095" cy="914"/>
          </a:xfrm>
          <a:prstGeom prst="line">
            <a:avLst/>
          </a:prstGeom>
          <a:noFill/>
          <a:ln w="9525">
            <a:solidFill>
              <a:srgbClr val="E2E6EC"/>
            </a:solidFill>
            <a:prstDash val="solid"/>
          </a:ln>
        </p:spPr>
      </p:sp>
      <p:sp>
        <p:nvSpPr>
          <p:cNvPr id="26" name="Shape 20"/>
          <p:cNvSpPr/>
          <p:nvPr/>
        </p:nvSpPr>
        <p:spPr>
          <a:xfrm>
            <a:off x="685800" y="5138928"/>
            <a:ext cx="530352" cy="530352"/>
          </a:xfrm>
          <a:prstGeom prst="ellipse">
            <a:avLst/>
          </a:prstGeom>
          <a:solidFill>
            <a:srgbClr val="2A78D6"/>
          </a:solidFill>
          <a:ln w="12700">
            <a:solidFill>
              <a:srgbClr val="2A78D6"/>
            </a:solidFill>
            <a:prstDash val="solid"/>
          </a:ln>
        </p:spPr>
      </p:sp>
      <p:pic>
        <p:nvPicPr>
          <p:cNvPr id="27" name="Image 4" descr="preencoded.png">    </p:cNvPr>
          <p:cNvPicPr>
            <a:picLocks noChangeAspect="1"/>
          </p:cNvPicPr>
          <p:nvPr/>
        </p:nvPicPr>
        <p:blipFill>
          <a:blip r:embed="rId5"/>
          <a:stretch>
            <a:fillRect/>
          </a:stretch>
        </p:blipFill>
        <p:spPr>
          <a:xfrm>
            <a:off x="828995" y="5282123"/>
            <a:ext cx="243962" cy="243962"/>
          </a:xfrm>
          <a:prstGeom prst="rect">
            <a:avLst/>
          </a:prstGeom>
        </p:spPr>
      </p:pic>
      <p:sp>
        <p:nvSpPr>
          <p:cNvPr id="28" name="Text 21"/>
          <p:cNvSpPr txBox="1"/>
          <p:nvPr/>
        </p:nvSpPr>
        <p:spPr>
          <a:xfrm>
            <a:off x="1417320" y="5120640"/>
            <a:ext cx="2692298"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Low and slow</a:t>
            </a:r>
            <a:endParaRPr lang="en-US" sz="1500" dirty="0"/>
          </a:p>
        </p:txBody>
      </p:sp>
      <p:sp>
        <p:nvSpPr>
          <p:cNvPr id="29" name="Text 22"/>
          <p:cNvSpPr txBox="1"/>
          <p:nvPr/>
        </p:nvSpPr>
        <p:spPr>
          <a:xfrm>
            <a:off x="1417320" y="5458968"/>
            <a:ext cx="2692298" cy="5029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Few packets, spread over days or months</a:t>
            </a:r>
            <a:endParaRPr lang="en-US" sz="1250" dirty="0"/>
          </a:p>
        </p:txBody>
      </p:sp>
      <p:sp>
        <p:nvSpPr>
          <p:cNvPr id="30" name="Shape 23"/>
          <p:cNvSpPr/>
          <p:nvPr/>
        </p:nvSpPr>
        <p:spPr>
          <a:xfrm>
            <a:off x="4292498" y="5138928"/>
            <a:ext cx="530352" cy="530352"/>
          </a:xfrm>
          <a:prstGeom prst="ellipse">
            <a:avLst/>
          </a:prstGeom>
          <a:solidFill>
            <a:srgbClr val="2A78D6"/>
          </a:solidFill>
          <a:ln w="12700">
            <a:solidFill>
              <a:srgbClr val="2A78D6"/>
            </a:solidFill>
            <a:prstDash val="solid"/>
          </a:ln>
        </p:spPr>
      </p:sp>
      <p:pic>
        <p:nvPicPr>
          <p:cNvPr id="31" name="Image 5" descr="preencoded.png">    </p:cNvPr>
          <p:cNvPicPr>
            <a:picLocks noChangeAspect="1"/>
          </p:cNvPicPr>
          <p:nvPr/>
        </p:nvPicPr>
        <p:blipFill>
          <a:blip r:embed="rId6"/>
          <a:stretch>
            <a:fillRect/>
          </a:stretch>
        </p:blipFill>
        <p:spPr>
          <a:xfrm>
            <a:off x="4435693" y="5282123"/>
            <a:ext cx="243962" cy="243962"/>
          </a:xfrm>
          <a:prstGeom prst="rect">
            <a:avLst/>
          </a:prstGeom>
        </p:spPr>
      </p:pic>
      <p:sp>
        <p:nvSpPr>
          <p:cNvPr id="32" name="Text 24"/>
          <p:cNvSpPr txBox="1"/>
          <p:nvPr/>
        </p:nvSpPr>
        <p:spPr>
          <a:xfrm>
            <a:off x="5024018" y="5120640"/>
            <a:ext cx="2692298"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Blends in</a:t>
            </a:r>
            <a:endParaRPr lang="en-US" sz="1500" dirty="0"/>
          </a:p>
        </p:txBody>
      </p:sp>
      <p:sp>
        <p:nvSpPr>
          <p:cNvPr id="33" name="Text 25"/>
          <p:cNvSpPr txBox="1"/>
          <p:nvPr/>
        </p:nvSpPr>
        <p:spPr>
          <a:xfrm>
            <a:off x="5024018" y="5458968"/>
            <a:ext cx="2692298" cy="5029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Deliberately resembles normal traffic</a:t>
            </a:r>
            <a:endParaRPr lang="en-US" sz="1250" dirty="0"/>
          </a:p>
        </p:txBody>
      </p:sp>
      <p:sp>
        <p:nvSpPr>
          <p:cNvPr id="34" name="Shape 26"/>
          <p:cNvSpPr/>
          <p:nvPr/>
        </p:nvSpPr>
        <p:spPr>
          <a:xfrm>
            <a:off x="7899197" y="5138928"/>
            <a:ext cx="530352" cy="530352"/>
          </a:xfrm>
          <a:prstGeom prst="ellipse">
            <a:avLst/>
          </a:prstGeom>
          <a:solidFill>
            <a:srgbClr val="2A78D6"/>
          </a:solidFill>
          <a:ln w="12700">
            <a:solidFill>
              <a:srgbClr val="2A78D6"/>
            </a:solidFill>
            <a:prstDash val="solid"/>
          </a:ln>
        </p:spPr>
      </p:sp>
      <p:pic>
        <p:nvPicPr>
          <p:cNvPr id="35" name="Image 6" descr="preencoded.png">    </p:cNvPr>
          <p:cNvPicPr>
            <a:picLocks noChangeAspect="1"/>
          </p:cNvPicPr>
          <p:nvPr/>
        </p:nvPicPr>
        <p:blipFill>
          <a:blip r:embed="rId7"/>
          <a:stretch>
            <a:fillRect/>
          </a:stretch>
        </p:blipFill>
        <p:spPr>
          <a:xfrm>
            <a:off x="8042392" y="5282123"/>
            <a:ext cx="243962" cy="243962"/>
          </a:xfrm>
          <a:prstGeom prst="rect">
            <a:avLst/>
          </a:prstGeom>
        </p:spPr>
      </p:pic>
      <p:sp>
        <p:nvSpPr>
          <p:cNvPr id="36" name="Text 27"/>
          <p:cNvSpPr txBox="1"/>
          <p:nvPr/>
        </p:nvSpPr>
        <p:spPr>
          <a:xfrm>
            <a:off x="8630717" y="5120640"/>
            <a:ext cx="2692298"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Persistent</a:t>
            </a:r>
            <a:endParaRPr lang="en-US" sz="1500" dirty="0"/>
          </a:p>
        </p:txBody>
      </p:sp>
      <p:sp>
        <p:nvSpPr>
          <p:cNvPr id="37" name="Text 28"/>
          <p:cNvSpPr txBox="1"/>
          <p:nvPr/>
        </p:nvSpPr>
        <p:spPr>
          <a:xfrm>
            <a:off x="8630717" y="5458968"/>
            <a:ext cx="2692298" cy="5029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Aims for long-term access and data theft</a:t>
            </a:r>
            <a:endParaRPr lang="en-US" sz="1250" dirty="0"/>
          </a:p>
        </p:txBody>
      </p:sp>
      <p:sp>
        <p:nvSpPr>
          <p:cNvPr id="38" name="Text 29"/>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9" name="Text 30"/>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01 · BACKGROUND</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paper's datasets contain no APT campaigns</a:t>
            </a:r>
            <a:endParaRPr lang="en-US" sz="3000" dirty="0"/>
          </a:p>
        </p:txBody>
      </p:sp>
      <p:sp>
        <p:nvSpPr>
          <p:cNvPr id="4" name="Shape 2"/>
          <p:cNvSpPr/>
          <p:nvPr/>
        </p:nvSpPr>
        <p:spPr>
          <a:xfrm>
            <a:off x="9566681" y="1783080"/>
            <a:ext cx="1939214" cy="4206240"/>
          </a:xfrm>
          <a:prstGeom prst="roundRect">
            <a:avLst>
              <a:gd name="adj" fmla="val 1886"/>
            </a:avLst>
          </a:prstGeom>
          <a:solidFill>
            <a:srgbClr val="EAF1FB"/>
          </a:solidFill>
          <a:ln w="12700">
            <a:solidFill>
              <a:srgbClr val="EAF1FB"/>
            </a:solidFill>
            <a:prstDash val="solid"/>
          </a:ln>
        </p:spPr>
      </p:sp>
      <p:sp>
        <p:nvSpPr>
          <p:cNvPr id="5" name="Text 3"/>
          <p:cNvSpPr txBox="1"/>
          <p:nvPr/>
        </p:nvSpPr>
        <p:spPr>
          <a:xfrm>
            <a:off x="3749040" y="1892808"/>
            <a:ext cx="5817641" cy="228600"/>
          </a:xfrm>
          <a:prstGeom prst="rect">
            <a:avLst/>
          </a:prstGeom>
          <a:noFill/>
          <a:ln/>
        </p:spPr>
        <p:txBody>
          <a:bodyPr wrap="square" lIns="0" tIns="0" rIns="0" bIns="0" rtlCol="0" anchor="t"/>
          <a:lstStyle/>
          <a:p>
            <a:pPr algn="ctr" indent="0" marL="0">
              <a:buNone/>
            </a:pPr>
            <a:r>
              <a:rPr lang="en-US" sz="900" b="1" dirty="0">
                <a:solidFill>
                  <a:srgbClr val="8A94A3"/>
                </a:solidFill>
                <a:latin typeface="Arial" pitchFamily="34" charset="0"/>
                <a:ea typeface="Arial" pitchFamily="34" charset="-122"/>
                <a:cs typeface="Arial" pitchFamily="34" charset="-120"/>
              </a:rPr>
              <a:t>USED IN THE PAPER</a:t>
            </a:r>
            <a:endParaRPr lang="en-US" sz="900" dirty="0"/>
          </a:p>
        </p:txBody>
      </p:sp>
      <p:sp>
        <p:nvSpPr>
          <p:cNvPr id="6" name="Text 4"/>
          <p:cNvSpPr txBox="1"/>
          <p:nvPr/>
        </p:nvSpPr>
        <p:spPr>
          <a:xfrm>
            <a:off x="9566681" y="1892808"/>
            <a:ext cx="1939214" cy="228600"/>
          </a:xfrm>
          <a:prstGeom prst="rect">
            <a:avLst/>
          </a:prstGeom>
          <a:noFill/>
          <a:ln/>
        </p:spPr>
        <p:txBody>
          <a:bodyPr wrap="square" lIns="0" tIns="0" rIns="0" bIns="0" rtlCol="0" anchor="t"/>
          <a:lstStyle/>
          <a:p>
            <a:pPr algn="ctr" indent="0" marL="0">
              <a:buNone/>
            </a:pPr>
            <a:r>
              <a:rPr lang="en-US" sz="900" b="1" dirty="0">
                <a:solidFill>
                  <a:srgbClr val="2A78D6"/>
                </a:solidFill>
                <a:latin typeface="Arial" pitchFamily="34" charset="0"/>
                <a:ea typeface="Arial" pitchFamily="34" charset="-122"/>
                <a:cs typeface="Arial" pitchFamily="34" charset="-120"/>
              </a:rPr>
              <a:t>USED IN THIS WORK</a:t>
            </a:r>
            <a:endParaRPr lang="en-US" sz="900" dirty="0"/>
          </a:p>
        </p:txBody>
      </p:sp>
      <p:sp>
        <p:nvSpPr>
          <p:cNvPr id="7" name="Text 5"/>
          <p:cNvSpPr txBox="1"/>
          <p:nvPr/>
        </p:nvSpPr>
        <p:spPr>
          <a:xfrm>
            <a:off x="3794760"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CIC-IDS2017 / 2018</a:t>
            </a:r>
            <a:endParaRPr lang="en-US" sz="1350" dirty="0"/>
          </a:p>
        </p:txBody>
      </p:sp>
      <p:sp>
        <p:nvSpPr>
          <p:cNvPr id="8" name="Text 6"/>
          <p:cNvSpPr txBox="1"/>
          <p:nvPr/>
        </p:nvSpPr>
        <p:spPr>
          <a:xfrm>
            <a:off x="5733974"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NSL-KDD</a:t>
            </a:r>
            <a:endParaRPr lang="en-US" sz="1350" dirty="0"/>
          </a:p>
        </p:txBody>
      </p:sp>
      <p:sp>
        <p:nvSpPr>
          <p:cNvPr id="9" name="Text 7"/>
          <p:cNvSpPr txBox="1"/>
          <p:nvPr/>
        </p:nvSpPr>
        <p:spPr>
          <a:xfrm>
            <a:off x="7673188"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UNSW-NB15</a:t>
            </a:r>
            <a:endParaRPr lang="en-US" sz="1350" dirty="0"/>
          </a:p>
        </p:txBody>
      </p:sp>
      <p:sp>
        <p:nvSpPr>
          <p:cNvPr id="10" name="Text 8"/>
          <p:cNvSpPr txBox="1"/>
          <p:nvPr/>
        </p:nvSpPr>
        <p:spPr>
          <a:xfrm>
            <a:off x="9612401"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DAPT2020</a:t>
            </a:r>
            <a:endParaRPr lang="en-US" sz="1350" dirty="0"/>
          </a:p>
        </p:txBody>
      </p:sp>
      <p:sp>
        <p:nvSpPr>
          <p:cNvPr id="11" name="Shape 9"/>
          <p:cNvSpPr/>
          <p:nvPr/>
        </p:nvSpPr>
        <p:spPr>
          <a:xfrm>
            <a:off x="685800" y="2560320"/>
            <a:ext cx="10820095" cy="914"/>
          </a:xfrm>
          <a:prstGeom prst="line">
            <a:avLst/>
          </a:prstGeom>
          <a:noFill/>
          <a:ln w="9525">
            <a:solidFill>
              <a:srgbClr val="E2E6EC"/>
            </a:solidFill>
            <a:prstDash val="solid"/>
          </a:ln>
        </p:spPr>
      </p:sp>
      <p:sp>
        <p:nvSpPr>
          <p:cNvPr id="12" name="Text 10"/>
          <p:cNvSpPr txBox="1"/>
          <p:nvPr/>
        </p:nvSpPr>
        <p:spPr>
          <a:xfrm>
            <a:off x="685800" y="2560320"/>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Built around an APT campaign</a:t>
            </a:r>
            <a:endParaRPr lang="en-US" sz="1350" dirty="0"/>
          </a:p>
        </p:txBody>
      </p:sp>
      <p:pic>
        <p:nvPicPr>
          <p:cNvPr id="13" name="Image 0" descr="preencoded.png">    </p:cNvPr>
          <p:cNvPicPr>
            <a:picLocks noChangeAspect="1"/>
          </p:cNvPicPr>
          <p:nvPr/>
        </p:nvPicPr>
        <p:blipFill>
          <a:blip r:embed="rId1"/>
          <a:stretch>
            <a:fillRect/>
          </a:stretch>
        </p:blipFill>
        <p:spPr>
          <a:xfrm>
            <a:off x="4572343" y="2752344"/>
            <a:ext cx="292608" cy="292608"/>
          </a:xfrm>
          <a:prstGeom prst="rect">
            <a:avLst/>
          </a:prstGeom>
        </p:spPr>
      </p:pic>
      <p:pic>
        <p:nvPicPr>
          <p:cNvPr id="14" name="Image 1" descr="preencoded.png">    </p:cNvPr>
          <p:cNvPicPr>
            <a:picLocks noChangeAspect="1"/>
          </p:cNvPicPr>
          <p:nvPr/>
        </p:nvPicPr>
        <p:blipFill>
          <a:blip r:embed="rId2"/>
          <a:stretch>
            <a:fillRect/>
          </a:stretch>
        </p:blipFill>
        <p:spPr>
          <a:xfrm>
            <a:off x="6511557" y="2752344"/>
            <a:ext cx="292608" cy="292608"/>
          </a:xfrm>
          <a:prstGeom prst="rect">
            <a:avLst/>
          </a:prstGeom>
        </p:spPr>
      </p:pic>
      <p:pic>
        <p:nvPicPr>
          <p:cNvPr id="15" name="Image 2" descr="preencoded.png">    </p:cNvPr>
          <p:cNvPicPr>
            <a:picLocks noChangeAspect="1"/>
          </p:cNvPicPr>
          <p:nvPr/>
        </p:nvPicPr>
        <p:blipFill>
          <a:blip r:embed="rId3"/>
          <a:stretch>
            <a:fillRect/>
          </a:stretch>
        </p:blipFill>
        <p:spPr>
          <a:xfrm>
            <a:off x="8450771" y="2752344"/>
            <a:ext cx="292608" cy="292608"/>
          </a:xfrm>
          <a:prstGeom prst="rect">
            <a:avLst/>
          </a:prstGeom>
        </p:spPr>
      </p:pic>
      <p:pic>
        <p:nvPicPr>
          <p:cNvPr id="16" name="Image 3" descr="preencoded.png">    </p:cNvPr>
          <p:cNvPicPr>
            <a:picLocks noChangeAspect="1"/>
          </p:cNvPicPr>
          <p:nvPr/>
        </p:nvPicPr>
        <p:blipFill>
          <a:blip r:embed="rId4"/>
          <a:stretch>
            <a:fillRect/>
          </a:stretch>
        </p:blipFill>
        <p:spPr>
          <a:xfrm>
            <a:off x="10389984" y="2752344"/>
            <a:ext cx="292608" cy="292608"/>
          </a:xfrm>
          <a:prstGeom prst="rect">
            <a:avLst/>
          </a:prstGeom>
        </p:spPr>
      </p:pic>
      <p:sp>
        <p:nvSpPr>
          <p:cNvPr id="17" name="Shape 11"/>
          <p:cNvSpPr/>
          <p:nvPr/>
        </p:nvSpPr>
        <p:spPr>
          <a:xfrm>
            <a:off x="685800" y="3236976"/>
            <a:ext cx="10820095" cy="914"/>
          </a:xfrm>
          <a:prstGeom prst="line">
            <a:avLst/>
          </a:prstGeom>
          <a:noFill/>
          <a:ln w="9525">
            <a:solidFill>
              <a:srgbClr val="E2E6EC"/>
            </a:solidFill>
            <a:prstDash val="solid"/>
          </a:ln>
        </p:spPr>
      </p:sp>
      <p:sp>
        <p:nvSpPr>
          <p:cNvPr id="18" name="Text 12"/>
          <p:cNvSpPr txBox="1"/>
          <p:nvPr/>
        </p:nvSpPr>
        <p:spPr>
          <a:xfrm>
            <a:off x="685800" y="3236976"/>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Flows labelled with the APT stage</a:t>
            </a:r>
            <a:endParaRPr lang="en-US" sz="1350" dirty="0"/>
          </a:p>
        </p:txBody>
      </p:sp>
      <p:pic>
        <p:nvPicPr>
          <p:cNvPr id="19" name="Image 4" descr="preencoded.png">    </p:cNvPr>
          <p:cNvPicPr>
            <a:picLocks noChangeAspect="1"/>
          </p:cNvPicPr>
          <p:nvPr/>
        </p:nvPicPr>
        <p:blipFill>
          <a:blip r:embed="rId5"/>
          <a:stretch>
            <a:fillRect/>
          </a:stretch>
        </p:blipFill>
        <p:spPr>
          <a:xfrm>
            <a:off x="4572343" y="3429000"/>
            <a:ext cx="292608" cy="292608"/>
          </a:xfrm>
          <a:prstGeom prst="rect">
            <a:avLst/>
          </a:prstGeom>
        </p:spPr>
      </p:pic>
      <p:pic>
        <p:nvPicPr>
          <p:cNvPr id="20" name="Image 5" descr="preencoded.png">    </p:cNvPr>
          <p:cNvPicPr>
            <a:picLocks noChangeAspect="1"/>
          </p:cNvPicPr>
          <p:nvPr/>
        </p:nvPicPr>
        <p:blipFill>
          <a:blip r:embed="rId6"/>
          <a:stretch>
            <a:fillRect/>
          </a:stretch>
        </p:blipFill>
        <p:spPr>
          <a:xfrm>
            <a:off x="6511557" y="3429000"/>
            <a:ext cx="292608" cy="292608"/>
          </a:xfrm>
          <a:prstGeom prst="rect">
            <a:avLst/>
          </a:prstGeom>
        </p:spPr>
      </p:pic>
      <p:pic>
        <p:nvPicPr>
          <p:cNvPr id="21" name="Image 6" descr="preencoded.png">    </p:cNvPr>
          <p:cNvPicPr>
            <a:picLocks noChangeAspect="1"/>
          </p:cNvPicPr>
          <p:nvPr/>
        </p:nvPicPr>
        <p:blipFill>
          <a:blip r:embed="rId7"/>
          <a:stretch>
            <a:fillRect/>
          </a:stretch>
        </p:blipFill>
        <p:spPr>
          <a:xfrm>
            <a:off x="8450771" y="3429000"/>
            <a:ext cx="292608" cy="292608"/>
          </a:xfrm>
          <a:prstGeom prst="rect">
            <a:avLst/>
          </a:prstGeom>
        </p:spPr>
      </p:pic>
      <p:pic>
        <p:nvPicPr>
          <p:cNvPr id="22" name="Image 7" descr="preencoded.png">    </p:cNvPr>
          <p:cNvPicPr>
            <a:picLocks noChangeAspect="1"/>
          </p:cNvPicPr>
          <p:nvPr/>
        </p:nvPicPr>
        <p:blipFill>
          <a:blip r:embed="rId8"/>
          <a:stretch>
            <a:fillRect/>
          </a:stretch>
        </p:blipFill>
        <p:spPr>
          <a:xfrm>
            <a:off x="10389984" y="3429000"/>
            <a:ext cx="292608" cy="292608"/>
          </a:xfrm>
          <a:prstGeom prst="rect">
            <a:avLst/>
          </a:prstGeom>
        </p:spPr>
      </p:pic>
      <p:sp>
        <p:nvSpPr>
          <p:cNvPr id="23" name="Shape 13"/>
          <p:cNvSpPr/>
          <p:nvPr/>
        </p:nvSpPr>
        <p:spPr>
          <a:xfrm>
            <a:off x="685800" y="3913632"/>
            <a:ext cx="10820095" cy="914"/>
          </a:xfrm>
          <a:prstGeom prst="line">
            <a:avLst/>
          </a:prstGeom>
          <a:noFill/>
          <a:ln w="9525">
            <a:solidFill>
              <a:srgbClr val="E2E6EC"/>
            </a:solidFill>
            <a:prstDash val="solid"/>
          </a:ln>
        </p:spPr>
      </p:sp>
      <p:sp>
        <p:nvSpPr>
          <p:cNvPr id="24" name="Text 14"/>
          <p:cNvSpPr txBox="1"/>
          <p:nvPr/>
        </p:nvSpPr>
        <p:spPr>
          <a:xfrm>
            <a:off x="685800" y="3913632"/>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Attack types</a:t>
            </a:r>
            <a:endParaRPr lang="en-US" sz="1350" dirty="0"/>
          </a:p>
        </p:txBody>
      </p:sp>
      <p:sp>
        <p:nvSpPr>
          <p:cNvPr id="25" name="Text 15"/>
          <p:cNvSpPr txBox="1"/>
          <p:nvPr/>
        </p:nvSpPr>
        <p:spPr>
          <a:xfrm>
            <a:off x="3840480" y="3913632"/>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DoS, brute force, botnet, web</a:t>
            </a:r>
            <a:endParaRPr lang="en-US" sz="1100" dirty="0"/>
          </a:p>
        </p:txBody>
      </p:sp>
      <p:sp>
        <p:nvSpPr>
          <p:cNvPr id="26" name="Text 16"/>
          <p:cNvSpPr txBox="1"/>
          <p:nvPr/>
        </p:nvSpPr>
        <p:spPr>
          <a:xfrm>
            <a:off x="5779694" y="3913632"/>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DoS, probe, R2L, U2R</a:t>
            </a:r>
            <a:endParaRPr lang="en-US" sz="1100" dirty="0"/>
          </a:p>
        </p:txBody>
      </p:sp>
      <p:sp>
        <p:nvSpPr>
          <p:cNvPr id="27" name="Text 17"/>
          <p:cNvSpPr txBox="1"/>
          <p:nvPr/>
        </p:nvSpPr>
        <p:spPr>
          <a:xfrm>
            <a:off x="7718908" y="3913632"/>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Fuzzers, exploits, DoS</a:t>
            </a:r>
            <a:endParaRPr lang="en-US" sz="1100" dirty="0"/>
          </a:p>
        </p:txBody>
      </p:sp>
      <p:sp>
        <p:nvSpPr>
          <p:cNvPr id="28" name="Text 18"/>
          <p:cNvSpPr txBox="1"/>
          <p:nvPr/>
        </p:nvSpPr>
        <p:spPr>
          <a:xfrm>
            <a:off x="9658121" y="3913632"/>
            <a:ext cx="1756334" cy="676656"/>
          </a:xfrm>
          <a:prstGeom prst="rect">
            <a:avLst/>
          </a:prstGeom>
          <a:noFill/>
          <a:ln/>
        </p:spPr>
        <p:txBody>
          <a:bodyPr wrap="square" lIns="0" tIns="0" rIns="0" bIns="0" rtlCol="0" anchor="ctr"/>
          <a:lstStyle/>
          <a:p>
            <a:pPr algn="ctr" indent="0" marL="0">
              <a:buNone/>
            </a:pPr>
            <a:r>
              <a:rPr lang="en-US" sz="1100" b="1" dirty="0">
                <a:solidFill>
                  <a:srgbClr val="0F1B2D"/>
                </a:solidFill>
                <a:latin typeface="Arial" pitchFamily="34" charset="0"/>
                <a:ea typeface="Arial" pitchFamily="34" charset="-122"/>
                <a:cs typeface="Arial" pitchFamily="34" charset="-120"/>
              </a:rPr>
              <a:t>Recon → foothold → lateral → exfiltration</a:t>
            </a:r>
            <a:endParaRPr lang="en-US" sz="1100" dirty="0"/>
          </a:p>
        </p:txBody>
      </p:sp>
      <p:sp>
        <p:nvSpPr>
          <p:cNvPr id="29" name="Shape 19"/>
          <p:cNvSpPr/>
          <p:nvPr/>
        </p:nvSpPr>
        <p:spPr>
          <a:xfrm>
            <a:off x="685800" y="4590288"/>
            <a:ext cx="10820095" cy="914"/>
          </a:xfrm>
          <a:prstGeom prst="line">
            <a:avLst/>
          </a:prstGeom>
          <a:noFill/>
          <a:ln w="9525">
            <a:solidFill>
              <a:srgbClr val="E2E6EC"/>
            </a:solidFill>
            <a:prstDash val="solid"/>
          </a:ln>
        </p:spPr>
      </p:sp>
      <p:sp>
        <p:nvSpPr>
          <p:cNvPr id="30" name="Text 20"/>
          <p:cNvSpPr txBox="1"/>
          <p:nvPr/>
        </p:nvSpPr>
        <p:spPr>
          <a:xfrm>
            <a:off x="685800" y="4590288"/>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Same flow features as CIC-IDS (CICFlowMeter)</a:t>
            </a:r>
            <a:endParaRPr lang="en-US" sz="1350" dirty="0"/>
          </a:p>
        </p:txBody>
      </p:sp>
      <p:pic>
        <p:nvPicPr>
          <p:cNvPr id="31" name="Image 8" descr="preencoded.png">    </p:cNvPr>
          <p:cNvPicPr>
            <a:picLocks noChangeAspect="1"/>
          </p:cNvPicPr>
          <p:nvPr/>
        </p:nvPicPr>
        <p:blipFill>
          <a:blip r:embed="rId9"/>
          <a:stretch>
            <a:fillRect/>
          </a:stretch>
        </p:blipFill>
        <p:spPr>
          <a:xfrm>
            <a:off x="4572343" y="4782312"/>
            <a:ext cx="292608" cy="292608"/>
          </a:xfrm>
          <a:prstGeom prst="rect">
            <a:avLst/>
          </a:prstGeom>
        </p:spPr>
      </p:pic>
      <p:pic>
        <p:nvPicPr>
          <p:cNvPr id="32" name="Image 9" descr="preencoded.png">    </p:cNvPr>
          <p:cNvPicPr>
            <a:picLocks noChangeAspect="1"/>
          </p:cNvPicPr>
          <p:nvPr/>
        </p:nvPicPr>
        <p:blipFill>
          <a:blip r:embed="rId10"/>
          <a:stretch>
            <a:fillRect/>
          </a:stretch>
        </p:blipFill>
        <p:spPr>
          <a:xfrm>
            <a:off x="6511557" y="4782312"/>
            <a:ext cx="292608" cy="292608"/>
          </a:xfrm>
          <a:prstGeom prst="rect">
            <a:avLst/>
          </a:prstGeom>
        </p:spPr>
      </p:pic>
      <p:pic>
        <p:nvPicPr>
          <p:cNvPr id="33" name="Image 10" descr="preencoded.png">    </p:cNvPr>
          <p:cNvPicPr>
            <a:picLocks noChangeAspect="1"/>
          </p:cNvPicPr>
          <p:nvPr/>
        </p:nvPicPr>
        <p:blipFill>
          <a:blip r:embed="rId11"/>
          <a:stretch>
            <a:fillRect/>
          </a:stretch>
        </p:blipFill>
        <p:spPr>
          <a:xfrm>
            <a:off x="8450771" y="4782312"/>
            <a:ext cx="292608" cy="292608"/>
          </a:xfrm>
          <a:prstGeom prst="rect">
            <a:avLst/>
          </a:prstGeom>
        </p:spPr>
      </p:pic>
      <p:pic>
        <p:nvPicPr>
          <p:cNvPr id="34" name="Image 11" descr="preencoded.png">    </p:cNvPr>
          <p:cNvPicPr>
            <a:picLocks noChangeAspect="1"/>
          </p:cNvPicPr>
          <p:nvPr/>
        </p:nvPicPr>
        <p:blipFill>
          <a:blip r:embed="rId12"/>
          <a:stretch>
            <a:fillRect/>
          </a:stretch>
        </p:blipFill>
        <p:spPr>
          <a:xfrm>
            <a:off x="10389984" y="4782312"/>
            <a:ext cx="292608" cy="292608"/>
          </a:xfrm>
          <a:prstGeom prst="rect">
            <a:avLst/>
          </a:prstGeom>
        </p:spPr>
      </p:pic>
      <p:sp>
        <p:nvSpPr>
          <p:cNvPr id="35" name="Shape 21"/>
          <p:cNvSpPr/>
          <p:nvPr/>
        </p:nvSpPr>
        <p:spPr>
          <a:xfrm>
            <a:off x="685800" y="5266944"/>
            <a:ext cx="10820095" cy="914"/>
          </a:xfrm>
          <a:prstGeom prst="line">
            <a:avLst/>
          </a:prstGeom>
          <a:noFill/>
          <a:ln w="9525">
            <a:solidFill>
              <a:srgbClr val="E2E6EC"/>
            </a:solidFill>
            <a:prstDash val="solid"/>
          </a:ln>
        </p:spPr>
      </p:sp>
      <p:sp>
        <p:nvSpPr>
          <p:cNvPr id="36" name="Text 22"/>
          <p:cNvSpPr txBox="1"/>
          <p:nvPr/>
        </p:nvSpPr>
        <p:spPr>
          <a:xfrm>
            <a:off x="685800" y="5266944"/>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Traffic recorded</a:t>
            </a:r>
            <a:endParaRPr lang="en-US" sz="1350" dirty="0"/>
          </a:p>
        </p:txBody>
      </p:sp>
      <p:sp>
        <p:nvSpPr>
          <p:cNvPr id="37" name="Text 23"/>
          <p:cNvSpPr txBox="1"/>
          <p:nvPr/>
        </p:nvSpPr>
        <p:spPr>
          <a:xfrm>
            <a:off x="3840480" y="5266944"/>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2017–2018</a:t>
            </a:r>
            <a:endParaRPr lang="en-US" sz="1100" dirty="0"/>
          </a:p>
        </p:txBody>
      </p:sp>
      <p:sp>
        <p:nvSpPr>
          <p:cNvPr id="38" name="Text 24"/>
          <p:cNvSpPr txBox="1"/>
          <p:nvPr/>
        </p:nvSpPr>
        <p:spPr>
          <a:xfrm>
            <a:off x="5779694" y="5266944"/>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1998 (via KDD'99)</a:t>
            </a:r>
            <a:endParaRPr lang="en-US" sz="1100" dirty="0"/>
          </a:p>
        </p:txBody>
      </p:sp>
      <p:sp>
        <p:nvSpPr>
          <p:cNvPr id="39" name="Text 25"/>
          <p:cNvSpPr txBox="1"/>
          <p:nvPr/>
        </p:nvSpPr>
        <p:spPr>
          <a:xfrm>
            <a:off x="7718908" y="5266944"/>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2015</a:t>
            </a:r>
            <a:endParaRPr lang="en-US" sz="1100" dirty="0"/>
          </a:p>
        </p:txBody>
      </p:sp>
      <p:sp>
        <p:nvSpPr>
          <p:cNvPr id="40" name="Text 26"/>
          <p:cNvSpPr txBox="1"/>
          <p:nvPr/>
        </p:nvSpPr>
        <p:spPr>
          <a:xfrm>
            <a:off x="9658121" y="5266944"/>
            <a:ext cx="1756334" cy="676656"/>
          </a:xfrm>
          <a:prstGeom prst="rect">
            <a:avLst/>
          </a:prstGeom>
          <a:noFill/>
          <a:ln/>
        </p:spPr>
        <p:txBody>
          <a:bodyPr wrap="square" lIns="0" tIns="0" rIns="0" bIns="0" rtlCol="0" anchor="ctr"/>
          <a:lstStyle/>
          <a:p>
            <a:pPr algn="ctr" indent="0" marL="0">
              <a:buNone/>
            </a:pPr>
            <a:r>
              <a:rPr lang="en-US" sz="1100" b="1" dirty="0">
                <a:solidFill>
                  <a:srgbClr val="0F1B2D"/>
                </a:solidFill>
                <a:latin typeface="Arial" pitchFamily="34" charset="0"/>
                <a:ea typeface="Arial" pitchFamily="34" charset="-122"/>
                <a:cs typeface="Arial" pitchFamily="34" charset="-120"/>
              </a:rPr>
              <a:t>2019</a:t>
            </a:r>
            <a:endParaRPr lang="en-US" sz="1100" dirty="0"/>
          </a:p>
        </p:txBody>
      </p:sp>
      <p:sp>
        <p:nvSpPr>
          <p:cNvPr id="41" name="Text 27"/>
          <p:cNvSpPr txBox="1"/>
          <p:nvPr/>
        </p:nvSpPr>
        <p:spPr>
          <a:xfrm>
            <a:off x="685800" y="6035040"/>
            <a:ext cx="10820095" cy="256032"/>
          </a:xfrm>
          <a:prstGeom prst="rect">
            <a:avLst/>
          </a:prstGeom>
          <a:noFill/>
          <a:ln/>
        </p:spPr>
        <p:txBody>
          <a:bodyPr wrap="square" lIns="0" tIns="0" rIns="0" bIns="0" rtlCol="0" anchor="t"/>
          <a:lstStyle/>
          <a:p>
            <a:pPr indent="0" marL="0">
              <a:buNone/>
            </a:pPr>
            <a:r>
              <a:rPr lang="en-US" sz="1000" dirty="0">
                <a:solidFill>
                  <a:srgbClr val="8A94A3"/>
                </a:solidFill>
                <a:latin typeface="Arial" pitchFamily="34" charset="0"/>
                <a:ea typeface="Arial" pitchFamily="34" charset="-122"/>
                <a:cs typeface="Arial" pitchFamily="34" charset="-120"/>
              </a:rPr>
              <a:t>DAPT2020: Myneni et al., 2020  ·  kaggle.com/datasets/sowmyamyneni/dapt2020</a:t>
            </a:r>
            <a:endParaRPr lang="en-US" sz="1000" dirty="0"/>
          </a:p>
        </p:txBody>
      </p:sp>
      <p:sp>
        <p:nvSpPr>
          <p:cNvPr id="42" name="Text 28"/>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3" name="Text 29"/>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526"/>
        </a:solidFill>
      </p:bgPr>
    </p:bg>
    <p:spTree>
      <p:nvGrpSpPr>
        <p:cNvPr id="1" name=""/>
        <p:cNvGrpSpPr/>
        <p:nvPr/>
      </p:nvGrpSpPr>
      <p:grpSpPr>
        <a:xfrm>
          <a:off x="0" y="0"/>
          <a:ext cx="0" cy="0"/>
          <a:chOff x="0" y="0"/>
          <a:chExt cx="0" cy="0"/>
        </a:xfrm>
      </p:grpSpPr>
      <p:sp>
        <p:nvSpPr>
          <p:cNvPr id="2" name="Shape 0"/>
          <p:cNvSpPr/>
          <p:nvPr/>
        </p:nvSpPr>
        <p:spPr>
          <a:xfrm>
            <a:off x="7123352" y="515842"/>
            <a:ext cx="327072" cy="387592"/>
          </a:xfrm>
          <a:prstGeom prst="line">
            <a:avLst/>
          </a:prstGeom>
          <a:noFill/>
          <a:ln w="9525">
            <a:solidFill>
              <a:srgbClr val="2C3E5C"/>
            </a:solidFill>
            <a:prstDash val="solid"/>
          </a:ln>
        </p:spPr>
      </p:sp>
      <p:sp>
        <p:nvSpPr>
          <p:cNvPr id="3" name="Shape 1"/>
          <p:cNvSpPr/>
          <p:nvPr/>
        </p:nvSpPr>
        <p:spPr>
          <a:xfrm>
            <a:off x="7123352" y="515842"/>
            <a:ext cx="262447" cy="1171260"/>
          </a:xfrm>
          <a:prstGeom prst="line">
            <a:avLst/>
          </a:prstGeom>
          <a:noFill/>
          <a:ln w="9525">
            <a:solidFill>
              <a:srgbClr val="2C3E5C"/>
            </a:solidFill>
            <a:prstDash val="solid"/>
          </a:ln>
        </p:spPr>
      </p:sp>
      <p:sp>
        <p:nvSpPr>
          <p:cNvPr id="4" name="Shape 2"/>
          <p:cNvSpPr/>
          <p:nvPr/>
        </p:nvSpPr>
        <p:spPr>
          <a:xfrm flipH="1">
            <a:off x="7385800" y="903434"/>
            <a:ext cx="64625" cy="783667"/>
          </a:xfrm>
          <a:prstGeom prst="line">
            <a:avLst/>
          </a:prstGeom>
          <a:noFill/>
          <a:ln w="9525">
            <a:solidFill>
              <a:srgbClr val="2C3E5C"/>
            </a:solidFill>
            <a:prstDash val="solid"/>
          </a:ln>
        </p:spPr>
      </p:sp>
      <p:sp>
        <p:nvSpPr>
          <p:cNvPr id="5" name="Shape 3"/>
          <p:cNvSpPr/>
          <p:nvPr/>
        </p:nvSpPr>
        <p:spPr>
          <a:xfrm flipV="1">
            <a:off x="9583967" y="651325"/>
            <a:ext cx="1019866" cy="188688"/>
          </a:xfrm>
          <a:prstGeom prst="line">
            <a:avLst/>
          </a:prstGeom>
          <a:noFill/>
          <a:ln w="9525">
            <a:solidFill>
              <a:srgbClr val="2C3E5C"/>
            </a:solidFill>
            <a:prstDash val="solid"/>
          </a:ln>
        </p:spPr>
      </p:sp>
      <p:sp>
        <p:nvSpPr>
          <p:cNvPr id="6" name="Shape 4"/>
          <p:cNvSpPr/>
          <p:nvPr/>
        </p:nvSpPr>
        <p:spPr>
          <a:xfrm flipH="1">
            <a:off x="9341837" y="840013"/>
            <a:ext cx="242130" cy="1039700"/>
          </a:xfrm>
          <a:prstGeom prst="line">
            <a:avLst/>
          </a:prstGeom>
          <a:noFill/>
          <a:ln w="9525">
            <a:solidFill>
              <a:srgbClr val="2C3E5C"/>
            </a:solidFill>
            <a:prstDash val="solid"/>
          </a:ln>
        </p:spPr>
      </p:sp>
      <p:sp>
        <p:nvSpPr>
          <p:cNvPr id="7" name="Shape 5"/>
          <p:cNvSpPr/>
          <p:nvPr/>
        </p:nvSpPr>
        <p:spPr>
          <a:xfrm flipH="1">
            <a:off x="10510093" y="651325"/>
            <a:ext cx="93740" cy="1035437"/>
          </a:xfrm>
          <a:prstGeom prst="line">
            <a:avLst/>
          </a:prstGeom>
          <a:noFill/>
          <a:ln w="9525">
            <a:solidFill>
              <a:srgbClr val="2C3E5C"/>
            </a:solidFill>
            <a:prstDash val="solid"/>
          </a:ln>
        </p:spPr>
      </p:sp>
      <p:sp>
        <p:nvSpPr>
          <p:cNvPr id="8" name="Shape 6"/>
          <p:cNvSpPr/>
          <p:nvPr/>
        </p:nvSpPr>
        <p:spPr>
          <a:xfrm>
            <a:off x="11605810" y="1106481"/>
            <a:ext cx="32257" cy="501082"/>
          </a:xfrm>
          <a:prstGeom prst="line">
            <a:avLst/>
          </a:prstGeom>
          <a:noFill/>
          <a:ln w="12700">
            <a:solidFill>
              <a:srgbClr val="E0533A">
                <a:alpha val="55000"/>
              </a:srgbClr>
            </a:solidFill>
            <a:prstDash val="solid"/>
          </a:ln>
        </p:spPr>
      </p:sp>
      <p:sp>
        <p:nvSpPr>
          <p:cNvPr id="9" name="Shape 7"/>
          <p:cNvSpPr/>
          <p:nvPr/>
        </p:nvSpPr>
        <p:spPr>
          <a:xfrm>
            <a:off x="10603833" y="651325"/>
            <a:ext cx="1001977" cy="455156"/>
          </a:xfrm>
          <a:prstGeom prst="line">
            <a:avLst/>
          </a:prstGeom>
          <a:noFill/>
          <a:ln w="9525">
            <a:solidFill>
              <a:srgbClr val="2C3E5C"/>
            </a:solidFill>
            <a:prstDash val="solid"/>
          </a:ln>
        </p:spPr>
      </p:sp>
      <p:sp>
        <p:nvSpPr>
          <p:cNvPr id="10" name="Shape 8"/>
          <p:cNvSpPr/>
          <p:nvPr/>
        </p:nvSpPr>
        <p:spPr>
          <a:xfrm>
            <a:off x="6564806" y="1774045"/>
            <a:ext cx="215263" cy="537180"/>
          </a:xfrm>
          <a:prstGeom prst="line">
            <a:avLst/>
          </a:prstGeom>
          <a:noFill/>
          <a:ln w="9525">
            <a:solidFill>
              <a:srgbClr val="2C3E5C"/>
            </a:solidFill>
            <a:prstDash val="solid"/>
          </a:ln>
        </p:spPr>
      </p:sp>
      <p:sp>
        <p:nvSpPr>
          <p:cNvPr id="11" name="Shape 9"/>
          <p:cNvSpPr/>
          <p:nvPr/>
        </p:nvSpPr>
        <p:spPr>
          <a:xfrm flipV="1">
            <a:off x="6564806" y="1687102"/>
            <a:ext cx="820994" cy="86944"/>
          </a:xfrm>
          <a:prstGeom prst="line">
            <a:avLst/>
          </a:prstGeom>
          <a:noFill/>
          <a:ln w="9525">
            <a:solidFill>
              <a:srgbClr val="2C3E5C"/>
            </a:solidFill>
            <a:prstDash val="solid"/>
          </a:ln>
        </p:spPr>
      </p:sp>
      <p:sp>
        <p:nvSpPr>
          <p:cNvPr id="12" name="Shape 10"/>
          <p:cNvSpPr/>
          <p:nvPr/>
        </p:nvSpPr>
        <p:spPr>
          <a:xfrm>
            <a:off x="9341837" y="1879713"/>
            <a:ext cx="398628" cy="464499"/>
          </a:xfrm>
          <a:prstGeom prst="line">
            <a:avLst/>
          </a:prstGeom>
          <a:noFill/>
          <a:ln w="9525">
            <a:solidFill>
              <a:srgbClr val="2C3E5C"/>
            </a:solidFill>
            <a:prstDash val="solid"/>
          </a:ln>
        </p:spPr>
      </p:sp>
      <p:sp>
        <p:nvSpPr>
          <p:cNvPr id="13" name="Shape 11"/>
          <p:cNvSpPr/>
          <p:nvPr/>
        </p:nvSpPr>
        <p:spPr>
          <a:xfrm>
            <a:off x="10510093" y="1686762"/>
            <a:ext cx="2370" cy="550623"/>
          </a:xfrm>
          <a:prstGeom prst="line">
            <a:avLst/>
          </a:prstGeom>
          <a:noFill/>
          <a:ln w="9525">
            <a:solidFill>
              <a:srgbClr val="2C3E5C"/>
            </a:solidFill>
            <a:prstDash val="solid"/>
          </a:ln>
        </p:spPr>
      </p:sp>
      <p:sp>
        <p:nvSpPr>
          <p:cNvPr id="14" name="Shape 12"/>
          <p:cNvSpPr/>
          <p:nvPr/>
        </p:nvSpPr>
        <p:spPr>
          <a:xfrm flipH="1">
            <a:off x="9740465" y="1686762"/>
            <a:ext cx="769628" cy="657450"/>
          </a:xfrm>
          <a:prstGeom prst="line">
            <a:avLst/>
          </a:prstGeom>
          <a:noFill/>
          <a:ln w="9525">
            <a:solidFill>
              <a:srgbClr val="2C3E5C"/>
            </a:solidFill>
            <a:prstDash val="solid"/>
          </a:ln>
        </p:spPr>
      </p:sp>
      <p:sp>
        <p:nvSpPr>
          <p:cNvPr id="15" name="Shape 13"/>
          <p:cNvSpPr/>
          <p:nvPr/>
        </p:nvSpPr>
        <p:spPr>
          <a:xfrm flipV="1">
            <a:off x="10510093" y="1607563"/>
            <a:ext cx="1127974" cy="79199"/>
          </a:xfrm>
          <a:prstGeom prst="line">
            <a:avLst/>
          </a:prstGeom>
          <a:noFill/>
          <a:ln w="12700">
            <a:solidFill>
              <a:srgbClr val="E0533A">
                <a:alpha val="55000"/>
              </a:srgbClr>
            </a:solidFill>
            <a:prstDash val="solid"/>
          </a:ln>
        </p:spPr>
      </p:sp>
      <p:sp>
        <p:nvSpPr>
          <p:cNvPr id="16" name="Shape 14"/>
          <p:cNvSpPr/>
          <p:nvPr/>
        </p:nvSpPr>
        <p:spPr>
          <a:xfrm flipH="1">
            <a:off x="6780069" y="1687102"/>
            <a:ext cx="605731" cy="624123"/>
          </a:xfrm>
          <a:prstGeom prst="line">
            <a:avLst/>
          </a:prstGeom>
          <a:noFill/>
          <a:ln w="9525">
            <a:solidFill>
              <a:srgbClr val="2C3E5C"/>
            </a:solidFill>
            <a:prstDash val="solid"/>
          </a:ln>
        </p:spPr>
      </p:sp>
      <p:sp>
        <p:nvSpPr>
          <p:cNvPr id="17" name="Shape 15"/>
          <p:cNvSpPr/>
          <p:nvPr/>
        </p:nvSpPr>
        <p:spPr>
          <a:xfrm>
            <a:off x="7969961" y="2310336"/>
            <a:ext cx="657919" cy="392232"/>
          </a:xfrm>
          <a:prstGeom prst="line">
            <a:avLst/>
          </a:prstGeom>
          <a:noFill/>
          <a:ln w="9525">
            <a:solidFill>
              <a:srgbClr val="2C3E5C"/>
            </a:solidFill>
            <a:prstDash val="solid"/>
          </a:ln>
        </p:spPr>
      </p:sp>
      <p:sp>
        <p:nvSpPr>
          <p:cNvPr id="18" name="Shape 16"/>
          <p:cNvSpPr/>
          <p:nvPr/>
        </p:nvSpPr>
        <p:spPr>
          <a:xfrm>
            <a:off x="7385800" y="1687102"/>
            <a:ext cx="584161" cy="623234"/>
          </a:xfrm>
          <a:prstGeom prst="line">
            <a:avLst/>
          </a:prstGeom>
          <a:noFill/>
          <a:ln w="9525">
            <a:solidFill>
              <a:srgbClr val="2C3E5C"/>
            </a:solidFill>
            <a:prstDash val="solid"/>
          </a:ln>
        </p:spPr>
      </p:sp>
      <p:sp>
        <p:nvSpPr>
          <p:cNvPr id="19" name="Shape 17"/>
          <p:cNvSpPr/>
          <p:nvPr/>
        </p:nvSpPr>
        <p:spPr>
          <a:xfrm flipH="1">
            <a:off x="8511809" y="2702567"/>
            <a:ext cx="116071" cy="924295"/>
          </a:xfrm>
          <a:prstGeom prst="line">
            <a:avLst/>
          </a:prstGeom>
          <a:noFill/>
          <a:ln w="9525">
            <a:solidFill>
              <a:srgbClr val="2C3E5C"/>
            </a:solidFill>
            <a:prstDash val="solid"/>
          </a:ln>
        </p:spPr>
      </p:sp>
      <p:sp>
        <p:nvSpPr>
          <p:cNvPr id="20" name="Shape 18"/>
          <p:cNvSpPr/>
          <p:nvPr/>
        </p:nvSpPr>
        <p:spPr>
          <a:xfrm flipV="1">
            <a:off x="9740465" y="2237385"/>
            <a:ext cx="771999" cy="106826"/>
          </a:xfrm>
          <a:prstGeom prst="line">
            <a:avLst/>
          </a:prstGeom>
          <a:noFill/>
          <a:ln w="9525">
            <a:solidFill>
              <a:srgbClr val="2C3E5C"/>
            </a:solidFill>
            <a:prstDash val="solid"/>
          </a:ln>
        </p:spPr>
      </p:sp>
      <p:sp>
        <p:nvSpPr>
          <p:cNvPr id="21" name="Shape 19"/>
          <p:cNvSpPr/>
          <p:nvPr/>
        </p:nvSpPr>
        <p:spPr>
          <a:xfrm flipH="1">
            <a:off x="11018189" y="2845553"/>
            <a:ext cx="634448" cy="294938"/>
          </a:xfrm>
          <a:prstGeom prst="line">
            <a:avLst/>
          </a:prstGeom>
          <a:noFill/>
          <a:ln w="12700">
            <a:solidFill>
              <a:srgbClr val="E0533A">
                <a:alpha val="55000"/>
              </a:srgbClr>
            </a:solidFill>
            <a:prstDash val="solid"/>
          </a:ln>
        </p:spPr>
      </p:sp>
      <p:sp>
        <p:nvSpPr>
          <p:cNvPr id="22" name="Shape 20"/>
          <p:cNvSpPr/>
          <p:nvPr/>
        </p:nvSpPr>
        <p:spPr>
          <a:xfrm flipH="1">
            <a:off x="10742268" y="2845553"/>
            <a:ext cx="910369" cy="664608"/>
          </a:xfrm>
          <a:prstGeom prst="line">
            <a:avLst/>
          </a:prstGeom>
          <a:noFill/>
          <a:ln w="9525">
            <a:solidFill>
              <a:srgbClr val="2C3E5C"/>
            </a:solidFill>
            <a:prstDash val="solid"/>
          </a:ln>
        </p:spPr>
      </p:sp>
      <p:sp>
        <p:nvSpPr>
          <p:cNvPr id="23" name="Shape 21"/>
          <p:cNvSpPr/>
          <p:nvPr/>
        </p:nvSpPr>
        <p:spPr>
          <a:xfrm flipH="1">
            <a:off x="6747982" y="3698591"/>
            <a:ext cx="782610" cy="480778"/>
          </a:xfrm>
          <a:prstGeom prst="line">
            <a:avLst/>
          </a:prstGeom>
          <a:noFill/>
          <a:ln w="9525">
            <a:solidFill>
              <a:srgbClr val="2C3E5C"/>
            </a:solidFill>
            <a:prstDash val="solid"/>
          </a:ln>
        </p:spPr>
      </p:sp>
      <p:sp>
        <p:nvSpPr>
          <p:cNvPr id="24" name="Shape 22"/>
          <p:cNvSpPr/>
          <p:nvPr/>
        </p:nvSpPr>
        <p:spPr>
          <a:xfrm>
            <a:off x="7530592" y="3698591"/>
            <a:ext cx="355095" cy="874524"/>
          </a:xfrm>
          <a:prstGeom prst="line">
            <a:avLst/>
          </a:prstGeom>
          <a:noFill/>
          <a:ln w="9525">
            <a:solidFill>
              <a:srgbClr val="2C3E5C"/>
            </a:solidFill>
            <a:prstDash val="solid"/>
          </a:ln>
        </p:spPr>
      </p:sp>
      <p:sp>
        <p:nvSpPr>
          <p:cNvPr id="25" name="Shape 23"/>
          <p:cNvSpPr/>
          <p:nvPr/>
        </p:nvSpPr>
        <p:spPr>
          <a:xfrm>
            <a:off x="8511809" y="3626862"/>
            <a:ext cx="58420" cy="398997"/>
          </a:xfrm>
          <a:prstGeom prst="line">
            <a:avLst/>
          </a:prstGeom>
          <a:noFill/>
          <a:ln w="9525">
            <a:solidFill>
              <a:srgbClr val="2C3E5C"/>
            </a:solidFill>
            <a:prstDash val="solid"/>
          </a:ln>
        </p:spPr>
      </p:sp>
      <p:sp>
        <p:nvSpPr>
          <p:cNvPr id="26" name="Shape 24"/>
          <p:cNvSpPr/>
          <p:nvPr/>
        </p:nvSpPr>
        <p:spPr>
          <a:xfrm flipH="1">
            <a:off x="9477150" y="2344212"/>
            <a:ext cx="263315" cy="953652"/>
          </a:xfrm>
          <a:prstGeom prst="line">
            <a:avLst/>
          </a:prstGeom>
          <a:noFill/>
          <a:ln w="9525">
            <a:solidFill>
              <a:srgbClr val="2C3E5C"/>
            </a:solidFill>
            <a:prstDash val="solid"/>
          </a:ln>
        </p:spPr>
      </p:sp>
      <p:sp>
        <p:nvSpPr>
          <p:cNvPr id="27" name="Shape 25"/>
          <p:cNvSpPr/>
          <p:nvPr/>
        </p:nvSpPr>
        <p:spPr>
          <a:xfrm flipV="1">
            <a:off x="8511809" y="3297864"/>
            <a:ext cx="965341" cy="328998"/>
          </a:xfrm>
          <a:prstGeom prst="line">
            <a:avLst/>
          </a:prstGeom>
          <a:noFill/>
          <a:ln w="9525">
            <a:solidFill>
              <a:srgbClr val="2C3E5C"/>
            </a:solidFill>
            <a:prstDash val="solid"/>
          </a:ln>
        </p:spPr>
      </p:sp>
      <p:sp>
        <p:nvSpPr>
          <p:cNvPr id="28" name="Shape 26"/>
          <p:cNvSpPr/>
          <p:nvPr/>
        </p:nvSpPr>
        <p:spPr>
          <a:xfrm flipV="1">
            <a:off x="10742268" y="3140491"/>
            <a:ext cx="275922" cy="369669"/>
          </a:xfrm>
          <a:prstGeom prst="line">
            <a:avLst/>
          </a:prstGeom>
          <a:noFill/>
          <a:ln w="12700">
            <a:solidFill>
              <a:srgbClr val="E0533A">
                <a:alpha val="55000"/>
              </a:srgbClr>
            </a:solidFill>
            <a:prstDash val="solid"/>
          </a:ln>
        </p:spPr>
      </p:sp>
      <p:sp>
        <p:nvSpPr>
          <p:cNvPr id="29" name="Shape 27"/>
          <p:cNvSpPr/>
          <p:nvPr/>
        </p:nvSpPr>
        <p:spPr>
          <a:xfrm flipH="1">
            <a:off x="10224491" y="3510160"/>
            <a:ext cx="517777" cy="701066"/>
          </a:xfrm>
          <a:prstGeom prst="line">
            <a:avLst/>
          </a:prstGeom>
          <a:noFill/>
          <a:ln w="9525">
            <a:solidFill>
              <a:srgbClr val="2C3E5C"/>
            </a:solidFill>
            <a:prstDash val="solid"/>
          </a:ln>
        </p:spPr>
      </p:sp>
      <p:sp>
        <p:nvSpPr>
          <p:cNvPr id="30" name="Shape 28"/>
          <p:cNvSpPr/>
          <p:nvPr/>
        </p:nvSpPr>
        <p:spPr>
          <a:xfrm>
            <a:off x="6747982" y="4179369"/>
            <a:ext cx="169431" cy="636999"/>
          </a:xfrm>
          <a:prstGeom prst="line">
            <a:avLst/>
          </a:prstGeom>
          <a:noFill/>
          <a:ln w="9525">
            <a:solidFill>
              <a:srgbClr val="2C3E5C"/>
            </a:solidFill>
            <a:prstDash val="solid"/>
          </a:ln>
        </p:spPr>
      </p:sp>
      <p:sp>
        <p:nvSpPr>
          <p:cNvPr id="31" name="Shape 29"/>
          <p:cNvSpPr/>
          <p:nvPr/>
        </p:nvSpPr>
        <p:spPr>
          <a:xfrm>
            <a:off x="7885687" y="4573115"/>
            <a:ext cx="603858" cy="376402"/>
          </a:xfrm>
          <a:prstGeom prst="line">
            <a:avLst/>
          </a:prstGeom>
          <a:noFill/>
          <a:ln w="9525">
            <a:solidFill>
              <a:srgbClr val="2C3E5C"/>
            </a:solidFill>
            <a:prstDash val="solid"/>
          </a:ln>
        </p:spPr>
      </p:sp>
      <p:sp>
        <p:nvSpPr>
          <p:cNvPr id="32" name="Shape 30"/>
          <p:cNvSpPr/>
          <p:nvPr/>
        </p:nvSpPr>
        <p:spPr>
          <a:xfrm flipV="1">
            <a:off x="7885687" y="4025860"/>
            <a:ext cx="684542" cy="547255"/>
          </a:xfrm>
          <a:prstGeom prst="line">
            <a:avLst/>
          </a:prstGeom>
          <a:noFill/>
          <a:ln w="9525">
            <a:solidFill>
              <a:srgbClr val="2C3E5C"/>
            </a:solidFill>
            <a:prstDash val="solid"/>
          </a:ln>
        </p:spPr>
      </p:sp>
      <p:sp>
        <p:nvSpPr>
          <p:cNvPr id="33" name="Shape 31"/>
          <p:cNvSpPr/>
          <p:nvPr/>
        </p:nvSpPr>
        <p:spPr>
          <a:xfrm flipH="1">
            <a:off x="9211888" y="4533158"/>
            <a:ext cx="145742" cy="587047"/>
          </a:xfrm>
          <a:prstGeom prst="line">
            <a:avLst/>
          </a:prstGeom>
          <a:noFill/>
          <a:ln w="9525">
            <a:solidFill>
              <a:srgbClr val="2C3E5C"/>
            </a:solidFill>
            <a:prstDash val="solid"/>
          </a:ln>
        </p:spPr>
      </p:sp>
      <p:sp>
        <p:nvSpPr>
          <p:cNvPr id="34" name="Shape 32"/>
          <p:cNvSpPr/>
          <p:nvPr/>
        </p:nvSpPr>
        <p:spPr>
          <a:xfrm flipV="1">
            <a:off x="9357630" y="4211226"/>
            <a:ext cx="866861" cy="321932"/>
          </a:xfrm>
          <a:prstGeom prst="line">
            <a:avLst/>
          </a:prstGeom>
          <a:noFill/>
          <a:ln w="9525">
            <a:solidFill>
              <a:srgbClr val="2C3E5C"/>
            </a:solidFill>
            <a:prstDash val="solid"/>
          </a:ln>
        </p:spPr>
      </p:sp>
      <p:sp>
        <p:nvSpPr>
          <p:cNvPr id="35" name="Shape 33"/>
          <p:cNvSpPr/>
          <p:nvPr/>
        </p:nvSpPr>
        <p:spPr>
          <a:xfrm flipH="1">
            <a:off x="6917413" y="4573115"/>
            <a:ext cx="968273" cy="243253"/>
          </a:xfrm>
          <a:prstGeom prst="line">
            <a:avLst/>
          </a:prstGeom>
          <a:noFill/>
          <a:ln w="9525">
            <a:solidFill>
              <a:srgbClr val="2C3E5C"/>
            </a:solidFill>
            <a:prstDash val="solid"/>
          </a:ln>
        </p:spPr>
      </p:sp>
      <p:sp>
        <p:nvSpPr>
          <p:cNvPr id="36" name="Shape 34"/>
          <p:cNvSpPr/>
          <p:nvPr/>
        </p:nvSpPr>
        <p:spPr>
          <a:xfrm>
            <a:off x="8489545" y="4949516"/>
            <a:ext cx="722343" cy="170689"/>
          </a:xfrm>
          <a:prstGeom prst="line">
            <a:avLst/>
          </a:prstGeom>
          <a:noFill/>
          <a:ln w="9525">
            <a:solidFill>
              <a:srgbClr val="2C3E5C"/>
            </a:solidFill>
            <a:prstDash val="solid"/>
          </a:ln>
        </p:spPr>
      </p:sp>
      <p:sp>
        <p:nvSpPr>
          <p:cNvPr id="37" name="Shape 35"/>
          <p:cNvSpPr/>
          <p:nvPr/>
        </p:nvSpPr>
        <p:spPr>
          <a:xfrm flipV="1">
            <a:off x="10607855" y="4907024"/>
            <a:ext cx="512090" cy="184652"/>
          </a:xfrm>
          <a:prstGeom prst="line">
            <a:avLst/>
          </a:prstGeom>
          <a:noFill/>
          <a:ln w="9525">
            <a:solidFill>
              <a:srgbClr val="2C3E5C"/>
            </a:solidFill>
            <a:prstDash val="solid"/>
          </a:ln>
        </p:spPr>
      </p:sp>
      <p:sp>
        <p:nvSpPr>
          <p:cNvPr id="38" name="Shape 36"/>
          <p:cNvSpPr/>
          <p:nvPr/>
        </p:nvSpPr>
        <p:spPr>
          <a:xfrm flipH="1">
            <a:off x="10329936" y="5091676"/>
            <a:ext cx="277919" cy="843266"/>
          </a:xfrm>
          <a:prstGeom prst="line">
            <a:avLst/>
          </a:prstGeom>
          <a:noFill/>
          <a:ln w="9525">
            <a:solidFill>
              <a:srgbClr val="2C3E5C"/>
            </a:solidFill>
            <a:prstDash val="solid"/>
          </a:ln>
        </p:spPr>
      </p:sp>
      <p:sp>
        <p:nvSpPr>
          <p:cNvPr id="39" name="Shape 37"/>
          <p:cNvSpPr/>
          <p:nvPr/>
        </p:nvSpPr>
        <p:spPr>
          <a:xfrm>
            <a:off x="10224491" y="4211226"/>
            <a:ext cx="895454" cy="695798"/>
          </a:xfrm>
          <a:prstGeom prst="line">
            <a:avLst/>
          </a:prstGeom>
          <a:noFill/>
          <a:ln w="9525">
            <a:solidFill>
              <a:srgbClr val="2C3E5C"/>
            </a:solidFill>
            <a:prstDash val="solid"/>
          </a:ln>
        </p:spPr>
      </p:sp>
      <p:sp>
        <p:nvSpPr>
          <p:cNvPr id="40" name="Shape 38"/>
          <p:cNvSpPr/>
          <p:nvPr/>
        </p:nvSpPr>
        <p:spPr>
          <a:xfrm flipH="1">
            <a:off x="7692444" y="4949516"/>
            <a:ext cx="797100" cy="1290718"/>
          </a:xfrm>
          <a:prstGeom prst="line">
            <a:avLst/>
          </a:prstGeom>
          <a:noFill/>
          <a:ln w="9525">
            <a:solidFill>
              <a:srgbClr val="2C3E5C"/>
            </a:solidFill>
            <a:prstDash val="solid"/>
          </a:ln>
        </p:spPr>
      </p:sp>
      <p:sp>
        <p:nvSpPr>
          <p:cNvPr id="41" name="Shape 39"/>
          <p:cNvSpPr/>
          <p:nvPr/>
        </p:nvSpPr>
        <p:spPr>
          <a:xfrm>
            <a:off x="6917413" y="4816368"/>
            <a:ext cx="775031" cy="1423867"/>
          </a:xfrm>
          <a:prstGeom prst="line">
            <a:avLst/>
          </a:prstGeom>
          <a:noFill/>
          <a:ln w="9525">
            <a:solidFill>
              <a:srgbClr val="2C3E5C"/>
            </a:solidFill>
            <a:prstDash val="solid"/>
          </a:ln>
        </p:spPr>
      </p:sp>
      <p:sp>
        <p:nvSpPr>
          <p:cNvPr id="42" name="Shape 40"/>
          <p:cNvSpPr/>
          <p:nvPr/>
        </p:nvSpPr>
        <p:spPr>
          <a:xfrm flipV="1">
            <a:off x="9659764" y="5934942"/>
            <a:ext cx="670172" cy="199086"/>
          </a:xfrm>
          <a:prstGeom prst="line">
            <a:avLst/>
          </a:prstGeom>
          <a:noFill/>
          <a:ln w="9525">
            <a:solidFill>
              <a:srgbClr val="2C3E5C"/>
            </a:solidFill>
            <a:prstDash val="solid"/>
          </a:ln>
        </p:spPr>
      </p:sp>
      <p:sp>
        <p:nvSpPr>
          <p:cNvPr id="43" name="Shape 41"/>
          <p:cNvSpPr/>
          <p:nvPr/>
        </p:nvSpPr>
        <p:spPr>
          <a:xfrm>
            <a:off x="9211888" y="5120205"/>
            <a:ext cx="447876" cy="1013823"/>
          </a:xfrm>
          <a:prstGeom prst="line">
            <a:avLst/>
          </a:prstGeom>
          <a:noFill/>
          <a:ln w="9525">
            <a:solidFill>
              <a:srgbClr val="2C3E5C"/>
            </a:solidFill>
            <a:prstDash val="solid"/>
          </a:ln>
        </p:spPr>
      </p:sp>
      <p:sp>
        <p:nvSpPr>
          <p:cNvPr id="44" name="Shape 42"/>
          <p:cNvSpPr/>
          <p:nvPr/>
        </p:nvSpPr>
        <p:spPr>
          <a:xfrm>
            <a:off x="10329936" y="5934942"/>
            <a:ext cx="949000" cy="177556"/>
          </a:xfrm>
          <a:prstGeom prst="line">
            <a:avLst/>
          </a:prstGeom>
          <a:noFill/>
          <a:ln w="9525">
            <a:solidFill>
              <a:srgbClr val="2C3E5C"/>
            </a:solidFill>
            <a:prstDash val="solid"/>
          </a:ln>
        </p:spPr>
      </p:sp>
      <p:sp>
        <p:nvSpPr>
          <p:cNvPr id="45" name="Shape 43"/>
          <p:cNvSpPr/>
          <p:nvPr/>
        </p:nvSpPr>
        <p:spPr>
          <a:xfrm>
            <a:off x="11119945" y="4907024"/>
            <a:ext cx="158990" cy="1205474"/>
          </a:xfrm>
          <a:prstGeom prst="line">
            <a:avLst/>
          </a:prstGeom>
          <a:noFill/>
          <a:ln w="9525">
            <a:solidFill>
              <a:srgbClr val="2C3E5C"/>
            </a:solidFill>
            <a:prstDash val="solid"/>
          </a:ln>
        </p:spPr>
      </p:sp>
      <p:sp>
        <p:nvSpPr>
          <p:cNvPr id="46" name="Shape 44"/>
          <p:cNvSpPr/>
          <p:nvPr/>
        </p:nvSpPr>
        <p:spPr>
          <a:xfrm>
            <a:off x="7076555" y="469045"/>
            <a:ext cx="93594" cy="93594"/>
          </a:xfrm>
          <a:prstGeom prst="ellipse">
            <a:avLst/>
          </a:prstGeom>
          <a:solidFill>
            <a:srgbClr val="4B6388"/>
          </a:solidFill>
          <a:ln w="12700">
            <a:solidFill>
              <a:srgbClr val="4B6388"/>
            </a:solidFill>
            <a:prstDash val="solid"/>
          </a:ln>
        </p:spPr>
      </p:sp>
      <p:sp>
        <p:nvSpPr>
          <p:cNvPr id="47" name="Shape 45"/>
          <p:cNvSpPr/>
          <p:nvPr/>
        </p:nvSpPr>
        <p:spPr>
          <a:xfrm>
            <a:off x="7411467" y="864477"/>
            <a:ext cx="77914" cy="77914"/>
          </a:xfrm>
          <a:prstGeom prst="ellipse">
            <a:avLst/>
          </a:prstGeom>
          <a:solidFill>
            <a:srgbClr val="4B6388"/>
          </a:solidFill>
          <a:ln w="12700">
            <a:solidFill>
              <a:srgbClr val="4B6388"/>
            </a:solidFill>
            <a:prstDash val="solid"/>
          </a:ln>
        </p:spPr>
      </p:sp>
      <p:sp>
        <p:nvSpPr>
          <p:cNvPr id="48" name="Shape 46"/>
          <p:cNvSpPr/>
          <p:nvPr/>
        </p:nvSpPr>
        <p:spPr>
          <a:xfrm>
            <a:off x="9542380" y="798426"/>
            <a:ext cx="83174" cy="83174"/>
          </a:xfrm>
          <a:prstGeom prst="ellipse">
            <a:avLst/>
          </a:prstGeom>
          <a:solidFill>
            <a:srgbClr val="4B6388"/>
          </a:solidFill>
          <a:ln w="12700">
            <a:solidFill>
              <a:srgbClr val="4B6388"/>
            </a:solidFill>
            <a:prstDash val="solid"/>
          </a:ln>
        </p:spPr>
      </p:sp>
      <p:sp>
        <p:nvSpPr>
          <p:cNvPr id="49" name="Shape 47"/>
          <p:cNvSpPr/>
          <p:nvPr/>
        </p:nvSpPr>
        <p:spPr>
          <a:xfrm>
            <a:off x="10543806" y="591297"/>
            <a:ext cx="120055" cy="120055"/>
          </a:xfrm>
          <a:prstGeom prst="ellipse">
            <a:avLst/>
          </a:prstGeom>
          <a:solidFill>
            <a:srgbClr val="4B6388"/>
          </a:solidFill>
          <a:ln w="12700">
            <a:solidFill>
              <a:srgbClr val="4B6388"/>
            </a:solidFill>
            <a:prstDash val="solid"/>
          </a:ln>
        </p:spPr>
      </p:sp>
      <p:sp>
        <p:nvSpPr>
          <p:cNvPr id="50" name="Shape 48"/>
          <p:cNvSpPr/>
          <p:nvPr/>
        </p:nvSpPr>
        <p:spPr>
          <a:xfrm>
            <a:off x="11573161" y="1073832"/>
            <a:ext cx="65299" cy="65299"/>
          </a:xfrm>
          <a:prstGeom prst="ellipse">
            <a:avLst/>
          </a:prstGeom>
          <a:solidFill>
            <a:srgbClr val="4B6388"/>
          </a:solidFill>
          <a:ln w="12700">
            <a:solidFill>
              <a:srgbClr val="4B6388"/>
            </a:solidFill>
            <a:prstDash val="solid"/>
          </a:ln>
        </p:spPr>
      </p:sp>
      <p:sp>
        <p:nvSpPr>
          <p:cNvPr id="51" name="Shape 49"/>
          <p:cNvSpPr/>
          <p:nvPr/>
        </p:nvSpPr>
        <p:spPr>
          <a:xfrm>
            <a:off x="6522696" y="1731935"/>
            <a:ext cx="84220" cy="84220"/>
          </a:xfrm>
          <a:prstGeom prst="ellipse">
            <a:avLst/>
          </a:prstGeom>
          <a:solidFill>
            <a:srgbClr val="4B6388"/>
          </a:solidFill>
          <a:ln w="12700">
            <a:solidFill>
              <a:srgbClr val="4B6388"/>
            </a:solidFill>
            <a:prstDash val="solid"/>
          </a:ln>
        </p:spPr>
      </p:sp>
      <p:sp>
        <p:nvSpPr>
          <p:cNvPr id="52" name="Shape 50"/>
          <p:cNvSpPr/>
          <p:nvPr/>
        </p:nvSpPr>
        <p:spPr>
          <a:xfrm>
            <a:off x="7351310" y="1652612"/>
            <a:ext cx="68980" cy="68980"/>
          </a:xfrm>
          <a:prstGeom prst="ellipse">
            <a:avLst/>
          </a:prstGeom>
          <a:solidFill>
            <a:srgbClr val="4B6388"/>
          </a:solidFill>
          <a:ln w="12700">
            <a:solidFill>
              <a:srgbClr val="4B6388"/>
            </a:solidFill>
            <a:prstDash val="solid"/>
          </a:ln>
        </p:spPr>
      </p:sp>
      <p:sp>
        <p:nvSpPr>
          <p:cNvPr id="53" name="Shape 51"/>
          <p:cNvSpPr/>
          <p:nvPr/>
        </p:nvSpPr>
        <p:spPr>
          <a:xfrm>
            <a:off x="9306142" y="1844017"/>
            <a:ext cx="71392" cy="71392"/>
          </a:xfrm>
          <a:prstGeom prst="ellipse">
            <a:avLst/>
          </a:prstGeom>
          <a:solidFill>
            <a:srgbClr val="4B6388"/>
          </a:solidFill>
          <a:ln w="12700">
            <a:solidFill>
              <a:srgbClr val="4B6388"/>
            </a:solidFill>
            <a:prstDash val="solid"/>
          </a:ln>
        </p:spPr>
      </p:sp>
      <p:sp>
        <p:nvSpPr>
          <p:cNvPr id="54" name="Shape 52"/>
          <p:cNvSpPr/>
          <p:nvPr/>
        </p:nvSpPr>
        <p:spPr>
          <a:xfrm>
            <a:off x="10471387" y="1648056"/>
            <a:ext cx="77412" cy="77412"/>
          </a:xfrm>
          <a:prstGeom prst="ellipse">
            <a:avLst/>
          </a:prstGeom>
          <a:solidFill>
            <a:srgbClr val="4B6388"/>
          </a:solidFill>
          <a:ln w="12700">
            <a:solidFill>
              <a:srgbClr val="4B6388"/>
            </a:solidFill>
            <a:prstDash val="solid"/>
          </a:ln>
        </p:spPr>
      </p:sp>
      <p:sp>
        <p:nvSpPr>
          <p:cNvPr id="55" name="Shape 53"/>
          <p:cNvSpPr/>
          <p:nvPr/>
        </p:nvSpPr>
        <p:spPr>
          <a:xfrm>
            <a:off x="11418611" y="1388107"/>
            <a:ext cx="438912" cy="438912"/>
          </a:xfrm>
          <a:prstGeom prst="ellipse">
            <a:avLst/>
          </a:prstGeom>
          <a:solidFill>
            <a:srgbClr val="E0533A">
              <a:alpha val="20000"/>
            </a:srgbClr>
          </a:solidFill>
          <a:ln w="12700">
            <a:solidFill>
              <a:srgbClr val="E0533A">
                <a:alpha val="20000"/>
              </a:srgbClr>
            </a:solidFill>
            <a:prstDash val="solid"/>
          </a:ln>
        </p:spPr>
      </p:sp>
      <p:sp>
        <p:nvSpPr>
          <p:cNvPr id="56" name="Shape 54"/>
          <p:cNvSpPr/>
          <p:nvPr/>
        </p:nvSpPr>
        <p:spPr>
          <a:xfrm>
            <a:off x="11555771" y="1525267"/>
            <a:ext cx="164592" cy="164592"/>
          </a:xfrm>
          <a:prstGeom prst="ellipse">
            <a:avLst/>
          </a:prstGeom>
          <a:solidFill>
            <a:srgbClr val="E0533A"/>
          </a:solidFill>
          <a:ln w="12700">
            <a:solidFill>
              <a:srgbClr val="E0533A"/>
            </a:solidFill>
            <a:prstDash val="solid"/>
          </a:ln>
        </p:spPr>
      </p:sp>
      <p:sp>
        <p:nvSpPr>
          <p:cNvPr id="57" name="Shape 55"/>
          <p:cNvSpPr/>
          <p:nvPr/>
        </p:nvSpPr>
        <p:spPr>
          <a:xfrm>
            <a:off x="6731020" y="2262176"/>
            <a:ext cx="98098" cy="98098"/>
          </a:xfrm>
          <a:prstGeom prst="ellipse">
            <a:avLst/>
          </a:prstGeom>
          <a:solidFill>
            <a:srgbClr val="4B6388"/>
          </a:solidFill>
          <a:ln w="12700">
            <a:solidFill>
              <a:srgbClr val="4B6388"/>
            </a:solidFill>
            <a:prstDash val="solid"/>
          </a:ln>
        </p:spPr>
      </p:sp>
      <p:sp>
        <p:nvSpPr>
          <p:cNvPr id="58" name="Shape 56"/>
          <p:cNvSpPr/>
          <p:nvPr/>
        </p:nvSpPr>
        <p:spPr>
          <a:xfrm>
            <a:off x="7923238" y="2263612"/>
            <a:ext cx="93446" cy="93446"/>
          </a:xfrm>
          <a:prstGeom prst="ellipse">
            <a:avLst/>
          </a:prstGeom>
          <a:solidFill>
            <a:srgbClr val="4B6388"/>
          </a:solidFill>
          <a:ln w="12700">
            <a:solidFill>
              <a:srgbClr val="4B6388"/>
            </a:solidFill>
            <a:prstDash val="solid"/>
          </a:ln>
        </p:spPr>
      </p:sp>
      <p:sp>
        <p:nvSpPr>
          <p:cNvPr id="59" name="Shape 57"/>
          <p:cNvSpPr/>
          <p:nvPr/>
        </p:nvSpPr>
        <p:spPr>
          <a:xfrm>
            <a:off x="8595515" y="2670203"/>
            <a:ext cx="64730" cy="64730"/>
          </a:xfrm>
          <a:prstGeom prst="ellipse">
            <a:avLst/>
          </a:prstGeom>
          <a:solidFill>
            <a:srgbClr val="4B6388"/>
          </a:solidFill>
          <a:ln w="12700">
            <a:solidFill>
              <a:srgbClr val="4B6388"/>
            </a:solidFill>
            <a:prstDash val="solid"/>
          </a:ln>
        </p:spPr>
      </p:sp>
      <p:sp>
        <p:nvSpPr>
          <p:cNvPr id="60" name="Shape 58"/>
          <p:cNvSpPr/>
          <p:nvPr/>
        </p:nvSpPr>
        <p:spPr>
          <a:xfrm>
            <a:off x="9700642" y="2304388"/>
            <a:ext cx="79647" cy="79647"/>
          </a:xfrm>
          <a:prstGeom prst="ellipse">
            <a:avLst/>
          </a:prstGeom>
          <a:solidFill>
            <a:srgbClr val="4B6388"/>
          </a:solidFill>
          <a:ln w="12700">
            <a:solidFill>
              <a:srgbClr val="4B6388"/>
            </a:solidFill>
            <a:prstDash val="solid"/>
          </a:ln>
        </p:spPr>
      </p:sp>
      <p:sp>
        <p:nvSpPr>
          <p:cNvPr id="61" name="Shape 59"/>
          <p:cNvSpPr/>
          <p:nvPr/>
        </p:nvSpPr>
        <p:spPr>
          <a:xfrm>
            <a:off x="10470815" y="2195737"/>
            <a:ext cx="83297" cy="83297"/>
          </a:xfrm>
          <a:prstGeom prst="ellipse">
            <a:avLst/>
          </a:prstGeom>
          <a:solidFill>
            <a:srgbClr val="4B6388"/>
          </a:solidFill>
          <a:ln w="12700">
            <a:solidFill>
              <a:srgbClr val="4B6388"/>
            </a:solidFill>
            <a:prstDash val="solid"/>
          </a:ln>
        </p:spPr>
      </p:sp>
      <p:sp>
        <p:nvSpPr>
          <p:cNvPr id="62" name="Shape 60"/>
          <p:cNvSpPr/>
          <p:nvPr/>
        </p:nvSpPr>
        <p:spPr>
          <a:xfrm>
            <a:off x="11609655" y="2802571"/>
            <a:ext cx="85963" cy="85963"/>
          </a:xfrm>
          <a:prstGeom prst="ellipse">
            <a:avLst/>
          </a:prstGeom>
          <a:solidFill>
            <a:srgbClr val="4B6388"/>
          </a:solidFill>
          <a:ln w="12700">
            <a:solidFill>
              <a:srgbClr val="4B6388"/>
            </a:solidFill>
            <a:prstDash val="solid"/>
          </a:ln>
        </p:spPr>
      </p:sp>
      <p:sp>
        <p:nvSpPr>
          <p:cNvPr id="63" name="Shape 61"/>
          <p:cNvSpPr/>
          <p:nvPr/>
        </p:nvSpPr>
        <p:spPr>
          <a:xfrm>
            <a:off x="7477392" y="3645391"/>
            <a:ext cx="106400" cy="106400"/>
          </a:xfrm>
          <a:prstGeom prst="ellipse">
            <a:avLst/>
          </a:prstGeom>
          <a:solidFill>
            <a:srgbClr val="4B6388"/>
          </a:solidFill>
          <a:ln w="12700">
            <a:solidFill>
              <a:srgbClr val="4B6388"/>
            </a:solidFill>
            <a:prstDash val="solid"/>
          </a:ln>
        </p:spPr>
      </p:sp>
      <p:sp>
        <p:nvSpPr>
          <p:cNvPr id="64" name="Shape 62"/>
          <p:cNvSpPr/>
          <p:nvPr/>
        </p:nvSpPr>
        <p:spPr>
          <a:xfrm>
            <a:off x="8477400" y="3592454"/>
            <a:ext cx="68817" cy="68817"/>
          </a:xfrm>
          <a:prstGeom prst="ellipse">
            <a:avLst/>
          </a:prstGeom>
          <a:solidFill>
            <a:srgbClr val="4B6388"/>
          </a:solidFill>
          <a:ln w="12700">
            <a:solidFill>
              <a:srgbClr val="4B6388"/>
            </a:solidFill>
            <a:prstDash val="solid"/>
          </a:ln>
        </p:spPr>
      </p:sp>
      <p:sp>
        <p:nvSpPr>
          <p:cNvPr id="65" name="Shape 63"/>
          <p:cNvSpPr/>
          <p:nvPr/>
        </p:nvSpPr>
        <p:spPr>
          <a:xfrm>
            <a:off x="9436243" y="3256957"/>
            <a:ext cx="81814" cy="81814"/>
          </a:xfrm>
          <a:prstGeom prst="ellipse">
            <a:avLst/>
          </a:prstGeom>
          <a:solidFill>
            <a:srgbClr val="4B6388"/>
          </a:solidFill>
          <a:ln w="12700">
            <a:solidFill>
              <a:srgbClr val="4B6388"/>
            </a:solidFill>
            <a:prstDash val="solid"/>
          </a:ln>
        </p:spPr>
      </p:sp>
      <p:sp>
        <p:nvSpPr>
          <p:cNvPr id="66" name="Shape 64"/>
          <p:cNvSpPr/>
          <p:nvPr/>
        </p:nvSpPr>
        <p:spPr>
          <a:xfrm>
            <a:off x="10686970" y="3454863"/>
            <a:ext cx="110595" cy="110595"/>
          </a:xfrm>
          <a:prstGeom prst="ellipse">
            <a:avLst/>
          </a:prstGeom>
          <a:solidFill>
            <a:srgbClr val="4B6388"/>
          </a:solidFill>
          <a:ln w="12700">
            <a:solidFill>
              <a:srgbClr val="4B6388"/>
            </a:solidFill>
            <a:prstDash val="solid"/>
          </a:ln>
        </p:spPr>
      </p:sp>
      <p:sp>
        <p:nvSpPr>
          <p:cNvPr id="67" name="Shape 65"/>
          <p:cNvSpPr/>
          <p:nvPr/>
        </p:nvSpPr>
        <p:spPr>
          <a:xfrm>
            <a:off x="10798733" y="2921035"/>
            <a:ext cx="438912" cy="438912"/>
          </a:xfrm>
          <a:prstGeom prst="ellipse">
            <a:avLst/>
          </a:prstGeom>
          <a:solidFill>
            <a:srgbClr val="E0533A">
              <a:alpha val="20000"/>
            </a:srgbClr>
          </a:solidFill>
          <a:ln w="12700">
            <a:solidFill>
              <a:srgbClr val="E0533A">
                <a:alpha val="20000"/>
              </a:srgbClr>
            </a:solidFill>
            <a:prstDash val="solid"/>
          </a:ln>
        </p:spPr>
      </p:sp>
      <p:sp>
        <p:nvSpPr>
          <p:cNvPr id="68" name="Shape 66"/>
          <p:cNvSpPr/>
          <p:nvPr/>
        </p:nvSpPr>
        <p:spPr>
          <a:xfrm>
            <a:off x="10935893" y="3058195"/>
            <a:ext cx="164592" cy="164592"/>
          </a:xfrm>
          <a:prstGeom prst="ellipse">
            <a:avLst/>
          </a:prstGeom>
          <a:solidFill>
            <a:srgbClr val="E0533A"/>
          </a:solidFill>
          <a:ln w="12700">
            <a:solidFill>
              <a:srgbClr val="E0533A"/>
            </a:solidFill>
            <a:prstDash val="solid"/>
          </a:ln>
        </p:spPr>
      </p:sp>
      <p:sp>
        <p:nvSpPr>
          <p:cNvPr id="69" name="Shape 67"/>
          <p:cNvSpPr/>
          <p:nvPr/>
        </p:nvSpPr>
        <p:spPr>
          <a:xfrm>
            <a:off x="6706261" y="4137647"/>
            <a:ext cx="83443" cy="83443"/>
          </a:xfrm>
          <a:prstGeom prst="ellipse">
            <a:avLst/>
          </a:prstGeom>
          <a:solidFill>
            <a:srgbClr val="4B6388"/>
          </a:solidFill>
          <a:ln w="12700">
            <a:solidFill>
              <a:srgbClr val="4B6388"/>
            </a:solidFill>
            <a:prstDash val="solid"/>
          </a:ln>
        </p:spPr>
      </p:sp>
      <p:sp>
        <p:nvSpPr>
          <p:cNvPr id="70" name="Shape 68"/>
          <p:cNvSpPr/>
          <p:nvPr/>
        </p:nvSpPr>
        <p:spPr>
          <a:xfrm>
            <a:off x="7850410" y="4537839"/>
            <a:ext cx="70552" cy="70552"/>
          </a:xfrm>
          <a:prstGeom prst="ellipse">
            <a:avLst/>
          </a:prstGeom>
          <a:solidFill>
            <a:srgbClr val="4B6388"/>
          </a:solidFill>
          <a:ln w="12700">
            <a:solidFill>
              <a:srgbClr val="4B6388"/>
            </a:solidFill>
            <a:prstDash val="solid"/>
          </a:ln>
        </p:spPr>
      </p:sp>
      <p:sp>
        <p:nvSpPr>
          <p:cNvPr id="71" name="Shape 69"/>
          <p:cNvSpPr/>
          <p:nvPr/>
        </p:nvSpPr>
        <p:spPr>
          <a:xfrm>
            <a:off x="8524277" y="3979908"/>
            <a:ext cx="91904" cy="91904"/>
          </a:xfrm>
          <a:prstGeom prst="ellipse">
            <a:avLst/>
          </a:prstGeom>
          <a:solidFill>
            <a:srgbClr val="4B6388"/>
          </a:solidFill>
          <a:ln w="12700">
            <a:solidFill>
              <a:srgbClr val="4B6388"/>
            </a:solidFill>
            <a:prstDash val="solid"/>
          </a:ln>
        </p:spPr>
      </p:sp>
      <p:sp>
        <p:nvSpPr>
          <p:cNvPr id="72" name="Shape 70"/>
          <p:cNvSpPr/>
          <p:nvPr/>
        </p:nvSpPr>
        <p:spPr>
          <a:xfrm>
            <a:off x="9320427" y="4495956"/>
            <a:ext cx="74405" cy="74405"/>
          </a:xfrm>
          <a:prstGeom prst="ellipse">
            <a:avLst/>
          </a:prstGeom>
          <a:solidFill>
            <a:srgbClr val="4B6388"/>
          </a:solidFill>
          <a:ln w="12700">
            <a:solidFill>
              <a:srgbClr val="4B6388"/>
            </a:solidFill>
            <a:prstDash val="solid"/>
          </a:ln>
        </p:spPr>
      </p:sp>
      <p:sp>
        <p:nvSpPr>
          <p:cNvPr id="73" name="Shape 71"/>
          <p:cNvSpPr/>
          <p:nvPr/>
        </p:nvSpPr>
        <p:spPr>
          <a:xfrm>
            <a:off x="10169456" y="4156192"/>
            <a:ext cx="110069" cy="110069"/>
          </a:xfrm>
          <a:prstGeom prst="ellipse">
            <a:avLst/>
          </a:prstGeom>
          <a:solidFill>
            <a:srgbClr val="4B6388"/>
          </a:solidFill>
          <a:ln w="12700">
            <a:solidFill>
              <a:srgbClr val="4B6388"/>
            </a:solidFill>
            <a:prstDash val="solid"/>
          </a:ln>
        </p:spPr>
      </p:sp>
      <p:sp>
        <p:nvSpPr>
          <p:cNvPr id="74" name="Shape 72"/>
          <p:cNvSpPr/>
          <p:nvPr/>
        </p:nvSpPr>
        <p:spPr>
          <a:xfrm>
            <a:off x="6884619" y="4783573"/>
            <a:ext cx="65589" cy="65589"/>
          </a:xfrm>
          <a:prstGeom prst="ellipse">
            <a:avLst/>
          </a:prstGeom>
          <a:solidFill>
            <a:srgbClr val="4B6388"/>
          </a:solidFill>
          <a:ln w="12700">
            <a:solidFill>
              <a:srgbClr val="4B6388"/>
            </a:solidFill>
            <a:prstDash val="solid"/>
          </a:ln>
        </p:spPr>
      </p:sp>
      <p:sp>
        <p:nvSpPr>
          <p:cNvPr id="75" name="Shape 73"/>
          <p:cNvSpPr/>
          <p:nvPr/>
        </p:nvSpPr>
        <p:spPr>
          <a:xfrm>
            <a:off x="8440969" y="4900941"/>
            <a:ext cx="97152" cy="97152"/>
          </a:xfrm>
          <a:prstGeom prst="ellipse">
            <a:avLst/>
          </a:prstGeom>
          <a:solidFill>
            <a:srgbClr val="4B6388"/>
          </a:solidFill>
          <a:ln w="12700">
            <a:solidFill>
              <a:srgbClr val="4B6388"/>
            </a:solidFill>
            <a:prstDash val="solid"/>
          </a:ln>
        </p:spPr>
      </p:sp>
      <p:sp>
        <p:nvSpPr>
          <p:cNvPr id="76" name="Shape 74"/>
          <p:cNvSpPr/>
          <p:nvPr/>
        </p:nvSpPr>
        <p:spPr>
          <a:xfrm>
            <a:off x="9153731" y="5062048"/>
            <a:ext cx="116315" cy="116315"/>
          </a:xfrm>
          <a:prstGeom prst="ellipse">
            <a:avLst/>
          </a:prstGeom>
          <a:solidFill>
            <a:srgbClr val="4B6388"/>
          </a:solidFill>
          <a:ln w="12700">
            <a:solidFill>
              <a:srgbClr val="4B6388"/>
            </a:solidFill>
            <a:prstDash val="solid"/>
          </a:ln>
        </p:spPr>
      </p:sp>
      <p:sp>
        <p:nvSpPr>
          <p:cNvPr id="77" name="Shape 75"/>
          <p:cNvSpPr/>
          <p:nvPr/>
        </p:nvSpPr>
        <p:spPr>
          <a:xfrm>
            <a:off x="10544977" y="5028797"/>
            <a:ext cx="125757" cy="125757"/>
          </a:xfrm>
          <a:prstGeom prst="ellipse">
            <a:avLst/>
          </a:prstGeom>
          <a:solidFill>
            <a:srgbClr val="4B6388"/>
          </a:solidFill>
          <a:ln w="12700">
            <a:solidFill>
              <a:srgbClr val="4B6388"/>
            </a:solidFill>
            <a:prstDash val="solid"/>
          </a:ln>
        </p:spPr>
      </p:sp>
      <p:sp>
        <p:nvSpPr>
          <p:cNvPr id="78" name="Shape 76"/>
          <p:cNvSpPr/>
          <p:nvPr/>
        </p:nvSpPr>
        <p:spPr>
          <a:xfrm>
            <a:off x="11078302" y="4865381"/>
            <a:ext cx="83286" cy="83286"/>
          </a:xfrm>
          <a:prstGeom prst="ellipse">
            <a:avLst/>
          </a:prstGeom>
          <a:solidFill>
            <a:srgbClr val="4B6388"/>
          </a:solidFill>
          <a:ln w="12700">
            <a:solidFill>
              <a:srgbClr val="4B6388"/>
            </a:solidFill>
            <a:prstDash val="solid"/>
          </a:ln>
        </p:spPr>
      </p:sp>
      <p:sp>
        <p:nvSpPr>
          <p:cNvPr id="79" name="Shape 77"/>
          <p:cNvSpPr/>
          <p:nvPr/>
        </p:nvSpPr>
        <p:spPr>
          <a:xfrm>
            <a:off x="7645165" y="6192955"/>
            <a:ext cx="94559" cy="94559"/>
          </a:xfrm>
          <a:prstGeom prst="ellipse">
            <a:avLst/>
          </a:prstGeom>
          <a:solidFill>
            <a:srgbClr val="4B6388"/>
          </a:solidFill>
          <a:ln w="12700">
            <a:solidFill>
              <a:srgbClr val="4B6388"/>
            </a:solidFill>
            <a:prstDash val="solid"/>
          </a:ln>
        </p:spPr>
      </p:sp>
      <p:sp>
        <p:nvSpPr>
          <p:cNvPr id="80" name="Shape 78"/>
          <p:cNvSpPr/>
          <p:nvPr/>
        </p:nvSpPr>
        <p:spPr>
          <a:xfrm>
            <a:off x="9604663" y="6078927"/>
            <a:ext cx="110202" cy="110202"/>
          </a:xfrm>
          <a:prstGeom prst="ellipse">
            <a:avLst/>
          </a:prstGeom>
          <a:solidFill>
            <a:srgbClr val="4B6388"/>
          </a:solidFill>
          <a:ln w="12700">
            <a:solidFill>
              <a:srgbClr val="4B6388"/>
            </a:solidFill>
            <a:prstDash val="solid"/>
          </a:ln>
        </p:spPr>
      </p:sp>
      <p:sp>
        <p:nvSpPr>
          <p:cNvPr id="81" name="Shape 79"/>
          <p:cNvSpPr/>
          <p:nvPr/>
        </p:nvSpPr>
        <p:spPr>
          <a:xfrm>
            <a:off x="10274996" y="5880002"/>
            <a:ext cx="109880" cy="109880"/>
          </a:xfrm>
          <a:prstGeom prst="ellipse">
            <a:avLst/>
          </a:prstGeom>
          <a:solidFill>
            <a:srgbClr val="4B6388"/>
          </a:solidFill>
          <a:ln w="12700">
            <a:solidFill>
              <a:srgbClr val="4B6388"/>
            </a:solidFill>
            <a:prstDash val="solid"/>
          </a:ln>
        </p:spPr>
      </p:sp>
      <p:sp>
        <p:nvSpPr>
          <p:cNvPr id="82" name="Shape 80"/>
          <p:cNvSpPr/>
          <p:nvPr/>
        </p:nvSpPr>
        <p:spPr>
          <a:xfrm>
            <a:off x="11217191" y="6050753"/>
            <a:ext cx="123490" cy="123490"/>
          </a:xfrm>
          <a:prstGeom prst="ellipse">
            <a:avLst/>
          </a:prstGeom>
          <a:solidFill>
            <a:srgbClr val="4B6388"/>
          </a:solidFill>
          <a:ln w="12700">
            <a:solidFill>
              <a:srgbClr val="4B6388"/>
            </a:solidFill>
            <a:prstDash val="solid"/>
          </a:ln>
        </p:spPr>
      </p:sp>
      <p:sp>
        <p:nvSpPr>
          <p:cNvPr id="83" name="Text 81"/>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02</a:t>
            </a:r>
            <a:endParaRPr lang="en-US" sz="9600" dirty="0"/>
          </a:p>
        </p:txBody>
      </p:sp>
      <p:sp>
        <p:nvSpPr>
          <p:cNvPr id="84" name="Text 82"/>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Data &amp; method</a:t>
            </a:r>
            <a:endParaRPr lang="en-US" sz="4400" dirty="0"/>
          </a:p>
        </p:txBody>
      </p:sp>
      <p:sp>
        <p:nvSpPr>
          <p:cNvPr id="85" name="Text 83"/>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DAPT2020, the paper's pipeline and hybrid model, and a flaw in its evaluation protocol</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DAPT2020: five days of a staged APT attack</a:t>
            </a:r>
            <a:endParaRPr lang="en-US" sz="3000" dirty="0"/>
          </a:p>
        </p:txBody>
      </p:sp>
      <p:sp>
        <p:nvSpPr>
          <p:cNvPr id="4" name="Text 2"/>
          <p:cNvSpPr txBox="1"/>
          <p:nvPr/>
        </p:nvSpPr>
        <p:spPr>
          <a:xfrm>
            <a:off x="685800" y="1874520"/>
            <a:ext cx="2926080" cy="685800"/>
          </a:xfrm>
          <a:prstGeom prst="rect">
            <a:avLst/>
          </a:prstGeom>
          <a:noFill/>
          <a:ln/>
        </p:spPr>
        <p:txBody>
          <a:bodyPr wrap="square" lIns="0" tIns="0" rIns="0" bIns="0" rtlCol="0" anchor="t"/>
          <a:lstStyle/>
          <a:p>
            <a:pPr indent="0" marL="0">
              <a:buNone/>
            </a:pPr>
            <a:r>
              <a:rPr lang="en-US" sz="3600" dirty="0">
                <a:solidFill>
                  <a:srgbClr val="0F1B2D"/>
                </a:solidFill>
                <a:latin typeface="Georgia" pitchFamily="34" charset="0"/>
                <a:ea typeface="Georgia" pitchFamily="34" charset="-122"/>
                <a:cs typeface="Georgia" pitchFamily="34" charset="-120"/>
              </a:rPr>
              <a:t>86,691</a:t>
            </a:r>
            <a:endParaRPr lang="en-US" sz="3600" dirty="0"/>
          </a:p>
        </p:txBody>
      </p:sp>
      <p:sp>
        <p:nvSpPr>
          <p:cNvPr id="5" name="Text 3"/>
          <p:cNvSpPr txBox="1"/>
          <p:nvPr/>
        </p:nvSpPr>
        <p:spPr>
          <a:xfrm>
            <a:off x="685800" y="2560320"/>
            <a:ext cx="2926080"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labelled network flows</a:t>
            </a:r>
            <a:endParaRPr lang="en-US" sz="1300" dirty="0"/>
          </a:p>
        </p:txBody>
      </p:sp>
      <p:sp>
        <p:nvSpPr>
          <p:cNvPr id="6" name="Shape 4"/>
          <p:cNvSpPr/>
          <p:nvPr/>
        </p:nvSpPr>
        <p:spPr>
          <a:xfrm>
            <a:off x="685800" y="3044952"/>
            <a:ext cx="2834640" cy="914"/>
          </a:xfrm>
          <a:prstGeom prst="line">
            <a:avLst/>
          </a:prstGeom>
          <a:noFill/>
          <a:ln w="9525">
            <a:solidFill>
              <a:srgbClr val="E2E6EC"/>
            </a:solidFill>
            <a:prstDash val="solid"/>
          </a:ln>
        </p:spPr>
      </p:sp>
      <p:sp>
        <p:nvSpPr>
          <p:cNvPr id="7" name="Text 5"/>
          <p:cNvSpPr txBox="1"/>
          <p:nvPr/>
        </p:nvSpPr>
        <p:spPr>
          <a:xfrm>
            <a:off x="685800" y="3246120"/>
            <a:ext cx="2926080" cy="685800"/>
          </a:xfrm>
          <a:prstGeom prst="rect">
            <a:avLst/>
          </a:prstGeom>
          <a:noFill/>
          <a:ln/>
        </p:spPr>
        <p:txBody>
          <a:bodyPr wrap="square" lIns="0" tIns="0" rIns="0" bIns="0" rtlCol="0" anchor="t"/>
          <a:lstStyle/>
          <a:p>
            <a:pPr indent="0" marL="0">
              <a:buNone/>
            </a:pPr>
            <a:r>
              <a:rPr lang="en-US" sz="3600" dirty="0">
                <a:solidFill>
                  <a:srgbClr val="0F1B2D"/>
                </a:solidFill>
                <a:latin typeface="Georgia" pitchFamily="34" charset="0"/>
                <a:ea typeface="Georgia" pitchFamily="34" charset="-122"/>
                <a:cs typeface="Georgia" pitchFamily="34" charset="-120"/>
              </a:rPr>
              <a:t>76</a:t>
            </a:r>
            <a:endParaRPr lang="en-US" sz="3600" dirty="0"/>
          </a:p>
        </p:txBody>
      </p:sp>
      <p:sp>
        <p:nvSpPr>
          <p:cNvPr id="8" name="Text 6"/>
          <p:cNvSpPr txBox="1"/>
          <p:nvPr/>
        </p:nvSpPr>
        <p:spPr>
          <a:xfrm>
            <a:off x="685800" y="3931920"/>
            <a:ext cx="2926080"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CICFlowMeter flow features</a:t>
            </a:r>
            <a:endParaRPr lang="en-US" sz="1300" dirty="0"/>
          </a:p>
        </p:txBody>
      </p:sp>
      <p:sp>
        <p:nvSpPr>
          <p:cNvPr id="9" name="Shape 7"/>
          <p:cNvSpPr/>
          <p:nvPr/>
        </p:nvSpPr>
        <p:spPr>
          <a:xfrm>
            <a:off x="685800" y="4416552"/>
            <a:ext cx="2834640" cy="914"/>
          </a:xfrm>
          <a:prstGeom prst="line">
            <a:avLst/>
          </a:prstGeom>
          <a:noFill/>
          <a:ln w="9525">
            <a:solidFill>
              <a:srgbClr val="E2E6EC"/>
            </a:solidFill>
            <a:prstDash val="solid"/>
          </a:ln>
        </p:spPr>
      </p:sp>
      <p:sp>
        <p:nvSpPr>
          <p:cNvPr id="10" name="Text 8"/>
          <p:cNvSpPr txBox="1"/>
          <p:nvPr/>
        </p:nvSpPr>
        <p:spPr>
          <a:xfrm>
            <a:off x="685800" y="4617720"/>
            <a:ext cx="2926080" cy="685800"/>
          </a:xfrm>
          <a:prstGeom prst="rect">
            <a:avLst/>
          </a:prstGeom>
          <a:noFill/>
          <a:ln/>
        </p:spPr>
        <p:txBody>
          <a:bodyPr wrap="square" lIns="0" tIns="0" rIns="0" bIns="0" rtlCol="0" anchor="t"/>
          <a:lstStyle/>
          <a:p>
            <a:pPr indent="0" marL="0">
              <a:buNone/>
            </a:pPr>
            <a:r>
              <a:rPr lang="en-US" sz="3600" dirty="0">
                <a:solidFill>
                  <a:srgbClr val="0F1B2D"/>
                </a:solidFill>
                <a:latin typeface="Georgia" pitchFamily="34" charset="0"/>
                <a:ea typeface="Georgia" pitchFamily="34" charset="-122"/>
                <a:cs typeface="Georgia" pitchFamily="34" charset="-120"/>
              </a:rPr>
              <a:t>5 days</a:t>
            </a:r>
            <a:endParaRPr lang="en-US" sz="3600" dirty="0"/>
          </a:p>
        </p:txBody>
      </p:sp>
      <p:sp>
        <p:nvSpPr>
          <p:cNvPr id="11" name="Text 9"/>
          <p:cNvSpPr txBox="1"/>
          <p:nvPr/>
        </p:nvSpPr>
        <p:spPr>
          <a:xfrm>
            <a:off x="685800" y="5303520"/>
            <a:ext cx="2926080"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public web server +</a:t>
            </a:r>
            <a:endParaRPr lang="en-US" sz="1300" dirty="0"/>
          </a:p>
          <a:p>
            <a:pPr indent="0" marL="0">
              <a:buNone/>
            </a:pPr>
            <a:r>
              <a:rPr lang="en-US" sz="1300" dirty="0">
                <a:solidFill>
                  <a:srgbClr val="55606E"/>
                </a:solidFill>
                <a:latin typeface="Arial" pitchFamily="34" charset="0"/>
                <a:ea typeface="Arial" pitchFamily="34" charset="-122"/>
                <a:cs typeface="Arial" pitchFamily="34" charset="-120"/>
              </a:rPr>
              <a:t>private network</a:t>
            </a:r>
            <a:endParaRPr lang="en-US" sz="1300" dirty="0"/>
          </a:p>
        </p:txBody>
      </p:sp>
      <p:pic>
        <p:nvPicPr>
          <p:cNvPr id="12" name="Image 0" descr="/private/tmp/claude-501/-Users-ashishjain-Documents-RIS-Mid-Eval/4e14a31e-25f5-4016-81db-47057b986f0d/scratchpad/deck/charts/stage_counts.png">    </p:cNvPr>
          <p:cNvPicPr>
            <a:picLocks noChangeAspect="1"/>
          </p:cNvPicPr>
          <p:nvPr/>
        </p:nvPicPr>
        <p:blipFill>
          <a:blip r:embed="rId1"/>
          <a:stretch>
            <a:fillRect/>
          </a:stretch>
        </p:blipFill>
        <p:spPr>
          <a:xfrm>
            <a:off x="4005072" y="1783080"/>
            <a:ext cx="7498080" cy="4023360"/>
          </a:xfrm>
          <a:prstGeom prst="rect">
            <a:avLst/>
          </a:prstGeom>
        </p:spPr>
      </p:pic>
      <p:sp>
        <p:nvSpPr>
          <p:cNvPr id="13" name="Text 10"/>
          <p:cNvSpPr txBox="1"/>
          <p:nvPr/>
        </p:nvSpPr>
        <p:spPr>
          <a:xfrm>
            <a:off x="4206240" y="5897880"/>
            <a:ext cx="7223760" cy="274320"/>
          </a:xfrm>
          <a:prstGeom prst="rect">
            <a:avLst/>
          </a:prstGeom>
          <a:noFill/>
          <a:ln/>
        </p:spPr>
        <p:txBody>
          <a:bodyPr wrap="square" lIns="0" tIns="0" rIns="0" bIns="0" rtlCol="0" anchor="t"/>
          <a:lstStyle/>
          <a:p>
            <a:pPr indent="0" marL="0">
              <a:buNone/>
            </a:pPr>
            <a:r>
              <a:rPr lang="en-US" sz="1050" dirty="0">
                <a:solidFill>
                  <a:srgbClr val="8A94A3"/>
                </a:solidFill>
                <a:latin typeface="Arial" pitchFamily="34" charset="0"/>
                <a:ea typeface="Arial" pitchFamily="34" charset="-122"/>
                <a:cs typeface="Arial" pitchFamily="34" charset="-120"/>
              </a:rPr>
              <a:t>Grey: benign   ·   Blue: APT stages   ·   Red: data exfiltration, only 15 flows in the whole dataset</a:t>
            </a:r>
            <a:endParaRPr lang="en-US" sz="1050" dirty="0"/>
          </a:p>
        </p:txBody>
      </p:sp>
      <p:sp>
        <p:nvSpPr>
          <p:cNvPr id="14" name="Text 11"/>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15" name="Text 12"/>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Four data problems we found and fixed</a:t>
            </a:r>
            <a:endParaRPr lang="en-US" sz="3000" dirty="0"/>
          </a:p>
        </p:txBody>
      </p:sp>
      <p:sp>
        <p:nvSpPr>
          <p:cNvPr id="4" name="Shape 2"/>
          <p:cNvSpPr/>
          <p:nvPr/>
        </p:nvSpPr>
        <p:spPr>
          <a:xfrm>
            <a:off x="685800" y="1828800"/>
            <a:ext cx="2499284" cy="2926080"/>
          </a:xfrm>
          <a:prstGeom prst="roundRect">
            <a:avLst>
              <a:gd name="adj" fmla="val 2195"/>
            </a:avLst>
          </a:prstGeom>
          <a:solidFill>
            <a:srgbClr val="F4F6F9"/>
          </a:solidFill>
          <a:ln w="12700">
            <a:solidFill>
              <a:srgbClr val="F4F6F9"/>
            </a:solidFill>
            <a:prstDash val="solid"/>
          </a:ln>
        </p:spPr>
      </p:sp>
      <p:sp>
        <p:nvSpPr>
          <p:cNvPr id="5" name="Shape 3"/>
          <p:cNvSpPr/>
          <p:nvPr/>
        </p:nvSpPr>
        <p:spPr>
          <a:xfrm>
            <a:off x="1005840" y="2103120"/>
            <a:ext cx="502920" cy="502920"/>
          </a:xfrm>
          <a:prstGeom prst="ellipse">
            <a:avLst/>
          </a:prstGeom>
          <a:solidFill>
            <a:srgbClr val="E0533A"/>
          </a:solidFill>
          <a:ln w="12700">
            <a:solidFill>
              <a:srgbClr val="E0533A"/>
            </a:solidFill>
            <a:prstDash val="solid"/>
          </a:ln>
        </p:spPr>
      </p:sp>
      <p:pic>
        <p:nvPicPr>
          <p:cNvPr id="6" name="Image 0" descr="preencoded.png">    </p:cNvPr>
          <p:cNvPicPr>
            <a:picLocks noChangeAspect="1"/>
          </p:cNvPicPr>
          <p:nvPr/>
        </p:nvPicPr>
        <p:blipFill>
          <a:blip r:embed="rId1"/>
          <a:stretch>
            <a:fillRect/>
          </a:stretch>
        </p:blipFill>
        <p:spPr>
          <a:xfrm>
            <a:off x="1141628" y="2238908"/>
            <a:ext cx="231343" cy="231343"/>
          </a:xfrm>
          <a:prstGeom prst="rect">
            <a:avLst/>
          </a:prstGeom>
        </p:spPr>
      </p:pic>
      <p:sp>
        <p:nvSpPr>
          <p:cNvPr id="7" name="Text 4"/>
          <p:cNvSpPr txBox="1"/>
          <p:nvPr/>
        </p:nvSpPr>
        <p:spPr>
          <a:xfrm>
            <a:off x="1005840"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2,314</a:t>
            </a:r>
            <a:endParaRPr lang="en-US" sz="3400" dirty="0"/>
          </a:p>
        </p:txBody>
      </p:sp>
      <p:sp>
        <p:nvSpPr>
          <p:cNvPr id="8" name="Text 5"/>
          <p:cNvSpPr txBox="1"/>
          <p:nvPr/>
        </p:nvSpPr>
        <p:spPr>
          <a:xfrm>
            <a:off x="1005840"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flows recovered</a:t>
            </a:r>
            <a:endParaRPr lang="en-US" sz="1350" dirty="0"/>
          </a:p>
        </p:txBody>
      </p:sp>
      <p:sp>
        <p:nvSpPr>
          <p:cNvPr id="9" name="Text 6"/>
          <p:cNvSpPr txBox="1"/>
          <p:nvPr/>
        </p:nvSpPr>
        <p:spPr>
          <a:xfrm>
            <a:off x="1005840"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One CSV file has no header row; a naive loader drops 94% of Lateral Movement</a:t>
            </a:r>
            <a:endParaRPr lang="en-US" sz="1200" dirty="0"/>
          </a:p>
        </p:txBody>
      </p:sp>
      <p:sp>
        <p:nvSpPr>
          <p:cNvPr id="10" name="Shape 7"/>
          <p:cNvSpPr/>
          <p:nvPr/>
        </p:nvSpPr>
        <p:spPr>
          <a:xfrm>
            <a:off x="3459404" y="1828800"/>
            <a:ext cx="2499284" cy="2926080"/>
          </a:xfrm>
          <a:prstGeom prst="roundRect">
            <a:avLst>
              <a:gd name="adj" fmla="val 2195"/>
            </a:avLst>
          </a:prstGeom>
          <a:solidFill>
            <a:srgbClr val="F4F6F9"/>
          </a:solidFill>
          <a:ln w="12700">
            <a:solidFill>
              <a:srgbClr val="F4F6F9"/>
            </a:solidFill>
            <a:prstDash val="solid"/>
          </a:ln>
        </p:spPr>
      </p:sp>
      <p:sp>
        <p:nvSpPr>
          <p:cNvPr id="11" name="Shape 8"/>
          <p:cNvSpPr/>
          <p:nvPr/>
        </p:nvSpPr>
        <p:spPr>
          <a:xfrm>
            <a:off x="3779444" y="2103120"/>
            <a:ext cx="502920" cy="502920"/>
          </a:xfrm>
          <a:prstGeom prst="ellipse">
            <a:avLst/>
          </a:prstGeom>
          <a:solidFill>
            <a:srgbClr val="2A78D6"/>
          </a:solidFill>
          <a:ln w="12700">
            <a:solidFill>
              <a:srgbClr val="2A78D6"/>
            </a:solidFill>
            <a:prstDash val="solid"/>
          </a:ln>
        </p:spPr>
      </p:sp>
      <p:pic>
        <p:nvPicPr>
          <p:cNvPr id="12" name="Image 1" descr="preencoded.png">    </p:cNvPr>
          <p:cNvPicPr>
            <a:picLocks noChangeAspect="1"/>
          </p:cNvPicPr>
          <p:nvPr/>
        </p:nvPicPr>
        <p:blipFill>
          <a:blip r:embed="rId2"/>
          <a:stretch>
            <a:fillRect/>
          </a:stretch>
        </p:blipFill>
        <p:spPr>
          <a:xfrm>
            <a:off x="3915232" y="2238908"/>
            <a:ext cx="231343" cy="231343"/>
          </a:xfrm>
          <a:prstGeom prst="rect">
            <a:avLst/>
          </a:prstGeom>
        </p:spPr>
      </p:pic>
      <p:sp>
        <p:nvSpPr>
          <p:cNvPr id="13" name="Text 9"/>
          <p:cNvSpPr txBox="1"/>
          <p:nvPr/>
        </p:nvSpPr>
        <p:spPr>
          <a:xfrm>
            <a:off x="3779444"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3 → 1</a:t>
            </a:r>
            <a:endParaRPr lang="en-US" sz="3400" dirty="0"/>
          </a:p>
        </p:txBody>
      </p:sp>
      <p:sp>
        <p:nvSpPr>
          <p:cNvPr id="14" name="Text 10"/>
          <p:cNvSpPr txBox="1"/>
          <p:nvPr/>
        </p:nvSpPr>
        <p:spPr>
          <a:xfrm>
            <a:off x="3779444"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benign labels unified</a:t>
            </a:r>
            <a:endParaRPr lang="en-US" sz="1350" dirty="0"/>
          </a:p>
        </p:txBody>
      </p:sp>
      <p:sp>
        <p:nvSpPr>
          <p:cNvPr id="15" name="Text 11"/>
          <p:cNvSpPr txBox="1"/>
          <p:nvPr/>
        </p:nvSpPr>
        <p:spPr>
          <a:xfrm>
            <a:off x="3779444"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BENIGN, Benign and Normal all mean normal traffic</a:t>
            </a:r>
            <a:endParaRPr lang="en-US" sz="1200" dirty="0"/>
          </a:p>
        </p:txBody>
      </p:sp>
      <p:sp>
        <p:nvSpPr>
          <p:cNvPr id="16" name="Shape 12"/>
          <p:cNvSpPr/>
          <p:nvPr/>
        </p:nvSpPr>
        <p:spPr>
          <a:xfrm>
            <a:off x="6233008" y="1828800"/>
            <a:ext cx="2499284" cy="2926080"/>
          </a:xfrm>
          <a:prstGeom prst="roundRect">
            <a:avLst>
              <a:gd name="adj" fmla="val 2195"/>
            </a:avLst>
          </a:prstGeom>
          <a:solidFill>
            <a:srgbClr val="F4F6F9"/>
          </a:solidFill>
          <a:ln w="12700">
            <a:solidFill>
              <a:srgbClr val="F4F6F9"/>
            </a:solidFill>
            <a:prstDash val="solid"/>
          </a:ln>
        </p:spPr>
      </p:sp>
      <p:sp>
        <p:nvSpPr>
          <p:cNvPr id="17" name="Shape 13"/>
          <p:cNvSpPr/>
          <p:nvPr/>
        </p:nvSpPr>
        <p:spPr>
          <a:xfrm>
            <a:off x="6553048" y="2103120"/>
            <a:ext cx="502920" cy="502920"/>
          </a:xfrm>
          <a:prstGeom prst="ellipse">
            <a:avLst/>
          </a:prstGeom>
          <a:solidFill>
            <a:srgbClr val="2A78D6"/>
          </a:solidFill>
          <a:ln w="12700">
            <a:solidFill>
              <a:srgbClr val="2A78D6"/>
            </a:solidFill>
            <a:prstDash val="solid"/>
          </a:ln>
        </p:spPr>
      </p:sp>
      <p:pic>
        <p:nvPicPr>
          <p:cNvPr id="18" name="Image 2" descr="preencoded.png">    </p:cNvPr>
          <p:cNvPicPr>
            <a:picLocks noChangeAspect="1"/>
          </p:cNvPicPr>
          <p:nvPr/>
        </p:nvPicPr>
        <p:blipFill>
          <a:blip r:embed="rId3"/>
          <a:stretch>
            <a:fillRect/>
          </a:stretch>
        </p:blipFill>
        <p:spPr>
          <a:xfrm>
            <a:off x="6688836" y="2238908"/>
            <a:ext cx="231343" cy="231343"/>
          </a:xfrm>
          <a:prstGeom prst="rect">
            <a:avLst/>
          </a:prstGeom>
        </p:spPr>
      </p:pic>
      <p:sp>
        <p:nvSpPr>
          <p:cNvPr id="19" name="Text 14"/>
          <p:cNvSpPr txBox="1"/>
          <p:nvPr/>
        </p:nvSpPr>
        <p:spPr>
          <a:xfrm>
            <a:off x="6553048"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5,257</a:t>
            </a:r>
            <a:endParaRPr lang="en-US" sz="3400" dirty="0"/>
          </a:p>
        </p:txBody>
      </p:sp>
      <p:sp>
        <p:nvSpPr>
          <p:cNvPr id="20" name="Text 15"/>
          <p:cNvSpPr txBox="1"/>
          <p:nvPr/>
        </p:nvSpPr>
        <p:spPr>
          <a:xfrm>
            <a:off x="6553048"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duplicate flows removed</a:t>
            </a:r>
            <a:endParaRPr lang="en-US" sz="1350" dirty="0"/>
          </a:p>
        </p:txBody>
      </p:sp>
      <p:sp>
        <p:nvSpPr>
          <p:cNvPr id="21" name="Text 16"/>
          <p:cNvSpPr txBox="1"/>
          <p:nvPr/>
        </p:nvSpPr>
        <p:spPr>
          <a:xfrm>
            <a:off x="6553048"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Plus 12 constant columns, as the paper prescribes</a:t>
            </a:r>
            <a:endParaRPr lang="en-US" sz="1200" dirty="0"/>
          </a:p>
        </p:txBody>
      </p:sp>
      <p:sp>
        <p:nvSpPr>
          <p:cNvPr id="22" name="Shape 17"/>
          <p:cNvSpPr/>
          <p:nvPr/>
        </p:nvSpPr>
        <p:spPr>
          <a:xfrm>
            <a:off x="9006611" y="1828800"/>
            <a:ext cx="2499284" cy="2926080"/>
          </a:xfrm>
          <a:prstGeom prst="roundRect">
            <a:avLst>
              <a:gd name="adj" fmla="val 2195"/>
            </a:avLst>
          </a:prstGeom>
          <a:solidFill>
            <a:srgbClr val="F4F6F9"/>
          </a:solidFill>
          <a:ln w="12700">
            <a:solidFill>
              <a:srgbClr val="F4F6F9"/>
            </a:solidFill>
            <a:prstDash val="solid"/>
          </a:ln>
        </p:spPr>
      </p:sp>
      <p:sp>
        <p:nvSpPr>
          <p:cNvPr id="23" name="Shape 18"/>
          <p:cNvSpPr/>
          <p:nvPr/>
        </p:nvSpPr>
        <p:spPr>
          <a:xfrm>
            <a:off x="9326651" y="2103120"/>
            <a:ext cx="502920" cy="502920"/>
          </a:xfrm>
          <a:prstGeom prst="ellipse">
            <a:avLst/>
          </a:prstGeom>
          <a:solidFill>
            <a:srgbClr val="E0533A"/>
          </a:solidFill>
          <a:ln w="12700">
            <a:solidFill>
              <a:srgbClr val="E0533A"/>
            </a:solidFill>
            <a:prstDash val="solid"/>
          </a:ln>
        </p:spPr>
      </p:sp>
      <p:pic>
        <p:nvPicPr>
          <p:cNvPr id="24" name="Image 3" descr="preencoded.png">    </p:cNvPr>
          <p:cNvPicPr>
            <a:picLocks noChangeAspect="1"/>
          </p:cNvPicPr>
          <p:nvPr/>
        </p:nvPicPr>
        <p:blipFill>
          <a:blip r:embed="rId4"/>
          <a:stretch>
            <a:fillRect/>
          </a:stretch>
        </p:blipFill>
        <p:spPr>
          <a:xfrm>
            <a:off x="9462440" y="2238908"/>
            <a:ext cx="231343" cy="231343"/>
          </a:xfrm>
          <a:prstGeom prst="rect">
            <a:avLst/>
          </a:prstGeom>
        </p:spPr>
      </p:pic>
      <p:sp>
        <p:nvSpPr>
          <p:cNvPr id="25" name="Text 19"/>
          <p:cNvSpPr txBox="1"/>
          <p:nvPr/>
        </p:nvSpPr>
        <p:spPr>
          <a:xfrm>
            <a:off x="9326651"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15</a:t>
            </a:r>
            <a:endParaRPr lang="en-US" sz="3400" dirty="0"/>
          </a:p>
        </p:txBody>
      </p:sp>
      <p:sp>
        <p:nvSpPr>
          <p:cNvPr id="26" name="Text 20"/>
          <p:cNvSpPr txBox="1"/>
          <p:nvPr/>
        </p:nvSpPr>
        <p:spPr>
          <a:xfrm>
            <a:off x="9326651"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exfiltration flows</a:t>
            </a:r>
            <a:endParaRPr lang="en-US" sz="1350" dirty="0"/>
          </a:p>
        </p:txBody>
      </p:sp>
      <p:sp>
        <p:nvSpPr>
          <p:cNvPr id="27" name="Text 21"/>
          <p:cNvSpPr txBox="1"/>
          <p:nvPr/>
        </p:nvSpPr>
        <p:spPr>
          <a:xfrm>
            <a:off x="9326651"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The most critical APT stage is barely represented</a:t>
            </a:r>
            <a:endParaRPr lang="en-US" sz="1200" dirty="0"/>
          </a:p>
        </p:txBody>
      </p:sp>
      <p:sp>
        <p:nvSpPr>
          <p:cNvPr id="28" name="Shape 22"/>
          <p:cNvSpPr/>
          <p:nvPr/>
        </p:nvSpPr>
        <p:spPr>
          <a:xfrm>
            <a:off x="685800" y="5074920"/>
            <a:ext cx="10820095" cy="685800"/>
          </a:xfrm>
          <a:prstGeom prst="roundRect">
            <a:avLst>
              <a:gd name="adj" fmla="val 8000"/>
            </a:avLst>
          </a:prstGeom>
          <a:solidFill>
            <a:srgbClr val="E7F4ED"/>
          </a:solidFill>
          <a:ln w="12700">
            <a:solidFill>
              <a:srgbClr val="E7F4ED"/>
            </a:solidFill>
            <a:prstDash val="solid"/>
          </a:ln>
        </p:spPr>
      </p:sp>
      <p:pic>
        <p:nvPicPr>
          <p:cNvPr id="29" name="Image 4" descr="preencoded.png">    </p:cNvPr>
          <p:cNvPicPr>
            <a:picLocks noChangeAspect="1"/>
          </p:cNvPicPr>
          <p:nvPr/>
        </p:nvPicPr>
        <p:blipFill>
          <a:blip r:embed="rId5"/>
          <a:stretch>
            <a:fillRect/>
          </a:stretch>
        </p:blipFill>
        <p:spPr>
          <a:xfrm>
            <a:off x="960120" y="5248656"/>
            <a:ext cx="338328" cy="338328"/>
          </a:xfrm>
          <a:prstGeom prst="rect">
            <a:avLst/>
          </a:prstGeom>
        </p:spPr>
      </p:pic>
      <p:sp>
        <p:nvSpPr>
          <p:cNvPr id="30" name="Text 23"/>
          <p:cNvSpPr txBox="1"/>
          <p:nvPr/>
        </p:nvSpPr>
        <p:spPr>
          <a:xfrm>
            <a:off x="1463040" y="5074920"/>
            <a:ext cx="9814255" cy="685800"/>
          </a:xfrm>
          <a:prstGeom prst="rect">
            <a:avLst/>
          </a:prstGeom>
          <a:noFill/>
          <a:ln/>
        </p:spPr>
        <p:txBody>
          <a:bodyPr wrap="square" lIns="0" tIns="0" rIns="0" bIns="0" rtlCol="0" anchor="ctr"/>
          <a:lstStyle/>
          <a:p>
            <a:pPr indent="0" marL="0">
              <a:buNone/>
            </a:pPr>
            <a:r>
              <a:rPr lang="en-US" sz="1350" b="1" dirty="0">
                <a:solidFill>
                  <a:srgbClr val="1E8A5F"/>
                </a:solidFill>
                <a:latin typeface="Arial" pitchFamily="34" charset="0"/>
                <a:ea typeface="Arial" pitchFamily="34" charset="-122"/>
                <a:cs typeface="Arial" pitchFamily="34" charset="-120"/>
              </a:rPr>
              <a:t>Sanity check: </a:t>
            </a:r>
            <a:pPr indent="0" marL="0">
              <a:buNone/>
            </a:pPr>
            <a:r>
              <a:rPr lang="en-US" sz="1350" dirty="0">
                <a:solidFill>
                  <a:srgbClr val="0F1B2D"/>
                </a:solidFill>
                <a:latin typeface="Arial" pitchFamily="34" charset="0"/>
                <a:ea typeface="Arial" pitchFamily="34" charset="-122"/>
                <a:cs typeface="Arial" pitchFamily="34" charset="-120"/>
              </a:rPr>
              <a:t>after the fix, benign = 63,712 flows, exactly the figure reported for DAPT2020.</a:t>
            </a:r>
            <a:endParaRPr lang="en-US" sz="1350" dirty="0"/>
          </a:p>
        </p:txBody>
      </p:sp>
      <p:sp>
        <p:nvSpPr>
          <p:cNvPr id="31" name="Text 24"/>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2" name="Text 25"/>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We implemented the paper's pipeline step by step</a:t>
            </a:r>
            <a:endParaRPr lang="en-US" sz="3000" dirty="0"/>
          </a:p>
        </p:txBody>
      </p:sp>
      <p:sp>
        <p:nvSpPr>
          <p:cNvPr id="4" name="Shape 2"/>
          <p:cNvSpPr/>
          <p:nvPr/>
        </p:nvSpPr>
        <p:spPr>
          <a:xfrm>
            <a:off x="1587475" y="2514600"/>
            <a:ext cx="9016746" cy="914"/>
          </a:xfrm>
          <a:prstGeom prst="line">
            <a:avLst/>
          </a:prstGeom>
          <a:noFill/>
          <a:ln w="19050">
            <a:solidFill>
              <a:srgbClr val="E2E6EC"/>
            </a:solidFill>
            <a:prstDash val="solid"/>
          </a:ln>
        </p:spPr>
      </p:sp>
      <p:sp>
        <p:nvSpPr>
          <p:cNvPr id="5" name="Shape 3"/>
          <p:cNvSpPr/>
          <p:nvPr/>
        </p:nvSpPr>
        <p:spPr>
          <a:xfrm>
            <a:off x="1153135" y="2080260"/>
            <a:ext cx="868680" cy="868680"/>
          </a:xfrm>
          <a:prstGeom prst="ellipse">
            <a:avLst/>
          </a:prstGeom>
          <a:solidFill>
            <a:srgbClr val="0B1526"/>
          </a:solidFill>
          <a:ln w="12700">
            <a:solidFill>
              <a:srgbClr val="0B1526"/>
            </a:solidFill>
            <a:prstDash val="solid"/>
          </a:ln>
        </p:spPr>
      </p:sp>
      <p:pic>
        <p:nvPicPr>
          <p:cNvPr id="6" name="Image 0" descr="preencoded.png">    </p:cNvPr>
          <p:cNvPicPr>
            <a:picLocks noChangeAspect="1"/>
          </p:cNvPicPr>
          <p:nvPr/>
        </p:nvPicPr>
        <p:blipFill>
          <a:blip r:embed="rId1"/>
          <a:stretch>
            <a:fillRect/>
          </a:stretch>
        </p:blipFill>
        <p:spPr>
          <a:xfrm>
            <a:off x="1387678" y="2314804"/>
            <a:ext cx="399593" cy="399593"/>
          </a:xfrm>
          <a:prstGeom prst="rect">
            <a:avLst/>
          </a:prstGeom>
        </p:spPr>
      </p:pic>
      <p:sp>
        <p:nvSpPr>
          <p:cNvPr id="7" name="Text 4"/>
          <p:cNvSpPr txBox="1"/>
          <p:nvPr/>
        </p:nvSpPr>
        <p:spPr>
          <a:xfrm>
            <a:off x="764515"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01</a:t>
            </a:r>
            <a:endParaRPr lang="en-US" sz="1050" dirty="0"/>
          </a:p>
        </p:txBody>
      </p:sp>
      <p:sp>
        <p:nvSpPr>
          <p:cNvPr id="8" name="Text 5"/>
          <p:cNvSpPr txBox="1"/>
          <p:nvPr/>
        </p:nvSpPr>
        <p:spPr>
          <a:xfrm>
            <a:off x="764515"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Clean</a:t>
            </a:r>
            <a:endParaRPr lang="en-US" sz="1600" dirty="0"/>
          </a:p>
        </p:txBody>
      </p:sp>
      <p:sp>
        <p:nvSpPr>
          <p:cNvPr id="9" name="Text 6"/>
          <p:cNvSpPr txBox="1"/>
          <p:nvPr/>
        </p:nvSpPr>
        <p:spPr>
          <a:xfrm>
            <a:off x="764515"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Drop IP, port and time identifiers; remove NaN, duplicates, constants</a:t>
            </a:r>
            <a:endParaRPr lang="en-US" sz="1200" dirty="0"/>
          </a:p>
        </p:txBody>
      </p:sp>
      <p:sp>
        <p:nvSpPr>
          <p:cNvPr id="10" name="Shape 7"/>
          <p:cNvSpPr/>
          <p:nvPr/>
        </p:nvSpPr>
        <p:spPr>
          <a:xfrm>
            <a:off x="2956484" y="2080260"/>
            <a:ext cx="868680" cy="868680"/>
          </a:xfrm>
          <a:prstGeom prst="ellipse">
            <a:avLst/>
          </a:prstGeom>
          <a:solidFill>
            <a:srgbClr val="E0533A"/>
          </a:solidFill>
          <a:ln w="12700">
            <a:solidFill>
              <a:srgbClr val="E0533A"/>
            </a:solidFill>
            <a:prstDash val="solid"/>
          </a:ln>
        </p:spPr>
      </p:sp>
      <p:pic>
        <p:nvPicPr>
          <p:cNvPr id="11" name="Image 1" descr="preencoded.png">    </p:cNvPr>
          <p:cNvPicPr>
            <a:picLocks noChangeAspect="1"/>
          </p:cNvPicPr>
          <p:nvPr/>
        </p:nvPicPr>
        <p:blipFill>
          <a:blip r:embed="rId2"/>
          <a:stretch>
            <a:fillRect/>
          </a:stretch>
        </p:blipFill>
        <p:spPr>
          <a:xfrm>
            <a:off x="3191027" y="2314804"/>
            <a:ext cx="399593" cy="399593"/>
          </a:xfrm>
          <a:prstGeom prst="rect">
            <a:avLst/>
          </a:prstGeom>
        </p:spPr>
      </p:pic>
      <p:sp>
        <p:nvSpPr>
          <p:cNvPr id="12" name="Text 8"/>
          <p:cNvSpPr txBox="1"/>
          <p:nvPr/>
        </p:nvSpPr>
        <p:spPr>
          <a:xfrm>
            <a:off x="2567864"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02</a:t>
            </a:r>
            <a:endParaRPr lang="en-US" sz="1050" dirty="0"/>
          </a:p>
        </p:txBody>
      </p:sp>
      <p:sp>
        <p:nvSpPr>
          <p:cNvPr id="13" name="Text 9"/>
          <p:cNvSpPr txBox="1"/>
          <p:nvPr/>
        </p:nvSpPr>
        <p:spPr>
          <a:xfrm>
            <a:off x="2567864"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Balance</a:t>
            </a:r>
            <a:endParaRPr lang="en-US" sz="1600" dirty="0"/>
          </a:p>
        </p:txBody>
      </p:sp>
      <p:sp>
        <p:nvSpPr>
          <p:cNvPr id="14" name="Text 10"/>
          <p:cNvSpPr txBox="1"/>
          <p:nvPr/>
        </p:nvSpPr>
        <p:spPr>
          <a:xfrm>
            <a:off x="2567864"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SMOTETomek: synthetic minority flows + Tomek-link cleaning</a:t>
            </a:r>
            <a:endParaRPr lang="en-US" sz="1200" dirty="0"/>
          </a:p>
        </p:txBody>
      </p:sp>
      <p:sp>
        <p:nvSpPr>
          <p:cNvPr id="15" name="Shape 11"/>
          <p:cNvSpPr/>
          <p:nvPr/>
        </p:nvSpPr>
        <p:spPr>
          <a:xfrm>
            <a:off x="4759833" y="2080260"/>
            <a:ext cx="868680" cy="868680"/>
          </a:xfrm>
          <a:prstGeom prst="ellipse">
            <a:avLst/>
          </a:prstGeom>
          <a:solidFill>
            <a:srgbClr val="0B1526"/>
          </a:solidFill>
          <a:ln w="12700">
            <a:solidFill>
              <a:srgbClr val="0B1526"/>
            </a:solidFill>
            <a:prstDash val="solid"/>
          </a:ln>
        </p:spPr>
      </p:sp>
      <p:pic>
        <p:nvPicPr>
          <p:cNvPr id="16" name="Image 2" descr="preencoded.png">    </p:cNvPr>
          <p:cNvPicPr>
            <a:picLocks noChangeAspect="1"/>
          </p:cNvPicPr>
          <p:nvPr/>
        </p:nvPicPr>
        <p:blipFill>
          <a:blip r:embed="rId3"/>
          <a:stretch>
            <a:fillRect/>
          </a:stretch>
        </p:blipFill>
        <p:spPr>
          <a:xfrm>
            <a:off x="4994377" y="2314804"/>
            <a:ext cx="399593" cy="399593"/>
          </a:xfrm>
          <a:prstGeom prst="rect">
            <a:avLst/>
          </a:prstGeom>
        </p:spPr>
      </p:pic>
      <p:sp>
        <p:nvSpPr>
          <p:cNvPr id="17" name="Text 12"/>
          <p:cNvSpPr txBox="1"/>
          <p:nvPr/>
        </p:nvSpPr>
        <p:spPr>
          <a:xfrm>
            <a:off x="4371213"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03</a:t>
            </a:r>
            <a:endParaRPr lang="en-US" sz="1050" dirty="0"/>
          </a:p>
        </p:txBody>
      </p:sp>
      <p:sp>
        <p:nvSpPr>
          <p:cNvPr id="18" name="Text 13"/>
          <p:cNvSpPr txBox="1"/>
          <p:nvPr/>
        </p:nvSpPr>
        <p:spPr>
          <a:xfrm>
            <a:off x="4371213"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Split</a:t>
            </a:r>
            <a:endParaRPr lang="en-US" sz="1600" dirty="0"/>
          </a:p>
        </p:txBody>
      </p:sp>
      <p:sp>
        <p:nvSpPr>
          <p:cNvPr id="19" name="Text 14"/>
          <p:cNvSpPr txBox="1"/>
          <p:nvPr/>
        </p:nvSpPr>
        <p:spPr>
          <a:xfrm>
            <a:off x="4371213"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70% training / 30% test, stratified by class</a:t>
            </a:r>
            <a:endParaRPr lang="en-US" sz="1200" dirty="0"/>
          </a:p>
        </p:txBody>
      </p:sp>
      <p:sp>
        <p:nvSpPr>
          <p:cNvPr id="20" name="Shape 15"/>
          <p:cNvSpPr/>
          <p:nvPr/>
        </p:nvSpPr>
        <p:spPr>
          <a:xfrm>
            <a:off x="6563182" y="2080260"/>
            <a:ext cx="868680" cy="868680"/>
          </a:xfrm>
          <a:prstGeom prst="ellipse">
            <a:avLst/>
          </a:prstGeom>
          <a:solidFill>
            <a:srgbClr val="0B1526"/>
          </a:solidFill>
          <a:ln w="12700">
            <a:solidFill>
              <a:srgbClr val="0B1526"/>
            </a:solidFill>
            <a:prstDash val="solid"/>
          </a:ln>
        </p:spPr>
      </p:sp>
      <p:pic>
        <p:nvPicPr>
          <p:cNvPr id="21" name="Image 3" descr="preencoded.png">    </p:cNvPr>
          <p:cNvPicPr>
            <a:picLocks noChangeAspect="1"/>
          </p:cNvPicPr>
          <p:nvPr/>
        </p:nvPicPr>
        <p:blipFill>
          <a:blip r:embed="rId4"/>
          <a:stretch>
            <a:fillRect/>
          </a:stretch>
        </p:blipFill>
        <p:spPr>
          <a:xfrm>
            <a:off x="6797726" y="2314804"/>
            <a:ext cx="399593" cy="399593"/>
          </a:xfrm>
          <a:prstGeom prst="rect">
            <a:avLst/>
          </a:prstGeom>
        </p:spPr>
      </p:pic>
      <p:sp>
        <p:nvSpPr>
          <p:cNvPr id="22" name="Text 16"/>
          <p:cNvSpPr txBox="1"/>
          <p:nvPr/>
        </p:nvSpPr>
        <p:spPr>
          <a:xfrm>
            <a:off x="6174562"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04</a:t>
            </a:r>
            <a:endParaRPr lang="en-US" sz="1050" dirty="0"/>
          </a:p>
        </p:txBody>
      </p:sp>
      <p:sp>
        <p:nvSpPr>
          <p:cNvPr id="23" name="Text 17"/>
          <p:cNvSpPr txBox="1"/>
          <p:nvPr/>
        </p:nvSpPr>
        <p:spPr>
          <a:xfrm>
            <a:off x="6174562"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Select</a:t>
            </a:r>
            <a:endParaRPr lang="en-US" sz="1600" dirty="0"/>
          </a:p>
        </p:txBody>
      </p:sp>
      <p:sp>
        <p:nvSpPr>
          <p:cNvPr id="24" name="Text 18"/>
          <p:cNvSpPr txBox="1"/>
          <p:nvPr/>
        </p:nvSpPr>
        <p:spPr>
          <a:xfrm>
            <a:off x="6174562"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Pearson filter (|r| &gt; 0.9), then top 30 by mutual information</a:t>
            </a:r>
            <a:endParaRPr lang="en-US" sz="1200" dirty="0"/>
          </a:p>
        </p:txBody>
      </p:sp>
      <p:sp>
        <p:nvSpPr>
          <p:cNvPr id="25" name="Shape 19"/>
          <p:cNvSpPr/>
          <p:nvPr/>
        </p:nvSpPr>
        <p:spPr>
          <a:xfrm>
            <a:off x="8366531" y="2080260"/>
            <a:ext cx="868680" cy="868680"/>
          </a:xfrm>
          <a:prstGeom prst="ellipse">
            <a:avLst/>
          </a:prstGeom>
          <a:solidFill>
            <a:srgbClr val="0B1526"/>
          </a:solidFill>
          <a:ln w="12700">
            <a:solidFill>
              <a:srgbClr val="0B1526"/>
            </a:solidFill>
            <a:prstDash val="solid"/>
          </a:ln>
        </p:spPr>
      </p:sp>
      <p:pic>
        <p:nvPicPr>
          <p:cNvPr id="26" name="Image 4" descr="preencoded.png">    </p:cNvPr>
          <p:cNvPicPr>
            <a:picLocks noChangeAspect="1"/>
          </p:cNvPicPr>
          <p:nvPr/>
        </p:nvPicPr>
        <p:blipFill>
          <a:blip r:embed="rId5"/>
          <a:stretch>
            <a:fillRect/>
          </a:stretch>
        </p:blipFill>
        <p:spPr>
          <a:xfrm>
            <a:off x="8601075" y="2314804"/>
            <a:ext cx="399593" cy="399593"/>
          </a:xfrm>
          <a:prstGeom prst="rect">
            <a:avLst/>
          </a:prstGeom>
        </p:spPr>
      </p:pic>
      <p:sp>
        <p:nvSpPr>
          <p:cNvPr id="27" name="Text 20"/>
          <p:cNvSpPr txBox="1"/>
          <p:nvPr/>
        </p:nvSpPr>
        <p:spPr>
          <a:xfrm>
            <a:off x="7977911"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05</a:t>
            </a:r>
            <a:endParaRPr lang="en-US" sz="1050" dirty="0"/>
          </a:p>
        </p:txBody>
      </p:sp>
      <p:sp>
        <p:nvSpPr>
          <p:cNvPr id="28" name="Text 21"/>
          <p:cNvSpPr txBox="1"/>
          <p:nvPr/>
        </p:nvSpPr>
        <p:spPr>
          <a:xfrm>
            <a:off x="7977911"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Train</a:t>
            </a:r>
            <a:endParaRPr lang="en-US" sz="1600" dirty="0"/>
          </a:p>
        </p:txBody>
      </p:sp>
      <p:sp>
        <p:nvSpPr>
          <p:cNvPr id="29" name="Text 22"/>
          <p:cNvSpPr txBox="1"/>
          <p:nvPr/>
        </p:nvSpPr>
        <p:spPr>
          <a:xfrm>
            <a:off x="7977911"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Hybrid RF + XGBoost and 13 baseline models</a:t>
            </a:r>
            <a:endParaRPr lang="en-US" sz="1200" dirty="0"/>
          </a:p>
        </p:txBody>
      </p:sp>
      <p:sp>
        <p:nvSpPr>
          <p:cNvPr id="30" name="Shape 23"/>
          <p:cNvSpPr/>
          <p:nvPr/>
        </p:nvSpPr>
        <p:spPr>
          <a:xfrm>
            <a:off x="10169881" y="2080260"/>
            <a:ext cx="868680" cy="868680"/>
          </a:xfrm>
          <a:prstGeom prst="ellipse">
            <a:avLst/>
          </a:prstGeom>
          <a:solidFill>
            <a:srgbClr val="0B1526"/>
          </a:solidFill>
          <a:ln w="12700">
            <a:solidFill>
              <a:srgbClr val="0B1526"/>
            </a:solidFill>
            <a:prstDash val="solid"/>
          </a:ln>
        </p:spPr>
      </p:sp>
      <p:pic>
        <p:nvPicPr>
          <p:cNvPr id="31" name="Image 5" descr="preencoded.png">    </p:cNvPr>
          <p:cNvPicPr>
            <a:picLocks noChangeAspect="1"/>
          </p:cNvPicPr>
          <p:nvPr/>
        </p:nvPicPr>
        <p:blipFill>
          <a:blip r:embed="rId6"/>
          <a:stretch>
            <a:fillRect/>
          </a:stretch>
        </p:blipFill>
        <p:spPr>
          <a:xfrm>
            <a:off x="10404424" y="2314804"/>
            <a:ext cx="399593" cy="399593"/>
          </a:xfrm>
          <a:prstGeom prst="rect">
            <a:avLst/>
          </a:prstGeom>
        </p:spPr>
      </p:pic>
      <p:sp>
        <p:nvSpPr>
          <p:cNvPr id="32" name="Text 24"/>
          <p:cNvSpPr txBox="1"/>
          <p:nvPr/>
        </p:nvSpPr>
        <p:spPr>
          <a:xfrm>
            <a:off x="9781261"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06</a:t>
            </a:r>
            <a:endParaRPr lang="en-US" sz="1050" dirty="0"/>
          </a:p>
        </p:txBody>
      </p:sp>
      <p:sp>
        <p:nvSpPr>
          <p:cNvPr id="33" name="Text 25"/>
          <p:cNvSpPr txBox="1"/>
          <p:nvPr/>
        </p:nvSpPr>
        <p:spPr>
          <a:xfrm>
            <a:off x="9781261"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Evaluate</a:t>
            </a:r>
            <a:endParaRPr lang="en-US" sz="1600" dirty="0"/>
          </a:p>
        </p:txBody>
      </p:sp>
      <p:sp>
        <p:nvSpPr>
          <p:cNvPr id="34" name="Text 26"/>
          <p:cNvSpPr txBox="1"/>
          <p:nvPr/>
        </p:nvSpPr>
        <p:spPr>
          <a:xfrm>
            <a:off x="9781261"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Accuracy, precision, recall, F1, TNR, FPR, FNR, AUC</a:t>
            </a:r>
            <a:endParaRPr lang="en-US" sz="1200" dirty="0"/>
          </a:p>
        </p:txBody>
      </p:sp>
      <p:sp>
        <p:nvSpPr>
          <p:cNvPr id="35" name="Shape 27"/>
          <p:cNvSpPr/>
          <p:nvPr/>
        </p:nvSpPr>
        <p:spPr>
          <a:xfrm>
            <a:off x="685800" y="5074920"/>
            <a:ext cx="10820095" cy="1005840"/>
          </a:xfrm>
          <a:prstGeom prst="roundRect">
            <a:avLst>
              <a:gd name="adj" fmla="val 5455"/>
            </a:avLst>
          </a:prstGeom>
          <a:solidFill>
            <a:srgbClr val="F4F6F9"/>
          </a:solidFill>
          <a:ln w="12700">
            <a:solidFill>
              <a:srgbClr val="F4F6F9"/>
            </a:solidFill>
            <a:prstDash val="solid"/>
          </a:ln>
        </p:spPr>
      </p:sp>
      <p:sp>
        <p:nvSpPr>
          <p:cNvPr id="36" name="Text 28"/>
          <p:cNvSpPr txBox="1"/>
          <p:nvPr/>
        </p:nvSpPr>
        <p:spPr>
          <a:xfrm>
            <a:off x="1005840" y="5257800"/>
            <a:ext cx="3149498" cy="22860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FEATURES</a:t>
            </a:r>
            <a:endParaRPr lang="en-US" sz="950" dirty="0"/>
          </a:p>
        </p:txBody>
      </p:sp>
      <p:sp>
        <p:nvSpPr>
          <p:cNvPr id="37" name="Text 29"/>
          <p:cNvSpPr txBox="1"/>
          <p:nvPr/>
        </p:nvSpPr>
        <p:spPr>
          <a:xfrm>
            <a:off x="1005840" y="5504688"/>
            <a:ext cx="3149498" cy="4572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68 → 36 (Pearson) → 30 (mutual information)</a:t>
            </a:r>
            <a:endParaRPr lang="en-US" sz="1300" dirty="0"/>
          </a:p>
        </p:txBody>
      </p:sp>
      <p:sp>
        <p:nvSpPr>
          <p:cNvPr id="38" name="Text 30"/>
          <p:cNvSpPr txBox="1"/>
          <p:nvPr/>
        </p:nvSpPr>
        <p:spPr>
          <a:xfrm>
            <a:off x="4612538" y="5257800"/>
            <a:ext cx="3149498" cy="22860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TARGET</a:t>
            </a:r>
            <a:endParaRPr lang="en-US" sz="950" dirty="0"/>
          </a:p>
        </p:txBody>
      </p:sp>
      <p:sp>
        <p:nvSpPr>
          <p:cNvPr id="39" name="Text 31"/>
          <p:cNvSpPr txBox="1"/>
          <p:nvPr/>
        </p:nvSpPr>
        <p:spPr>
          <a:xfrm>
            <a:off x="4612538" y="5504688"/>
            <a:ext cx="3149498" cy="4572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Benign = 0, any APT stage = 1</a:t>
            </a:r>
            <a:endParaRPr lang="en-US" sz="1300" dirty="0"/>
          </a:p>
        </p:txBody>
      </p:sp>
      <p:sp>
        <p:nvSpPr>
          <p:cNvPr id="40" name="Text 32"/>
          <p:cNvSpPr txBox="1"/>
          <p:nvPr/>
        </p:nvSpPr>
        <p:spPr>
          <a:xfrm>
            <a:off x="8219237" y="5257800"/>
            <a:ext cx="3149498" cy="22860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TOOLS</a:t>
            </a:r>
            <a:endParaRPr lang="en-US" sz="950" dirty="0"/>
          </a:p>
        </p:txBody>
      </p:sp>
      <p:sp>
        <p:nvSpPr>
          <p:cNvPr id="41" name="Text 33"/>
          <p:cNvSpPr txBox="1"/>
          <p:nvPr/>
        </p:nvSpPr>
        <p:spPr>
          <a:xfrm>
            <a:off x="8219237" y="5504688"/>
            <a:ext cx="3149498" cy="4572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Python, scikit-learn, imbalanced-learn, XGBoost, PyTorch</a:t>
            </a:r>
            <a:endParaRPr lang="en-US" sz="1300" dirty="0"/>
          </a:p>
        </p:txBody>
      </p:sp>
      <p:sp>
        <p:nvSpPr>
          <p:cNvPr id="42" name="Text 34"/>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3" name="Text 35"/>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hybrid: Random Forest and XGBoost, combined</a:t>
            </a:r>
            <a:endParaRPr lang="en-US" sz="3000" dirty="0"/>
          </a:p>
        </p:txBody>
      </p:sp>
      <p:sp>
        <p:nvSpPr>
          <p:cNvPr id="4" name="Shape 2"/>
          <p:cNvSpPr/>
          <p:nvPr/>
        </p:nvSpPr>
        <p:spPr>
          <a:xfrm>
            <a:off x="685800" y="3291840"/>
            <a:ext cx="1691640" cy="914400"/>
          </a:xfrm>
          <a:prstGeom prst="roundRect">
            <a:avLst>
              <a:gd name="adj" fmla="val 6000"/>
            </a:avLst>
          </a:prstGeom>
          <a:solidFill>
            <a:srgbClr val="F4F6F9"/>
          </a:solidFill>
          <a:ln w="12700">
            <a:solidFill>
              <a:srgbClr val="F4F6F9"/>
            </a:solidFill>
            <a:prstDash val="solid"/>
          </a:ln>
        </p:spPr>
      </p:sp>
      <p:sp>
        <p:nvSpPr>
          <p:cNvPr id="5" name="Text 3"/>
          <p:cNvSpPr txBox="1"/>
          <p:nvPr/>
        </p:nvSpPr>
        <p:spPr>
          <a:xfrm>
            <a:off x="685800" y="3291840"/>
            <a:ext cx="1691640" cy="914400"/>
          </a:xfrm>
          <a:prstGeom prst="rect">
            <a:avLst/>
          </a:prstGeom>
          <a:noFill/>
          <a:ln/>
        </p:spPr>
        <p:txBody>
          <a:bodyPr wrap="square" lIns="0" tIns="0" rIns="0" bIns="0" rtlCol="0" anchor="ctr"/>
          <a:lstStyle/>
          <a:p>
            <a:pPr algn="ctr" indent="0" marL="0">
              <a:buNone/>
            </a:pPr>
            <a:r>
              <a:rPr lang="en-US" sz="1400" b="1" dirty="0">
                <a:solidFill>
                  <a:srgbClr val="0F1B2D"/>
                </a:solidFill>
                <a:latin typeface="Arial" pitchFamily="34" charset="0"/>
                <a:ea typeface="Arial" pitchFamily="34" charset="-122"/>
                <a:cs typeface="Arial" pitchFamily="34" charset="-120"/>
              </a:rPr>
              <a:t>30 flow</a:t>
            </a:r>
            <a:endParaRPr lang="en-US" sz="1400" dirty="0"/>
          </a:p>
          <a:p>
            <a:pPr algn="ctr" indent="0" marL="0">
              <a:buNone/>
            </a:pPr>
            <a:r>
              <a:rPr lang="en-US" sz="1400" b="1" dirty="0">
                <a:solidFill>
                  <a:srgbClr val="0F1B2D"/>
                </a:solidFill>
                <a:latin typeface="Arial" pitchFamily="34" charset="0"/>
                <a:ea typeface="Arial" pitchFamily="34" charset="-122"/>
                <a:cs typeface="Arial" pitchFamily="34" charset="-120"/>
              </a:rPr>
              <a:t>features</a:t>
            </a:r>
            <a:endParaRPr lang="en-US" sz="1400" dirty="0"/>
          </a:p>
        </p:txBody>
      </p:sp>
      <p:sp>
        <p:nvSpPr>
          <p:cNvPr id="6" name="Shape 4"/>
          <p:cNvSpPr/>
          <p:nvPr/>
        </p:nvSpPr>
        <p:spPr>
          <a:xfrm>
            <a:off x="2926080" y="1874520"/>
            <a:ext cx="2423160" cy="1325880"/>
          </a:xfrm>
          <a:prstGeom prst="roundRect">
            <a:avLst>
              <a:gd name="adj" fmla="val 4138"/>
            </a:avLst>
          </a:prstGeom>
          <a:solidFill>
            <a:srgbClr val="EAF1FB"/>
          </a:solidFill>
          <a:ln w="12700">
            <a:solidFill>
              <a:srgbClr val="EAF1FB"/>
            </a:solidFill>
            <a:prstDash val="solid"/>
          </a:ln>
        </p:spPr>
      </p:sp>
      <p:sp>
        <p:nvSpPr>
          <p:cNvPr id="7" name="Shape 5"/>
          <p:cNvSpPr/>
          <p:nvPr/>
        </p:nvSpPr>
        <p:spPr>
          <a:xfrm>
            <a:off x="3108960" y="2075688"/>
            <a:ext cx="457200" cy="457200"/>
          </a:xfrm>
          <a:prstGeom prst="ellipse">
            <a:avLst/>
          </a:prstGeom>
          <a:solidFill>
            <a:srgbClr val="2A78D6"/>
          </a:solidFill>
          <a:ln w="12700">
            <a:solidFill>
              <a:srgbClr val="2A78D6"/>
            </a:solidFill>
            <a:prstDash val="solid"/>
          </a:ln>
        </p:spPr>
      </p:sp>
      <p:pic>
        <p:nvPicPr>
          <p:cNvPr id="8" name="Image 0" descr="preencoded.png">    </p:cNvPr>
          <p:cNvPicPr>
            <a:picLocks noChangeAspect="1"/>
          </p:cNvPicPr>
          <p:nvPr/>
        </p:nvPicPr>
        <p:blipFill>
          <a:blip r:embed="rId1"/>
          <a:stretch>
            <a:fillRect/>
          </a:stretch>
        </p:blipFill>
        <p:spPr>
          <a:xfrm>
            <a:off x="3232404" y="2199132"/>
            <a:ext cx="210312" cy="210312"/>
          </a:xfrm>
          <a:prstGeom prst="rect">
            <a:avLst/>
          </a:prstGeom>
        </p:spPr>
      </p:pic>
      <p:sp>
        <p:nvSpPr>
          <p:cNvPr id="9" name="Text 6"/>
          <p:cNvSpPr txBox="1"/>
          <p:nvPr/>
        </p:nvSpPr>
        <p:spPr>
          <a:xfrm>
            <a:off x="3703320" y="2148840"/>
            <a:ext cx="1600200"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Random Forest</a:t>
            </a:r>
            <a:endParaRPr lang="en-US" sz="1500" dirty="0"/>
          </a:p>
        </p:txBody>
      </p:sp>
      <p:sp>
        <p:nvSpPr>
          <p:cNvPr id="10" name="Text 7"/>
          <p:cNvSpPr txBox="1"/>
          <p:nvPr/>
        </p:nvSpPr>
        <p:spPr>
          <a:xfrm>
            <a:off x="3108960" y="2651760"/>
            <a:ext cx="2103120" cy="457200"/>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Bagging · 100 trees</a:t>
            </a:r>
            <a:endParaRPr lang="en-US" sz="1150" dirty="0"/>
          </a:p>
          <a:p>
            <a:pPr indent="0" marL="0">
              <a:buNone/>
            </a:pPr>
            <a:r>
              <a:rPr lang="en-US" sz="1150" dirty="0">
                <a:solidFill>
                  <a:srgbClr val="55606E"/>
                </a:solidFill>
                <a:latin typeface="Arial" pitchFamily="34" charset="0"/>
                <a:ea typeface="Arial" pitchFamily="34" charset="-122"/>
                <a:cs typeface="Arial" pitchFamily="34" charset="-120"/>
              </a:rPr>
              <a:t>majority vote</a:t>
            </a:r>
            <a:endParaRPr lang="en-US" sz="1150" dirty="0"/>
          </a:p>
        </p:txBody>
      </p:sp>
      <p:sp>
        <p:nvSpPr>
          <p:cNvPr id="11" name="Shape 8"/>
          <p:cNvSpPr/>
          <p:nvPr/>
        </p:nvSpPr>
        <p:spPr>
          <a:xfrm>
            <a:off x="2926080" y="4297680"/>
            <a:ext cx="2423160" cy="1325880"/>
          </a:xfrm>
          <a:prstGeom prst="roundRect">
            <a:avLst>
              <a:gd name="adj" fmla="val 4138"/>
            </a:avLst>
          </a:prstGeom>
          <a:solidFill>
            <a:srgbClr val="EAF1FB"/>
          </a:solidFill>
          <a:ln w="12700">
            <a:solidFill>
              <a:srgbClr val="EAF1FB"/>
            </a:solidFill>
            <a:prstDash val="solid"/>
          </a:ln>
        </p:spPr>
      </p:sp>
      <p:sp>
        <p:nvSpPr>
          <p:cNvPr id="12" name="Shape 9"/>
          <p:cNvSpPr/>
          <p:nvPr/>
        </p:nvSpPr>
        <p:spPr>
          <a:xfrm>
            <a:off x="3108960" y="4498848"/>
            <a:ext cx="457200" cy="457200"/>
          </a:xfrm>
          <a:prstGeom prst="ellipse">
            <a:avLst/>
          </a:prstGeom>
          <a:solidFill>
            <a:srgbClr val="2A78D6"/>
          </a:solidFill>
          <a:ln w="12700">
            <a:solidFill>
              <a:srgbClr val="2A78D6"/>
            </a:solidFill>
            <a:prstDash val="solid"/>
          </a:ln>
        </p:spPr>
      </p:sp>
      <p:pic>
        <p:nvPicPr>
          <p:cNvPr id="13" name="Image 1" descr="preencoded.png">    </p:cNvPr>
          <p:cNvPicPr>
            <a:picLocks noChangeAspect="1"/>
          </p:cNvPicPr>
          <p:nvPr/>
        </p:nvPicPr>
        <p:blipFill>
          <a:blip r:embed="rId2"/>
          <a:stretch>
            <a:fillRect/>
          </a:stretch>
        </p:blipFill>
        <p:spPr>
          <a:xfrm>
            <a:off x="3232404" y="4622292"/>
            <a:ext cx="210312" cy="210312"/>
          </a:xfrm>
          <a:prstGeom prst="rect">
            <a:avLst/>
          </a:prstGeom>
        </p:spPr>
      </p:pic>
      <p:sp>
        <p:nvSpPr>
          <p:cNvPr id="14" name="Text 10"/>
          <p:cNvSpPr txBox="1"/>
          <p:nvPr/>
        </p:nvSpPr>
        <p:spPr>
          <a:xfrm>
            <a:off x="3703320" y="4572000"/>
            <a:ext cx="1600200"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XGBoost</a:t>
            </a:r>
            <a:endParaRPr lang="en-US" sz="1500" dirty="0"/>
          </a:p>
        </p:txBody>
      </p:sp>
      <p:sp>
        <p:nvSpPr>
          <p:cNvPr id="15" name="Text 11"/>
          <p:cNvSpPr txBox="1"/>
          <p:nvPr/>
        </p:nvSpPr>
        <p:spPr>
          <a:xfrm>
            <a:off x="3108960" y="5074920"/>
            <a:ext cx="2103120" cy="457200"/>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Boosting · 100 trees</a:t>
            </a:r>
            <a:endParaRPr lang="en-US" sz="1150" dirty="0"/>
          </a:p>
          <a:p>
            <a:pPr indent="0" marL="0">
              <a:buNone/>
            </a:pPr>
            <a:r>
              <a:rPr lang="en-US" sz="1150" dirty="0">
                <a:solidFill>
                  <a:srgbClr val="55606E"/>
                </a:solidFill>
                <a:latin typeface="Arial" pitchFamily="34" charset="0"/>
                <a:ea typeface="Arial" pitchFamily="34" charset="-122"/>
                <a:cs typeface="Arial" pitchFamily="34" charset="-120"/>
              </a:rPr>
              <a:t>learning rate 1.0 · depth 4</a:t>
            </a:r>
            <a:endParaRPr lang="en-US" sz="1150" dirty="0"/>
          </a:p>
        </p:txBody>
      </p:sp>
      <p:sp>
        <p:nvSpPr>
          <p:cNvPr id="16" name="Shape 12"/>
          <p:cNvSpPr/>
          <p:nvPr/>
        </p:nvSpPr>
        <p:spPr>
          <a:xfrm>
            <a:off x="5806440" y="3154680"/>
            <a:ext cx="1691640" cy="1188720"/>
          </a:xfrm>
          <a:prstGeom prst="roundRect">
            <a:avLst>
              <a:gd name="adj" fmla="val 4615"/>
            </a:avLst>
          </a:prstGeom>
          <a:solidFill>
            <a:srgbClr val="0B1526"/>
          </a:solidFill>
          <a:ln w="12700">
            <a:solidFill>
              <a:srgbClr val="0B1526"/>
            </a:solidFill>
            <a:prstDash val="solid"/>
          </a:ln>
        </p:spPr>
      </p:sp>
      <p:sp>
        <p:nvSpPr>
          <p:cNvPr id="17" name="Text 13"/>
          <p:cNvSpPr txBox="1"/>
          <p:nvPr/>
        </p:nvSpPr>
        <p:spPr>
          <a:xfrm>
            <a:off x="5806440" y="3154680"/>
            <a:ext cx="1691640" cy="11887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Aggregator</a:t>
            </a:r>
            <a:endParaRPr lang="en-US" sz="1400" dirty="0"/>
          </a:p>
          <a:p>
            <a:pPr algn="ctr" indent="0" marL="0">
              <a:buNone/>
            </a:pPr>
            <a:r>
              <a:rPr lang="en-US" sz="1100" dirty="0">
                <a:solidFill>
                  <a:srgbClr val="A9B6C8"/>
                </a:solidFill>
                <a:latin typeface="Arial" pitchFamily="34" charset="0"/>
                <a:ea typeface="Arial" pitchFamily="34" charset="-122"/>
                <a:cs typeface="Arial" pitchFamily="34" charset="-120"/>
              </a:rPr>
              <a:t>combo · 'average'</a:t>
            </a:r>
            <a:endParaRPr lang="en-US" sz="1400" dirty="0"/>
          </a:p>
        </p:txBody>
      </p:sp>
      <p:sp>
        <p:nvSpPr>
          <p:cNvPr id="18" name="Shape 14"/>
          <p:cNvSpPr/>
          <p:nvPr/>
        </p:nvSpPr>
        <p:spPr>
          <a:xfrm>
            <a:off x="5806440" y="4800600"/>
            <a:ext cx="1691640" cy="731520"/>
          </a:xfrm>
          <a:prstGeom prst="roundRect">
            <a:avLst>
              <a:gd name="adj" fmla="val 7500"/>
            </a:avLst>
          </a:prstGeom>
          <a:solidFill>
            <a:srgbClr val="F4F6F9"/>
          </a:solidFill>
          <a:ln w="12700">
            <a:solidFill>
              <a:srgbClr val="F4F6F9"/>
            </a:solidFill>
            <a:prstDash val="solid"/>
          </a:ln>
        </p:spPr>
      </p:sp>
      <p:sp>
        <p:nvSpPr>
          <p:cNvPr id="19" name="Text 15"/>
          <p:cNvSpPr txBox="1"/>
          <p:nvPr/>
        </p:nvSpPr>
        <p:spPr>
          <a:xfrm>
            <a:off x="5806440" y="4800600"/>
            <a:ext cx="1691640" cy="731520"/>
          </a:xfrm>
          <a:prstGeom prst="rect">
            <a:avLst/>
          </a:prstGeom>
          <a:noFill/>
          <a:ln/>
        </p:spPr>
        <p:txBody>
          <a:bodyPr wrap="square" lIns="0" tIns="0" rIns="0" bIns="0" rtlCol="0" anchor="ctr"/>
          <a:lstStyle/>
          <a:p>
            <a:pPr algn="ctr" indent="0" marL="0">
              <a:buNone/>
            </a:pPr>
            <a:r>
              <a:rPr lang="en-US" sz="1400" b="1" dirty="0">
                <a:solidFill>
                  <a:srgbClr val="0F1B2D"/>
                </a:solidFill>
                <a:latin typeface="Arial" pitchFamily="34" charset="0"/>
                <a:ea typeface="Arial" pitchFamily="34" charset="-122"/>
                <a:cs typeface="Arial" pitchFamily="34" charset="-120"/>
              </a:rPr>
              <a:t>Benign / APT</a:t>
            </a:r>
            <a:endParaRPr lang="en-US" sz="1400" dirty="0"/>
          </a:p>
        </p:txBody>
      </p:sp>
      <p:sp>
        <p:nvSpPr>
          <p:cNvPr id="20" name="Shape 16"/>
          <p:cNvSpPr/>
          <p:nvPr/>
        </p:nvSpPr>
        <p:spPr>
          <a:xfrm flipV="1">
            <a:off x="2377440" y="2542032"/>
            <a:ext cx="548640" cy="1207008"/>
          </a:xfrm>
          <a:prstGeom prst="line">
            <a:avLst/>
          </a:prstGeom>
          <a:noFill/>
          <a:ln w="15875">
            <a:solidFill>
              <a:srgbClr val="8A94A3"/>
            </a:solidFill>
            <a:prstDash val="solid"/>
            <a:tailEnd type="triangle"/>
          </a:ln>
        </p:spPr>
      </p:sp>
      <p:sp>
        <p:nvSpPr>
          <p:cNvPr id="21" name="Shape 17"/>
          <p:cNvSpPr/>
          <p:nvPr/>
        </p:nvSpPr>
        <p:spPr>
          <a:xfrm>
            <a:off x="2377440" y="3749040"/>
            <a:ext cx="548640" cy="1216152"/>
          </a:xfrm>
          <a:prstGeom prst="line">
            <a:avLst/>
          </a:prstGeom>
          <a:noFill/>
          <a:ln w="15875">
            <a:solidFill>
              <a:srgbClr val="8A94A3"/>
            </a:solidFill>
            <a:prstDash val="solid"/>
            <a:tailEnd type="triangle"/>
          </a:ln>
        </p:spPr>
      </p:sp>
      <p:sp>
        <p:nvSpPr>
          <p:cNvPr id="22" name="Shape 18"/>
          <p:cNvSpPr/>
          <p:nvPr/>
        </p:nvSpPr>
        <p:spPr>
          <a:xfrm>
            <a:off x="5349240" y="2542032"/>
            <a:ext cx="457200" cy="1207008"/>
          </a:xfrm>
          <a:prstGeom prst="line">
            <a:avLst/>
          </a:prstGeom>
          <a:noFill/>
          <a:ln w="15875">
            <a:solidFill>
              <a:srgbClr val="8A94A3"/>
            </a:solidFill>
            <a:prstDash val="solid"/>
            <a:tailEnd type="triangle"/>
          </a:ln>
        </p:spPr>
      </p:sp>
      <p:sp>
        <p:nvSpPr>
          <p:cNvPr id="23" name="Shape 19"/>
          <p:cNvSpPr/>
          <p:nvPr/>
        </p:nvSpPr>
        <p:spPr>
          <a:xfrm flipV="1">
            <a:off x="5349240" y="3749040"/>
            <a:ext cx="457200" cy="1216152"/>
          </a:xfrm>
          <a:prstGeom prst="line">
            <a:avLst/>
          </a:prstGeom>
          <a:noFill/>
          <a:ln w="15875">
            <a:solidFill>
              <a:srgbClr val="8A94A3"/>
            </a:solidFill>
            <a:prstDash val="solid"/>
            <a:tailEnd type="triangle"/>
          </a:ln>
        </p:spPr>
      </p:sp>
      <p:sp>
        <p:nvSpPr>
          <p:cNvPr id="24" name="Shape 20"/>
          <p:cNvSpPr/>
          <p:nvPr/>
        </p:nvSpPr>
        <p:spPr>
          <a:xfrm>
            <a:off x="6652260" y="4343400"/>
            <a:ext cx="914" cy="457200"/>
          </a:xfrm>
          <a:prstGeom prst="line">
            <a:avLst/>
          </a:prstGeom>
          <a:noFill/>
          <a:ln w="15875">
            <a:solidFill>
              <a:srgbClr val="8A94A3"/>
            </a:solidFill>
            <a:prstDash val="solid"/>
            <a:tailEnd type="triangle"/>
          </a:ln>
        </p:spPr>
      </p:sp>
      <p:sp>
        <p:nvSpPr>
          <p:cNvPr id="25" name="Shape 21"/>
          <p:cNvSpPr/>
          <p:nvPr/>
        </p:nvSpPr>
        <p:spPr>
          <a:xfrm>
            <a:off x="7909560" y="1828800"/>
            <a:ext cx="3596335" cy="4251960"/>
          </a:xfrm>
          <a:prstGeom prst="roundRect">
            <a:avLst>
              <a:gd name="adj" fmla="val 1526"/>
            </a:avLst>
          </a:prstGeom>
          <a:solidFill>
            <a:srgbClr val="FDEEEA"/>
          </a:solidFill>
          <a:ln w="12700">
            <a:solidFill>
              <a:srgbClr val="FDEEEA"/>
            </a:solidFill>
            <a:prstDash val="solid"/>
          </a:ln>
        </p:spPr>
      </p:sp>
      <p:sp>
        <p:nvSpPr>
          <p:cNvPr id="26" name="Text 22"/>
          <p:cNvSpPr txBox="1"/>
          <p:nvPr/>
        </p:nvSpPr>
        <p:spPr>
          <a:xfrm>
            <a:off x="8229600" y="2103120"/>
            <a:ext cx="2956255" cy="256032"/>
          </a:xfrm>
          <a:prstGeom prst="rect">
            <a:avLst/>
          </a:prstGeom>
          <a:noFill/>
          <a:ln/>
        </p:spPr>
        <p:txBody>
          <a:bodyPr wrap="square" lIns="0" tIns="0" rIns="0" bIns="0" rtlCol="0" anchor="t"/>
          <a:lstStyle/>
          <a:p>
            <a:pPr indent="0" marL="0">
              <a:buNone/>
            </a:pPr>
            <a:r>
              <a:rPr lang="en-US" sz="950" b="1" dirty="0">
                <a:solidFill>
                  <a:srgbClr val="E0533A"/>
                </a:solidFill>
                <a:latin typeface="Arial" pitchFamily="34" charset="0"/>
                <a:ea typeface="Arial" pitchFamily="34" charset="-122"/>
                <a:cs typeface="Arial" pitchFamily="34" charset="-120"/>
              </a:rPr>
              <a:t>WHAT WE FOUND IN THE CODE</a:t>
            </a:r>
            <a:endParaRPr lang="en-US" sz="950" dirty="0"/>
          </a:p>
        </p:txBody>
      </p:sp>
      <p:sp>
        <p:nvSpPr>
          <p:cNvPr id="27" name="Text 23"/>
          <p:cNvSpPr txBox="1"/>
          <p:nvPr/>
        </p:nvSpPr>
        <p:spPr>
          <a:xfrm>
            <a:off x="8229600" y="2423160"/>
            <a:ext cx="2956255" cy="77724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'Average' is really</a:t>
            </a:r>
            <a:endParaRPr lang="en-US" sz="2000" dirty="0"/>
          </a:p>
          <a:p>
            <a:pPr indent="0" marL="0">
              <a:buNone/>
            </a:pPr>
            <a:r>
              <a:rPr lang="en-US" sz="2000" dirty="0">
                <a:solidFill>
                  <a:srgbClr val="0F1B2D"/>
                </a:solidFill>
                <a:latin typeface="Georgia" pitchFamily="34" charset="0"/>
                <a:ea typeface="Georgia" pitchFamily="34" charset="-122"/>
                <a:cs typeface="Georgia" pitchFamily="34" charset="-120"/>
              </a:rPr>
              <a:t>an OR rule</a:t>
            </a:r>
            <a:endParaRPr lang="en-US" sz="2000" dirty="0"/>
          </a:p>
        </p:txBody>
      </p:sp>
      <p:sp>
        <p:nvSpPr>
          <p:cNvPr id="28" name="Text 24"/>
          <p:cNvSpPr txBox="1"/>
          <p:nvPr/>
        </p:nvSpPr>
        <p:spPr>
          <a:xfrm>
            <a:off x="8229600" y="3291840"/>
            <a:ext cx="2956255" cy="86868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combo's predict() averages the two models' 0/1 labels and outputs APT when the average is ≥ 0.5.</a:t>
            </a:r>
            <a:endParaRPr lang="en-US" sz="1300" dirty="0"/>
          </a:p>
        </p:txBody>
      </p:sp>
      <p:sp>
        <p:nvSpPr>
          <p:cNvPr id="29" name="Text 25"/>
          <p:cNvSpPr txBox="1"/>
          <p:nvPr/>
        </p:nvSpPr>
        <p:spPr>
          <a:xfrm>
            <a:off x="8229600" y="4206240"/>
            <a:ext cx="2956255" cy="548640"/>
          </a:xfrm>
          <a:prstGeom prst="rect">
            <a:avLst/>
          </a:prstGeom>
          <a:noFill/>
          <a:ln/>
        </p:spPr>
        <p:txBody>
          <a:bodyPr wrap="square" lIns="0" tIns="0" rIns="0" bIns="0" rtlCol="0" anchor="t"/>
          <a:lstStyle/>
          <a:p>
            <a:pPr indent="0" marL="0">
              <a:buNone/>
            </a:pPr>
            <a:r>
              <a:rPr lang="en-US" sz="1300" b="1" dirty="0">
                <a:solidFill>
                  <a:srgbClr val="E0533A"/>
                </a:solidFill>
                <a:latin typeface="Arial" pitchFamily="34" charset="0"/>
                <a:ea typeface="Arial" pitchFamily="34" charset="-122"/>
                <a:cs typeface="Arial" pitchFamily="34" charset="-120"/>
              </a:rPr>
              <a:t>So a flow is flagged as APT if either model flags it.</a:t>
            </a:r>
            <a:endParaRPr lang="en-US" sz="1300" dirty="0"/>
          </a:p>
        </p:txBody>
      </p:sp>
      <p:sp>
        <p:nvSpPr>
          <p:cNvPr id="30" name="Text 26"/>
          <p:cNvSpPr txBox="1"/>
          <p:nvPr/>
        </p:nvSpPr>
        <p:spPr>
          <a:xfrm>
            <a:off x="8229600" y="4846320"/>
            <a:ext cx="2956255" cy="10058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Effect: more attacks caught, more false alarms. We also test a soft-vote version (average of probabilities).</a:t>
            </a:r>
            <a:endParaRPr lang="en-US" sz="1250" dirty="0"/>
          </a:p>
        </p:txBody>
      </p:sp>
      <p:sp>
        <p:nvSpPr>
          <p:cNvPr id="31" name="Text 2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2" name="Text 2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 flaw in the paper: it balances before it splits</a:t>
            </a:r>
            <a:endParaRPr lang="en-US" sz="3000" dirty="0"/>
          </a:p>
        </p:txBody>
      </p:sp>
      <p:sp>
        <p:nvSpPr>
          <p:cNvPr id="4" name="Text 2"/>
          <p:cNvSpPr txBox="1"/>
          <p:nvPr/>
        </p:nvSpPr>
        <p:spPr>
          <a:xfrm>
            <a:off x="685800" y="1874520"/>
            <a:ext cx="1737360" cy="868680"/>
          </a:xfrm>
          <a:prstGeom prst="rect">
            <a:avLst/>
          </a:prstGeom>
          <a:noFill/>
          <a:ln/>
        </p:spPr>
        <p:txBody>
          <a:bodyPr wrap="square" lIns="0" tIns="0" rIns="0" bIns="0" rtlCol="0" anchor="ctr"/>
          <a:lstStyle/>
          <a:p>
            <a:pPr indent="0" marL="0">
              <a:buNone/>
            </a:pPr>
            <a:r>
              <a:rPr lang="en-US" sz="1500" b="1" dirty="0">
                <a:solidFill>
                  <a:srgbClr val="E0533A"/>
                </a:solidFill>
                <a:latin typeface="Arial" pitchFamily="34" charset="0"/>
                <a:ea typeface="Arial" pitchFamily="34" charset="-122"/>
                <a:cs typeface="Arial" pitchFamily="34" charset="-120"/>
              </a:rPr>
              <a:t>The paper</a:t>
            </a:r>
            <a:endParaRPr lang="en-US" sz="1500" dirty="0"/>
          </a:p>
        </p:txBody>
      </p:sp>
      <p:sp>
        <p:nvSpPr>
          <p:cNvPr id="5" name="Shape 3"/>
          <p:cNvSpPr/>
          <p:nvPr/>
        </p:nvSpPr>
        <p:spPr>
          <a:xfrm>
            <a:off x="2606040" y="1874520"/>
            <a:ext cx="1828800" cy="868680"/>
          </a:xfrm>
          <a:prstGeom prst="roundRect">
            <a:avLst>
              <a:gd name="adj" fmla="val 6316"/>
            </a:avLst>
          </a:prstGeom>
          <a:solidFill>
            <a:srgbClr val="F4F6F9"/>
          </a:solidFill>
          <a:ln w="12700">
            <a:solidFill>
              <a:srgbClr val="F4F6F9"/>
            </a:solidFill>
            <a:prstDash val="solid"/>
          </a:ln>
        </p:spPr>
      </p:sp>
      <p:sp>
        <p:nvSpPr>
          <p:cNvPr id="6" name="Text 4"/>
          <p:cNvSpPr txBox="1"/>
          <p:nvPr/>
        </p:nvSpPr>
        <p:spPr>
          <a:xfrm>
            <a:off x="2715768" y="187452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All flows</a:t>
            </a:r>
            <a:endParaRPr lang="en-US" sz="1250" dirty="0"/>
          </a:p>
        </p:txBody>
      </p:sp>
      <p:sp>
        <p:nvSpPr>
          <p:cNvPr id="7" name="Shape 5"/>
          <p:cNvSpPr/>
          <p:nvPr/>
        </p:nvSpPr>
        <p:spPr>
          <a:xfrm>
            <a:off x="4462272" y="2308860"/>
            <a:ext cx="265176" cy="914"/>
          </a:xfrm>
          <a:prstGeom prst="line">
            <a:avLst/>
          </a:prstGeom>
          <a:noFill/>
          <a:ln w="15875">
            <a:solidFill>
              <a:srgbClr val="8A94A3"/>
            </a:solidFill>
            <a:prstDash val="solid"/>
            <a:tailEnd type="triangle"/>
          </a:ln>
        </p:spPr>
      </p:sp>
      <p:sp>
        <p:nvSpPr>
          <p:cNvPr id="8" name="Shape 6"/>
          <p:cNvSpPr/>
          <p:nvPr/>
        </p:nvSpPr>
        <p:spPr>
          <a:xfrm>
            <a:off x="4754880" y="1874520"/>
            <a:ext cx="1828800" cy="868680"/>
          </a:xfrm>
          <a:prstGeom prst="roundRect">
            <a:avLst>
              <a:gd name="adj" fmla="val 6316"/>
            </a:avLst>
          </a:prstGeom>
          <a:solidFill>
            <a:srgbClr val="F4F6F9"/>
          </a:solidFill>
          <a:ln w="12700">
            <a:solidFill>
              <a:srgbClr val="F4F6F9"/>
            </a:solidFill>
            <a:prstDash val="solid"/>
          </a:ln>
        </p:spPr>
      </p:sp>
      <p:sp>
        <p:nvSpPr>
          <p:cNvPr id="9" name="Text 7"/>
          <p:cNvSpPr txBox="1"/>
          <p:nvPr/>
        </p:nvSpPr>
        <p:spPr>
          <a:xfrm>
            <a:off x="4864608" y="187452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SMOTETomek adds synthetic APT flows</a:t>
            </a:r>
            <a:endParaRPr lang="en-US" sz="1250" dirty="0"/>
          </a:p>
        </p:txBody>
      </p:sp>
      <p:sp>
        <p:nvSpPr>
          <p:cNvPr id="10" name="Shape 8"/>
          <p:cNvSpPr/>
          <p:nvPr/>
        </p:nvSpPr>
        <p:spPr>
          <a:xfrm>
            <a:off x="6611112" y="2308860"/>
            <a:ext cx="265176" cy="914"/>
          </a:xfrm>
          <a:prstGeom prst="line">
            <a:avLst/>
          </a:prstGeom>
          <a:noFill/>
          <a:ln w="15875">
            <a:solidFill>
              <a:srgbClr val="8A94A3"/>
            </a:solidFill>
            <a:prstDash val="solid"/>
            <a:tailEnd type="triangle"/>
          </a:ln>
        </p:spPr>
      </p:sp>
      <p:sp>
        <p:nvSpPr>
          <p:cNvPr id="11" name="Shape 9"/>
          <p:cNvSpPr/>
          <p:nvPr/>
        </p:nvSpPr>
        <p:spPr>
          <a:xfrm>
            <a:off x="6903720" y="1874520"/>
            <a:ext cx="1828800" cy="868680"/>
          </a:xfrm>
          <a:prstGeom prst="roundRect">
            <a:avLst>
              <a:gd name="adj" fmla="val 6316"/>
            </a:avLst>
          </a:prstGeom>
          <a:solidFill>
            <a:srgbClr val="F4F6F9"/>
          </a:solidFill>
          <a:ln w="12700">
            <a:solidFill>
              <a:srgbClr val="F4F6F9"/>
            </a:solidFill>
            <a:prstDash val="solid"/>
          </a:ln>
        </p:spPr>
      </p:sp>
      <p:sp>
        <p:nvSpPr>
          <p:cNvPr id="12" name="Text 10"/>
          <p:cNvSpPr txBox="1"/>
          <p:nvPr/>
        </p:nvSpPr>
        <p:spPr>
          <a:xfrm>
            <a:off x="7013448" y="187452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Split 70 / 30</a:t>
            </a:r>
            <a:endParaRPr lang="en-US" sz="1250" dirty="0"/>
          </a:p>
        </p:txBody>
      </p:sp>
      <p:sp>
        <p:nvSpPr>
          <p:cNvPr id="13" name="Shape 11"/>
          <p:cNvSpPr/>
          <p:nvPr/>
        </p:nvSpPr>
        <p:spPr>
          <a:xfrm>
            <a:off x="8759952" y="2308860"/>
            <a:ext cx="265176" cy="914"/>
          </a:xfrm>
          <a:prstGeom prst="line">
            <a:avLst/>
          </a:prstGeom>
          <a:noFill/>
          <a:ln w="15875">
            <a:solidFill>
              <a:srgbClr val="8A94A3"/>
            </a:solidFill>
            <a:prstDash val="solid"/>
            <a:tailEnd type="triangle"/>
          </a:ln>
        </p:spPr>
      </p:sp>
      <p:sp>
        <p:nvSpPr>
          <p:cNvPr id="14" name="Shape 12"/>
          <p:cNvSpPr/>
          <p:nvPr/>
        </p:nvSpPr>
        <p:spPr>
          <a:xfrm>
            <a:off x="9052560" y="1874520"/>
            <a:ext cx="2453335" cy="868680"/>
          </a:xfrm>
          <a:prstGeom prst="roundRect">
            <a:avLst>
              <a:gd name="adj" fmla="val 6316"/>
            </a:avLst>
          </a:prstGeom>
          <a:solidFill>
            <a:srgbClr val="FDEEEA"/>
          </a:solidFill>
          <a:ln w="12700">
            <a:solidFill>
              <a:srgbClr val="FDEEEA"/>
            </a:solidFill>
            <a:prstDash val="solid"/>
          </a:ln>
        </p:spPr>
      </p:sp>
      <p:sp>
        <p:nvSpPr>
          <p:cNvPr id="15" name="Shape 13"/>
          <p:cNvSpPr/>
          <p:nvPr/>
        </p:nvSpPr>
        <p:spPr>
          <a:xfrm>
            <a:off x="9253728" y="2057400"/>
            <a:ext cx="502920" cy="502920"/>
          </a:xfrm>
          <a:prstGeom prst="ellipse">
            <a:avLst/>
          </a:prstGeom>
          <a:solidFill>
            <a:srgbClr val="E0533A"/>
          </a:solidFill>
          <a:ln w="12700">
            <a:solidFill>
              <a:srgbClr val="E0533A"/>
            </a:solidFill>
            <a:prstDash val="solid"/>
          </a:ln>
        </p:spPr>
      </p:sp>
      <p:pic>
        <p:nvPicPr>
          <p:cNvPr id="16" name="Image 0" descr="preencoded.png">    </p:cNvPr>
          <p:cNvPicPr>
            <a:picLocks noChangeAspect="1"/>
          </p:cNvPicPr>
          <p:nvPr/>
        </p:nvPicPr>
        <p:blipFill>
          <a:blip r:embed="rId1"/>
          <a:stretch>
            <a:fillRect/>
          </a:stretch>
        </p:blipFill>
        <p:spPr>
          <a:xfrm>
            <a:off x="9389516" y="2193188"/>
            <a:ext cx="231343" cy="231343"/>
          </a:xfrm>
          <a:prstGeom prst="rect">
            <a:avLst/>
          </a:prstGeom>
        </p:spPr>
      </p:pic>
      <p:sp>
        <p:nvSpPr>
          <p:cNvPr id="17" name="Text 14"/>
          <p:cNvSpPr txBox="1"/>
          <p:nvPr/>
        </p:nvSpPr>
        <p:spPr>
          <a:xfrm>
            <a:off x="9921240" y="1874520"/>
            <a:ext cx="1447495" cy="868680"/>
          </a:xfrm>
          <a:prstGeom prst="rect">
            <a:avLst/>
          </a:prstGeom>
          <a:noFill/>
          <a:ln/>
        </p:spPr>
        <p:txBody>
          <a:bodyPr wrap="square" lIns="0" tIns="0" rIns="0" bIns="0" rtlCol="0" anchor="ctr"/>
          <a:lstStyle/>
          <a:p>
            <a:pPr indent="0" marL="0">
              <a:buNone/>
            </a:pPr>
            <a:r>
              <a:rPr lang="en-US" sz="1300" b="1" dirty="0">
                <a:solidFill>
                  <a:srgbClr val="E0533A"/>
                </a:solidFill>
                <a:latin typeface="Arial" pitchFamily="34" charset="0"/>
                <a:ea typeface="Arial" pitchFamily="34" charset="-122"/>
                <a:cs typeface="Arial" pitchFamily="34" charset="-120"/>
              </a:rPr>
              <a:t>Test set contains synthetic flows</a:t>
            </a:r>
            <a:endParaRPr lang="en-US" sz="1300" dirty="0"/>
          </a:p>
        </p:txBody>
      </p:sp>
      <p:sp>
        <p:nvSpPr>
          <p:cNvPr id="18" name="Text 15"/>
          <p:cNvSpPr txBox="1"/>
          <p:nvPr/>
        </p:nvSpPr>
        <p:spPr>
          <a:xfrm>
            <a:off x="685800" y="3063240"/>
            <a:ext cx="1737360" cy="868680"/>
          </a:xfrm>
          <a:prstGeom prst="rect">
            <a:avLst/>
          </a:prstGeom>
          <a:noFill/>
          <a:ln/>
        </p:spPr>
        <p:txBody>
          <a:bodyPr wrap="square" lIns="0" tIns="0" rIns="0" bIns="0" rtlCol="0" anchor="ctr"/>
          <a:lstStyle/>
          <a:p>
            <a:pPr indent="0" marL="0">
              <a:buNone/>
            </a:pPr>
            <a:r>
              <a:rPr lang="en-US" sz="1500" b="1" dirty="0">
                <a:solidFill>
                  <a:srgbClr val="1E8A5F"/>
                </a:solidFill>
                <a:latin typeface="Arial" pitchFamily="34" charset="0"/>
                <a:ea typeface="Arial" pitchFamily="34" charset="-122"/>
                <a:cs typeface="Arial" pitchFamily="34" charset="-120"/>
              </a:rPr>
              <a:t>Our fix</a:t>
            </a:r>
            <a:endParaRPr lang="en-US" sz="1500" dirty="0"/>
          </a:p>
          <a:p>
            <a:pPr indent="0" marL="0">
              <a:buNone/>
            </a:pPr>
            <a:r>
              <a:rPr lang="en-US" sz="1100" dirty="0">
                <a:solidFill>
                  <a:srgbClr val="55606E"/>
                </a:solidFill>
                <a:latin typeface="Arial" pitchFamily="34" charset="0"/>
                <a:ea typeface="Arial" pitchFamily="34" charset="-122"/>
                <a:cs typeface="Arial" pitchFamily="34" charset="-120"/>
              </a:rPr>
              <a:t>leakage-free</a:t>
            </a:r>
            <a:endParaRPr lang="en-US" sz="1500" dirty="0"/>
          </a:p>
        </p:txBody>
      </p:sp>
      <p:sp>
        <p:nvSpPr>
          <p:cNvPr id="19" name="Shape 16"/>
          <p:cNvSpPr/>
          <p:nvPr/>
        </p:nvSpPr>
        <p:spPr>
          <a:xfrm>
            <a:off x="2606040" y="3063240"/>
            <a:ext cx="1828800" cy="868680"/>
          </a:xfrm>
          <a:prstGeom prst="roundRect">
            <a:avLst>
              <a:gd name="adj" fmla="val 6316"/>
            </a:avLst>
          </a:prstGeom>
          <a:solidFill>
            <a:srgbClr val="F4F6F9"/>
          </a:solidFill>
          <a:ln w="12700">
            <a:solidFill>
              <a:srgbClr val="F4F6F9"/>
            </a:solidFill>
            <a:prstDash val="solid"/>
          </a:ln>
        </p:spPr>
      </p:sp>
      <p:sp>
        <p:nvSpPr>
          <p:cNvPr id="20" name="Text 17"/>
          <p:cNvSpPr txBox="1"/>
          <p:nvPr/>
        </p:nvSpPr>
        <p:spPr>
          <a:xfrm>
            <a:off x="2715768" y="306324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All flows</a:t>
            </a:r>
            <a:endParaRPr lang="en-US" sz="1250" dirty="0"/>
          </a:p>
        </p:txBody>
      </p:sp>
      <p:sp>
        <p:nvSpPr>
          <p:cNvPr id="21" name="Shape 18"/>
          <p:cNvSpPr/>
          <p:nvPr/>
        </p:nvSpPr>
        <p:spPr>
          <a:xfrm>
            <a:off x="4462272" y="3497580"/>
            <a:ext cx="265176" cy="914"/>
          </a:xfrm>
          <a:prstGeom prst="line">
            <a:avLst/>
          </a:prstGeom>
          <a:noFill/>
          <a:ln w="15875">
            <a:solidFill>
              <a:srgbClr val="8A94A3"/>
            </a:solidFill>
            <a:prstDash val="solid"/>
            <a:tailEnd type="triangle"/>
          </a:ln>
        </p:spPr>
      </p:sp>
      <p:sp>
        <p:nvSpPr>
          <p:cNvPr id="22" name="Shape 19"/>
          <p:cNvSpPr/>
          <p:nvPr/>
        </p:nvSpPr>
        <p:spPr>
          <a:xfrm>
            <a:off x="4754880" y="3063240"/>
            <a:ext cx="1828800" cy="868680"/>
          </a:xfrm>
          <a:prstGeom prst="roundRect">
            <a:avLst>
              <a:gd name="adj" fmla="val 6316"/>
            </a:avLst>
          </a:prstGeom>
          <a:solidFill>
            <a:srgbClr val="F4F6F9"/>
          </a:solidFill>
          <a:ln w="12700">
            <a:solidFill>
              <a:srgbClr val="F4F6F9"/>
            </a:solidFill>
            <a:prstDash val="solid"/>
          </a:ln>
        </p:spPr>
      </p:sp>
      <p:sp>
        <p:nvSpPr>
          <p:cNvPr id="23" name="Text 20"/>
          <p:cNvSpPr txBox="1"/>
          <p:nvPr/>
        </p:nvSpPr>
        <p:spPr>
          <a:xfrm>
            <a:off x="4864608" y="306324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Split 70 / 30</a:t>
            </a:r>
            <a:endParaRPr lang="en-US" sz="1250" dirty="0"/>
          </a:p>
        </p:txBody>
      </p:sp>
      <p:sp>
        <p:nvSpPr>
          <p:cNvPr id="24" name="Shape 21"/>
          <p:cNvSpPr/>
          <p:nvPr/>
        </p:nvSpPr>
        <p:spPr>
          <a:xfrm>
            <a:off x="6611112" y="3497580"/>
            <a:ext cx="265176" cy="914"/>
          </a:xfrm>
          <a:prstGeom prst="line">
            <a:avLst/>
          </a:prstGeom>
          <a:noFill/>
          <a:ln w="15875">
            <a:solidFill>
              <a:srgbClr val="8A94A3"/>
            </a:solidFill>
            <a:prstDash val="solid"/>
            <a:tailEnd type="triangle"/>
          </a:ln>
        </p:spPr>
      </p:sp>
      <p:sp>
        <p:nvSpPr>
          <p:cNvPr id="25" name="Shape 22"/>
          <p:cNvSpPr/>
          <p:nvPr/>
        </p:nvSpPr>
        <p:spPr>
          <a:xfrm>
            <a:off x="6903720" y="3063240"/>
            <a:ext cx="1828800" cy="868680"/>
          </a:xfrm>
          <a:prstGeom prst="roundRect">
            <a:avLst>
              <a:gd name="adj" fmla="val 6316"/>
            </a:avLst>
          </a:prstGeom>
          <a:solidFill>
            <a:srgbClr val="F4F6F9"/>
          </a:solidFill>
          <a:ln w="12700">
            <a:solidFill>
              <a:srgbClr val="F4F6F9"/>
            </a:solidFill>
            <a:prstDash val="solid"/>
          </a:ln>
        </p:spPr>
      </p:sp>
      <p:sp>
        <p:nvSpPr>
          <p:cNvPr id="26" name="Text 23"/>
          <p:cNvSpPr txBox="1"/>
          <p:nvPr/>
        </p:nvSpPr>
        <p:spPr>
          <a:xfrm>
            <a:off x="7013448" y="306324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SMOTETomek on training data only</a:t>
            </a:r>
            <a:endParaRPr lang="en-US" sz="1250" dirty="0"/>
          </a:p>
        </p:txBody>
      </p:sp>
      <p:sp>
        <p:nvSpPr>
          <p:cNvPr id="27" name="Shape 24"/>
          <p:cNvSpPr/>
          <p:nvPr/>
        </p:nvSpPr>
        <p:spPr>
          <a:xfrm>
            <a:off x="8759952" y="3497580"/>
            <a:ext cx="265176" cy="914"/>
          </a:xfrm>
          <a:prstGeom prst="line">
            <a:avLst/>
          </a:prstGeom>
          <a:noFill/>
          <a:ln w="15875">
            <a:solidFill>
              <a:srgbClr val="8A94A3"/>
            </a:solidFill>
            <a:prstDash val="solid"/>
            <a:tailEnd type="triangle"/>
          </a:ln>
        </p:spPr>
      </p:sp>
      <p:sp>
        <p:nvSpPr>
          <p:cNvPr id="28" name="Shape 25"/>
          <p:cNvSpPr/>
          <p:nvPr/>
        </p:nvSpPr>
        <p:spPr>
          <a:xfrm>
            <a:off x="9052560" y="3063240"/>
            <a:ext cx="2453335" cy="868680"/>
          </a:xfrm>
          <a:prstGeom prst="roundRect">
            <a:avLst>
              <a:gd name="adj" fmla="val 6316"/>
            </a:avLst>
          </a:prstGeom>
          <a:solidFill>
            <a:srgbClr val="E7F4ED"/>
          </a:solidFill>
          <a:ln w="12700">
            <a:solidFill>
              <a:srgbClr val="E7F4ED"/>
            </a:solidFill>
            <a:prstDash val="solid"/>
          </a:ln>
        </p:spPr>
      </p:sp>
      <p:sp>
        <p:nvSpPr>
          <p:cNvPr id="29" name="Shape 26"/>
          <p:cNvSpPr/>
          <p:nvPr/>
        </p:nvSpPr>
        <p:spPr>
          <a:xfrm>
            <a:off x="9253728" y="3246120"/>
            <a:ext cx="502920" cy="502920"/>
          </a:xfrm>
          <a:prstGeom prst="ellipse">
            <a:avLst/>
          </a:prstGeom>
          <a:solidFill>
            <a:srgbClr val="1E8A5F"/>
          </a:solidFill>
          <a:ln w="12700">
            <a:solidFill>
              <a:srgbClr val="1E8A5F"/>
            </a:solidFill>
            <a:prstDash val="solid"/>
          </a:ln>
        </p:spPr>
      </p:sp>
      <p:pic>
        <p:nvPicPr>
          <p:cNvPr id="30" name="Image 1" descr="preencoded.png">    </p:cNvPr>
          <p:cNvPicPr>
            <a:picLocks noChangeAspect="1"/>
          </p:cNvPicPr>
          <p:nvPr/>
        </p:nvPicPr>
        <p:blipFill>
          <a:blip r:embed="rId2"/>
          <a:stretch>
            <a:fillRect/>
          </a:stretch>
        </p:blipFill>
        <p:spPr>
          <a:xfrm>
            <a:off x="9389516" y="3381908"/>
            <a:ext cx="231343" cy="231343"/>
          </a:xfrm>
          <a:prstGeom prst="rect">
            <a:avLst/>
          </a:prstGeom>
        </p:spPr>
      </p:pic>
      <p:sp>
        <p:nvSpPr>
          <p:cNvPr id="31" name="Text 27"/>
          <p:cNvSpPr txBox="1"/>
          <p:nvPr/>
        </p:nvSpPr>
        <p:spPr>
          <a:xfrm>
            <a:off x="9921240" y="3063240"/>
            <a:ext cx="1447495" cy="868680"/>
          </a:xfrm>
          <a:prstGeom prst="rect">
            <a:avLst/>
          </a:prstGeom>
          <a:noFill/>
          <a:ln/>
        </p:spPr>
        <p:txBody>
          <a:bodyPr wrap="square" lIns="0" tIns="0" rIns="0" bIns="0" rtlCol="0" anchor="ctr"/>
          <a:lstStyle/>
          <a:p>
            <a:pPr indent="0" marL="0">
              <a:buNone/>
            </a:pPr>
            <a:r>
              <a:rPr lang="en-US" sz="1300" b="1" dirty="0">
                <a:solidFill>
                  <a:srgbClr val="1E8A5F"/>
                </a:solidFill>
                <a:latin typeface="Arial" pitchFamily="34" charset="0"/>
                <a:ea typeface="Arial" pitchFamily="34" charset="-122"/>
                <a:cs typeface="Arial" pitchFamily="34" charset="-120"/>
              </a:rPr>
              <a:t>Test set is real traffic only</a:t>
            </a:r>
            <a:endParaRPr lang="en-US" sz="1300" dirty="0"/>
          </a:p>
        </p:txBody>
      </p:sp>
      <p:sp>
        <p:nvSpPr>
          <p:cNvPr id="32" name="Text 28"/>
          <p:cNvSpPr txBox="1"/>
          <p:nvPr/>
        </p:nvSpPr>
        <p:spPr>
          <a:xfrm>
            <a:off x="685800" y="4343400"/>
            <a:ext cx="10820095" cy="365760"/>
          </a:xfrm>
          <a:prstGeom prst="rect">
            <a:avLst/>
          </a:prstGeom>
          <a:noFill/>
          <a:ln/>
        </p:spPr>
        <p:txBody>
          <a:bodyPr wrap="square" lIns="0" tIns="0" rIns="0" bIns="0" rtlCol="0" anchor="t"/>
          <a:lstStyle/>
          <a:p>
            <a:pPr indent="0" marL="0">
              <a:buNone/>
            </a:pPr>
            <a:r>
              <a:rPr lang="en-US" sz="1600" b="1" dirty="0">
                <a:solidFill>
                  <a:srgbClr val="0F1B2D"/>
                </a:solidFill>
                <a:latin typeface="Arial" pitchFamily="34" charset="0"/>
                <a:ea typeface="Arial" pitchFamily="34" charset="-122"/>
                <a:cs typeface="Arial" pitchFamily="34" charset="-120"/>
              </a:rPr>
              <a:t>Why it matters</a:t>
            </a:r>
            <a:endParaRPr lang="en-US" sz="1600" dirty="0"/>
          </a:p>
        </p:txBody>
      </p:sp>
      <p:sp>
        <p:nvSpPr>
          <p:cNvPr id="33" name="Shape 29"/>
          <p:cNvSpPr/>
          <p:nvPr/>
        </p:nvSpPr>
        <p:spPr>
          <a:xfrm>
            <a:off x="685800" y="4846320"/>
            <a:ext cx="530352" cy="530352"/>
          </a:xfrm>
          <a:prstGeom prst="ellipse">
            <a:avLst/>
          </a:prstGeom>
          <a:solidFill>
            <a:srgbClr val="E0533A"/>
          </a:solidFill>
          <a:ln w="12700">
            <a:solidFill>
              <a:srgbClr val="E0533A"/>
            </a:solidFill>
            <a:prstDash val="solid"/>
          </a:ln>
        </p:spPr>
      </p:sp>
      <p:pic>
        <p:nvPicPr>
          <p:cNvPr id="34" name="Image 2" descr="preencoded.png">    </p:cNvPr>
          <p:cNvPicPr>
            <a:picLocks noChangeAspect="1"/>
          </p:cNvPicPr>
          <p:nvPr/>
        </p:nvPicPr>
        <p:blipFill>
          <a:blip r:embed="rId3"/>
          <a:stretch>
            <a:fillRect/>
          </a:stretch>
        </p:blipFill>
        <p:spPr>
          <a:xfrm>
            <a:off x="828995" y="4989515"/>
            <a:ext cx="243962" cy="243962"/>
          </a:xfrm>
          <a:prstGeom prst="rect">
            <a:avLst/>
          </a:prstGeom>
        </p:spPr>
      </p:pic>
      <p:sp>
        <p:nvSpPr>
          <p:cNvPr id="35" name="Text 30"/>
          <p:cNvSpPr txBox="1"/>
          <p:nvPr/>
        </p:nvSpPr>
        <p:spPr>
          <a:xfrm>
            <a:off x="1417320" y="4828032"/>
            <a:ext cx="4404208" cy="320040"/>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Synthetic flows leak into the test set</a:t>
            </a:r>
            <a:endParaRPr lang="en-US" sz="1450" dirty="0"/>
          </a:p>
        </p:txBody>
      </p:sp>
      <p:sp>
        <p:nvSpPr>
          <p:cNvPr id="36" name="Text 31"/>
          <p:cNvSpPr txBox="1"/>
          <p:nvPr/>
        </p:nvSpPr>
        <p:spPr>
          <a:xfrm>
            <a:off x="1417320" y="5184648"/>
            <a:ext cx="4404208" cy="82296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SMOTE creates them by interpolating real flows, some of which are in training, so testing partly repeats training.</a:t>
            </a:r>
            <a:endParaRPr lang="en-US" sz="1250" dirty="0"/>
          </a:p>
        </p:txBody>
      </p:sp>
      <p:sp>
        <p:nvSpPr>
          <p:cNvPr id="37" name="Shape 32"/>
          <p:cNvSpPr/>
          <p:nvPr/>
        </p:nvSpPr>
        <p:spPr>
          <a:xfrm>
            <a:off x="6233008" y="4846320"/>
            <a:ext cx="530352" cy="530352"/>
          </a:xfrm>
          <a:prstGeom prst="ellipse">
            <a:avLst/>
          </a:prstGeom>
          <a:solidFill>
            <a:srgbClr val="E0533A"/>
          </a:solidFill>
          <a:ln w="12700">
            <a:solidFill>
              <a:srgbClr val="E0533A"/>
            </a:solidFill>
            <a:prstDash val="solid"/>
          </a:ln>
        </p:spPr>
      </p:sp>
      <p:pic>
        <p:nvPicPr>
          <p:cNvPr id="38" name="Image 3" descr="preencoded.png">    </p:cNvPr>
          <p:cNvPicPr>
            <a:picLocks noChangeAspect="1"/>
          </p:cNvPicPr>
          <p:nvPr/>
        </p:nvPicPr>
        <p:blipFill>
          <a:blip r:embed="rId4"/>
          <a:stretch>
            <a:fillRect/>
          </a:stretch>
        </p:blipFill>
        <p:spPr>
          <a:xfrm>
            <a:off x="6376203" y="4989515"/>
            <a:ext cx="243962" cy="243962"/>
          </a:xfrm>
          <a:prstGeom prst="rect">
            <a:avLst/>
          </a:prstGeom>
        </p:spPr>
      </p:pic>
      <p:sp>
        <p:nvSpPr>
          <p:cNvPr id="39" name="Text 33"/>
          <p:cNvSpPr txBox="1"/>
          <p:nvPr/>
        </p:nvSpPr>
        <p:spPr>
          <a:xfrm>
            <a:off x="6964528" y="4828032"/>
            <a:ext cx="4404208" cy="320040"/>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An unrealistic 50/50 test set</a:t>
            </a:r>
            <a:endParaRPr lang="en-US" sz="1450" dirty="0"/>
          </a:p>
        </p:txBody>
      </p:sp>
      <p:sp>
        <p:nvSpPr>
          <p:cNvPr id="40" name="Text 34"/>
          <p:cNvSpPr txBox="1"/>
          <p:nvPr/>
        </p:nvSpPr>
        <p:spPr>
          <a:xfrm>
            <a:off x="6964528" y="5184648"/>
            <a:ext cx="4404208" cy="82296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Real traffic here is 77% benign; a balanced test set hides how many false alarms a model raises.</a:t>
            </a:r>
            <a:endParaRPr lang="en-US" sz="1250" dirty="0"/>
          </a:p>
        </p:txBody>
      </p:sp>
      <p:sp>
        <p:nvSpPr>
          <p:cNvPr id="41" name="Text 35"/>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2" name="Text 36"/>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Three experiments, fifteen models, five seeds</a:t>
            </a:r>
            <a:endParaRPr lang="en-US" sz="3000" dirty="0"/>
          </a:p>
        </p:txBody>
      </p:sp>
      <p:sp>
        <p:nvSpPr>
          <p:cNvPr id="4" name="Shape 2"/>
          <p:cNvSpPr/>
          <p:nvPr/>
        </p:nvSpPr>
        <p:spPr>
          <a:xfrm>
            <a:off x="685800" y="1828800"/>
            <a:ext cx="3423818" cy="2194560"/>
          </a:xfrm>
          <a:prstGeom prst="roundRect">
            <a:avLst>
              <a:gd name="adj" fmla="val 2500"/>
            </a:avLst>
          </a:prstGeom>
          <a:solidFill>
            <a:srgbClr val="F4F6F9"/>
          </a:solidFill>
          <a:ln w="12700">
            <a:solidFill>
              <a:srgbClr val="F4F6F9"/>
            </a:solidFill>
            <a:prstDash val="solid"/>
          </a:ln>
        </p:spPr>
      </p:sp>
      <p:sp>
        <p:nvSpPr>
          <p:cNvPr id="5" name="Text 3"/>
          <p:cNvSpPr txBox="1"/>
          <p:nvPr/>
        </p:nvSpPr>
        <p:spPr>
          <a:xfrm>
            <a:off x="1005840" y="2084832"/>
            <a:ext cx="2783738" cy="256032"/>
          </a:xfrm>
          <a:prstGeom prst="rect">
            <a:avLst/>
          </a:prstGeom>
          <a:noFill/>
          <a:ln/>
        </p:spPr>
        <p:txBody>
          <a:bodyPr wrap="square" lIns="0" tIns="0" rIns="0" bIns="0" rtlCol="0" anchor="t"/>
          <a:lstStyle/>
          <a:p>
            <a:pPr indent="0" marL="0">
              <a:buNone/>
            </a:pPr>
            <a:r>
              <a:rPr lang="en-US" sz="1000" b="1" dirty="0">
                <a:solidFill>
                  <a:srgbClr val="E0533A"/>
                </a:solidFill>
                <a:latin typeface="Arial" pitchFamily="34" charset="0"/>
                <a:ea typeface="Arial" pitchFamily="34" charset="-122"/>
                <a:cs typeface="Arial" pitchFamily="34" charset="-120"/>
              </a:rPr>
              <a:t>REPLICATION</a:t>
            </a:r>
            <a:endParaRPr lang="en-US" sz="1000" dirty="0"/>
          </a:p>
        </p:txBody>
      </p:sp>
      <p:sp>
        <p:nvSpPr>
          <p:cNvPr id="6" name="Text 4"/>
          <p:cNvSpPr txBox="1"/>
          <p:nvPr/>
        </p:nvSpPr>
        <p:spPr>
          <a:xfrm>
            <a:off x="1005840" y="2377440"/>
            <a:ext cx="2783738" cy="41148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Paper protocol</a:t>
            </a:r>
            <a:endParaRPr lang="en-US" sz="2000" dirty="0"/>
          </a:p>
        </p:txBody>
      </p:sp>
      <p:sp>
        <p:nvSpPr>
          <p:cNvPr id="7" name="Text 5"/>
          <p:cNvSpPr txBox="1"/>
          <p:nvPr/>
        </p:nvSpPr>
        <p:spPr>
          <a:xfrm>
            <a:off x="1005840" y="2834640"/>
            <a:ext cx="2783738" cy="7315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Exactly the published pipeline: balance the data, then split</a:t>
            </a:r>
            <a:endParaRPr lang="en-US" sz="1250" dirty="0"/>
          </a:p>
        </p:txBody>
      </p:sp>
      <p:sp>
        <p:nvSpPr>
          <p:cNvPr id="8" name="Shape 6"/>
          <p:cNvSpPr/>
          <p:nvPr/>
        </p:nvSpPr>
        <p:spPr>
          <a:xfrm>
            <a:off x="1005840" y="3547872"/>
            <a:ext cx="1325880" cy="310896"/>
          </a:xfrm>
          <a:prstGeom prst="roundRect">
            <a:avLst>
              <a:gd name="adj" fmla="val 23529"/>
            </a:avLst>
          </a:prstGeom>
          <a:solidFill>
            <a:srgbClr val="FFFFFF"/>
          </a:solidFill>
          <a:ln w="12700">
            <a:solidFill>
              <a:srgbClr val="FFFFFF"/>
            </a:solidFill>
            <a:prstDash val="solid"/>
          </a:ln>
        </p:spPr>
      </p:sp>
      <p:sp>
        <p:nvSpPr>
          <p:cNvPr id="9" name="Text 7"/>
          <p:cNvSpPr txBox="1"/>
          <p:nvPr/>
        </p:nvSpPr>
        <p:spPr>
          <a:xfrm>
            <a:off x="1005840" y="3547872"/>
            <a:ext cx="1325880" cy="310896"/>
          </a:xfrm>
          <a:prstGeom prst="rect">
            <a:avLst/>
          </a:prstGeom>
          <a:noFill/>
          <a:ln/>
        </p:spPr>
        <p:txBody>
          <a:bodyPr wrap="square" lIns="0" tIns="0" rIns="0" bIns="0" rtlCol="0" anchor="ctr"/>
          <a:lstStyle/>
          <a:p>
            <a:pPr algn="ctr" indent="0" marL="0">
              <a:buNone/>
            </a:pPr>
            <a:r>
              <a:rPr lang="en-US" sz="1050" b="1" dirty="0">
                <a:solidFill>
                  <a:srgbClr val="0F1B2D"/>
                </a:solidFill>
                <a:latin typeface="Arial" pitchFamily="34" charset="0"/>
                <a:ea typeface="Arial" pitchFamily="34" charset="-122"/>
                <a:cs typeface="Arial" pitchFamily="34" charset="-120"/>
              </a:rPr>
              <a:t>Benign vs APT</a:t>
            </a:r>
            <a:endParaRPr lang="en-US" sz="1050" dirty="0"/>
          </a:p>
        </p:txBody>
      </p:sp>
      <p:sp>
        <p:nvSpPr>
          <p:cNvPr id="10" name="Shape 8"/>
          <p:cNvSpPr/>
          <p:nvPr/>
        </p:nvSpPr>
        <p:spPr>
          <a:xfrm>
            <a:off x="4383938" y="1828800"/>
            <a:ext cx="3423818" cy="2194560"/>
          </a:xfrm>
          <a:prstGeom prst="roundRect">
            <a:avLst>
              <a:gd name="adj" fmla="val 2500"/>
            </a:avLst>
          </a:prstGeom>
          <a:solidFill>
            <a:srgbClr val="F4F6F9"/>
          </a:solidFill>
          <a:ln w="12700">
            <a:solidFill>
              <a:srgbClr val="F4F6F9"/>
            </a:solidFill>
            <a:prstDash val="solid"/>
          </a:ln>
        </p:spPr>
      </p:sp>
      <p:sp>
        <p:nvSpPr>
          <p:cNvPr id="11" name="Text 9"/>
          <p:cNvSpPr txBox="1"/>
          <p:nvPr/>
        </p:nvSpPr>
        <p:spPr>
          <a:xfrm>
            <a:off x="4703978" y="2084832"/>
            <a:ext cx="2783738" cy="256032"/>
          </a:xfrm>
          <a:prstGeom prst="rect">
            <a:avLst/>
          </a:prstGeom>
          <a:noFill/>
          <a:ln/>
        </p:spPr>
        <p:txBody>
          <a:bodyPr wrap="square" lIns="0" tIns="0" rIns="0" bIns="0" rtlCol="0" anchor="t"/>
          <a:lstStyle/>
          <a:p>
            <a:pPr indent="0" marL="0">
              <a:buNone/>
            </a:pPr>
            <a:r>
              <a:rPr lang="en-US" sz="1000" b="1" dirty="0">
                <a:solidFill>
                  <a:srgbClr val="1E8A5F"/>
                </a:solidFill>
                <a:latin typeface="Arial" pitchFamily="34" charset="0"/>
                <a:ea typeface="Arial" pitchFamily="34" charset="-122"/>
                <a:cs typeface="Arial" pitchFamily="34" charset="-120"/>
              </a:rPr>
              <a:t>CORRECTION</a:t>
            </a:r>
            <a:endParaRPr lang="en-US" sz="1000" dirty="0"/>
          </a:p>
        </p:txBody>
      </p:sp>
      <p:sp>
        <p:nvSpPr>
          <p:cNvPr id="12" name="Text 10"/>
          <p:cNvSpPr txBox="1"/>
          <p:nvPr/>
        </p:nvSpPr>
        <p:spPr>
          <a:xfrm>
            <a:off x="4703978" y="2377440"/>
            <a:ext cx="2783738" cy="41148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Leakage-free protocol</a:t>
            </a:r>
            <a:endParaRPr lang="en-US" sz="2000" dirty="0"/>
          </a:p>
        </p:txBody>
      </p:sp>
      <p:sp>
        <p:nvSpPr>
          <p:cNvPr id="13" name="Text 11"/>
          <p:cNvSpPr txBox="1"/>
          <p:nvPr/>
        </p:nvSpPr>
        <p:spPr>
          <a:xfrm>
            <a:off x="4703978" y="2834640"/>
            <a:ext cx="2783738" cy="7315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Split first, balance the training data only; repeated over 5 random seeds</a:t>
            </a:r>
            <a:endParaRPr lang="en-US" sz="1250" dirty="0"/>
          </a:p>
        </p:txBody>
      </p:sp>
      <p:sp>
        <p:nvSpPr>
          <p:cNvPr id="14" name="Shape 12"/>
          <p:cNvSpPr/>
          <p:nvPr/>
        </p:nvSpPr>
        <p:spPr>
          <a:xfrm>
            <a:off x="4703978" y="3547872"/>
            <a:ext cx="1325880" cy="310896"/>
          </a:xfrm>
          <a:prstGeom prst="roundRect">
            <a:avLst>
              <a:gd name="adj" fmla="val 23529"/>
            </a:avLst>
          </a:prstGeom>
          <a:solidFill>
            <a:srgbClr val="FFFFFF"/>
          </a:solidFill>
          <a:ln w="12700">
            <a:solidFill>
              <a:srgbClr val="FFFFFF"/>
            </a:solidFill>
            <a:prstDash val="solid"/>
          </a:ln>
        </p:spPr>
      </p:sp>
      <p:sp>
        <p:nvSpPr>
          <p:cNvPr id="15" name="Text 13"/>
          <p:cNvSpPr txBox="1"/>
          <p:nvPr/>
        </p:nvSpPr>
        <p:spPr>
          <a:xfrm>
            <a:off x="4703978" y="3547872"/>
            <a:ext cx="1325880" cy="310896"/>
          </a:xfrm>
          <a:prstGeom prst="rect">
            <a:avLst/>
          </a:prstGeom>
          <a:noFill/>
          <a:ln/>
        </p:spPr>
        <p:txBody>
          <a:bodyPr wrap="square" lIns="0" tIns="0" rIns="0" bIns="0" rtlCol="0" anchor="ctr"/>
          <a:lstStyle/>
          <a:p>
            <a:pPr algn="ctr" indent="0" marL="0">
              <a:buNone/>
            </a:pPr>
            <a:r>
              <a:rPr lang="en-US" sz="1050" b="1" dirty="0">
                <a:solidFill>
                  <a:srgbClr val="0F1B2D"/>
                </a:solidFill>
                <a:latin typeface="Arial" pitchFamily="34" charset="0"/>
                <a:ea typeface="Arial" pitchFamily="34" charset="-122"/>
                <a:cs typeface="Arial" pitchFamily="34" charset="-120"/>
              </a:rPr>
              <a:t>Benign vs APT</a:t>
            </a:r>
            <a:endParaRPr lang="en-US" sz="1050" dirty="0"/>
          </a:p>
        </p:txBody>
      </p:sp>
      <p:sp>
        <p:nvSpPr>
          <p:cNvPr id="16" name="Shape 14"/>
          <p:cNvSpPr/>
          <p:nvPr/>
        </p:nvSpPr>
        <p:spPr>
          <a:xfrm>
            <a:off x="8082077" y="1828800"/>
            <a:ext cx="3423818" cy="2194560"/>
          </a:xfrm>
          <a:prstGeom prst="roundRect">
            <a:avLst>
              <a:gd name="adj" fmla="val 2500"/>
            </a:avLst>
          </a:prstGeom>
          <a:solidFill>
            <a:srgbClr val="F4F6F9"/>
          </a:solidFill>
          <a:ln w="12700">
            <a:solidFill>
              <a:srgbClr val="F4F6F9"/>
            </a:solidFill>
            <a:prstDash val="solid"/>
          </a:ln>
        </p:spPr>
      </p:sp>
      <p:sp>
        <p:nvSpPr>
          <p:cNvPr id="17" name="Text 15"/>
          <p:cNvSpPr txBox="1"/>
          <p:nvPr/>
        </p:nvSpPr>
        <p:spPr>
          <a:xfrm>
            <a:off x="8402117" y="2084832"/>
            <a:ext cx="2783738" cy="256032"/>
          </a:xfrm>
          <a:prstGeom prst="rect">
            <a:avLst/>
          </a:prstGeom>
          <a:noFill/>
          <a:ln/>
        </p:spPr>
        <p:txBody>
          <a:bodyPr wrap="square" lIns="0" tIns="0" rIns="0" bIns="0" rtlCol="0" anchor="t"/>
          <a:lstStyle/>
          <a:p>
            <a:pPr indent="0" marL="0">
              <a:buNone/>
            </a:pPr>
            <a:r>
              <a:rPr lang="en-US" sz="1000" b="1" dirty="0">
                <a:solidFill>
                  <a:srgbClr val="2A78D6"/>
                </a:solidFill>
                <a:latin typeface="Arial" pitchFamily="34" charset="0"/>
                <a:ea typeface="Arial" pitchFamily="34" charset="-122"/>
                <a:cs typeface="Arial" pitchFamily="34" charset="-120"/>
              </a:rPr>
              <a:t>EXTENSION</a:t>
            </a:r>
            <a:endParaRPr lang="en-US" sz="1000" dirty="0"/>
          </a:p>
        </p:txBody>
      </p:sp>
      <p:sp>
        <p:nvSpPr>
          <p:cNvPr id="18" name="Text 16"/>
          <p:cNvSpPr txBox="1"/>
          <p:nvPr/>
        </p:nvSpPr>
        <p:spPr>
          <a:xfrm>
            <a:off x="8402117" y="2377440"/>
            <a:ext cx="2783738" cy="41148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APT-stage classification</a:t>
            </a:r>
            <a:endParaRPr lang="en-US" sz="2000" dirty="0"/>
          </a:p>
        </p:txBody>
      </p:sp>
      <p:sp>
        <p:nvSpPr>
          <p:cNvPr id="19" name="Text 17"/>
          <p:cNvSpPr txBox="1"/>
          <p:nvPr/>
        </p:nvSpPr>
        <p:spPr>
          <a:xfrm>
            <a:off x="8402117" y="2834640"/>
            <a:ext cx="2783738" cy="7315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Predict the stage of every flow, leakage-free, which the paper's datasets cannot support</a:t>
            </a:r>
            <a:endParaRPr lang="en-US" sz="1250" dirty="0"/>
          </a:p>
        </p:txBody>
      </p:sp>
      <p:sp>
        <p:nvSpPr>
          <p:cNvPr id="20" name="Shape 18"/>
          <p:cNvSpPr/>
          <p:nvPr/>
        </p:nvSpPr>
        <p:spPr>
          <a:xfrm>
            <a:off x="8402117" y="3547872"/>
            <a:ext cx="1325880" cy="310896"/>
          </a:xfrm>
          <a:prstGeom prst="roundRect">
            <a:avLst>
              <a:gd name="adj" fmla="val 23529"/>
            </a:avLst>
          </a:prstGeom>
          <a:solidFill>
            <a:srgbClr val="FFFFFF"/>
          </a:solidFill>
          <a:ln w="12700">
            <a:solidFill>
              <a:srgbClr val="FFFFFF"/>
            </a:solidFill>
            <a:prstDash val="solid"/>
          </a:ln>
        </p:spPr>
      </p:sp>
      <p:sp>
        <p:nvSpPr>
          <p:cNvPr id="21" name="Text 19"/>
          <p:cNvSpPr txBox="1"/>
          <p:nvPr/>
        </p:nvSpPr>
        <p:spPr>
          <a:xfrm>
            <a:off x="8402117" y="3547872"/>
            <a:ext cx="1325880" cy="310896"/>
          </a:xfrm>
          <a:prstGeom prst="rect">
            <a:avLst/>
          </a:prstGeom>
          <a:noFill/>
          <a:ln/>
        </p:spPr>
        <p:txBody>
          <a:bodyPr wrap="square" lIns="0" tIns="0" rIns="0" bIns="0" rtlCol="0" anchor="ctr"/>
          <a:lstStyle/>
          <a:p>
            <a:pPr algn="ctr" indent="0" marL="0">
              <a:buNone/>
            </a:pPr>
            <a:r>
              <a:rPr lang="en-US" sz="1050" b="1" dirty="0">
                <a:solidFill>
                  <a:srgbClr val="0F1B2D"/>
                </a:solidFill>
                <a:latin typeface="Arial" pitchFamily="34" charset="0"/>
                <a:ea typeface="Arial" pitchFamily="34" charset="-122"/>
                <a:cs typeface="Arial" pitchFamily="34" charset="-120"/>
              </a:rPr>
              <a:t>5 classes</a:t>
            </a:r>
            <a:endParaRPr lang="en-US" sz="1050" dirty="0"/>
          </a:p>
        </p:txBody>
      </p:sp>
      <p:sp>
        <p:nvSpPr>
          <p:cNvPr id="22" name="Shape 20"/>
          <p:cNvSpPr/>
          <p:nvPr/>
        </p:nvSpPr>
        <p:spPr>
          <a:xfrm>
            <a:off x="685800" y="4343400"/>
            <a:ext cx="10820095" cy="914"/>
          </a:xfrm>
          <a:prstGeom prst="line">
            <a:avLst/>
          </a:prstGeom>
          <a:noFill/>
          <a:ln w="9525">
            <a:solidFill>
              <a:srgbClr val="E2E6EC"/>
            </a:solidFill>
            <a:prstDash val="solid"/>
          </a:ln>
        </p:spPr>
      </p:sp>
      <p:sp>
        <p:nvSpPr>
          <p:cNvPr id="23" name="Text 21"/>
          <p:cNvSpPr txBox="1"/>
          <p:nvPr/>
        </p:nvSpPr>
        <p:spPr>
          <a:xfrm>
            <a:off x="685800" y="4553712"/>
            <a:ext cx="3423818" cy="256032"/>
          </a:xfrm>
          <a:prstGeom prst="rect">
            <a:avLst/>
          </a:prstGeom>
          <a:noFill/>
          <a:ln/>
        </p:spPr>
        <p:txBody>
          <a:bodyPr wrap="square" lIns="0" tIns="0" rIns="0" bIns="0" rtlCol="0" anchor="t"/>
          <a:lstStyle/>
          <a:p>
            <a:pPr indent="0" marL="0">
              <a:buNone/>
            </a:pPr>
            <a:r>
              <a:rPr lang="en-US" sz="1000" b="1" dirty="0">
                <a:solidFill>
                  <a:srgbClr val="8A94A3"/>
                </a:solidFill>
                <a:latin typeface="Arial" pitchFamily="34" charset="0"/>
                <a:ea typeface="Arial" pitchFamily="34" charset="-122"/>
                <a:cs typeface="Arial" pitchFamily="34" charset="-120"/>
              </a:rPr>
              <a:t>PROPOSED</a:t>
            </a:r>
            <a:endParaRPr lang="en-US" sz="1000" dirty="0"/>
          </a:p>
        </p:txBody>
      </p:sp>
      <p:sp>
        <p:nvSpPr>
          <p:cNvPr id="24" name="Text 22"/>
          <p:cNvSpPr txBox="1"/>
          <p:nvPr/>
        </p:nvSpPr>
        <p:spPr>
          <a:xfrm>
            <a:off x="685800" y="4846320"/>
            <a:ext cx="3332378" cy="1234440"/>
          </a:xfrm>
          <a:prstGeom prst="rect">
            <a:avLst/>
          </a:prstGeom>
          <a:noFill/>
          <a:ln/>
        </p:spPr>
        <p:txBody>
          <a:bodyPr wrap="square" lIns="0" tIns="0" rIns="0" bIns="0" rtlCol="0" anchor="t"/>
          <a:lstStyle/>
          <a:p>
            <a:pPr indent="0" marL="0">
              <a:buNone/>
            </a:pPr>
            <a:r>
              <a:rPr lang="en-US" sz="1250" dirty="0">
                <a:solidFill>
                  <a:srgbClr val="0F1B2D"/>
                </a:solidFill>
                <a:latin typeface="Arial" pitchFamily="34" charset="0"/>
                <a:ea typeface="Arial" pitchFamily="34" charset="-122"/>
                <a:cs typeface="Arial" pitchFamily="34" charset="-120"/>
              </a:rPr>
              <a:t>Hybrid RF + XGBoost (OR rule, as published)</a:t>
            </a:r>
            <a:endParaRPr lang="en-US" sz="1250" dirty="0"/>
          </a:p>
          <a:p>
            <a:pPr indent="0" marL="0">
              <a:buNone/>
            </a:pPr>
            <a:r>
              <a:rPr lang="en-US" sz="1250" dirty="0">
                <a:solidFill>
                  <a:srgbClr val="0F1B2D"/>
                </a:solidFill>
                <a:latin typeface="Arial" pitchFamily="34" charset="0"/>
                <a:ea typeface="Arial" pitchFamily="34" charset="-122"/>
                <a:cs typeface="Arial" pitchFamily="34" charset="-120"/>
              </a:rPr>
              <a:t>Hybrid, soft-vote variant</a:t>
            </a:r>
            <a:endParaRPr lang="en-US" sz="1250" dirty="0"/>
          </a:p>
        </p:txBody>
      </p:sp>
      <p:sp>
        <p:nvSpPr>
          <p:cNvPr id="25" name="Text 23"/>
          <p:cNvSpPr txBox="1"/>
          <p:nvPr/>
        </p:nvSpPr>
        <p:spPr>
          <a:xfrm>
            <a:off x="4383938" y="4553712"/>
            <a:ext cx="3423818" cy="256032"/>
          </a:xfrm>
          <a:prstGeom prst="rect">
            <a:avLst/>
          </a:prstGeom>
          <a:noFill/>
          <a:ln/>
        </p:spPr>
        <p:txBody>
          <a:bodyPr wrap="square" lIns="0" tIns="0" rIns="0" bIns="0" rtlCol="0" anchor="t"/>
          <a:lstStyle/>
          <a:p>
            <a:pPr indent="0" marL="0">
              <a:buNone/>
            </a:pPr>
            <a:r>
              <a:rPr lang="en-US" sz="1000" b="1" dirty="0">
                <a:solidFill>
                  <a:srgbClr val="8A94A3"/>
                </a:solidFill>
                <a:latin typeface="Arial" pitchFamily="34" charset="0"/>
                <a:ea typeface="Arial" pitchFamily="34" charset="-122"/>
                <a:cs typeface="Arial" pitchFamily="34" charset="-120"/>
              </a:rPr>
              <a:t>CLASSICAL MACHINE LEARNING</a:t>
            </a:r>
            <a:endParaRPr lang="en-US" sz="1000" dirty="0"/>
          </a:p>
        </p:txBody>
      </p:sp>
      <p:sp>
        <p:nvSpPr>
          <p:cNvPr id="26" name="Text 24"/>
          <p:cNvSpPr txBox="1"/>
          <p:nvPr/>
        </p:nvSpPr>
        <p:spPr>
          <a:xfrm>
            <a:off x="4383938" y="4846320"/>
            <a:ext cx="3332378" cy="1234440"/>
          </a:xfrm>
          <a:prstGeom prst="rect">
            <a:avLst/>
          </a:prstGeom>
          <a:noFill/>
          <a:ln/>
        </p:spPr>
        <p:txBody>
          <a:bodyPr wrap="square" lIns="0" tIns="0" rIns="0" bIns="0" rtlCol="0" anchor="t"/>
          <a:lstStyle/>
          <a:p>
            <a:pPr indent="0" marL="0">
              <a:buNone/>
            </a:pPr>
            <a:r>
              <a:rPr lang="en-US" sz="1250" dirty="0">
                <a:solidFill>
                  <a:srgbClr val="0F1B2D"/>
                </a:solidFill>
                <a:latin typeface="Arial" pitchFamily="34" charset="0"/>
                <a:ea typeface="Arial" pitchFamily="34" charset="-122"/>
                <a:cs typeface="Arial" pitchFamily="34" charset="-120"/>
              </a:rPr>
              <a:t>KNN · Decision tree · SVM · Kernel SVM · Random forest · XGBoost · Gradient boosting · AdaBoost · Naive Bayes · Logistic regression</a:t>
            </a:r>
            <a:endParaRPr lang="en-US" sz="1250" dirty="0"/>
          </a:p>
        </p:txBody>
      </p:sp>
      <p:sp>
        <p:nvSpPr>
          <p:cNvPr id="27" name="Text 25"/>
          <p:cNvSpPr txBox="1"/>
          <p:nvPr/>
        </p:nvSpPr>
        <p:spPr>
          <a:xfrm>
            <a:off x="8082077" y="4553712"/>
            <a:ext cx="3423818" cy="256032"/>
          </a:xfrm>
          <a:prstGeom prst="rect">
            <a:avLst/>
          </a:prstGeom>
          <a:noFill/>
          <a:ln/>
        </p:spPr>
        <p:txBody>
          <a:bodyPr wrap="square" lIns="0" tIns="0" rIns="0" bIns="0" rtlCol="0" anchor="t"/>
          <a:lstStyle/>
          <a:p>
            <a:pPr indent="0" marL="0">
              <a:buNone/>
            </a:pPr>
            <a:r>
              <a:rPr lang="en-US" sz="1000" b="1" dirty="0">
                <a:solidFill>
                  <a:srgbClr val="8A94A3"/>
                </a:solidFill>
                <a:latin typeface="Arial" pitchFamily="34" charset="0"/>
                <a:ea typeface="Arial" pitchFamily="34" charset="-122"/>
                <a:cs typeface="Arial" pitchFamily="34" charset="-120"/>
              </a:rPr>
              <a:t>DEEP LEARNING</a:t>
            </a:r>
            <a:endParaRPr lang="en-US" sz="1000" dirty="0"/>
          </a:p>
        </p:txBody>
      </p:sp>
      <p:sp>
        <p:nvSpPr>
          <p:cNvPr id="28" name="Text 26"/>
          <p:cNvSpPr txBox="1"/>
          <p:nvPr/>
        </p:nvSpPr>
        <p:spPr>
          <a:xfrm>
            <a:off x="8082077" y="4846320"/>
            <a:ext cx="3332378" cy="1234440"/>
          </a:xfrm>
          <a:prstGeom prst="rect">
            <a:avLst/>
          </a:prstGeom>
          <a:noFill/>
          <a:ln/>
        </p:spPr>
        <p:txBody>
          <a:bodyPr wrap="square" lIns="0" tIns="0" rIns="0" bIns="0" rtlCol="0" anchor="t"/>
          <a:lstStyle/>
          <a:p>
            <a:pPr indent="0" marL="0">
              <a:buNone/>
            </a:pPr>
            <a:r>
              <a:rPr lang="en-US" sz="1250" dirty="0">
                <a:solidFill>
                  <a:srgbClr val="0F1B2D"/>
                </a:solidFill>
                <a:latin typeface="Arial" pitchFamily="34" charset="0"/>
                <a:ea typeface="Arial" pitchFamily="34" charset="-122"/>
                <a:cs typeface="Arial" pitchFamily="34" charset="-120"/>
              </a:rPr>
              <a:t>CNN · ANN · MLP, trained on the GPU for up to 200 epochs with early stopping</a:t>
            </a:r>
            <a:endParaRPr lang="en-US" sz="1250" dirty="0"/>
          </a:p>
        </p:txBody>
      </p:sp>
      <p:sp>
        <p:nvSpPr>
          <p:cNvPr id="29" name="Text 2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0" name="Text 2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526"/>
        </a:solidFill>
      </p:bgPr>
    </p:bg>
    <p:spTree>
      <p:nvGrpSpPr>
        <p:cNvPr id="1" name=""/>
        <p:cNvGrpSpPr/>
        <p:nvPr/>
      </p:nvGrpSpPr>
      <p:grpSpPr>
        <a:xfrm>
          <a:off x="0" y="0"/>
          <a:ext cx="0" cy="0"/>
          <a:chOff x="0" y="0"/>
          <a:chExt cx="0" cy="0"/>
        </a:xfrm>
      </p:grpSpPr>
      <p:sp>
        <p:nvSpPr>
          <p:cNvPr id="2" name="Shape 0"/>
          <p:cNvSpPr/>
          <p:nvPr/>
        </p:nvSpPr>
        <p:spPr>
          <a:xfrm>
            <a:off x="7351387" y="1163854"/>
            <a:ext cx="20285" cy="558501"/>
          </a:xfrm>
          <a:prstGeom prst="line">
            <a:avLst/>
          </a:prstGeom>
          <a:noFill/>
          <a:ln w="9525">
            <a:solidFill>
              <a:srgbClr val="2C3E5C"/>
            </a:solidFill>
            <a:prstDash val="solid"/>
          </a:ln>
        </p:spPr>
      </p:sp>
      <p:sp>
        <p:nvSpPr>
          <p:cNvPr id="3" name="Shape 1"/>
          <p:cNvSpPr/>
          <p:nvPr/>
        </p:nvSpPr>
        <p:spPr>
          <a:xfrm flipH="1">
            <a:off x="6820618" y="1163854"/>
            <a:ext cx="530769" cy="299396"/>
          </a:xfrm>
          <a:prstGeom prst="line">
            <a:avLst/>
          </a:prstGeom>
          <a:noFill/>
          <a:ln w="12700">
            <a:solidFill>
              <a:srgbClr val="E0533A">
                <a:alpha val="55000"/>
              </a:srgbClr>
            </a:solidFill>
            <a:prstDash val="solid"/>
          </a:ln>
        </p:spPr>
      </p:sp>
      <p:sp>
        <p:nvSpPr>
          <p:cNvPr id="4" name="Shape 2"/>
          <p:cNvSpPr/>
          <p:nvPr/>
        </p:nvSpPr>
        <p:spPr>
          <a:xfrm>
            <a:off x="9174218" y="1030487"/>
            <a:ext cx="108778" cy="797620"/>
          </a:xfrm>
          <a:prstGeom prst="line">
            <a:avLst/>
          </a:prstGeom>
          <a:noFill/>
          <a:ln w="9525">
            <a:solidFill>
              <a:srgbClr val="2C3E5C"/>
            </a:solidFill>
            <a:prstDash val="solid"/>
          </a:ln>
        </p:spPr>
      </p:sp>
      <p:sp>
        <p:nvSpPr>
          <p:cNvPr id="5" name="Shape 3"/>
          <p:cNvSpPr/>
          <p:nvPr/>
        </p:nvSpPr>
        <p:spPr>
          <a:xfrm flipH="1">
            <a:off x="8899852" y="1030487"/>
            <a:ext cx="274366" cy="880036"/>
          </a:xfrm>
          <a:prstGeom prst="line">
            <a:avLst/>
          </a:prstGeom>
          <a:noFill/>
          <a:ln w="9525">
            <a:solidFill>
              <a:srgbClr val="2C3E5C"/>
            </a:solidFill>
            <a:prstDash val="solid"/>
          </a:ln>
        </p:spPr>
      </p:sp>
      <p:sp>
        <p:nvSpPr>
          <p:cNvPr id="6" name="Shape 4"/>
          <p:cNvSpPr/>
          <p:nvPr/>
        </p:nvSpPr>
        <p:spPr>
          <a:xfrm>
            <a:off x="10719002" y="944060"/>
            <a:ext cx="342546" cy="512115"/>
          </a:xfrm>
          <a:prstGeom prst="line">
            <a:avLst/>
          </a:prstGeom>
          <a:noFill/>
          <a:ln w="9525">
            <a:solidFill>
              <a:srgbClr val="2C3E5C"/>
            </a:solidFill>
            <a:prstDash val="solid"/>
          </a:ln>
        </p:spPr>
      </p:sp>
      <p:sp>
        <p:nvSpPr>
          <p:cNvPr id="7" name="Shape 5"/>
          <p:cNvSpPr/>
          <p:nvPr/>
        </p:nvSpPr>
        <p:spPr>
          <a:xfrm flipH="1">
            <a:off x="10127273" y="944060"/>
            <a:ext cx="591729" cy="465048"/>
          </a:xfrm>
          <a:prstGeom prst="line">
            <a:avLst/>
          </a:prstGeom>
          <a:noFill/>
          <a:ln w="9525">
            <a:solidFill>
              <a:srgbClr val="2C3E5C"/>
            </a:solidFill>
            <a:prstDash val="solid"/>
          </a:ln>
        </p:spPr>
      </p:sp>
      <p:sp>
        <p:nvSpPr>
          <p:cNvPr id="8" name="Shape 6"/>
          <p:cNvSpPr/>
          <p:nvPr/>
        </p:nvSpPr>
        <p:spPr>
          <a:xfrm flipH="1">
            <a:off x="11061548" y="1070891"/>
            <a:ext cx="405297" cy="385284"/>
          </a:xfrm>
          <a:prstGeom prst="line">
            <a:avLst/>
          </a:prstGeom>
          <a:noFill/>
          <a:ln w="9525">
            <a:solidFill>
              <a:srgbClr val="2C3E5C"/>
            </a:solidFill>
            <a:prstDash val="solid"/>
          </a:ln>
        </p:spPr>
      </p:sp>
      <p:sp>
        <p:nvSpPr>
          <p:cNvPr id="9" name="Shape 7"/>
          <p:cNvSpPr/>
          <p:nvPr/>
        </p:nvSpPr>
        <p:spPr>
          <a:xfrm>
            <a:off x="10719002" y="944060"/>
            <a:ext cx="747843" cy="126831"/>
          </a:xfrm>
          <a:prstGeom prst="line">
            <a:avLst/>
          </a:prstGeom>
          <a:noFill/>
          <a:ln w="9525">
            <a:solidFill>
              <a:srgbClr val="2C3E5C"/>
            </a:solidFill>
            <a:prstDash val="solid"/>
          </a:ln>
        </p:spPr>
      </p:sp>
      <p:sp>
        <p:nvSpPr>
          <p:cNvPr id="10" name="Shape 8"/>
          <p:cNvSpPr/>
          <p:nvPr/>
        </p:nvSpPr>
        <p:spPr>
          <a:xfrm>
            <a:off x="6820618" y="1463249"/>
            <a:ext cx="551054" cy="259106"/>
          </a:xfrm>
          <a:prstGeom prst="line">
            <a:avLst/>
          </a:prstGeom>
          <a:noFill/>
          <a:ln w="12700">
            <a:solidFill>
              <a:srgbClr val="E0533A">
                <a:alpha val="55000"/>
              </a:srgbClr>
            </a:solidFill>
            <a:prstDash val="solid"/>
          </a:ln>
        </p:spPr>
      </p:sp>
      <p:sp>
        <p:nvSpPr>
          <p:cNvPr id="11" name="Shape 9"/>
          <p:cNvSpPr/>
          <p:nvPr/>
        </p:nvSpPr>
        <p:spPr>
          <a:xfrm flipV="1">
            <a:off x="8899852" y="1828107"/>
            <a:ext cx="383144" cy="82416"/>
          </a:xfrm>
          <a:prstGeom prst="line">
            <a:avLst/>
          </a:prstGeom>
          <a:noFill/>
          <a:ln w="9525">
            <a:solidFill>
              <a:srgbClr val="2C3E5C"/>
            </a:solidFill>
            <a:prstDash val="solid"/>
          </a:ln>
        </p:spPr>
      </p:sp>
      <p:sp>
        <p:nvSpPr>
          <p:cNvPr id="12" name="Shape 10"/>
          <p:cNvSpPr/>
          <p:nvPr/>
        </p:nvSpPr>
        <p:spPr>
          <a:xfrm flipH="1">
            <a:off x="8562466" y="1910524"/>
            <a:ext cx="337386" cy="384192"/>
          </a:xfrm>
          <a:prstGeom prst="line">
            <a:avLst/>
          </a:prstGeom>
          <a:noFill/>
          <a:ln w="9525">
            <a:solidFill>
              <a:srgbClr val="2C3E5C"/>
            </a:solidFill>
            <a:prstDash val="solid"/>
          </a:ln>
        </p:spPr>
      </p:sp>
      <p:sp>
        <p:nvSpPr>
          <p:cNvPr id="13" name="Shape 11"/>
          <p:cNvSpPr/>
          <p:nvPr/>
        </p:nvSpPr>
        <p:spPr>
          <a:xfrm>
            <a:off x="10127273" y="1409107"/>
            <a:ext cx="934275" cy="47067"/>
          </a:xfrm>
          <a:prstGeom prst="line">
            <a:avLst/>
          </a:prstGeom>
          <a:noFill/>
          <a:ln w="9525">
            <a:solidFill>
              <a:srgbClr val="2C3E5C"/>
            </a:solidFill>
            <a:prstDash val="solid"/>
          </a:ln>
        </p:spPr>
      </p:sp>
      <p:sp>
        <p:nvSpPr>
          <p:cNvPr id="14" name="Shape 12"/>
          <p:cNvSpPr/>
          <p:nvPr/>
        </p:nvSpPr>
        <p:spPr>
          <a:xfrm>
            <a:off x="6614901" y="2776206"/>
            <a:ext cx="770234" cy="102833"/>
          </a:xfrm>
          <a:prstGeom prst="line">
            <a:avLst/>
          </a:prstGeom>
          <a:noFill/>
          <a:ln w="9525">
            <a:solidFill>
              <a:srgbClr val="2C3E5C"/>
            </a:solidFill>
            <a:prstDash val="solid"/>
          </a:ln>
        </p:spPr>
      </p:sp>
      <p:sp>
        <p:nvSpPr>
          <p:cNvPr id="15" name="Shape 13"/>
          <p:cNvSpPr/>
          <p:nvPr/>
        </p:nvSpPr>
        <p:spPr>
          <a:xfrm flipH="1">
            <a:off x="6470015" y="2776206"/>
            <a:ext cx="144886" cy="966822"/>
          </a:xfrm>
          <a:prstGeom prst="line">
            <a:avLst/>
          </a:prstGeom>
          <a:noFill/>
          <a:ln w="12700">
            <a:solidFill>
              <a:srgbClr val="E0533A">
                <a:alpha val="55000"/>
              </a:srgbClr>
            </a:solidFill>
            <a:prstDash val="solid"/>
          </a:ln>
        </p:spPr>
      </p:sp>
      <p:sp>
        <p:nvSpPr>
          <p:cNvPr id="16" name="Shape 14"/>
          <p:cNvSpPr/>
          <p:nvPr/>
        </p:nvSpPr>
        <p:spPr>
          <a:xfrm>
            <a:off x="7385135" y="2879038"/>
            <a:ext cx="539756" cy="797478"/>
          </a:xfrm>
          <a:prstGeom prst="line">
            <a:avLst/>
          </a:prstGeom>
          <a:noFill/>
          <a:ln w="9525">
            <a:solidFill>
              <a:srgbClr val="2C3E5C"/>
            </a:solidFill>
            <a:prstDash val="solid"/>
          </a:ln>
        </p:spPr>
      </p:sp>
      <p:sp>
        <p:nvSpPr>
          <p:cNvPr id="17" name="Shape 15"/>
          <p:cNvSpPr/>
          <p:nvPr/>
        </p:nvSpPr>
        <p:spPr>
          <a:xfrm flipH="1">
            <a:off x="8562466" y="1828107"/>
            <a:ext cx="720530" cy="466608"/>
          </a:xfrm>
          <a:prstGeom prst="line">
            <a:avLst/>
          </a:prstGeom>
          <a:noFill/>
          <a:ln w="9525">
            <a:solidFill>
              <a:srgbClr val="2C3E5C"/>
            </a:solidFill>
            <a:prstDash val="solid"/>
          </a:ln>
        </p:spPr>
      </p:sp>
      <p:sp>
        <p:nvSpPr>
          <p:cNvPr id="18" name="Shape 16"/>
          <p:cNvSpPr/>
          <p:nvPr/>
        </p:nvSpPr>
        <p:spPr>
          <a:xfrm>
            <a:off x="9305560" y="2834396"/>
            <a:ext cx="175373" cy="271443"/>
          </a:xfrm>
          <a:prstGeom prst="line">
            <a:avLst/>
          </a:prstGeom>
          <a:noFill/>
          <a:ln w="9525">
            <a:solidFill>
              <a:srgbClr val="2C3E5C"/>
            </a:solidFill>
            <a:prstDash val="solid"/>
          </a:ln>
        </p:spPr>
      </p:sp>
      <p:sp>
        <p:nvSpPr>
          <p:cNvPr id="19" name="Shape 17"/>
          <p:cNvSpPr/>
          <p:nvPr/>
        </p:nvSpPr>
        <p:spPr>
          <a:xfrm>
            <a:off x="8562466" y="2294716"/>
            <a:ext cx="743094" cy="539680"/>
          </a:xfrm>
          <a:prstGeom prst="line">
            <a:avLst/>
          </a:prstGeom>
          <a:noFill/>
          <a:ln w="9525">
            <a:solidFill>
              <a:srgbClr val="2C3E5C"/>
            </a:solidFill>
            <a:prstDash val="solid"/>
          </a:ln>
        </p:spPr>
      </p:sp>
      <p:sp>
        <p:nvSpPr>
          <p:cNvPr id="20" name="Shape 18"/>
          <p:cNvSpPr/>
          <p:nvPr/>
        </p:nvSpPr>
        <p:spPr>
          <a:xfrm>
            <a:off x="11331086" y="2821397"/>
            <a:ext cx="242455" cy="392882"/>
          </a:xfrm>
          <a:prstGeom prst="line">
            <a:avLst/>
          </a:prstGeom>
          <a:noFill/>
          <a:ln w="9525">
            <a:solidFill>
              <a:srgbClr val="2C3E5C"/>
            </a:solidFill>
            <a:prstDash val="solid"/>
          </a:ln>
        </p:spPr>
      </p:sp>
      <p:sp>
        <p:nvSpPr>
          <p:cNvPr id="21" name="Shape 19"/>
          <p:cNvSpPr/>
          <p:nvPr/>
        </p:nvSpPr>
        <p:spPr>
          <a:xfrm>
            <a:off x="11061548" y="1456175"/>
            <a:ext cx="269538" cy="1365222"/>
          </a:xfrm>
          <a:prstGeom prst="line">
            <a:avLst/>
          </a:prstGeom>
          <a:noFill/>
          <a:ln w="9525">
            <a:solidFill>
              <a:srgbClr val="2C3E5C"/>
            </a:solidFill>
            <a:prstDash val="solid"/>
          </a:ln>
        </p:spPr>
      </p:sp>
      <p:sp>
        <p:nvSpPr>
          <p:cNvPr id="22" name="Shape 20"/>
          <p:cNvSpPr/>
          <p:nvPr/>
        </p:nvSpPr>
        <p:spPr>
          <a:xfrm>
            <a:off x="6470015" y="3743027"/>
            <a:ext cx="267439" cy="670222"/>
          </a:xfrm>
          <a:prstGeom prst="line">
            <a:avLst/>
          </a:prstGeom>
          <a:noFill/>
          <a:ln w="12700">
            <a:solidFill>
              <a:srgbClr val="E0533A">
                <a:alpha val="55000"/>
              </a:srgbClr>
            </a:solidFill>
            <a:prstDash val="solid"/>
          </a:ln>
        </p:spPr>
      </p:sp>
      <p:sp>
        <p:nvSpPr>
          <p:cNvPr id="23" name="Shape 21"/>
          <p:cNvSpPr/>
          <p:nvPr/>
        </p:nvSpPr>
        <p:spPr>
          <a:xfrm>
            <a:off x="7924891" y="3676517"/>
            <a:ext cx="442636" cy="607324"/>
          </a:xfrm>
          <a:prstGeom prst="line">
            <a:avLst/>
          </a:prstGeom>
          <a:noFill/>
          <a:ln w="9525">
            <a:solidFill>
              <a:srgbClr val="2C3E5C"/>
            </a:solidFill>
            <a:prstDash val="solid"/>
          </a:ln>
        </p:spPr>
      </p:sp>
      <p:sp>
        <p:nvSpPr>
          <p:cNvPr id="24" name="Shape 22"/>
          <p:cNvSpPr/>
          <p:nvPr/>
        </p:nvSpPr>
        <p:spPr>
          <a:xfrm flipV="1">
            <a:off x="7924891" y="3639407"/>
            <a:ext cx="756407" cy="37109"/>
          </a:xfrm>
          <a:prstGeom prst="line">
            <a:avLst/>
          </a:prstGeom>
          <a:noFill/>
          <a:ln w="9525">
            <a:solidFill>
              <a:srgbClr val="2C3E5C"/>
            </a:solidFill>
            <a:prstDash val="solid"/>
          </a:ln>
        </p:spPr>
      </p:sp>
      <p:sp>
        <p:nvSpPr>
          <p:cNvPr id="25" name="Shape 23"/>
          <p:cNvSpPr/>
          <p:nvPr/>
        </p:nvSpPr>
        <p:spPr>
          <a:xfrm flipH="1">
            <a:off x="8367527" y="3639407"/>
            <a:ext cx="313771" cy="644433"/>
          </a:xfrm>
          <a:prstGeom prst="line">
            <a:avLst/>
          </a:prstGeom>
          <a:noFill/>
          <a:ln w="9525">
            <a:solidFill>
              <a:srgbClr val="2C3E5C"/>
            </a:solidFill>
            <a:prstDash val="solid"/>
          </a:ln>
        </p:spPr>
      </p:sp>
      <p:sp>
        <p:nvSpPr>
          <p:cNvPr id="26" name="Shape 24"/>
          <p:cNvSpPr/>
          <p:nvPr/>
        </p:nvSpPr>
        <p:spPr>
          <a:xfrm>
            <a:off x="9480933" y="3105839"/>
            <a:ext cx="568020" cy="598560"/>
          </a:xfrm>
          <a:prstGeom prst="line">
            <a:avLst/>
          </a:prstGeom>
          <a:noFill/>
          <a:ln w="9525">
            <a:solidFill>
              <a:srgbClr val="2C3E5C"/>
            </a:solidFill>
            <a:prstDash val="solid"/>
          </a:ln>
        </p:spPr>
      </p:sp>
      <p:sp>
        <p:nvSpPr>
          <p:cNvPr id="27" name="Shape 25"/>
          <p:cNvSpPr/>
          <p:nvPr/>
        </p:nvSpPr>
        <p:spPr>
          <a:xfrm>
            <a:off x="10048953" y="3704399"/>
            <a:ext cx="117371" cy="409213"/>
          </a:xfrm>
          <a:prstGeom prst="line">
            <a:avLst/>
          </a:prstGeom>
          <a:noFill/>
          <a:ln w="9525">
            <a:solidFill>
              <a:srgbClr val="2C3E5C"/>
            </a:solidFill>
            <a:prstDash val="solid"/>
          </a:ln>
        </p:spPr>
      </p:sp>
      <p:sp>
        <p:nvSpPr>
          <p:cNvPr id="28" name="Shape 26"/>
          <p:cNvSpPr/>
          <p:nvPr/>
        </p:nvSpPr>
        <p:spPr>
          <a:xfrm flipH="1">
            <a:off x="11230515" y="3214279"/>
            <a:ext cx="343026" cy="1009888"/>
          </a:xfrm>
          <a:prstGeom prst="line">
            <a:avLst/>
          </a:prstGeom>
          <a:noFill/>
          <a:ln w="9525">
            <a:solidFill>
              <a:srgbClr val="2C3E5C"/>
            </a:solidFill>
            <a:prstDash val="solid"/>
          </a:ln>
        </p:spPr>
      </p:sp>
      <p:sp>
        <p:nvSpPr>
          <p:cNvPr id="29" name="Shape 27"/>
          <p:cNvSpPr/>
          <p:nvPr/>
        </p:nvSpPr>
        <p:spPr>
          <a:xfrm>
            <a:off x="6737454" y="4413249"/>
            <a:ext cx="89460" cy="1083477"/>
          </a:xfrm>
          <a:prstGeom prst="line">
            <a:avLst/>
          </a:prstGeom>
          <a:noFill/>
          <a:ln w="9525">
            <a:solidFill>
              <a:srgbClr val="2C3E5C"/>
            </a:solidFill>
            <a:prstDash val="solid"/>
          </a:ln>
        </p:spPr>
      </p:sp>
      <p:sp>
        <p:nvSpPr>
          <p:cNvPr id="30" name="Shape 28"/>
          <p:cNvSpPr/>
          <p:nvPr/>
        </p:nvSpPr>
        <p:spPr>
          <a:xfrm>
            <a:off x="10166324" y="4113612"/>
            <a:ext cx="1064191" cy="110554"/>
          </a:xfrm>
          <a:prstGeom prst="line">
            <a:avLst/>
          </a:prstGeom>
          <a:noFill/>
          <a:ln w="9525">
            <a:solidFill>
              <a:srgbClr val="2C3E5C"/>
            </a:solidFill>
            <a:prstDash val="solid"/>
          </a:ln>
        </p:spPr>
      </p:sp>
      <p:sp>
        <p:nvSpPr>
          <p:cNvPr id="31" name="Shape 29"/>
          <p:cNvSpPr/>
          <p:nvPr/>
        </p:nvSpPr>
        <p:spPr>
          <a:xfrm flipV="1">
            <a:off x="6826914" y="5362052"/>
            <a:ext cx="615581" cy="134674"/>
          </a:xfrm>
          <a:prstGeom prst="line">
            <a:avLst/>
          </a:prstGeom>
          <a:noFill/>
          <a:ln w="9525">
            <a:solidFill>
              <a:srgbClr val="2C3E5C"/>
            </a:solidFill>
            <a:prstDash val="solid"/>
          </a:ln>
        </p:spPr>
      </p:sp>
      <p:sp>
        <p:nvSpPr>
          <p:cNvPr id="32" name="Shape 30"/>
          <p:cNvSpPr/>
          <p:nvPr/>
        </p:nvSpPr>
        <p:spPr>
          <a:xfrm>
            <a:off x="6826914" y="5496727"/>
            <a:ext cx="842535" cy="382840"/>
          </a:xfrm>
          <a:prstGeom prst="line">
            <a:avLst/>
          </a:prstGeom>
          <a:noFill/>
          <a:ln w="9525">
            <a:solidFill>
              <a:srgbClr val="2C3E5C"/>
            </a:solidFill>
            <a:prstDash val="solid"/>
          </a:ln>
        </p:spPr>
      </p:sp>
      <p:sp>
        <p:nvSpPr>
          <p:cNvPr id="33" name="Shape 31"/>
          <p:cNvSpPr/>
          <p:nvPr/>
        </p:nvSpPr>
        <p:spPr>
          <a:xfrm>
            <a:off x="7442495" y="5362052"/>
            <a:ext cx="226954" cy="517514"/>
          </a:xfrm>
          <a:prstGeom prst="line">
            <a:avLst/>
          </a:prstGeom>
          <a:noFill/>
          <a:ln w="9525">
            <a:solidFill>
              <a:srgbClr val="2C3E5C"/>
            </a:solidFill>
            <a:prstDash val="solid"/>
          </a:ln>
        </p:spPr>
      </p:sp>
      <p:sp>
        <p:nvSpPr>
          <p:cNvPr id="34" name="Shape 32"/>
          <p:cNvSpPr/>
          <p:nvPr/>
        </p:nvSpPr>
        <p:spPr>
          <a:xfrm>
            <a:off x="8848683" y="4881217"/>
            <a:ext cx="627598" cy="431747"/>
          </a:xfrm>
          <a:prstGeom prst="line">
            <a:avLst/>
          </a:prstGeom>
          <a:noFill/>
          <a:ln w="9525">
            <a:solidFill>
              <a:srgbClr val="2C3E5C"/>
            </a:solidFill>
            <a:prstDash val="solid"/>
          </a:ln>
        </p:spPr>
      </p:sp>
      <p:sp>
        <p:nvSpPr>
          <p:cNvPr id="35" name="Shape 33"/>
          <p:cNvSpPr/>
          <p:nvPr/>
        </p:nvSpPr>
        <p:spPr>
          <a:xfrm>
            <a:off x="8367527" y="4283840"/>
            <a:ext cx="481155" cy="597377"/>
          </a:xfrm>
          <a:prstGeom prst="line">
            <a:avLst/>
          </a:prstGeom>
          <a:noFill/>
          <a:ln w="9525">
            <a:solidFill>
              <a:srgbClr val="2C3E5C"/>
            </a:solidFill>
            <a:prstDash val="solid"/>
          </a:ln>
        </p:spPr>
      </p:sp>
      <p:sp>
        <p:nvSpPr>
          <p:cNvPr id="36" name="Shape 34"/>
          <p:cNvSpPr/>
          <p:nvPr/>
        </p:nvSpPr>
        <p:spPr>
          <a:xfrm flipH="1">
            <a:off x="9345420" y="5312964"/>
            <a:ext cx="130860" cy="372637"/>
          </a:xfrm>
          <a:prstGeom prst="line">
            <a:avLst/>
          </a:prstGeom>
          <a:noFill/>
          <a:ln w="9525">
            <a:solidFill>
              <a:srgbClr val="2C3E5C"/>
            </a:solidFill>
            <a:prstDash val="solid"/>
          </a:ln>
        </p:spPr>
      </p:sp>
      <p:sp>
        <p:nvSpPr>
          <p:cNvPr id="37" name="Shape 35"/>
          <p:cNvSpPr/>
          <p:nvPr/>
        </p:nvSpPr>
        <p:spPr>
          <a:xfrm flipV="1">
            <a:off x="7669449" y="5815828"/>
            <a:ext cx="711013" cy="63739"/>
          </a:xfrm>
          <a:prstGeom prst="line">
            <a:avLst/>
          </a:prstGeom>
          <a:noFill/>
          <a:ln w="9525">
            <a:solidFill>
              <a:srgbClr val="2C3E5C"/>
            </a:solidFill>
            <a:prstDash val="solid"/>
          </a:ln>
        </p:spPr>
      </p:sp>
      <p:sp>
        <p:nvSpPr>
          <p:cNvPr id="38" name="Shape 36"/>
          <p:cNvSpPr/>
          <p:nvPr/>
        </p:nvSpPr>
        <p:spPr>
          <a:xfrm flipV="1">
            <a:off x="8380462" y="5685601"/>
            <a:ext cx="964958" cy="130227"/>
          </a:xfrm>
          <a:prstGeom prst="line">
            <a:avLst/>
          </a:prstGeom>
          <a:noFill/>
          <a:ln w="9525">
            <a:solidFill>
              <a:srgbClr val="2C3E5C"/>
            </a:solidFill>
            <a:prstDash val="solid"/>
          </a:ln>
        </p:spPr>
      </p:sp>
      <p:sp>
        <p:nvSpPr>
          <p:cNvPr id="39" name="Shape 37"/>
          <p:cNvSpPr/>
          <p:nvPr/>
        </p:nvSpPr>
        <p:spPr>
          <a:xfrm>
            <a:off x="8848683" y="4881217"/>
            <a:ext cx="496738" cy="804384"/>
          </a:xfrm>
          <a:prstGeom prst="line">
            <a:avLst/>
          </a:prstGeom>
          <a:noFill/>
          <a:ln w="9525">
            <a:solidFill>
              <a:srgbClr val="2C3E5C"/>
            </a:solidFill>
            <a:prstDash val="solid"/>
          </a:ln>
        </p:spPr>
      </p:sp>
      <p:sp>
        <p:nvSpPr>
          <p:cNvPr id="40" name="Shape 38"/>
          <p:cNvSpPr/>
          <p:nvPr/>
        </p:nvSpPr>
        <p:spPr>
          <a:xfrm>
            <a:off x="11230515" y="4224167"/>
            <a:ext cx="121713" cy="1871978"/>
          </a:xfrm>
          <a:prstGeom prst="line">
            <a:avLst/>
          </a:prstGeom>
          <a:noFill/>
          <a:ln w="9525">
            <a:solidFill>
              <a:srgbClr val="2C3E5C"/>
            </a:solidFill>
            <a:prstDash val="solid"/>
          </a:ln>
        </p:spPr>
      </p:sp>
      <p:sp>
        <p:nvSpPr>
          <p:cNvPr id="41" name="Shape 39"/>
          <p:cNvSpPr/>
          <p:nvPr/>
        </p:nvSpPr>
        <p:spPr>
          <a:xfrm>
            <a:off x="9476280" y="5312964"/>
            <a:ext cx="1875947" cy="783180"/>
          </a:xfrm>
          <a:prstGeom prst="line">
            <a:avLst/>
          </a:prstGeom>
          <a:noFill/>
          <a:ln w="9525">
            <a:solidFill>
              <a:srgbClr val="2C3E5C"/>
            </a:solidFill>
            <a:prstDash val="solid"/>
          </a:ln>
        </p:spPr>
      </p:sp>
      <p:sp>
        <p:nvSpPr>
          <p:cNvPr id="42" name="Shape 40"/>
          <p:cNvSpPr/>
          <p:nvPr/>
        </p:nvSpPr>
        <p:spPr>
          <a:xfrm>
            <a:off x="7308150" y="1120616"/>
            <a:ext cx="86475" cy="86475"/>
          </a:xfrm>
          <a:prstGeom prst="ellipse">
            <a:avLst/>
          </a:prstGeom>
          <a:solidFill>
            <a:srgbClr val="4B6388"/>
          </a:solidFill>
          <a:ln w="12700">
            <a:solidFill>
              <a:srgbClr val="4B6388"/>
            </a:solidFill>
            <a:prstDash val="solid"/>
          </a:ln>
        </p:spPr>
      </p:sp>
      <p:sp>
        <p:nvSpPr>
          <p:cNvPr id="43" name="Shape 41"/>
          <p:cNvSpPr/>
          <p:nvPr/>
        </p:nvSpPr>
        <p:spPr>
          <a:xfrm>
            <a:off x="9132228" y="988497"/>
            <a:ext cx="83981" cy="83981"/>
          </a:xfrm>
          <a:prstGeom prst="ellipse">
            <a:avLst/>
          </a:prstGeom>
          <a:solidFill>
            <a:srgbClr val="4B6388"/>
          </a:solidFill>
          <a:ln w="12700">
            <a:solidFill>
              <a:srgbClr val="4B6388"/>
            </a:solidFill>
            <a:prstDash val="solid"/>
          </a:ln>
        </p:spPr>
      </p:sp>
      <p:sp>
        <p:nvSpPr>
          <p:cNvPr id="44" name="Shape 42"/>
          <p:cNvSpPr/>
          <p:nvPr/>
        </p:nvSpPr>
        <p:spPr>
          <a:xfrm>
            <a:off x="10668007" y="893065"/>
            <a:ext cx="101989" cy="101989"/>
          </a:xfrm>
          <a:prstGeom prst="ellipse">
            <a:avLst/>
          </a:prstGeom>
          <a:solidFill>
            <a:srgbClr val="4B6388"/>
          </a:solidFill>
          <a:ln w="12700">
            <a:solidFill>
              <a:srgbClr val="4B6388"/>
            </a:solidFill>
            <a:prstDash val="solid"/>
          </a:ln>
        </p:spPr>
      </p:sp>
      <p:sp>
        <p:nvSpPr>
          <p:cNvPr id="45" name="Shape 43"/>
          <p:cNvSpPr/>
          <p:nvPr/>
        </p:nvSpPr>
        <p:spPr>
          <a:xfrm>
            <a:off x="11417968" y="1022014"/>
            <a:ext cx="97754" cy="97754"/>
          </a:xfrm>
          <a:prstGeom prst="ellipse">
            <a:avLst/>
          </a:prstGeom>
          <a:solidFill>
            <a:srgbClr val="4B6388"/>
          </a:solidFill>
          <a:ln w="12700">
            <a:solidFill>
              <a:srgbClr val="4B6388"/>
            </a:solidFill>
            <a:prstDash val="solid"/>
          </a:ln>
        </p:spPr>
      </p:sp>
      <p:sp>
        <p:nvSpPr>
          <p:cNvPr id="46" name="Shape 44"/>
          <p:cNvSpPr/>
          <p:nvPr/>
        </p:nvSpPr>
        <p:spPr>
          <a:xfrm>
            <a:off x="6601162" y="1243793"/>
            <a:ext cx="438912" cy="438912"/>
          </a:xfrm>
          <a:prstGeom prst="ellipse">
            <a:avLst/>
          </a:prstGeom>
          <a:solidFill>
            <a:srgbClr val="E0533A">
              <a:alpha val="20000"/>
            </a:srgbClr>
          </a:solidFill>
          <a:ln w="12700">
            <a:solidFill>
              <a:srgbClr val="E0533A">
                <a:alpha val="20000"/>
              </a:srgbClr>
            </a:solidFill>
            <a:prstDash val="solid"/>
          </a:ln>
        </p:spPr>
      </p:sp>
      <p:sp>
        <p:nvSpPr>
          <p:cNvPr id="47" name="Shape 45"/>
          <p:cNvSpPr/>
          <p:nvPr/>
        </p:nvSpPr>
        <p:spPr>
          <a:xfrm>
            <a:off x="6738322" y="1380953"/>
            <a:ext cx="164592" cy="164592"/>
          </a:xfrm>
          <a:prstGeom prst="ellipse">
            <a:avLst/>
          </a:prstGeom>
          <a:solidFill>
            <a:srgbClr val="E0533A"/>
          </a:solidFill>
          <a:ln w="12700">
            <a:solidFill>
              <a:srgbClr val="E0533A"/>
            </a:solidFill>
            <a:prstDash val="solid"/>
          </a:ln>
        </p:spPr>
      </p:sp>
      <p:sp>
        <p:nvSpPr>
          <p:cNvPr id="48" name="Shape 46"/>
          <p:cNvSpPr/>
          <p:nvPr/>
        </p:nvSpPr>
        <p:spPr>
          <a:xfrm>
            <a:off x="7335537" y="1686220"/>
            <a:ext cx="72271" cy="72271"/>
          </a:xfrm>
          <a:prstGeom prst="ellipse">
            <a:avLst/>
          </a:prstGeom>
          <a:solidFill>
            <a:srgbClr val="4B6388"/>
          </a:solidFill>
          <a:ln w="12700">
            <a:solidFill>
              <a:srgbClr val="4B6388"/>
            </a:solidFill>
            <a:prstDash val="solid"/>
          </a:ln>
        </p:spPr>
      </p:sp>
      <p:sp>
        <p:nvSpPr>
          <p:cNvPr id="49" name="Shape 47"/>
          <p:cNvSpPr/>
          <p:nvPr/>
        </p:nvSpPr>
        <p:spPr>
          <a:xfrm>
            <a:off x="8857362" y="1868034"/>
            <a:ext cx="84980" cy="84980"/>
          </a:xfrm>
          <a:prstGeom prst="ellipse">
            <a:avLst/>
          </a:prstGeom>
          <a:solidFill>
            <a:srgbClr val="4B6388"/>
          </a:solidFill>
          <a:ln w="12700">
            <a:solidFill>
              <a:srgbClr val="4B6388"/>
            </a:solidFill>
            <a:prstDash val="solid"/>
          </a:ln>
        </p:spPr>
      </p:sp>
      <p:sp>
        <p:nvSpPr>
          <p:cNvPr id="50" name="Shape 48"/>
          <p:cNvSpPr/>
          <p:nvPr/>
        </p:nvSpPr>
        <p:spPr>
          <a:xfrm>
            <a:off x="9237594" y="1782705"/>
            <a:ext cx="90805" cy="90805"/>
          </a:xfrm>
          <a:prstGeom prst="ellipse">
            <a:avLst/>
          </a:prstGeom>
          <a:solidFill>
            <a:srgbClr val="4B6388"/>
          </a:solidFill>
          <a:ln w="12700">
            <a:solidFill>
              <a:srgbClr val="4B6388"/>
            </a:solidFill>
            <a:prstDash val="solid"/>
          </a:ln>
        </p:spPr>
      </p:sp>
      <p:sp>
        <p:nvSpPr>
          <p:cNvPr id="51" name="Shape 49"/>
          <p:cNvSpPr/>
          <p:nvPr/>
        </p:nvSpPr>
        <p:spPr>
          <a:xfrm>
            <a:off x="10077691" y="1359525"/>
            <a:ext cx="99164" cy="99164"/>
          </a:xfrm>
          <a:prstGeom prst="ellipse">
            <a:avLst/>
          </a:prstGeom>
          <a:solidFill>
            <a:srgbClr val="4B6388"/>
          </a:solidFill>
          <a:ln w="12700">
            <a:solidFill>
              <a:srgbClr val="4B6388"/>
            </a:solidFill>
            <a:prstDash val="solid"/>
          </a:ln>
        </p:spPr>
      </p:sp>
      <p:sp>
        <p:nvSpPr>
          <p:cNvPr id="52" name="Shape 50"/>
          <p:cNvSpPr/>
          <p:nvPr/>
        </p:nvSpPr>
        <p:spPr>
          <a:xfrm>
            <a:off x="11017347" y="1411973"/>
            <a:ext cx="88403" cy="88403"/>
          </a:xfrm>
          <a:prstGeom prst="ellipse">
            <a:avLst/>
          </a:prstGeom>
          <a:solidFill>
            <a:srgbClr val="4B6388"/>
          </a:solidFill>
          <a:ln w="12700">
            <a:solidFill>
              <a:srgbClr val="4B6388"/>
            </a:solidFill>
            <a:prstDash val="solid"/>
          </a:ln>
        </p:spPr>
      </p:sp>
      <p:sp>
        <p:nvSpPr>
          <p:cNvPr id="53" name="Shape 51"/>
          <p:cNvSpPr/>
          <p:nvPr/>
        </p:nvSpPr>
        <p:spPr>
          <a:xfrm>
            <a:off x="6569065" y="2730370"/>
            <a:ext cx="91672" cy="91672"/>
          </a:xfrm>
          <a:prstGeom prst="ellipse">
            <a:avLst/>
          </a:prstGeom>
          <a:solidFill>
            <a:srgbClr val="4B6388"/>
          </a:solidFill>
          <a:ln w="12700">
            <a:solidFill>
              <a:srgbClr val="4B6388"/>
            </a:solidFill>
            <a:prstDash val="solid"/>
          </a:ln>
        </p:spPr>
      </p:sp>
      <p:sp>
        <p:nvSpPr>
          <p:cNvPr id="54" name="Shape 52"/>
          <p:cNvSpPr/>
          <p:nvPr/>
        </p:nvSpPr>
        <p:spPr>
          <a:xfrm>
            <a:off x="7344635" y="2838538"/>
            <a:ext cx="81000" cy="81000"/>
          </a:xfrm>
          <a:prstGeom prst="ellipse">
            <a:avLst/>
          </a:prstGeom>
          <a:solidFill>
            <a:srgbClr val="4B6388"/>
          </a:solidFill>
          <a:ln w="12700">
            <a:solidFill>
              <a:srgbClr val="4B6388"/>
            </a:solidFill>
            <a:prstDash val="solid"/>
          </a:ln>
        </p:spPr>
      </p:sp>
      <p:sp>
        <p:nvSpPr>
          <p:cNvPr id="55" name="Shape 53"/>
          <p:cNvSpPr/>
          <p:nvPr/>
        </p:nvSpPr>
        <p:spPr>
          <a:xfrm>
            <a:off x="8503594" y="2235843"/>
            <a:ext cx="117745" cy="117745"/>
          </a:xfrm>
          <a:prstGeom prst="ellipse">
            <a:avLst/>
          </a:prstGeom>
          <a:solidFill>
            <a:srgbClr val="4B6388"/>
          </a:solidFill>
          <a:ln w="12700">
            <a:solidFill>
              <a:srgbClr val="4B6388"/>
            </a:solidFill>
            <a:prstDash val="solid"/>
          </a:ln>
        </p:spPr>
      </p:sp>
      <p:sp>
        <p:nvSpPr>
          <p:cNvPr id="56" name="Shape 54"/>
          <p:cNvSpPr/>
          <p:nvPr/>
        </p:nvSpPr>
        <p:spPr>
          <a:xfrm>
            <a:off x="9258694" y="2787530"/>
            <a:ext cx="93732" cy="93732"/>
          </a:xfrm>
          <a:prstGeom prst="ellipse">
            <a:avLst/>
          </a:prstGeom>
          <a:solidFill>
            <a:srgbClr val="4B6388"/>
          </a:solidFill>
          <a:ln w="12700">
            <a:solidFill>
              <a:srgbClr val="4B6388"/>
            </a:solidFill>
            <a:prstDash val="solid"/>
          </a:ln>
        </p:spPr>
      </p:sp>
      <p:sp>
        <p:nvSpPr>
          <p:cNvPr id="57" name="Shape 55"/>
          <p:cNvSpPr/>
          <p:nvPr/>
        </p:nvSpPr>
        <p:spPr>
          <a:xfrm>
            <a:off x="11290307" y="2780618"/>
            <a:ext cx="81558" cy="81558"/>
          </a:xfrm>
          <a:prstGeom prst="ellipse">
            <a:avLst/>
          </a:prstGeom>
          <a:solidFill>
            <a:srgbClr val="4B6388"/>
          </a:solidFill>
          <a:ln w="12700">
            <a:solidFill>
              <a:srgbClr val="4B6388"/>
            </a:solidFill>
            <a:prstDash val="solid"/>
          </a:ln>
        </p:spPr>
      </p:sp>
      <p:sp>
        <p:nvSpPr>
          <p:cNvPr id="58" name="Shape 56"/>
          <p:cNvSpPr/>
          <p:nvPr/>
        </p:nvSpPr>
        <p:spPr>
          <a:xfrm>
            <a:off x="6250559" y="3523571"/>
            <a:ext cx="438912" cy="438912"/>
          </a:xfrm>
          <a:prstGeom prst="ellipse">
            <a:avLst/>
          </a:prstGeom>
          <a:solidFill>
            <a:srgbClr val="E0533A">
              <a:alpha val="20000"/>
            </a:srgbClr>
          </a:solidFill>
          <a:ln w="12700">
            <a:solidFill>
              <a:srgbClr val="E0533A">
                <a:alpha val="20000"/>
              </a:srgbClr>
            </a:solidFill>
            <a:prstDash val="solid"/>
          </a:ln>
        </p:spPr>
      </p:sp>
      <p:sp>
        <p:nvSpPr>
          <p:cNvPr id="59" name="Shape 57"/>
          <p:cNvSpPr/>
          <p:nvPr/>
        </p:nvSpPr>
        <p:spPr>
          <a:xfrm>
            <a:off x="6387719" y="3660731"/>
            <a:ext cx="164592" cy="164592"/>
          </a:xfrm>
          <a:prstGeom prst="ellipse">
            <a:avLst/>
          </a:prstGeom>
          <a:solidFill>
            <a:srgbClr val="E0533A"/>
          </a:solidFill>
          <a:ln w="12700">
            <a:solidFill>
              <a:srgbClr val="E0533A"/>
            </a:solidFill>
            <a:prstDash val="solid"/>
          </a:ln>
        </p:spPr>
      </p:sp>
      <p:sp>
        <p:nvSpPr>
          <p:cNvPr id="60" name="Shape 58"/>
          <p:cNvSpPr/>
          <p:nvPr/>
        </p:nvSpPr>
        <p:spPr>
          <a:xfrm>
            <a:off x="7889965" y="3641590"/>
            <a:ext cx="69853" cy="69853"/>
          </a:xfrm>
          <a:prstGeom prst="ellipse">
            <a:avLst/>
          </a:prstGeom>
          <a:solidFill>
            <a:srgbClr val="4B6388"/>
          </a:solidFill>
          <a:ln w="12700">
            <a:solidFill>
              <a:srgbClr val="4B6388"/>
            </a:solidFill>
            <a:prstDash val="solid"/>
          </a:ln>
        </p:spPr>
      </p:sp>
      <p:sp>
        <p:nvSpPr>
          <p:cNvPr id="61" name="Shape 59"/>
          <p:cNvSpPr/>
          <p:nvPr/>
        </p:nvSpPr>
        <p:spPr>
          <a:xfrm>
            <a:off x="8643474" y="3601583"/>
            <a:ext cx="75648" cy="75648"/>
          </a:xfrm>
          <a:prstGeom prst="ellipse">
            <a:avLst/>
          </a:prstGeom>
          <a:solidFill>
            <a:srgbClr val="4B6388"/>
          </a:solidFill>
          <a:ln w="12700">
            <a:solidFill>
              <a:srgbClr val="4B6388"/>
            </a:solidFill>
            <a:prstDash val="solid"/>
          </a:ln>
        </p:spPr>
      </p:sp>
      <p:sp>
        <p:nvSpPr>
          <p:cNvPr id="62" name="Shape 60"/>
          <p:cNvSpPr/>
          <p:nvPr/>
        </p:nvSpPr>
        <p:spPr>
          <a:xfrm>
            <a:off x="9422797" y="3047703"/>
            <a:ext cx="116271" cy="116271"/>
          </a:xfrm>
          <a:prstGeom prst="ellipse">
            <a:avLst/>
          </a:prstGeom>
          <a:solidFill>
            <a:srgbClr val="4B6388"/>
          </a:solidFill>
          <a:ln w="12700">
            <a:solidFill>
              <a:srgbClr val="4B6388"/>
            </a:solidFill>
            <a:prstDash val="solid"/>
          </a:ln>
        </p:spPr>
      </p:sp>
      <p:sp>
        <p:nvSpPr>
          <p:cNvPr id="63" name="Shape 61"/>
          <p:cNvSpPr/>
          <p:nvPr/>
        </p:nvSpPr>
        <p:spPr>
          <a:xfrm>
            <a:off x="10007317" y="3662764"/>
            <a:ext cx="83270" cy="83270"/>
          </a:xfrm>
          <a:prstGeom prst="ellipse">
            <a:avLst/>
          </a:prstGeom>
          <a:solidFill>
            <a:srgbClr val="4B6388"/>
          </a:solidFill>
          <a:ln w="12700">
            <a:solidFill>
              <a:srgbClr val="4B6388"/>
            </a:solidFill>
            <a:prstDash val="solid"/>
          </a:ln>
        </p:spPr>
      </p:sp>
      <p:sp>
        <p:nvSpPr>
          <p:cNvPr id="64" name="Shape 62"/>
          <p:cNvSpPr/>
          <p:nvPr/>
        </p:nvSpPr>
        <p:spPr>
          <a:xfrm>
            <a:off x="11529529" y="3170267"/>
            <a:ext cx="88024" cy="88024"/>
          </a:xfrm>
          <a:prstGeom prst="ellipse">
            <a:avLst/>
          </a:prstGeom>
          <a:solidFill>
            <a:srgbClr val="4B6388"/>
          </a:solidFill>
          <a:ln w="12700">
            <a:solidFill>
              <a:srgbClr val="4B6388"/>
            </a:solidFill>
            <a:prstDash val="solid"/>
          </a:ln>
        </p:spPr>
      </p:sp>
      <p:sp>
        <p:nvSpPr>
          <p:cNvPr id="65" name="Shape 63"/>
          <p:cNvSpPr/>
          <p:nvPr/>
        </p:nvSpPr>
        <p:spPr>
          <a:xfrm>
            <a:off x="6705045" y="4380840"/>
            <a:ext cx="64818" cy="64818"/>
          </a:xfrm>
          <a:prstGeom prst="ellipse">
            <a:avLst/>
          </a:prstGeom>
          <a:solidFill>
            <a:srgbClr val="4B6388"/>
          </a:solidFill>
          <a:ln w="12700">
            <a:solidFill>
              <a:srgbClr val="4B6388"/>
            </a:solidFill>
            <a:prstDash val="solid"/>
          </a:ln>
        </p:spPr>
      </p:sp>
      <p:sp>
        <p:nvSpPr>
          <p:cNvPr id="66" name="Shape 64"/>
          <p:cNvSpPr/>
          <p:nvPr/>
        </p:nvSpPr>
        <p:spPr>
          <a:xfrm>
            <a:off x="8321839" y="4238153"/>
            <a:ext cx="91376" cy="91376"/>
          </a:xfrm>
          <a:prstGeom prst="ellipse">
            <a:avLst/>
          </a:prstGeom>
          <a:solidFill>
            <a:srgbClr val="4B6388"/>
          </a:solidFill>
          <a:ln w="12700">
            <a:solidFill>
              <a:srgbClr val="4B6388"/>
            </a:solidFill>
            <a:prstDash val="solid"/>
          </a:ln>
        </p:spPr>
      </p:sp>
      <p:sp>
        <p:nvSpPr>
          <p:cNvPr id="67" name="Shape 65"/>
          <p:cNvSpPr/>
          <p:nvPr/>
        </p:nvSpPr>
        <p:spPr>
          <a:xfrm>
            <a:off x="10114458" y="4061747"/>
            <a:ext cx="103731" cy="103731"/>
          </a:xfrm>
          <a:prstGeom prst="ellipse">
            <a:avLst/>
          </a:prstGeom>
          <a:solidFill>
            <a:srgbClr val="4B6388"/>
          </a:solidFill>
          <a:ln w="12700">
            <a:solidFill>
              <a:srgbClr val="4B6388"/>
            </a:solidFill>
            <a:prstDash val="solid"/>
          </a:ln>
        </p:spPr>
      </p:sp>
      <p:sp>
        <p:nvSpPr>
          <p:cNvPr id="68" name="Shape 66"/>
          <p:cNvSpPr/>
          <p:nvPr/>
        </p:nvSpPr>
        <p:spPr>
          <a:xfrm>
            <a:off x="11187499" y="4181150"/>
            <a:ext cx="86033" cy="86033"/>
          </a:xfrm>
          <a:prstGeom prst="ellipse">
            <a:avLst/>
          </a:prstGeom>
          <a:solidFill>
            <a:srgbClr val="4B6388"/>
          </a:solidFill>
          <a:ln w="12700">
            <a:solidFill>
              <a:srgbClr val="4B6388"/>
            </a:solidFill>
            <a:prstDash val="solid"/>
          </a:ln>
        </p:spPr>
      </p:sp>
      <p:sp>
        <p:nvSpPr>
          <p:cNvPr id="69" name="Shape 67"/>
          <p:cNvSpPr/>
          <p:nvPr/>
        </p:nvSpPr>
        <p:spPr>
          <a:xfrm>
            <a:off x="6774425" y="5444238"/>
            <a:ext cx="104977" cy="104977"/>
          </a:xfrm>
          <a:prstGeom prst="ellipse">
            <a:avLst/>
          </a:prstGeom>
          <a:solidFill>
            <a:srgbClr val="4B6388"/>
          </a:solidFill>
          <a:ln w="12700">
            <a:solidFill>
              <a:srgbClr val="4B6388"/>
            </a:solidFill>
            <a:prstDash val="solid"/>
          </a:ln>
        </p:spPr>
      </p:sp>
      <p:sp>
        <p:nvSpPr>
          <p:cNvPr id="70" name="Shape 68"/>
          <p:cNvSpPr/>
          <p:nvPr/>
        </p:nvSpPr>
        <p:spPr>
          <a:xfrm>
            <a:off x="7399383" y="5318940"/>
            <a:ext cx="86224" cy="86224"/>
          </a:xfrm>
          <a:prstGeom prst="ellipse">
            <a:avLst/>
          </a:prstGeom>
          <a:solidFill>
            <a:srgbClr val="4B6388"/>
          </a:solidFill>
          <a:ln w="12700">
            <a:solidFill>
              <a:srgbClr val="4B6388"/>
            </a:solidFill>
            <a:prstDash val="solid"/>
          </a:ln>
        </p:spPr>
      </p:sp>
      <p:sp>
        <p:nvSpPr>
          <p:cNvPr id="71" name="Shape 69"/>
          <p:cNvSpPr/>
          <p:nvPr/>
        </p:nvSpPr>
        <p:spPr>
          <a:xfrm>
            <a:off x="8789091" y="4821625"/>
            <a:ext cx="119184" cy="119184"/>
          </a:xfrm>
          <a:prstGeom prst="ellipse">
            <a:avLst/>
          </a:prstGeom>
          <a:solidFill>
            <a:srgbClr val="4B6388"/>
          </a:solidFill>
          <a:ln w="12700">
            <a:solidFill>
              <a:srgbClr val="4B6388"/>
            </a:solidFill>
            <a:prstDash val="solid"/>
          </a:ln>
        </p:spPr>
      </p:sp>
      <p:sp>
        <p:nvSpPr>
          <p:cNvPr id="72" name="Shape 70"/>
          <p:cNvSpPr/>
          <p:nvPr/>
        </p:nvSpPr>
        <p:spPr>
          <a:xfrm>
            <a:off x="9425143" y="5261827"/>
            <a:ext cx="102275" cy="102275"/>
          </a:xfrm>
          <a:prstGeom prst="ellipse">
            <a:avLst/>
          </a:prstGeom>
          <a:solidFill>
            <a:srgbClr val="4B6388"/>
          </a:solidFill>
          <a:ln w="12700">
            <a:solidFill>
              <a:srgbClr val="4B6388"/>
            </a:solidFill>
            <a:prstDash val="solid"/>
          </a:ln>
        </p:spPr>
      </p:sp>
      <p:sp>
        <p:nvSpPr>
          <p:cNvPr id="73" name="Shape 71"/>
          <p:cNvSpPr/>
          <p:nvPr/>
        </p:nvSpPr>
        <p:spPr>
          <a:xfrm>
            <a:off x="7612069" y="5822186"/>
            <a:ext cx="114762" cy="114762"/>
          </a:xfrm>
          <a:prstGeom prst="ellipse">
            <a:avLst/>
          </a:prstGeom>
          <a:solidFill>
            <a:srgbClr val="4B6388"/>
          </a:solidFill>
          <a:ln w="12700">
            <a:solidFill>
              <a:srgbClr val="4B6388"/>
            </a:solidFill>
            <a:prstDash val="solid"/>
          </a:ln>
        </p:spPr>
      </p:sp>
      <p:sp>
        <p:nvSpPr>
          <p:cNvPr id="74" name="Shape 72"/>
          <p:cNvSpPr/>
          <p:nvPr/>
        </p:nvSpPr>
        <p:spPr>
          <a:xfrm>
            <a:off x="8344845" y="5780211"/>
            <a:ext cx="71234" cy="71234"/>
          </a:xfrm>
          <a:prstGeom prst="ellipse">
            <a:avLst/>
          </a:prstGeom>
          <a:solidFill>
            <a:srgbClr val="4B6388"/>
          </a:solidFill>
          <a:ln w="12700">
            <a:solidFill>
              <a:srgbClr val="4B6388"/>
            </a:solidFill>
            <a:prstDash val="solid"/>
          </a:ln>
        </p:spPr>
      </p:sp>
      <p:sp>
        <p:nvSpPr>
          <p:cNvPr id="75" name="Shape 73"/>
          <p:cNvSpPr/>
          <p:nvPr/>
        </p:nvSpPr>
        <p:spPr>
          <a:xfrm>
            <a:off x="9307042" y="5647223"/>
            <a:ext cx="76756" cy="76756"/>
          </a:xfrm>
          <a:prstGeom prst="ellipse">
            <a:avLst/>
          </a:prstGeom>
          <a:solidFill>
            <a:srgbClr val="4B6388"/>
          </a:solidFill>
          <a:ln w="12700">
            <a:solidFill>
              <a:srgbClr val="4B6388"/>
            </a:solidFill>
            <a:prstDash val="solid"/>
          </a:ln>
        </p:spPr>
      </p:sp>
      <p:sp>
        <p:nvSpPr>
          <p:cNvPr id="76" name="Shape 74"/>
          <p:cNvSpPr/>
          <p:nvPr/>
        </p:nvSpPr>
        <p:spPr>
          <a:xfrm>
            <a:off x="11311508" y="6055425"/>
            <a:ext cx="81440" cy="81440"/>
          </a:xfrm>
          <a:prstGeom prst="ellipse">
            <a:avLst/>
          </a:prstGeom>
          <a:solidFill>
            <a:srgbClr val="4B6388"/>
          </a:solidFill>
          <a:ln w="12700">
            <a:solidFill>
              <a:srgbClr val="4B6388"/>
            </a:solidFill>
            <a:prstDash val="solid"/>
          </a:ln>
        </p:spPr>
      </p:sp>
      <p:sp>
        <p:nvSpPr>
          <p:cNvPr id="77" name="Text 75"/>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03</a:t>
            </a:r>
            <a:endParaRPr lang="en-US" sz="9600" dirty="0"/>
          </a:p>
        </p:txBody>
      </p:sp>
      <p:sp>
        <p:nvSpPr>
          <p:cNvPr id="78" name="Text 76"/>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Results</a:t>
            </a:r>
            <a:endParaRPr lang="en-US" sz="4400" dirty="0"/>
          </a:p>
        </p:txBody>
      </p:sp>
      <p:sp>
        <p:nvSpPr>
          <p:cNvPr id="79" name="Text 77"/>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Five results on real APT traffic: 15 models, three experiments and five random seeds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On real APT traffic, false alarms rise twelvefold</a:t>
            </a:r>
            <a:endParaRPr lang="en-US" sz="3000" dirty="0"/>
          </a:p>
        </p:txBody>
      </p:sp>
      <p:sp>
        <p:nvSpPr>
          <p:cNvPr id="4" name="Shape 2"/>
          <p:cNvSpPr/>
          <p:nvPr/>
        </p:nvSpPr>
        <p:spPr>
          <a:xfrm>
            <a:off x="685800" y="1828800"/>
            <a:ext cx="3423818" cy="3611880"/>
          </a:xfrm>
          <a:prstGeom prst="roundRect">
            <a:avLst>
              <a:gd name="adj" fmla="val 1602"/>
            </a:avLst>
          </a:prstGeom>
          <a:solidFill>
            <a:srgbClr val="F4F6F9"/>
          </a:solidFill>
          <a:ln w="12700">
            <a:solidFill>
              <a:srgbClr val="F4F6F9"/>
            </a:solidFill>
            <a:prstDash val="solid"/>
          </a:ln>
        </p:spPr>
      </p:sp>
      <p:sp>
        <p:nvSpPr>
          <p:cNvPr id="5" name="Text 3"/>
          <p:cNvSpPr txBox="1"/>
          <p:nvPr/>
        </p:nvSpPr>
        <p:spPr>
          <a:xfrm>
            <a:off x="1051560" y="2103120"/>
            <a:ext cx="2692298" cy="256032"/>
          </a:xfrm>
          <a:prstGeom prst="rect">
            <a:avLst/>
          </a:prstGeom>
          <a:noFill/>
          <a:ln/>
        </p:spPr>
        <p:txBody>
          <a:bodyPr wrap="square" lIns="0" tIns="0" rIns="0" bIns="0" rtlCol="0" anchor="t"/>
          <a:lstStyle/>
          <a:p>
            <a:pPr indent="0" marL="0">
              <a:buNone/>
            </a:pPr>
            <a:r>
              <a:rPr lang="en-US" sz="1050" b="1" dirty="0">
                <a:solidFill>
                  <a:srgbClr val="8A94A3"/>
                </a:solidFill>
                <a:latin typeface="Arial" pitchFamily="34" charset="0"/>
                <a:ea typeface="Arial" pitchFamily="34" charset="-122"/>
                <a:cs typeface="Arial" pitchFamily="34" charset="-120"/>
              </a:rPr>
              <a:t>PAPER'S CLAIM</a:t>
            </a:r>
            <a:endParaRPr lang="en-US" sz="1050" dirty="0"/>
          </a:p>
        </p:txBody>
      </p:sp>
      <p:sp>
        <p:nvSpPr>
          <p:cNvPr id="6" name="Text 4"/>
          <p:cNvSpPr txBox="1"/>
          <p:nvPr/>
        </p:nvSpPr>
        <p:spPr>
          <a:xfrm>
            <a:off x="1051560" y="237744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CSE-CIC-IDS2018 (Table 7)</a:t>
            </a:r>
            <a:endParaRPr lang="en-US" sz="1200" dirty="0"/>
          </a:p>
        </p:txBody>
      </p:sp>
      <p:sp>
        <p:nvSpPr>
          <p:cNvPr id="7" name="Text 5"/>
          <p:cNvSpPr txBox="1"/>
          <p:nvPr/>
        </p:nvSpPr>
        <p:spPr>
          <a:xfrm>
            <a:off x="1051560" y="2788920"/>
            <a:ext cx="2692298" cy="868680"/>
          </a:xfrm>
          <a:prstGeom prst="rect">
            <a:avLst/>
          </a:prstGeom>
          <a:noFill/>
          <a:ln/>
        </p:spPr>
        <p:txBody>
          <a:bodyPr wrap="square" lIns="0" tIns="0" rIns="0" bIns="0" rtlCol="0" anchor="t"/>
          <a:lstStyle/>
          <a:p>
            <a:pPr indent="0" marL="0">
              <a:buNone/>
            </a:pPr>
            <a:r>
              <a:rPr lang="en-US" sz="5000" dirty="0">
                <a:solidFill>
                  <a:srgbClr val="0F1B2D"/>
                </a:solidFill>
                <a:latin typeface="Georgia" pitchFamily="34" charset="0"/>
                <a:ea typeface="Georgia" pitchFamily="34" charset="-122"/>
                <a:cs typeface="Georgia" pitchFamily="34" charset="-120"/>
              </a:rPr>
              <a:t>98.92%</a:t>
            </a:r>
            <a:endParaRPr lang="en-US" sz="5000" dirty="0"/>
          </a:p>
        </p:txBody>
      </p:sp>
      <p:sp>
        <p:nvSpPr>
          <p:cNvPr id="8" name="Text 6"/>
          <p:cNvSpPr txBox="1"/>
          <p:nvPr/>
        </p:nvSpPr>
        <p:spPr>
          <a:xfrm>
            <a:off x="1051560" y="365760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accuracy</a:t>
            </a:r>
            <a:endParaRPr lang="en-US" sz="1200" dirty="0"/>
          </a:p>
        </p:txBody>
      </p:sp>
      <p:sp>
        <p:nvSpPr>
          <p:cNvPr id="9" name="Shape 7"/>
          <p:cNvSpPr/>
          <p:nvPr/>
        </p:nvSpPr>
        <p:spPr>
          <a:xfrm>
            <a:off x="1051560" y="4160520"/>
            <a:ext cx="2692298" cy="914"/>
          </a:xfrm>
          <a:prstGeom prst="line">
            <a:avLst/>
          </a:prstGeom>
          <a:noFill/>
          <a:ln w="9525">
            <a:solidFill>
              <a:srgbClr val="E2E6EC"/>
            </a:solidFill>
            <a:prstDash val="solid"/>
          </a:ln>
        </p:spPr>
      </p:sp>
      <p:sp>
        <p:nvSpPr>
          <p:cNvPr id="10" name="Text 8"/>
          <p:cNvSpPr txBox="1"/>
          <p:nvPr/>
        </p:nvSpPr>
        <p:spPr>
          <a:xfrm>
            <a:off x="1051560" y="43434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F1-score</a:t>
            </a:r>
            <a:endParaRPr lang="en-US" sz="1300" dirty="0"/>
          </a:p>
        </p:txBody>
      </p:sp>
      <p:sp>
        <p:nvSpPr>
          <p:cNvPr id="11" name="Text 9"/>
          <p:cNvSpPr txBox="1"/>
          <p:nvPr/>
        </p:nvSpPr>
        <p:spPr>
          <a:xfrm>
            <a:off x="2280818" y="4343400"/>
            <a:ext cx="1463040" cy="320040"/>
          </a:xfrm>
          <a:prstGeom prst="rect">
            <a:avLst/>
          </a:prstGeom>
          <a:noFill/>
          <a:ln/>
        </p:spPr>
        <p:txBody>
          <a:bodyPr wrap="square" lIns="0" tIns="0" rIns="0" bIns="0" rtlCol="0" anchor="t"/>
          <a:lstStyle/>
          <a:p>
            <a:pPr algn="r" indent="0" marL="0">
              <a:buNone/>
            </a:pPr>
            <a:r>
              <a:rPr lang="en-US" sz="1600" b="1" dirty="0">
                <a:solidFill>
                  <a:srgbClr val="0F1B2D"/>
                </a:solidFill>
                <a:latin typeface="Arial" pitchFamily="34" charset="0"/>
                <a:ea typeface="Arial" pitchFamily="34" charset="-122"/>
                <a:cs typeface="Arial" pitchFamily="34" charset="-120"/>
              </a:rPr>
              <a:t>98.90%</a:t>
            </a:r>
            <a:endParaRPr lang="en-US" sz="1600" dirty="0"/>
          </a:p>
        </p:txBody>
      </p:sp>
      <p:sp>
        <p:nvSpPr>
          <p:cNvPr id="12" name="Text 10"/>
          <p:cNvSpPr txBox="1"/>
          <p:nvPr/>
        </p:nvSpPr>
        <p:spPr>
          <a:xfrm>
            <a:off x="1051560" y="48006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False positive rate</a:t>
            </a:r>
            <a:endParaRPr lang="en-US" sz="1300" dirty="0"/>
          </a:p>
        </p:txBody>
      </p:sp>
      <p:sp>
        <p:nvSpPr>
          <p:cNvPr id="13" name="Text 11"/>
          <p:cNvSpPr txBox="1"/>
          <p:nvPr/>
        </p:nvSpPr>
        <p:spPr>
          <a:xfrm>
            <a:off x="2280818" y="4800600"/>
            <a:ext cx="1463040" cy="320040"/>
          </a:xfrm>
          <a:prstGeom prst="rect">
            <a:avLst/>
          </a:prstGeom>
          <a:noFill/>
          <a:ln/>
        </p:spPr>
        <p:txBody>
          <a:bodyPr wrap="square" lIns="0" tIns="0" rIns="0" bIns="0" rtlCol="0" anchor="t"/>
          <a:lstStyle/>
          <a:p>
            <a:pPr algn="r" indent="0" marL="0">
              <a:buNone/>
            </a:pPr>
            <a:r>
              <a:rPr lang="en-US" sz="1600" b="1" dirty="0">
                <a:solidFill>
                  <a:srgbClr val="0F1B2D"/>
                </a:solidFill>
                <a:latin typeface="Arial" pitchFamily="34" charset="0"/>
                <a:ea typeface="Arial" pitchFamily="34" charset="-122"/>
                <a:cs typeface="Arial" pitchFamily="34" charset="-120"/>
              </a:rPr>
              <a:t>0.52%</a:t>
            </a:r>
            <a:endParaRPr lang="en-US" sz="1600" dirty="0"/>
          </a:p>
        </p:txBody>
      </p:sp>
      <p:sp>
        <p:nvSpPr>
          <p:cNvPr id="14" name="Shape 12"/>
          <p:cNvSpPr/>
          <p:nvPr/>
        </p:nvSpPr>
        <p:spPr>
          <a:xfrm>
            <a:off x="4383938" y="1828800"/>
            <a:ext cx="3423818" cy="3611880"/>
          </a:xfrm>
          <a:prstGeom prst="roundRect">
            <a:avLst>
              <a:gd name="adj" fmla="val 1602"/>
            </a:avLst>
          </a:prstGeom>
          <a:solidFill>
            <a:srgbClr val="F4F6F9"/>
          </a:solidFill>
          <a:ln w="12700">
            <a:solidFill>
              <a:srgbClr val="F4F6F9"/>
            </a:solidFill>
            <a:prstDash val="solid"/>
          </a:ln>
        </p:spPr>
      </p:sp>
      <p:sp>
        <p:nvSpPr>
          <p:cNvPr id="15" name="Text 13"/>
          <p:cNvSpPr txBox="1"/>
          <p:nvPr/>
        </p:nvSpPr>
        <p:spPr>
          <a:xfrm>
            <a:off x="4749698" y="2103120"/>
            <a:ext cx="2692298" cy="256032"/>
          </a:xfrm>
          <a:prstGeom prst="rect">
            <a:avLst/>
          </a:prstGeom>
          <a:noFill/>
          <a:ln/>
        </p:spPr>
        <p:txBody>
          <a:bodyPr wrap="square" lIns="0" tIns="0" rIns="0" bIns="0" rtlCol="0" anchor="t"/>
          <a:lstStyle/>
          <a:p>
            <a:pPr indent="0" marL="0">
              <a:buNone/>
            </a:pPr>
            <a:r>
              <a:rPr lang="en-US" sz="1050" b="1" dirty="0">
                <a:solidFill>
                  <a:srgbClr val="E0533A"/>
                </a:solidFill>
                <a:latin typeface="Arial" pitchFamily="34" charset="0"/>
                <a:ea typeface="Arial" pitchFamily="34" charset="-122"/>
                <a:cs typeface="Arial" pitchFamily="34" charset="-120"/>
              </a:rPr>
              <a:t>OUR REPLICATION</a:t>
            </a:r>
            <a:endParaRPr lang="en-US" sz="1050" dirty="0"/>
          </a:p>
        </p:txBody>
      </p:sp>
      <p:sp>
        <p:nvSpPr>
          <p:cNvPr id="16" name="Text 14"/>
          <p:cNvSpPr txBox="1"/>
          <p:nvPr/>
        </p:nvSpPr>
        <p:spPr>
          <a:xfrm>
            <a:off x="4749698" y="237744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DAPT2020, paper protocol</a:t>
            </a:r>
            <a:endParaRPr lang="en-US" sz="1200" dirty="0"/>
          </a:p>
        </p:txBody>
      </p:sp>
      <p:sp>
        <p:nvSpPr>
          <p:cNvPr id="17" name="Text 15"/>
          <p:cNvSpPr txBox="1"/>
          <p:nvPr/>
        </p:nvSpPr>
        <p:spPr>
          <a:xfrm>
            <a:off x="4749698" y="2788920"/>
            <a:ext cx="2692298" cy="868680"/>
          </a:xfrm>
          <a:prstGeom prst="rect">
            <a:avLst/>
          </a:prstGeom>
          <a:noFill/>
          <a:ln/>
        </p:spPr>
        <p:txBody>
          <a:bodyPr wrap="square" lIns="0" tIns="0" rIns="0" bIns="0" rtlCol="0" anchor="t"/>
          <a:lstStyle/>
          <a:p>
            <a:pPr indent="0" marL="0">
              <a:buNone/>
            </a:pPr>
            <a:r>
              <a:rPr lang="en-US" sz="5000" dirty="0">
                <a:solidFill>
                  <a:srgbClr val="0F1B2D"/>
                </a:solidFill>
                <a:latin typeface="Georgia" pitchFamily="34" charset="0"/>
                <a:ea typeface="Georgia" pitchFamily="34" charset="-122"/>
                <a:cs typeface="Georgia" pitchFamily="34" charset="-120"/>
              </a:rPr>
              <a:t>96.43%</a:t>
            </a:r>
            <a:endParaRPr lang="en-US" sz="5000" dirty="0"/>
          </a:p>
        </p:txBody>
      </p:sp>
      <p:sp>
        <p:nvSpPr>
          <p:cNvPr id="18" name="Text 16"/>
          <p:cNvSpPr txBox="1"/>
          <p:nvPr/>
        </p:nvSpPr>
        <p:spPr>
          <a:xfrm>
            <a:off x="4749698" y="365760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accuracy</a:t>
            </a:r>
            <a:endParaRPr lang="en-US" sz="1200" dirty="0"/>
          </a:p>
        </p:txBody>
      </p:sp>
      <p:sp>
        <p:nvSpPr>
          <p:cNvPr id="19" name="Shape 17"/>
          <p:cNvSpPr/>
          <p:nvPr/>
        </p:nvSpPr>
        <p:spPr>
          <a:xfrm>
            <a:off x="4749698" y="4160520"/>
            <a:ext cx="2692298" cy="914"/>
          </a:xfrm>
          <a:prstGeom prst="line">
            <a:avLst/>
          </a:prstGeom>
          <a:noFill/>
          <a:ln w="9525">
            <a:solidFill>
              <a:srgbClr val="E2E6EC"/>
            </a:solidFill>
            <a:prstDash val="solid"/>
          </a:ln>
        </p:spPr>
      </p:sp>
      <p:sp>
        <p:nvSpPr>
          <p:cNvPr id="20" name="Text 18"/>
          <p:cNvSpPr txBox="1"/>
          <p:nvPr/>
        </p:nvSpPr>
        <p:spPr>
          <a:xfrm>
            <a:off x="4749698" y="43434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F1-score</a:t>
            </a:r>
            <a:endParaRPr lang="en-US" sz="1300" dirty="0"/>
          </a:p>
        </p:txBody>
      </p:sp>
      <p:sp>
        <p:nvSpPr>
          <p:cNvPr id="21" name="Text 19"/>
          <p:cNvSpPr txBox="1"/>
          <p:nvPr/>
        </p:nvSpPr>
        <p:spPr>
          <a:xfrm>
            <a:off x="5978957" y="4343400"/>
            <a:ext cx="1463040" cy="320040"/>
          </a:xfrm>
          <a:prstGeom prst="rect">
            <a:avLst/>
          </a:prstGeom>
          <a:noFill/>
          <a:ln/>
        </p:spPr>
        <p:txBody>
          <a:bodyPr wrap="square" lIns="0" tIns="0" rIns="0" bIns="0" rtlCol="0" anchor="t"/>
          <a:lstStyle/>
          <a:p>
            <a:pPr algn="r" indent="0" marL="0">
              <a:buNone/>
            </a:pPr>
            <a:r>
              <a:rPr lang="en-US" sz="1600" b="1" dirty="0">
                <a:solidFill>
                  <a:srgbClr val="0F1B2D"/>
                </a:solidFill>
                <a:latin typeface="Arial" pitchFamily="34" charset="0"/>
                <a:ea typeface="Arial" pitchFamily="34" charset="-122"/>
                <a:cs typeface="Arial" pitchFamily="34" charset="-120"/>
              </a:rPr>
              <a:t>96.49%</a:t>
            </a:r>
            <a:endParaRPr lang="en-US" sz="1600" dirty="0"/>
          </a:p>
        </p:txBody>
      </p:sp>
      <p:sp>
        <p:nvSpPr>
          <p:cNvPr id="22" name="Text 20"/>
          <p:cNvSpPr txBox="1"/>
          <p:nvPr/>
        </p:nvSpPr>
        <p:spPr>
          <a:xfrm>
            <a:off x="4749698" y="48006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False positive rate</a:t>
            </a:r>
            <a:endParaRPr lang="en-US" sz="1300" dirty="0"/>
          </a:p>
        </p:txBody>
      </p:sp>
      <p:sp>
        <p:nvSpPr>
          <p:cNvPr id="23" name="Text 21"/>
          <p:cNvSpPr txBox="1"/>
          <p:nvPr/>
        </p:nvSpPr>
        <p:spPr>
          <a:xfrm>
            <a:off x="5978957" y="4800600"/>
            <a:ext cx="1463040" cy="320040"/>
          </a:xfrm>
          <a:prstGeom prst="rect">
            <a:avLst/>
          </a:prstGeom>
          <a:noFill/>
          <a:ln/>
        </p:spPr>
        <p:txBody>
          <a:bodyPr wrap="square" lIns="0" tIns="0" rIns="0" bIns="0" rtlCol="0" anchor="t"/>
          <a:lstStyle/>
          <a:p>
            <a:pPr algn="r" indent="0" marL="0">
              <a:buNone/>
            </a:pPr>
            <a:r>
              <a:rPr lang="en-US" sz="1600" b="1" dirty="0">
                <a:solidFill>
                  <a:srgbClr val="E0533A"/>
                </a:solidFill>
                <a:latin typeface="Arial" pitchFamily="34" charset="0"/>
                <a:ea typeface="Arial" pitchFamily="34" charset="-122"/>
                <a:cs typeface="Arial" pitchFamily="34" charset="-120"/>
              </a:rPr>
              <a:t>6.14%</a:t>
            </a:r>
            <a:endParaRPr lang="en-US" sz="1600" dirty="0"/>
          </a:p>
        </p:txBody>
      </p:sp>
      <p:sp>
        <p:nvSpPr>
          <p:cNvPr id="24" name="Shape 22"/>
          <p:cNvSpPr/>
          <p:nvPr/>
        </p:nvSpPr>
        <p:spPr>
          <a:xfrm>
            <a:off x="8082077" y="1828800"/>
            <a:ext cx="3423818" cy="3611880"/>
          </a:xfrm>
          <a:prstGeom prst="roundRect">
            <a:avLst>
              <a:gd name="adj" fmla="val 1602"/>
            </a:avLst>
          </a:prstGeom>
          <a:solidFill>
            <a:srgbClr val="0B1526"/>
          </a:solidFill>
          <a:ln w="12700">
            <a:solidFill>
              <a:srgbClr val="0B1526"/>
            </a:solidFill>
            <a:prstDash val="solid"/>
          </a:ln>
        </p:spPr>
      </p:sp>
      <p:sp>
        <p:nvSpPr>
          <p:cNvPr id="25" name="Text 23"/>
          <p:cNvSpPr txBox="1"/>
          <p:nvPr/>
        </p:nvSpPr>
        <p:spPr>
          <a:xfrm>
            <a:off x="8447837" y="2103120"/>
            <a:ext cx="2692298" cy="256032"/>
          </a:xfrm>
          <a:prstGeom prst="rect">
            <a:avLst/>
          </a:prstGeom>
          <a:noFill/>
          <a:ln/>
        </p:spPr>
        <p:txBody>
          <a:bodyPr wrap="square" lIns="0" tIns="0" rIns="0" bIns="0" rtlCol="0" anchor="t"/>
          <a:lstStyle/>
          <a:p>
            <a:pPr indent="0" marL="0">
              <a:buNone/>
            </a:pPr>
            <a:r>
              <a:rPr lang="en-US" sz="1050" b="1" dirty="0">
                <a:solidFill>
                  <a:srgbClr val="F08A6E"/>
                </a:solidFill>
                <a:latin typeface="Arial" pitchFamily="34" charset="0"/>
                <a:ea typeface="Arial" pitchFamily="34" charset="-122"/>
                <a:cs typeface="Arial" pitchFamily="34" charset="-120"/>
              </a:rPr>
              <a:t>LEAKAGE-FREE (REALISTIC)</a:t>
            </a:r>
            <a:endParaRPr lang="en-US" sz="1050" dirty="0"/>
          </a:p>
        </p:txBody>
      </p:sp>
      <p:sp>
        <p:nvSpPr>
          <p:cNvPr id="26" name="Text 24"/>
          <p:cNvSpPr txBox="1"/>
          <p:nvPr/>
        </p:nvSpPr>
        <p:spPr>
          <a:xfrm>
            <a:off x="8447837" y="2377440"/>
            <a:ext cx="2692298" cy="274320"/>
          </a:xfrm>
          <a:prstGeom prst="rect">
            <a:avLst/>
          </a:prstGeom>
          <a:noFill/>
          <a:ln/>
        </p:spPr>
        <p:txBody>
          <a:bodyPr wrap="square" lIns="0" tIns="0" rIns="0" bIns="0" rtlCol="0" anchor="t"/>
          <a:lstStyle/>
          <a:p>
            <a:pPr indent="0" marL="0">
              <a:buNone/>
            </a:pPr>
            <a:r>
              <a:rPr lang="en-US" sz="1200" dirty="0">
                <a:solidFill>
                  <a:srgbClr val="A9B6C8"/>
                </a:solidFill>
                <a:latin typeface="Arial" pitchFamily="34" charset="0"/>
                <a:ea typeface="Arial" pitchFamily="34" charset="-122"/>
                <a:cs typeface="Arial" pitchFamily="34" charset="-120"/>
              </a:rPr>
              <a:t>DAPT2020, balance after split</a:t>
            </a:r>
            <a:endParaRPr lang="en-US" sz="1200" dirty="0"/>
          </a:p>
        </p:txBody>
      </p:sp>
      <p:sp>
        <p:nvSpPr>
          <p:cNvPr id="27" name="Text 25"/>
          <p:cNvSpPr txBox="1"/>
          <p:nvPr/>
        </p:nvSpPr>
        <p:spPr>
          <a:xfrm>
            <a:off x="8447837" y="2788920"/>
            <a:ext cx="2692298" cy="868680"/>
          </a:xfrm>
          <a:prstGeom prst="rect">
            <a:avLst/>
          </a:prstGeom>
          <a:noFill/>
          <a:ln/>
        </p:spPr>
        <p:txBody>
          <a:bodyPr wrap="square" lIns="0" tIns="0" rIns="0" bIns="0" rtlCol="0" anchor="t"/>
          <a:lstStyle/>
          <a:p>
            <a:pPr indent="0" marL="0">
              <a:buNone/>
            </a:pPr>
            <a:r>
              <a:rPr lang="en-US" sz="5000" dirty="0">
                <a:solidFill>
                  <a:srgbClr val="FFFFFF"/>
                </a:solidFill>
                <a:latin typeface="Georgia" pitchFamily="34" charset="0"/>
                <a:ea typeface="Georgia" pitchFamily="34" charset="-122"/>
                <a:cs typeface="Georgia" pitchFamily="34" charset="-120"/>
              </a:rPr>
              <a:t>94.68%</a:t>
            </a:r>
            <a:endParaRPr lang="en-US" sz="5000" dirty="0"/>
          </a:p>
        </p:txBody>
      </p:sp>
      <p:sp>
        <p:nvSpPr>
          <p:cNvPr id="28" name="Text 26"/>
          <p:cNvSpPr txBox="1"/>
          <p:nvPr/>
        </p:nvSpPr>
        <p:spPr>
          <a:xfrm>
            <a:off x="8447837" y="3657600"/>
            <a:ext cx="2692298" cy="274320"/>
          </a:xfrm>
          <a:prstGeom prst="rect">
            <a:avLst/>
          </a:prstGeom>
          <a:noFill/>
          <a:ln/>
        </p:spPr>
        <p:txBody>
          <a:bodyPr wrap="square" lIns="0" tIns="0" rIns="0" bIns="0" rtlCol="0" anchor="t"/>
          <a:lstStyle/>
          <a:p>
            <a:pPr indent="0" marL="0">
              <a:buNone/>
            </a:pPr>
            <a:r>
              <a:rPr lang="en-US" sz="1200" dirty="0">
                <a:solidFill>
                  <a:srgbClr val="A9B6C8"/>
                </a:solidFill>
                <a:latin typeface="Arial" pitchFamily="34" charset="0"/>
                <a:ea typeface="Arial" pitchFamily="34" charset="-122"/>
                <a:cs typeface="Arial" pitchFamily="34" charset="-120"/>
              </a:rPr>
              <a:t>accuracy</a:t>
            </a:r>
            <a:endParaRPr lang="en-US" sz="1200" dirty="0"/>
          </a:p>
        </p:txBody>
      </p:sp>
      <p:sp>
        <p:nvSpPr>
          <p:cNvPr id="29" name="Shape 27"/>
          <p:cNvSpPr/>
          <p:nvPr/>
        </p:nvSpPr>
        <p:spPr>
          <a:xfrm>
            <a:off x="8447837" y="4160520"/>
            <a:ext cx="2692298" cy="914"/>
          </a:xfrm>
          <a:prstGeom prst="line">
            <a:avLst/>
          </a:prstGeom>
          <a:noFill/>
          <a:ln w="9525">
            <a:solidFill>
              <a:srgbClr val="2C3E5C"/>
            </a:solidFill>
            <a:prstDash val="solid"/>
          </a:ln>
        </p:spPr>
      </p:sp>
      <p:sp>
        <p:nvSpPr>
          <p:cNvPr id="30" name="Text 28"/>
          <p:cNvSpPr txBox="1"/>
          <p:nvPr/>
        </p:nvSpPr>
        <p:spPr>
          <a:xfrm>
            <a:off x="8447837" y="4343400"/>
            <a:ext cx="1828800" cy="320040"/>
          </a:xfrm>
          <a:prstGeom prst="rect">
            <a:avLst/>
          </a:prstGeom>
          <a:noFill/>
          <a:ln/>
        </p:spPr>
        <p:txBody>
          <a:bodyPr wrap="square" lIns="0" tIns="0" rIns="0" bIns="0" rtlCol="0" anchor="t"/>
          <a:lstStyle/>
          <a:p>
            <a:pPr indent="0" marL="0">
              <a:buNone/>
            </a:pPr>
            <a:r>
              <a:rPr lang="en-US" sz="1300" dirty="0">
                <a:solidFill>
                  <a:srgbClr val="A9B6C8"/>
                </a:solidFill>
                <a:latin typeface="Arial" pitchFamily="34" charset="0"/>
                <a:ea typeface="Arial" pitchFamily="34" charset="-122"/>
                <a:cs typeface="Arial" pitchFamily="34" charset="-120"/>
              </a:rPr>
              <a:t>F1-score</a:t>
            </a:r>
            <a:endParaRPr lang="en-US" sz="1300" dirty="0"/>
          </a:p>
        </p:txBody>
      </p:sp>
      <p:sp>
        <p:nvSpPr>
          <p:cNvPr id="31" name="Text 29"/>
          <p:cNvSpPr txBox="1"/>
          <p:nvPr/>
        </p:nvSpPr>
        <p:spPr>
          <a:xfrm>
            <a:off x="9677095" y="4343400"/>
            <a:ext cx="1463040" cy="320040"/>
          </a:xfrm>
          <a:prstGeom prst="rect">
            <a:avLst/>
          </a:prstGeom>
          <a:noFill/>
          <a:ln/>
        </p:spPr>
        <p:txBody>
          <a:bodyPr wrap="square" lIns="0" tIns="0" rIns="0" bIns="0" rtlCol="0" anchor="t"/>
          <a:lstStyle/>
          <a:p>
            <a:pPr algn="r" indent="0" marL="0">
              <a:buNone/>
            </a:pPr>
            <a:r>
              <a:rPr lang="en-US" sz="1600" b="1" dirty="0">
                <a:solidFill>
                  <a:srgbClr val="FFFFFF"/>
                </a:solidFill>
                <a:latin typeface="Arial" pitchFamily="34" charset="0"/>
                <a:ea typeface="Arial" pitchFamily="34" charset="-122"/>
                <a:cs typeface="Arial" pitchFamily="34" charset="-120"/>
              </a:rPr>
              <a:t>89.46%</a:t>
            </a:r>
            <a:endParaRPr lang="en-US" sz="1600" dirty="0"/>
          </a:p>
        </p:txBody>
      </p:sp>
      <p:sp>
        <p:nvSpPr>
          <p:cNvPr id="32" name="Text 30"/>
          <p:cNvSpPr txBox="1"/>
          <p:nvPr/>
        </p:nvSpPr>
        <p:spPr>
          <a:xfrm>
            <a:off x="8447837" y="4800600"/>
            <a:ext cx="1828800" cy="320040"/>
          </a:xfrm>
          <a:prstGeom prst="rect">
            <a:avLst/>
          </a:prstGeom>
          <a:noFill/>
          <a:ln/>
        </p:spPr>
        <p:txBody>
          <a:bodyPr wrap="square" lIns="0" tIns="0" rIns="0" bIns="0" rtlCol="0" anchor="t"/>
          <a:lstStyle/>
          <a:p>
            <a:pPr indent="0" marL="0">
              <a:buNone/>
            </a:pPr>
            <a:r>
              <a:rPr lang="en-US" sz="1300" dirty="0">
                <a:solidFill>
                  <a:srgbClr val="A9B6C8"/>
                </a:solidFill>
                <a:latin typeface="Arial" pitchFamily="34" charset="0"/>
                <a:ea typeface="Arial" pitchFamily="34" charset="-122"/>
                <a:cs typeface="Arial" pitchFamily="34" charset="-120"/>
              </a:rPr>
              <a:t>False positive rate</a:t>
            </a:r>
            <a:endParaRPr lang="en-US" sz="1300" dirty="0"/>
          </a:p>
        </p:txBody>
      </p:sp>
      <p:sp>
        <p:nvSpPr>
          <p:cNvPr id="33" name="Text 31"/>
          <p:cNvSpPr txBox="1"/>
          <p:nvPr/>
        </p:nvSpPr>
        <p:spPr>
          <a:xfrm>
            <a:off x="9677095" y="4800600"/>
            <a:ext cx="1463040" cy="320040"/>
          </a:xfrm>
          <a:prstGeom prst="rect">
            <a:avLst/>
          </a:prstGeom>
          <a:noFill/>
          <a:ln/>
        </p:spPr>
        <p:txBody>
          <a:bodyPr wrap="square" lIns="0" tIns="0" rIns="0" bIns="0" rtlCol="0" anchor="t"/>
          <a:lstStyle/>
          <a:p>
            <a:pPr algn="r" indent="0" marL="0">
              <a:buNone/>
            </a:pPr>
            <a:r>
              <a:rPr lang="en-US" sz="1600" b="1" dirty="0">
                <a:solidFill>
                  <a:srgbClr val="F08A6E"/>
                </a:solidFill>
                <a:latin typeface="Arial" pitchFamily="34" charset="0"/>
                <a:ea typeface="Arial" pitchFamily="34" charset="-122"/>
                <a:cs typeface="Arial" pitchFamily="34" charset="-120"/>
              </a:rPr>
              <a:t>5.99%</a:t>
            </a:r>
            <a:endParaRPr lang="en-US" sz="1600" dirty="0"/>
          </a:p>
        </p:txBody>
      </p:sp>
      <p:sp>
        <p:nvSpPr>
          <p:cNvPr id="34" name="Text 32"/>
          <p:cNvSpPr txBox="1"/>
          <p:nvPr/>
        </p:nvSpPr>
        <p:spPr>
          <a:xfrm>
            <a:off x="685800" y="5669280"/>
            <a:ext cx="10820095" cy="54864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Takeaway: </a:t>
            </a:r>
            <a:pPr indent="0" marL="0">
              <a:buNone/>
            </a:pPr>
            <a:r>
              <a:rPr lang="en-US" sz="1400" dirty="0">
                <a:solidFill>
                  <a:srgbClr val="0F1B2D"/>
                </a:solidFill>
                <a:latin typeface="Arial" pitchFamily="34" charset="0"/>
                <a:ea typeface="Arial" pitchFamily="34" charset="-122"/>
                <a:cs typeface="Arial" pitchFamily="34" charset="-120"/>
              </a:rPr>
              <a:t>the hybrid still ranks APT flows very well (AUC 99.09%), but raises about 12× more false alarms than claimed, and F1 falls by 7 points once the leak is removed.</a:t>
            </a:r>
            <a:endParaRPr lang="en-US" sz="1400" dirty="0"/>
          </a:p>
        </p:txBody>
      </p:sp>
      <p:sp>
        <p:nvSpPr>
          <p:cNvPr id="35" name="Text 33"/>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6" name="Text 34"/>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Every model loses 7–20 F1 points on real test data</a:t>
            </a:r>
            <a:endParaRPr lang="en-US" sz="3000" dirty="0"/>
          </a:p>
        </p:txBody>
      </p:sp>
      <p:pic>
        <p:nvPicPr>
          <p:cNvPr id="4" name="Image 0" descr="/private/tmp/claude-501/-Users-ashishjain-Documents-RIS-Mid-Eval/4e14a31e-25f5-4016-81db-47057b986f0d/scratchpad/deck/charts/f1_protocols.png">    </p:cNvPr>
          <p:cNvPicPr>
            <a:picLocks noChangeAspect="1"/>
          </p:cNvPicPr>
          <p:nvPr/>
        </p:nvPicPr>
        <p:blipFill>
          <a:blip r:embed="rId1"/>
          <a:stretch>
            <a:fillRect/>
          </a:stretch>
        </p:blipFill>
        <p:spPr>
          <a:xfrm>
            <a:off x="685800" y="1691640"/>
            <a:ext cx="7498080" cy="4526280"/>
          </a:xfrm>
          <a:prstGeom prst="rect">
            <a:avLst/>
          </a:prstGeom>
        </p:spPr>
      </p:pic>
      <p:sp>
        <p:nvSpPr>
          <p:cNvPr id="5" name="Shape 2"/>
          <p:cNvSpPr/>
          <p:nvPr/>
        </p:nvSpPr>
        <p:spPr>
          <a:xfrm>
            <a:off x="8549640" y="1965960"/>
            <a:ext cx="457200" cy="457200"/>
          </a:xfrm>
          <a:prstGeom prst="ellipse">
            <a:avLst/>
          </a:prstGeom>
          <a:solidFill>
            <a:srgbClr val="2A78D6"/>
          </a:solidFill>
          <a:ln w="12700">
            <a:solidFill>
              <a:srgbClr val="2A78D6"/>
            </a:solidFill>
            <a:prstDash val="solid"/>
          </a:ln>
        </p:spPr>
      </p:sp>
      <p:pic>
        <p:nvPicPr>
          <p:cNvPr id="6" name="Image 1" descr="preencoded.png">    </p:cNvPr>
          <p:cNvPicPr>
            <a:picLocks noChangeAspect="1"/>
          </p:cNvPicPr>
          <p:nvPr/>
        </p:nvPicPr>
        <p:blipFill>
          <a:blip r:embed="rId2"/>
          <a:stretch>
            <a:fillRect/>
          </a:stretch>
        </p:blipFill>
        <p:spPr>
          <a:xfrm>
            <a:off x="8673084" y="2089404"/>
            <a:ext cx="210312" cy="210312"/>
          </a:xfrm>
          <a:prstGeom prst="rect">
            <a:avLst/>
          </a:prstGeom>
        </p:spPr>
      </p:pic>
      <p:sp>
        <p:nvSpPr>
          <p:cNvPr id="7" name="Text 3"/>
          <p:cNvSpPr txBox="1"/>
          <p:nvPr/>
        </p:nvSpPr>
        <p:spPr>
          <a:xfrm>
            <a:off x="9171432" y="2011680"/>
            <a:ext cx="2334463" cy="36576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Tree ensembles lead</a:t>
            </a:r>
            <a:endParaRPr lang="en-US" sz="1400" dirty="0"/>
          </a:p>
        </p:txBody>
      </p:sp>
      <p:sp>
        <p:nvSpPr>
          <p:cNvPr id="8" name="Text 4"/>
          <p:cNvSpPr txBox="1"/>
          <p:nvPr/>
        </p:nvSpPr>
        <p:spPr>
          <a:xfrm>
            <a:off x="8549640" y="2532888"/>
            <a:ext cx="2956255" cy="59436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Hybrid, Random Forest and XGBoost all reach ≈ 89.5% F1</a:t>
            </a:r>
            <a:endParaRPr lang="en-US" sz="1200" dirty="0"/>
          </a:p>
        </p:txBody>
      </p:sp>
      <p:sp>
        <p:nvSpPr>
          <p:cNvPr id="9" name="Shape 5"/>
          <p:cNvSpPr/>
          <p:nvPr/>
        </p:nvSpPr>
        <p:spPr>
          <a:xfrm>
            <a:off x="8549640" y="3063240"/>
            <a:ext cx="2956255" cy="914"/>
          </a:xfrm>
          <a:prstGeom prst="line">
            <a:avLst/>
          </a:prstGeom>
          <a:noFill/>
          <a:ln w="9525">
            <a:solidFill>
              <a:srgbClr val="E2E6EC"/>
            </a:solidFill>
            <a:prstDash val="solid"/>
          </a:ln>
        </p:spPr>
      </p:sp>
      <p:sp>
        <p:nvSpPr>
          <p:cNvPr id="10" name="Shape 6"/>
          <p:cNvSpPr/>
          <p:nvPr/>
        </p:nvSpPr>
        <p:spPr>
          <a:xfrm>
            <a:off x="8549640" y="3337560"/>
            <a:ext cx="457200" cy="457200"/>
          </a:xfrm>
          <a:prstGeom prst="ellipse">
            <a:avLst/>
          </a:prstGeom>
          <a:solidFill>
            <a:srgbClr val="2A78D6"/>
          </a:solidFill>
          <a:ln w="12700">
            <a:solidFill>
              <a:srgbClr val="2A78D6"/>
            </a:solidFill>
            <a:prstDash val="solid"/>
          </a:ln>
        </p:spPr>
      </p:sp>
      <p:pic>
        <p:nvPicPr>
          <p:cNvPr id="11" name="Image 2" descr="preencoded.png">    </p:cNvPr>
          <p:cNvPicPr>
            <a:picLocks noChangeAspect="1"/>
          </p:cNvPicPr>
          <p:nvPr/>
        </p:nvPicPr>
        <p:blipFill>
          <a:blip r:embed="rId3"/>
          <a:stretch>
            <a:fillRect/>
          </a:stretch>
        </p:blipFill>
        <p:spPr>
          <a:xfrm>
            <a:off x="8673084" y="3461004"/>
            <a:ext cx="210312" cy="210312"/>
          </a:xfrm>
          <a:prstGeom prst="rect">
            <a:avLst/>
          </a:prstGeom>
        </p:spPr>
      </p:pic>
      <p:sp>
        <p:nvSpPr>
          <p:cNvPr id="12" name="Text 7"/>
          <p:cNvSpPr txBox="1"/>
          <p:nvPr/>
        </p:nvSpPr>
        <p:spPr>
          <a:xfrm>
            <a:off x="9171432" y="3383280"/>
            <a:ext cx="2334463" cy="36576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Deep learning doesn't help</a:t>
            </a:r>
            <a:endParaRPr lang="en-US" sz="1400" dirty="0"/>
          </a:p>
        </p:txBody>
      </p:sp>
      <p:sp>
        <p:nvSpPr>
          <p:cNvPr id="13" name="Text 8"/>
          <p:cNvSpPr txBox="1"/>
          <p:nvPr/>
        </p:nvSpPr>
        <p:spPr>
          <a:xfrm>
            <a:off x="8549640" y="3904488"/>
            <a:ext cx="2956255" cy="59436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CNN 88.2%, MLP 88.2%, consistent with the paper's own Table 7</a:t>
            </a:r>
            <a:endParaRPr lang="en-US" sz="1200" dirty="0"/>
          </a:p>
        </p:txBody>
      </p:sp>
      <p:sp>
        <p:nvSpPr>
          <p:cNvPr id="14" name="Shape 9"/>
          <p:cNvSpPr/>
          <p:nvPr/>
        </p:nvSpPr>
        <p:spPr>
          <a:xfrm>
            <a:off x="8549640" y="4434840"/>
            <a:ext cx="2956255" cy="914"/>
          </a:xfrm>
          <a:prstGeom prst="line">
            <a:avLst/>
          </a:prstGeom>
          <a:noFill/>
          <a:ln w="9525">
            <a:solidFill>
              <a:srgbClr val="E2E6EC"/>
            </a:solidFill>
            <a:prstDash val="solid"/>
          </a:ln>
        </p:spPr>
      </p:sp>
      <p:sp>
        <p:nvSpPr>
          <p:cNvPr id="15" name="Shape 10"/>
          <p:cNvSpPr/>
          <p:nvPr/>
        </p:nvSpPr>
        <p:spPr>
          <a:xfrm>
            <a:off x="8549640" y="4709160"/>
            <a:ext cx="457200" cy="457200"/>
          </a:xfrm>
          <a:prstGeom prst="ellipse">
            <a:avLst/>
          </a:prstGeom>
          <a:solidFill>
            <a:srgbClr val="E0533A"/>
          </a:solidFill>
          <a:ln w="12700">
            <a:solidFill>
              <a:srgbClr val="E0533A"/>
            </a:solidFill>
            <a:prstDash val="solid"/>
          </a:ln>
        </p:spPr>
      </p:sp>
      <p:pic>
        <p:nvPicPr>
          <p:cNvPr id="16" name="Image 3" descr="preencoded.png">    </p:cNvPr>
          <p:cNvPicPr>
            <a:picLocks noChangeAspect="1"/>
          </p:cNvPicPr>
          <p:nvPr/>
        </p:nvPicPr>
        <p:blipFill>
          <a:blip r:embed="rId4"/>
          <a:stretch>
            <a:fillRect/>
          </a:stretch>
        </p:blipFill>
        <p:spPr>
          <a:xfrm>
            <a:off x="8673084" y="4832604"/>
            <a:ext cx="210312" cy="210312"/>
          </a:xfrm>
          <a:prstGeom prst="rect">
            <a:avLst/>
          </a:prstGeom>
        </p:spPr>
      </p:pic>
      <p:sp>
        <p:nvSpPr>
          <p:cNvPr id="17" name="Text 11"/>
          <p:cNvSpPr txBox="1"/>
          <p:nvPr/>
        </p:nvSpPr>
        <p:spPr>
          <a:xfrm>
            <a:off x="9171432" y="4754880"/>
            <a:ext cx="2334463" cy="36576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Simple models collapse</a:t>
            </a:r>
            <a:endParaRPr lang="en-US" sz="1400" dirty="0"/>
          </a:p>
        </p:txBody>
      </p:sp>
      <p:sp>
        <p:nvSpPr>
          <p:cNvPr id="18" name="Text 12"/>
          <p:cNvSpPr txBox="1"/>
          <p:nvPr/>
        </p:nvSpPr>
        <p:spPr>
          <a:xfrm>
            <a:off x="8549640" y="5276088"/>
            <a:ext cx="2956255" cy="59436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Naive Bayes raises alarms on 32% of benign flows</a:t>
            </a:r>
            <a:endParaRPr lang="en-US" sz="1200" dirty="0"/>
          </a:p>
        </p:txBody>
      </p:sp>
      <p:sp>
        <p:nvSpPr>
          <p:cNvPr id="19" name="Text 13"/>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0" name="Text 14"/>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hybrid ties its own components on F1</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3593592"/>
                <a:gridCol w="1737360"/>
                <a:gridCol w="1737360"/>
                <a:gridCol w="2011680"/>
                <a:gridCol w="1737360"/>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F1</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Recall</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False positive rate</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AUC</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r>
              <a:tr h="475488">
                <a:tc>
                  <a:txBody>
                    <a:bodyPr/>
                    <a:lstStyle/>
                    <a:p>
                      <a:pPr indent="0" marL="0">
                        <a:buNone/>
                      </a:pPr>
                      <a:r>
                        <a:rPr lang="en-US" sz="1400" b="1" dirty="0">
                          <a:solidFill>
                            <a:srgbClr val="0F1B2D"/>
                          </a:solidFill>
                          <a:latin typeface="Arial" pitchFamily="34" charset="0"/>
                          <a:ea typeface="Arial" pitchFamily="34" charset="-122"/>
                          <a:cs typeface="Arial" pitchFamily="34" charset="-120"/>
                        </a:rPr>
                        <a:t>Proposed hybrid (OR rule)</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AF1FB"/>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89.13 ± 0.22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AF1FB"/>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95.99 ± 0.29</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AF1FB"/>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5.90 ± 0.17</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AF1FB"/>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99.04 ± 0.02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AF1FB"/>
                    </a:solidFill>
                  </a:tcPr>
                </a:tc>
              </a:tr>
              <a:tr h="475488">
                <a:tc>
                  <a:txBody>
                    <a:bodyPr/>
                    <a:lstStyle/>
                    <a:p>
                      <a:pPr indent="0" marL="0">
                        <a:buNone/>
                      </a:pPr>
                      <a:r>
                        <a:rPr lang="en-US" sz="1400" dirty="0">
                          <a:solidFill>
                            <a:srgbClr val="0F1B2D"/>
                          </a:solidFill>
                          <a:latin typeface="Arial" pitchFamily="34" charset="0"/>
                          <a:ea typeface="Arial" pitchFamily="34" charset="-122"/>
                          <a:cs typeface="Arial" pitchFamily="34" charset="-120"/>
                        </a:rPr>
                        <a:t>Hybrid, soft vote</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89.48 ± 0.14</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93.81 ± 0.38</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4.82 ± 0.14</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99.04 ± 0.02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F1B2D"/>
                          </a:solidFill>
                          <a:latin typeface="Arial" pitchFamily="34" charset="0"/>
                          <a:ea typeface="Arial" pitchFamily="34" charset="-122"/>
                          <a:cs typeface="Arial" pitchFamily="34" charset="-120"/>
                        </a:rPr>
                        <a:t>Random Forest</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89.11 ± 0.12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92.94 ± 0.24</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4.76 ± 0.09</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98.86 ± 0.05</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F1B2D"/>
                          </a:solidFill>
                          <a:latin typeface="Arial" pitchFamily="34" charset="0"/>
                          <a:ea typeface="Arial" pitchFamily="34" charset="-122"/>
                          <a:cs typeface="Arial" pitchFamily="34" charset="-120"/>
                        </a:rPr>
                        <a:t>XGBoost</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89.25 ± 0.23</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93.56 ± 0.52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4.89 ± 0.20</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98.96 ± 0.03</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85800" y="4251960"/>
            <a:ext cx="10820095" cy="274320"/>
          </a:xfrm>
          <a:prstGeom prst="rect">
            <a:avLst/>
          </a:prstGeom>
          <a:noFill/>
          <a:ln/>
        </p:spPr>
        <p:txBody>
          <a:bodyPr wrap="square" lIns="0" tIns="0" rIns="0" bIns="0" rtlCol="0" anchor="t"/>
          <a:lstStyle/>
          <a:p>
            <a:pPr indent="0" marL="0">
              <a:buNone/>
            </a:pPr>
            <a:r>
              <a:rPr lang="en-US" sz="1100" dirty="0">
                <a:solidFill>
                  <a:srgbClr val="8A94A3"/>
                </a:solidFill>
                <a:latin typeface="Arial" pitchFamily="34" charset="0"/>
                <a:ea typeface="Arial" pitchFamily="34" charset="-122"/>
                <a:cs typeface="Arial" pitchFamily="34" charset="-120"/>
              </a:rPr>
              <a:t>Leakage-free test set, mean ± standard deviation over 5 random seeds (%)</a:t>
            </a:r>
            <a:endParaRPr lang="en-US" sz="1100" dirty="0"/>
          </a:p>
        </p:txBody>
      </p:sp>
      <p:sp>
        <p:nvSpPr>
          <p:cNvPr id="6" name="Shape 3"/>
          <p:cNvSpPr/>
          <p:nvPr/>
        </p:nvSpPr>
        <p:spPr>
          <a:xfrm>
            <a:off x="685800" y="4937760"/>
            <a:ext cx="530352" cy="530352"/>
          </a:xfrm>
          <a:prstGeom prst="ellipse">
            <a:avLst/>
          </a:prstGeom>
          <a:solidFill>
            <a:srgbClr val="2A78D6"/>
          </a:solidFill>
          <a:ln w="12700">
            <a:solidFill>
              <a:srgbClr val="2A78D6"/>
            </a:solidFill>
            <a:prstDash val="solid"/>
          </a:ln>
        </p:spPr>
      </p:sp>
      <p:pic>
        <p:nvPicPr>
          <p:cNvPr id="7" name="Image 0" descr="preencoded.png">    </p:cNvPr>
          <p:cNvPicPr>
            <a:picLocks noChangeAspect="1"/>
          </p:cNvPicPr>
          <p:nvPr/>
        </p:nvPicPr>
        <p:blipFill>
          <a:blip r:embed="rId1"/>
          <a:stretch>
            <a:fillRect/>
          </a:stretch>
        </p:blipFill>
        <p:spPr>
          <a:xfrm>
            <a:off x="828995" y="5080955"/>
            <a:ext cx="243962" cy="243962"/>
          </a:xfrm>
          <a:prstGeom prst="rect">
            <a:avLst/>
          </a:prstGeom>
        </p:spPr>
      </p:pic>
      <p:sp>
        <p:nvSpPr>
          <p:cNvPr id="8" name="Text 4"/>
          <p:cNvSpPr txBox="1"/>
          <p:nvPr/>
        </p:nvSpPr>
        <p:spPr>
          <a:xfrm>
            <a:off x="1417320" y="4983480"/>
            <a:ext cx="2646578" cy="36576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Tied on F1</a:t>
            </a:r>
            <a:endParaRPr lang="en-US" sz="1500" dirty="0"/>
          </a:p>
        </p:txBody>
      </p:sp>
      <p:sp>
        <p:nvSpPr>
          <p:cNvPr id="9" name="Text 5"/>
          <p:cNvSpPr txBox="1"/>
          <p:nvPr/>
        </p:nvSpPr>
        <p:spPr>
          <a:xfrm>
            <a:off x="1417320" y="5367528"/>
            <a:ext cx="2646578" cy="9144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89.1–89.5% for all four; the differences are within run-to-run noise</a:t>
            </a:r>
            <a:endParaRPr lang="en-US" sz="1250" dirty="0"/>
          </a:p>
        </p:txBody>
      </p:sp>
      <p:sp>
        <p:nvSpPr>
          <p:cNvPr id="10" name="Shape 6"/>
          <p:cNvSpPr/>
          <p:nvPr/>
        </p:nvSpPr>
        <p:spPr>
          <a:xfrm>
            <a:off x="4383938" y="4937760"/>
            <a:ext cx="530352" cy="530352"/>
          </a:xfrm>
          <a:prstGeom prst="ellipse">
            <a:avLst/>
          </a:prstGeom>
          <a:solidFill>
            <a:srgbClr val="E0533A"/>
          </a:solidFill>
          <a:ln w="12700">
            <a:solidFill>
              <a:srgbClr val="E0533A"/>
            </a:solidFill>
            <a:prstDash val="solid"/>
          </a:ln>
        </p:spPr>
      </p:sp>
      <p:pic>
        <p:nvPicPr>
          <p:cNvPr id="11" name="Image 1" descr="preencoded.png">    </p:cNvPr>
          <p:cNvPicPr>
            <a:picLocks noChangeAspect="1"/>
          </p:cNvPicPr>
          <p:nvPr/>
        </p:nvPicPr>
        <p:blipFill>
          <a:blip r:embed="rId2"/>
          <a:stretch>
            <a:fillRect/>
          </a:stretch>
        </p:blipFill>
        <p:spPr>
          <a:xfrm>
            <a:off x="4527133" y="5080955"/>
            <a:ext cx="243962" cy="243962"/>
          </a:xfrm>
          <a:prstGeom prst="rect">
            <a:avLst/>
          </a:prstGeom>
        </p:spPr>
      </p:pic>
      <p:sp>
        <p:nvSpPr>
          <p:cNvPr id="12" name="Text 7"/>
          <p:cNvSpPr txBox="1"/>
          <p:nvPr/>
        </p:nvSpPr>
        <p:spPr>
          <a:xfrm>
            <a:off x="5115458" y="4983480"/>
            <a:ext cx="2646578" cy="36576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OR rule = more alarms</a:t>
            </a:r>
            <a:endParaRPr lang="en-US" sz="1500" dirty="0"/>
          </a:p>
        </p:txBody>
      </p:sp>
      <p:sp>
        <p:nvSpPr>
          <p:cNvPr id="13" name="Text 8"/>
          <p:cNvSpPr txBox="1"/>
          <p:nvPr/>
        </p:nvSpPr>
        <p:spPr>
          <a:xfrm>
            <a:off x="5115458" y="5367528"/>
            <a:ext cx="2646578" cy="9144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Highest recall (96.0% vs ≈ 93%), but FPR 5.9% vs ≈ 4.8%</a:t>
            </a:r>
            <a:endParaRPr lang="en-US" sz="1250" dirty="0"/>
          </a:p>
        </p:txBody>
      </p:sp>
      <p:sp>
        <p:nvSpPr>
          <p:cNvPr id="14" name="Shape 9"/>
          <p:cNvSpPr/>
          <p:nvPr/>
        </p:nvSpPr>
        <p:spPr>
          <a:xfrm>
            <a:off x="8082077" y="4937760"/>
            <a:ext cx="530352" cy="530352"/>
          </a:xfrm>
          <a:prstGeom prst="ellipse">
            <a:avLst/>
          </a:prstGeom>
          <a:solidFill>
            <a:srgbClr val="2A78D6"/>
          </a:solidFill>
          <a:ln w="12700">
            <a:solidFill>
              <a:srgbClr val="2A78D6"/>
            </a:solidFill>
            <a:prstDash val="solid"/>
          </a:ln>
        </p:spPr>
      </p:sp>
      <p:pic>
        <p:nvPicPr>
          <p:cNvPr id="15" name="Image 2" descr="preencoded.png">    </p:cNvPr>
          <p:cNvPicPr>
            <a:picLocks noChangeAspect="1"/>
          </p:cNvPicPr>
          <p:nvPr/>
        </p:nvPicPr>
        <p:blipFill>
          <a:blip r:embed="rId3"/>
          <a:stretch>
            <a:fillRect/>
          </a:stretch>
        </p:blipFill>
        <p:spPr>
          <a:xfrm>
            <a:off x="8225272" y="5080955"/>
            <a:ext cx="243962" cy="243962"/>
          </a:xfrm>
          <a:prstGeom prst="rect">
            <a:avLst/>
          </a:prstGeom>
        </p:spPr>
      </p:pic>
      <p:sp>
        <p:nvSpPr>
          <p:cNvPr id="16" name="Text 10"/>
          <p:cNvSpPr txBox="1"/>
          <p:nvPr/>
        </p:nvSpPr>
        <p:spPr>
          <a:xfrm>
            <a:off x="8813597" y="4983480"/>
            <a:ext cx="2646578" cy="36576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Best ranking</a:t>
            </a:r>
            <a:endParaRPr lang="en-US" sz="1500" dirty="0"/>
          </a:p>
        </p:txBody>
      </p:sp>
      <p:sp>
        <p:nvSpPr>
          <p:cNvPr id="17" name="Text 11"/>
          <p:cNvSpPr txBox="1"/>
          <p:nvPr/>
        </p:nvSpPr>
        <p:spPr>
          <a:xfrm>
            <a:off x="8813597" y="5367528"/>
            <a:ext cx="2646578" cy="9144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Highest AUC: 99.04% vs 98.86% (RF) and 98.96% (XGBoost)</a:t>
            </a:r>
            <a:endParaRPr lang="en-US" sz="1250" dirty="0"/>
          </a:p>
        </p:txBody>
      </p:sp>
      <p:sp>
        <p:nvSpPr>
          <p:cNvPr id="18" name="Text 12"/>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19" name="Text 13"/>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APT stages can be told apart, except exfiltration</a:t>
            </a:r>
            <a:endParaRPr lang="en-US" sz="3000" dirty="0"/>
          </a:p>
        </p:txBody>
      </p:sp>
      <p:pic>
        <p:nvPicPr>
          <p:cNvPr id="4" name="Image 0" descr="/private/tmp/claude-501/-Users-ashishjain-Documents-RIS-Mid-Eval/4e14a31e-25f5-4016-81db-47057b986f0d/scratchpad/deck/charts/stage_confusion.png">    </p:cNvPr>
          <p:cNvPicPr>
            <a:picLocks noChangeAspect="1"/>
          </p:cNvPicPr>
          <p:nvPr/>
        </p:nvPicPr>
        <p:blipFill>
          <a:blip r:embed="rId1"/>
          <a:stretch>
            <a:fillRect/>
          </a:stretch>
        </p:blipFill>
        <p:spPr>
          <a:xfrm>
            <a:off x="685800" y="1691640"/>
            <a:ext cx="4754880" cy="4480560"/>
          </a:xfrm>
          <a:prstGeom prst="rect">
            <a:avLst/>
          </a:prstGeom>
        </p:spPr>
      </p:pic>
      <p:sp>
        <p:nvSpPr>
          <p:cNvPr id="5" name="Text 2"/>
          <p:cNvSpPr txBox="1"/>
          <p:nvPr/>
        </p:nvSpPr>
        <p:spPr>
          <a:xfrm>
            <a:off x="5897880" y="1783080"/>
            <a:ext cx="5608015" cy="32004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Recall per stage  ·  hybrid, soft vote</a:t>
            </a:r>
            <a:endParaRPr lang="en-US" sz="1400" dirty="0"/>
          </a:p>
        </p:txBody>
      </p:sp>
      <p:sp>
        <p:nvSpPr>
          <p:cNvPr id="6" name="Shape 3"/>
          <p:cNvSpPr/>
          <p:nvPr/>
        </p:nvSpPr>
        <p:spPr>
          <a:xfrm>
            <a:off x="5897880" y="2304288"/>
            <a:ext cx="502920" cy="502920"/>
          </a:xfrm>
          <a:prstGeom prst="ellipse">
            <a:avLst/>
          </a:prstGeom>
          <a:solidFill>
            <a:srgbClr val="0B1526"/>
          </a:solidFill>
          <a:ln w="12700">
            <a:solidFill>
              <a:srgbClr val="0B1526"/>
            </a:solidFill>
            <a:prstDash val="solid"/>
          </a:ln>
        </p:spPr>
      </p:sp>
      <p:pic>
        <p:nvPicPr>
          <p:cNvPr id="7" name="Image 1" descr="preencoded.png">    </p:cNvPr>
          <p:cNvPicPr>
            <a:picLocks noChangeAspect="1"/>
          </p:cNvPicPr>
          <p:nvPr/>
        </p:nvPicPr>
        <p:blipFill>
          <a:blip r:embed="rId2"/>
          <a:stretch>
            <a:fillRect/>
          </a:stretch>
        </p:blipFill>
        <p:spPr>
          <a:xfrm>
            <a:off x="6033668" y="2440076"/>
            <a:ext cx="231343" cy="231343"/>
          </a:xfrm>
          <a:prstGeom prst="rect">
            <a:avLst/>
          </a:prstGeom>
        </p:spPr>
      </p:pic>
      <p:sp>
        <p:nvSpPr>
          <p:cNvPr id="8" name="Text 4"/>
          <p:cNvSpPr txBox="1"/>
          <p:nvPr/>
        </p:nvSpPr>
        <p:spPr>
          <a:xfrm>
            <a:off x="6611112" y="230428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Reconnaissance</a:t>
            </a:r>
            <a:endParaRPr lang="en-US" sz="1450" dirty="0"/>
          </a:p>
        </p:txBody>
      </p:sp>
      <p:sp>
        <p:nvSpPr>
          <p:cNvPr id="9" name="Text 5"/>
          <p:cNvSpPr txBox="1"/>
          <p:nvPr/>
        </p:nvSpPr>
        <p:spPr>
          <a:xfrm>
            <a:off x="6611112" y="259689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3,083 of 3,195 test flows</a:t>
            </a:r>
            <a:endParaRPr lang="en-US" sz="1150" dirty="0"/>
          </a:p>
        </p:txBody>
      </p:sp>
      <p:sp>
        <p:nvSpPr>
          <p:cNvPr id="10" name="Text 6"/>
          <p:cNvSpPr txBox="1"/>
          <p:nvPr/>
        </p:nvSpPr>
        <p:spPr>
          <a:xfrm>
            <a:off x="9464040" y="2286000"/>
            <a:ext cx="2041855" cy="548640"/>
          </a:xfrm>
          <a:prstGeom prst="rect">
            <a:avLst/>
          </a:prstGeom>
          <a:noFill/>
          <a:ln/>
        </p:spPr>
        <p:txBody>
          <a:bodyPr wrap="square" lIns="0" tIns="0" rIns="0" bIns="0" rtlCol="0" anchor="ctr"/>
          <a:lstStyle/>
          <a:p>
            <a:pPr algn="r" indent="0" marL="0">
              <a:buNone/>
            </a:pPr>
            <a:r>
              <a:rPr lang="en-US" sz="2600" dirty="0">
                <a:solidFill>
                  <a:srgbClr val="0B1526"/>
                </a:solidFill>
                <a:latin typeface="Georgia" pitchFamily="34" charset="0"/>
                <a:ea typeface="Georgia" pitchFamily="34" charset="-122"/>
                <a:cs typeface="Georgia" pitchFamily="34" charset="-120"/>
              </a:rPr>
              <a:t>96.5%</a:t>
            </a:r>
            <a:endParaRPr lang="en-US" sz="2600" dirty="0"/>
          </a:p>
        </p:txBody>
      </p:sp>
      <p:sp>
        <p:nvSpPr>
          <p:cNvPr id="11" name="Shape 7"/>
          <p:cNvSpPr/>
          <p:nvPr/>
        </p:nvSpPr>
        <p:spPr>
          <a:xfrm>
            <a:off x="5897880" y="2944368"/>
            <a:ext cx="5608015" cy="914"/>
          </a:xfrm>
          <a:prstGeom prst="line">
            <a:avLst/>
          </a:prstGeom>
          <a:noFill/>
          <a:ln w="9525">
            <a:solidFill>
              <a:srgbClr val="E2E6EC"/>
            </a:solidFill>
            <a:prstDash val="solid"/>
          </a:ln>
        </p:spPr>
      </p:sp>
      <p:sp>
        <p:nvSpPr>
          <p:cNvPr id="12" name="Shape 8"/>
          <p:cNvSpPr/>
          <p:nvPr/>
        </p:nvSpPr>
        <p:spPr>
          <a:xfrm>
            <a:off x="5897880" y="3081528"/>
            <a:ext cx="502920" cy="502920"/>
          </a:xfrm>
          <a:prstGeom prst="ellipse">
            <a:avLst/>
          </a:prstGeom>
          <a:solidFill>
            <a:srgbClr val="0B1526"/>
          </a:solidFill>
          <a:ln w="12700">
            <a:solidFill>
              <a:srgbClr val="0B1526"/>
            </a:solidFill>
            <a:prstDash val="solid"/>
          </a:ln>
        </p:spPr>
      </p:sp>
      <p:pic>
        <p:nvPicPr>
          <p:cNvPr id="13" name="Image 2" descr="preencoded.png">    </p:cNvPr>
          <p:cNvPicPr>
            <a:picLocks noChangeAspect="1"/>
          </p:cNvPicPr>
          <p:nvPr/>
        </p:nvPicPr>
        <p:blipFill>
          <a:blip r:embed="rId3"/>
          <a:stretch>
            <a:fillRect/>
          </a:stretch>
        </p:blipFill>
        <p:spPr>
          <a:xfrm>
            <a:off x="6033668" y="3217316"/>
            <a:ext cx="231343" cy="231343"/>
          </a:xfrm>
          <a:prstGeom prst="rect">
            <a:avLst/>
          </a:prstGeom>
        </p:spPr>
      </p:pic>
      <p:sp>
        <p:nvSpPr>
          <p:cNvPr id="14" name="Text 9"/>
          <p:cNvSpPr txBox="1"/>
          <p:nvPr/>
        </p:nvSpPr>
        <p:spPr>
          <a:xfrm>
            <a:off x="6611112" y="308152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Establish foothold</a:t>
            </a:r>
            <a:endParaRPr lang="en-US" sz="1450" dirty="0"/>
          </a:p>
        </p:txBody>
      </p:sp>
      <p:sp>
        <p:nvSpPr>
          <p:cNvPr id="15" name="Text 10"/>
          <p:cNvSpPr txBox="1"/>
          <p:nvPr/>
        </p:nvSpPr>
        <p:spPr>
          <a:xfrm>
            <a:off x="6611112" y="337413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1,816 of 1,850</a:t>
            </a:r>
            <a:endParaRPr lang="en-US" sz="1150" dirty="0"/>
          </a:p>
        </p:txBody>
      </p:sp>
      <p:sp>
        <p:nvSpPr>
          <p:cNvPr id="16" name="Text 11"/>
          <p:cNvSpPr txBox="1"/>
          <p:nvPr/>
        </p:nvSpPr>
        <p:spPr>
          <a:xfrm>
            <a:off x="9464040" y="3063240"/>
            <a:ext cx="2041855" cy="548640"/>
          </a:xfrm>
          <a:prstGeom prst="rect">
            <a:avLst/>
          </a:prstGeom>
          <a:noFill/>
          <a:ln/>
        </p:spPr>
        <p:txBody>
          <a:bodyPr wrap="square" lIns="0" tIns="0" rIns="0" bIns="0" rtlCol="0" anchor="ctr"/>
          <a:lstStyle/>
          <a:p>
            <a:pPr algn="r" indent="0" marL="0">
              <a:buNone/>
            </a:pPr>
            <a:r>
              <a:rPr lang="en-US" sz="2600" dirty="0">
                <a:solidFill>
                  <a:srgbClr val="0B1526"/>
                </a:solidFill>
                <a:latin typeface="Georgia" pitchFamily="34" charset="0"/>
                <a:ea typeface="Georgia" pitchFamily="34" charset="-122"/>
                <a:cs typeface="Georgia" pitchFamily="34" charset="-120"/>
              </a:rPr>
              <a:t>98.2%</a:t>
            </a:r>
            <a:endParaRPr lang="en-US" sz="2600" dirty="0"/>
          </a:p>
        </p:txBody>
      </p:sp>
      <p:sp>
        <p:nvSpPr>
          <p:cNvPr id="17" name="Shape 12"/>
          <p:cNvSpPr/>
          <p:nvPr/>
        </p:nvSpPr>
        <p:spPr>
          <a:xfrm>
            <a:off x="5897880" y="3721608"/>
            <a:ext cx="5608015" cy="914"/>
          </a:xfrm>
          <a:prstGeom prst="line">
            <a:avLst/>
          </a:prstGeom>
          <a:noFill/>
          <a:ln w="9525">
            <a:solidFill>
              <a:srgbClr val="E2E6EC"/>
            </a:solidFill>
            <a:prstDash val="solid"/>
          </a:ln>
        </p:spPr>
      </p:sp>
      <p:sp>
        <p:nvSpPr>
          <p:cNvPr id="18" name="Shape 13"/>
          <p:cNvSpPr/>
          <p:nvPr/>
        </p:nvSpPr>
        <p:spPr>
          <a:xfrm>
            <a:off x="5897880" y="3858768"/>
            <a:ext cx="502920" cy="502920"/>
          </a:xfrm>
          <a:prstGeom prst="ellipse">
            <a:avLst/>
          </a:prstGeom>
          <a:solidFill>
            <a:srgbClr val="0B1526"/>
          </a:solidFill>
          <a:ln w="12700">
            <a:solidFill>
              <a:srgbClr val="0B1526"/>
            </a:solidFill>
            <a:prstDash val="solid"/>
          </a:ln>
        </p:spPr>
      </p:sp>
      <p:pic>
        <p:nvPicPr>
          <p:cNvPr id="19" name="Image 3" descr="preencoded.png">    </p:cNvPr>
          <p:cNvPicPr>
            <a:picLocks noChangeAspect="1"/>
          </p:cNvPicPr>
          <p:nvPr/>
        </p:nvPicPr>
        <p:blipFill>
          <a:blip r:embed="rId4"/>
          <a:stretch>
            <a:fillRect/>
          </a:stretch>
        </p:blipFill>
        <p:spPr>
          <a:xfrm>
            <a:off x="6033668" y="3994556"/>
            <a:ext cx="231343" cy="231343"/>
          </a:xfrm>
          <a:prstGeom prst="rect">
            <a:avLst/>
          </a:prstGeom>
        </p:spPr>
      </p:pic>
      <p:sp>
        <p:nvSpPr>
          <p:cNvPr id="20" name="Text 14"/>
          <p:cNvSpPr txBox="1"/>
          <p:nvPr/>
        </p:nvSpPr>
        <p:spPr>
          <a:xfrm>
            <a:off x="6611112" y="385876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Lateral movement</a:t>
            </a:r>
            <a:endParaRPr lang="en-US" sz="1450" dirty="0"/>
          </a:p>
        </p:txBody>
      </p:sp>
      <p:sp>
        <p:nvSpPr>
          <p:cNvPr id="21" name="Text 15"/>
          <p:cNvSpPr txBox="1"/>
          <p:nvPr/>
        </p:nvSpPr>
        <p:spPr>
          <a:xfrm>
            <a:off x="6611112" y="415137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580 of 644</a:t>
            </a:r>
            <a:endParaRPr lang="en-US" sz="1150" dirty="0"/>
          </a:p>
        </p:txBody>
      </p:sp>
      <p:sp>
        <p:nvSpPr>
          <p:cNvPr id="22" name="Text 16"/>
          <p:cNvSpPr txBox="1"/>
          <p:nvPr/>
        </p:nvSpPr>
        <p:spPr>
          <a:xfrm>
            <a:off x="9464040" y="3840480"/>
            <a:ext cx="2041855" cy="548640"/>
          </a:xfrm>
          <a:prstGeom prst="rect">
            <a:avLst/>
          </a:prstGeom>
          <a:noFill/>
          <a:ln/>
        </p:spPr>
        <p:txBody>
          <a:bodyPr wrap="square" lIns="0" tIns="0" rIns="0" bIns="0" rtlCol="0" anchor="ctr"/>
          <a:lstStyle/>
          <a:p>
            <a:pPr algn="r" indent="0" marL="0">
              <a:buNone/>
            </a:pPr>
            <a:r>
              <a:rPr lang="en-US" sz="2600" dirty="0">
                <a:solidFill>
                  <a:srgbClr val="0B1526"/>
                </a:solidFill>
                <a:latin typeface="Georgia" pitchFamily="34" charset="0"/>
                <a:ea typeface="Georgia" pitchFamily="34" charset="-122"/>
                <a:cs typeface="Georgia" pitchFamily="34" charset="-120"/>
              </a:rPr>
              <a:t>90.1%</a:t>
            </a:r>
            <a:endParaRPr lang="en-US" sz="2600" dirty="0"/>
          </a:p>
        </p:txBody>
      </p:sp>
      <p:sp>
        <p:nvSpPr>
          <p:cNvPr id="23" name="Shape 17"/>
          <p:cNvSpPr/>
          <p:nvPr/>
        </p:nvSpPr>
        <p:spPr>
          <a:xfrm>
            <a:off x="5897880" y="4498848"/>
            <a:ext cx="5608015" cy="914"/>
          </a:xfrm>
          <a:prstGeom prst="line">
            <a:avLst/>
          </a:prstGeom>
          <a:noFill/>
          <a:ln w="9525">
            <a:solidFill>
              <a:srgbClr val="E2E6EC"/>
            </a:solidFill>
            <a:prstDash val="solid"/>
          </a:ln>
        </p:spPr>
      </p:sp>
      <p:sp>
        <p:nvSpPr>
          <p:cNvPr id="24" name="Shape 18"/>
          <p:cNvSpPr/>
          <p:nvPr/>
        </p:nvSpPr>
        <p:spPr>
          <a:xfrm>
            <a:off x="5897880" y="4636008"/>
            <a:ext cx="502920" cy="502920"/>
          </a:xfrm>
          <a:prstGeom prst="ellipse">
            <a:avLst/>
          </a:prstGeom>
          <a:solidFill>
            <a:srgbClr val="E0533A"/>
          </a:solidFill>
          <a:ln w="12700">
            <a:solidFill>
              <a:srgbClr val="E0533A"/>
            </a:solidFill>
            <a:prstDash val="solid"/>
          </a:ln>
        </p:spPr>
      </p:sp>
      <p:pic>
        <p:nvPicPr>
          <p:cNvPr id="25" name="Image 4" descr="preencoded.png">    </p:cNvPr>
          <p:cNvPicPr>
            <a:picLocks noChangeAspect="1"/>
          </p:cNvPicPr>
          <p:nvPr/>
        </p:nvPicPr>
        <p:blipFill>
          <a:blip r:embed="rId5"/>
          <a:stretch>
            <a:fillRect/>
          </a:stretch>
        </p:blipFill>
        <p:spPr>
          <a:xfrm>
            <a:off x="6033668" y="4771796"/>
            <a:ext cx="231343" cy="231343"/>
          </a:xfrm>
          <a:prstGeom prst="rect">
            <a:avLst/>
          </a:prstGeom>
        </p:spPr>
      </p:pic>
      <p:sp>
        <p:nvSpPr>
          <p:cNvPr id="26" name="Text 19"/>
          <p:cNvSpPr txBox="1"/>
          <p:nvPr/>
        </p:nvSpPr>
        <p:spPr>
          <a:xfrm>
            <a:off x="6611112" y="463600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Data exfiltration</a:t>
            </a:r>
            <a:endParaRPr lang="en-US" sz="1450" dirty="0"/>
          </a:p>
        </p:txBody>
      </p:sp>
      <p:sp>
        <p:nvSpPr>
          <p:cNvPr id="27" name="Text 20"/>
          <p:cNvSpPr txBox="1"/>
          <p:nvPr/>
        </p:nvSpPr>
        <p:spPr>
          <a:xfrm>
            <a:off x="6611112" y="492861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only 15 flows in the whole dataset</a:t>
            </a:r>
            <a:endParaRPr lang="en-US" sz="1150" dirty="0"/>
          </a:p>
        </p:txBody>
      </p:sp>
      <p:sp>
        <p:nvSpPr>
          <p:cNvPr id="28" name="Text 21"/>
          <p:cNvSpPr txBox="1"/>
          <p:nvPr/>
        </p:nvSpPr>
        <p:spPr>
          <a:xfrm>
            <a:off x="9464040" y="4617720"/>
            <a:ext cx="2041855" cy="548640"/>
          </a:xfrm>
          <a:prstGeom prst="rect">
            <a:avLst/>
          </a:prstGeom>
          <a:noFill/>
          <a:ln/>
        </p:spPr>
        <p:txBody>
          <a:bodyPr wrap="square" lIns="0" tIns="0" rIns="0" bIns="0" rtlCol="0" anchor="ctr"/>
          <a:lstStyle/>
          <a:p>
            <a:pPr algn="r" indent="0" marL="0">
              <a:buNone/>
            </a:pPr>
            <a:r>
              <a:rPr lang="en-US" sz="2600" dirty="0">
                <a:solidFill>
                  <a:srgbClr val="E0533A"/>
                </a:solidFill>
                <a:latin typeface="Georgia" pitchFamily="34" charset="0"/>
                <a:ea typeface="Georgia" pitchFamily="34" charset="-122"/>
                <a:cs typeface="Georgia" pitchFamily="34" charset="-120"/>
              </a:rPr>
              <a:t>2 of 5</a:t>
            </a:r>
            <a:endParaRPr lang="en-US" sz="2600" dirty="0"/>
          </a:p>
        </p:txBody>
      </p:sp>
      <p:sp>
        <p:nvSpPr>
          <p:cNvPr id="29" name="Shape 22"/>
          <p:cNvSpPr/>
          <p:nvPr/>
        </p:nvSpPr>
        <p:spPr>
          <a:xfrm>
            <a:off x="5897880" y="5486400"/>
            <a:ext cx="5608015" cy="658368"/>
          </a:xfrm>
          <a:prstGeom prst="roundRect">
            <a:avLst>
              <a:gd name="adj" fmla="val 8333"/>
            </a:avLst>
          </a:prstGeom>
          <a:solidFill>
            <a:srgbClr val="EAF1FB"/>
          </a:solidFill>
          <a:ln w="12700">
            <a:solidFill>
              <a:srgbClr val="EAF1FB"/>
            </a:solidFill>
            <a:prstDash val="solid"/>
          </a:ln>
        </p:spPr>
      </p:sp>
      <p:sp>
        <p:nvSpPr>
          <p:cNvPr id="30" name="Text 23"/>
          <p:cNvSpPr txBox="1"/>
          <p:nvPr/>
        </p:nvSpPr>
        <p:spPr>
          <a:xfrm>
            <a:off x="6126480" y="5486400"/>
            <a:ext cx="5150815" cy="658368"/>
          </a:xfrm>
          <a:prstGeom prst="rect">
            <a:avLst/>
          </a:prstGeom>
          <a:noFill/>
          <a:ln/>
        </p:spPr>
        <p:txBody>
          <a:bodyPr wrap="square" lIns="0" tIns="0" rIns="0" bIns="0" rtlCol="0" anchor="ctr"/>
          <a:lstStyle/>
          <a:p>
            <a:pPr indent="0" marL="0">
              <a:buNone/>
            </a:pPr>
            <a:r>
              <a:rPr lang="en-US" sz="1200" dirty="0">
                <a:solidFill>
                  <a:srgbClr val="0F1B2D"/>
                </a:solidFill>
                <a:latin typeface="Arial" pitchFamily="34" charset="0"/>
                <a:ea typeface="Arial" pitchFamily="34" charset="-122"/>
                <a:cs typeface="Arial" pitchFamily="34" charset="-120"/>
              </a:rPr>
              <a:t>Best macro F1: Random Forest 78.9%, hybrid (soft vote) 77.9%. 96.9% of APT flows are flagged as some stage.</a:t>
            </a:r>
            <a:endParaRPr lang="en-US" sz="1200" dirty="0"/>
          </a:p>
        </p:txBody>
      </p:sp>
      <p:sp>
        <p:nvSpPr>
          <p:cNvPr id="31" name="Text 24"/>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2" name="Text 25"/>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About half the false alarms point to label noise</a:t>
            </a:r>
            <a:endParaRPr lang="en-US" sz="3000" dirty="0"/>
          </a:p>
        </p:txBody>
      </p:sp>
      <p:sp>
        <p:nvSpPr>
          <p:cNvPr id="4" name="Shape 2"/>
          <p:cNvSpPr/>
          <p:nvPr/>
        </p:nvSpPr>
        <p:spPr>
          <a:xfrm>
            <a:off x="685800" y="1783080"/>
            <a:ext cx="4983480" cy="2103120"/>
          </a:xfrm>
          <a:prstGeom prst="roundRect">
            <a:avLst>
              <a:gd name="adj" fmla="val 2609"/>
            </a:avLst>
          </a:prstGeom>
          <a:solidFill>
            <a:srgbClr val="FDEEEA"/>
          </a:solidFill>
          <a:ln w="12700">
            <a:solidFill>
              <a:srgbClr val="FDEEEA"/>
            </a:solidFill>
            <a:prstDash val="solid"/>
          </a:ln>
        </p:spPr>
      </p:sp>
      <p:sp>
        <p:nvSpPr>
          <p:cNvPr id="5" name="Text 3"/>
          <p:cNvSpPr txBox="1"/>
          <p:nvPr/>
        </p:nvSpPr>
        <p:spPr>
          <a:xfrm>
            <a:off x="1051560" y="1965960"/>
            <a:ext cx="2743200" cy="777240"/>
          </a:xfrm>
          <a:prstGeom prst="rect">
            <a:avLst/>
          </a:prstGeom>
          <a:noFill/>
          <a:ln/>
        </p:spPr>
        <p:txBody>
          <a:bodyPr wrap="square" lIns="0" tIns="0" rIns="0" bIns="0" rtlCol="0" anchor="t"/>
          <a:lstStyle/>
          <a:p>
            <a:pPr indent="0" marL="0">
              <a:buNone/>
            </a:pPr>
            <a:r>
              <a:rPr lang="en-US" sz="4400" dirty="0">
                <a:solidFill>
                  <a:srgbClr val="E0533A"/>
                </a:solidFill>
                <a:latin typeface="Georgia" pitchFamily="34" charset="0"/>
                <a:ea typeface="Georgia" pitchFamily="34" charset="-122"/>
                <a:cs typeface="Georgia" pitchFamily="34" charset="-120"/>
              </a:rPr>
              <a:t>54.9%</a:t>
            </a:r>
            <a:endParaRPr lang="en-US" sz="4400" dirty="0"/>
          </a:p>
        </p:txBody>
      </p:sp>
      <p:sp>
        <p:nvSpPr>
          <p:cNvPr id="6" name="Text 4"/>
          <p:cNvSpPr txBox="1"/>
          <p:nvPr/>
        </p:nvSpPr>
        <p:spPr>
          <a:xfrm>
            <a:off x="1051560" y="2788920"/>
            <a:ext cx="4297680" cy="9144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of the hybrid's false alarms are 'benign'-labelled flows to or from the attacker's own hosts, mostly in the reconnaissance capture</a:t>
            </a:r>
            <a:endParaRPr lang="en-US" sz="1300" dirty="0"/>
          </a:p>
        </p:txBody>
      </p:sp>
      <p:sp>
        <p:nvSpPr>
          <p:cNvPr id="7" name="Shape 5"/>
          <p:cNvSpPr/>
          <p:nvPr/>
        </p:nvSpPr>
        <p:spPr>
          <a:xfrm>
            <a:off x="685800" y="4069080"/>
            <a:ext cx="4983480" cy="2057400"/>
          </a:xfrm>
          <a:prstGeom prst="roundRect">
            <a:avLst>
              <a:gd name="adj" fmla="val 2667"/>
            </a:avLst>
          </a:prstGeom>
          <a:solidFill>
            <a:srgbClr val="EAF1FB"/>
          </a:solidFill>
          <a:ln w="12700">
            <a:solidFill>
              <a:srgbClr val="EAF1FB"/>
            </a:solidFill>
            <a:prstDash val="solid"/>
          </a:ln>
        </p:spPr>
      </p:sp>
      <p:sp>
        <p:nvSpPr>
          <p:cNvPr id="8" name="Text 6"/>
          <p:cNvSpPr txBox="1"/>
          <p:nvPr/>
        </p:nvSpPr>
        <p:spPr>
          <a:xfrm>
            <a:off x="1051560" y="4251960"/>
            <a:ext cx="2743200" cy="777240"/>
          </a:xfrm>
          <a:prstGeom prst="rect">
            <a:avLst/>
          </a:prstGeom>
          <a:noFill/>
          <a:ln/>
        </p:spPr>
        <p:txBody>
          <a:bodyPr wrap="square" lIns="0" tIns="0" rIns="0" bIns="0" rtlCol="0" anchor="t"/>
          <a:lstStyle/>
          <a:p>
            <a:pPr indent="0" marL="0">
              <a:buNone/>
            </a:pPr>
            <a:r>
              <a:rPr lang="en-US" sz="4400" dirty="0">
                <a:solidFill>
                  <a:srgbClr val="2A78D6"/>
                </a:solidFill>
                <a:latin typeface="Georgia" pitchFamily="34" charset="0"/>
                <a:ea typeface="Georgia" pitchFamily="34" charset="-122"/>
                <a:cs typeface="Georgia" pitchFamily="34" charset="-120"/>
              </a:rPr>
              <a:t>3.07%</a:t>
            </a:r>
            <a:endParaRPr lang="en-US" sz="4400" dirty="0"/>
          </a:p>
        </p:txBody>
      </p:sp>
      <p:sp>
        <p:nvSpPr>
          <p:cNvPr id="9" name="Text 7"/>
          <p:cNvSpPr txBox="1"/>
          <p:nvPr/>
        </p:nvSpPr>
        <p:spPr>
          <a:xfrm>
            <a:off x="1051560" y="5074920"/>
            <a:ext cx="4297680" cy="86868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false positive rate on benign traffic that does not involve an attacker host (5.99% overall)</a:t>
            </a:r>
            <a:endParaRPr lang="en-US" sz="1300" dirty="0"/>
          </a:p>
        </p:txBody>
      </p:sp>
      <p:sp>
        <p:nvSpPr>
          <p:cNvPr id="10" name="Text 8"/>
          <p:cNvSpPr txBox="1"/>
          <p:nvPr/>
        </p:nvSpPr>
        <p:spPr>
          <a:xfrm>
            <a:off x="6016752" y="1783080"/>
            <a:ext cx="5489143" cy="32004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Missed APT flows by activity</a:t>
            </a:r>
            <a:pPr indent="0" marL="0">
              <a:buNone/>
            </a:pPr>
            <a:r>
              <a:rPr lang="en-US" sz="1150" dirty="0">
                <a:solidFill>
                  <a:srgbClr val="8A94A3"/>
                </a:solidFill>
                <a:latin typeface="Arial" pitchFamily="34" charset="0"/>
                <a:ea typeface="Arial" pitchFamily="34" charset="-122"/>
                <a:cs typeface="Arial" pitchFamily="34" charset="-120"/>
              </a:rPr>
              <a:t>   ·   red = rare, low-volume steps</a:t>
            </a:r>
            <a:endParaRPr lang="en-US" sz="1400" dirty="0"/>
          </a:p>
        </p:txBody>
      </p:sp>
      <p:pic>
        <p:nvPicPr>
          <p:cNvPr id="11" name="Image 0" descr="/private/tmp/claude-501/-Users-ashishjain-Documents-RIS-Mid-Eval/4e14a31e-25f5-4016-81db-47057b986f0d/scratchpad/deck/charts/missed_by_activity.png">    </p:cNvPr>
          <p:cNvPicPr>
            <a:picLocks noChangeAspect="1"/>
          </p:cNvPicPr>
          <p:nvPr/>
        </p:nvPicPr>
        <p:blipFill>
          <a:blip r:embed="rId1"/>
          <a:stretch>
            <a:fillRect/>
          </a:stretch>
        </p:blipFill>
        <p:spPr>
          <a:xfrm>
            <a:off x="6016752" y="2148840"/>
            <a:ext cx="5486400" cy="4023360"/>
          </a:xfrm>
          <a:prstGeom prst="rect">
            <a:avLst/>
          </a:prstGeom>
        </p:spPr>
      </p:pic>
      <p:sp>
        <p:nvSpPr>
          <p:cNvPr id="12" name="Text 9"/>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13" name="Text 10"/>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526"/>
        </a:solidFill>
      </p:bgPr>
    </p:bg>
    <p:spTree>
      <p:nvGrpSpPr>
        <p:cNvPr id="1" name=""/>
        <p:cNvGrpSpPr/>
        <p:nvPr/>
      </p:nvGrpSpPr>
      <p:grpSpPr>
        <a:xfrm>
          <a:off x="0" y="0"/>
          <a:ext cx="0" cy="0"/>
          <a:chOff x="0" y="0"/>
          <a:chExt cx="0" cy="0"/>
        </a:xfrm>
      </p:grpSpPr>
      <p:sp>
        <p:nvSpPr>
          <p:cNvPr id="2" name="Shape 0"/>
          <p:cNvSpPr/>
          <p:nvPr/>
        </p:nvSpPr>
        <p:spPr>
          <a:xfrm>
            <a:off x="6515821" y="914941"/>
            <a:ext cx="277059" cy="946649"/>
          </a:xfrm>
          <a:prstGeom prst="line">
            <a:avLst/>
          </a:prstGeom>
          <a:noFill/>
          <a:ln w="9525">
            <a:solidFill>
              <a:srgbClr val="2C3E5C"/>
            </a:solidFill>
            <a:prstDash val="solid"/>
          </a:ln>
        </p:spPr>
      </p:sp>
      <p:sp>
        <p:nvSpPr>
          <p:cNvPr id="3" name="Shape 1"/>
          <p:cNvSpPr/>
          <p:nvPr/>
        </p:nvSpPr>
        <p:spPr>
          <a:xfrm flipV="1">
            <a:off x="6515821" y="607319"/>
            <a:ext cx="1145935" cy="307622"/>
          </a:xfrm>
          <a:prstGeom prst="line">
            <a:avLst/>
          </a:prstGeom>
          <a:noFill/>
          <a:ln w="9525">
            <a:solidFill>
              <a:srgbClr val="2C3E5C"/>
            </a:solidFill>
            <a:prstDash val="solid"/>
          </a:ln>
        </p:spPr>
      </p:sp>
      <p:sp>
        <p:nvSpPr>
          <p:cNvPr id="4" name="Shape 2"/>
          <p:cNvSpPr/>
          <p:nvPr/>
        </p:nvSpPr>
        <p:spPr>
          <a:xfrm>
            <a:off x="7661756" y="607319"/>
            <a:ext cx="1042580" cy="100068"/>
          </a:xfrm>
          <a:prstGeom prst="line">
            <a:avLst/>
          </a:prstGeom>
          <a:noFill/>
          <a:ln w="9525">
            <a:solidFill>
              <a:srgbClr val="2C3E5C"/>
            </a:solidFill>
            <a:prstDash val="solid"/>
          </a:ln>
        </p:spPr>
      </p:sp>
      <p:sp>
        <p:nvSpPr>
          <p:cNvPr id="5" name="Shape 3"/>
          <p:cNvSpPr/>
          <p:nvPr/>
        </p:nvSpPr>
        <p:spPr>
          <a:xfrm flipH="1">
            <a:off x="8687252" y="707387"/>
            <a:ext cx="17084" cy="700563"/>
          </a:xfrm>
          <a:prstGeom prst="line">
            <a:avLst/>
          </a:prstGeom>
          <a:noFill/>
          <a:ln w="12700">
            <a:solidFill>
              <a:srgbClr val="E0533A">
                <a:alpha val="55000"/>
              </a:srgbClr>
            </a:solidFill>
            <a:prstDash val="solid"/>
          </a:ln>
        </p:spPr>
      </p:sp>
      <p:sp>
        <p:nvSpPr>
          <p:cNvPr id="6" name="Shape 4"/>
          <p:cNvSpPr/>
          <p:nvPr/>
        </p:nvSpPr>
        <p:spPr>
          <a:xfrm>
            <a:off x="9804542" y="977341"/>
            <a:ext cx="617824" cy="92223"/>
          </a:xfrm>
          <a:prstGeom prst="line">
            <a:avLst/>
          </a:prstGeom>
          <a:noFill/>
          <a:ln w="9525">
            <a:solidFill>
              <a:srgbClr val="2C3E5C"/>
            </a:solidFill>
            <a:prstDash val="solid"/>
          </a:ln>
        </p:spPr>
      </p:sp>
      <p:sp>
        <p:nvSpPr>
          <p:cNvPr id="7" name="Shape 5"/>
          <p:cNvSpPr/>
          <p:nvPr/>
        </p:nvSpPr>
        <p:spPr>
          <a:xfrm>
            <a:off x="9804542" y="977341"/>
            <a:ext cx="716046" cy="481486"/>
          </a:xfrm>
          <a:prstGeom prst="line">
            <a:avLst/>
          </a:prstGeom>
          <a:noFill/>
          <a:ln w="9525">
            <a:solidFill>
              <a:srgbClr val="2C3E5C"/>
            </a:solidFill>
            <a:prstDash val="solid"/>
          </a:ln>
        </p:spPr>
      </p:sp>
      <p:sp>
        <p:nvSpPr>
          <p:cNvPr id="8" name="Shape 6"/>
          <p:cNvSpPr/>
          <p:nvPr/>
        </p:nvSpPr>
        <p:spPr>
          <a:xfrm>
            <a:off x="10422366" y="1069563"/>
            <a:ext cx="98222" cy="389263"/>
          </a:xfrm>
          <a:prstGeom prst="line">
            <a:avLst/>
          </a:prstGeom>
          <a:noFill/>
          <a:ln w="9525">
            <a:solidFill>
              <a:srgbClr val="2C3E5C"/>
            </a:solidFill>
            <a:prstDash val="solid"/>
          </a:ln>
        </p:spPr>
      </p:sp>
      <p:sp>
        <p:nvSpPr>
          <p:cNvPr id="9" name="Shape 7"/>
          <p:cNvSpPr/>
          <p:nvPr/>
        </p:nvSpPr>
        <p:spPr>
          <a:xfrm flipH="1">
            <a:off x="10964788" y="814890"/>
            <a:ext cx="662161" cy="803818"/>
          </a:xfrm>
          <a:prstGeom prst="line">
            <a:avLst/>
          </a:prstGeom>
          <a:noFill/>
          <a:ln w="9525">
            <a:solidFill>
              <a:srgbClr val="2C3E5C"/>
            </a:solidFill>
            <a:prstDash val="solid"/>
          </a:ln>
        </p:spPr>
      </p:sp>
      <p:sp>
        <p:nvSpPr>
          <p:cNvPr id="10" name="Shape 8"/>
          <p:cNvSpPr/>
          <p:nvPr/>
        </p:nvSpPr>
        <p:spPr>
          <a:xfrm flipV="1">
            <a:off x="10422366" y="814890"/>
            <a:ext cx="1204583" cy="254673"/>
          </a:xfrm>
          <a:prstGeom prst="line">
            <a:avLst/>
          </a:prstGeom>
          <a:noFill/>
          <a:ln w="9525">
            <a:solidFill>
              <a:srgbClr val="2C3E5C"/>
            </a:solidFill>
            <a:prstDash val="solid"/>
          </a:ln>
        </p:spPr>
      </p:sp>
      <p:sp>
        <p:nvSpPr>
          <p:cNvPr id="11" name="Shape 9"/>
          <p:cNvSpPr/>
          <p:nvPr/>
        </p:nvSpPr>
        <p:spPr>
          <a:xfrm>
            <a:off x="6792880" y="1861590"/>
            <a:ext cx="826485" cy="511415"/>
          </a:xfrm>
          <a:prstGeom prst="line">
            <a:avLst/>
          </a:prstGeom>
          <a:noFill/>
          <a:ln w="9525">
            <a:solidFill>
              <a:srgbClr val="2C3E5C"/>
            </a:solidFill>
            <a:prstDash val="solid"/>
          </a:ln>
        </p:spPr>
      </p:sp>
      <p:sp>
        <p:nvSpPr>
          <p:cNvPr id="12" name="Shape 10"/>
          <p:cNvSpPr/>
          <p:nvPr/>
        </p:nvSpPr>
        <p:spPr>
          <a:xfrm flipH="1">
            <a:off x="8394481" y="1407950"/>
            <a:ext cx="292772" cy="1141601"/>
          </a:xfrm>
          <a:prstGeom prst="line">
            <a:avLst/>
          </a:prstGeom>
          <a:noFill/>
          <a:ln w="12700">
            <a:solidFill>
              <a:srgbClr val="E0533A">
                <a:alpha val="55000"/>
              </a:srgbClr>
            </a:solidFill>
            <a:prstDash val="solid"/>
          </a:ln>
        </p:spPr>
      </p:sp>
      <p:sp>
        <p:nvSpPr>
          <p:cNvPr id="13" name="Shape 11"/>
          <p:cNvSpPr/>
          <p:nvPr/>
        </p:nvSpPr>
        <p:spPr>
          <a:xfrm>
            <a:off x="10520588" y="1458826"/>
            <a:ext cx="444200" cy="159881"/>
          </a:xfrm>
          <a:prstGeom prst="line">
            <a:avLst/>
          </a:prstGeom>
          <a:noFill/>
          <a:ln w="9525">
            <a:solidFill>
              <a:srgbClr val="2C3E5C"/>
            </a:solidFill>
            <a:prstDash val="solid"/>
          </a:ln>
        </p:spPr>
      </p:sp>
      <p:sp>
        <p:nvSpPr>
          <p:cNvPr id="14" name="Shape 12"/>
          <p:cNvSpPr/>
          <p:nvPr/>
        </p:nvSpPr>
        <p:spPr>
          <a:xfrm>
            <a:off x="10422366" y="1069563"/>
            <a:ext cx="542422" cy="549144"/>
          </a:xfrm>
          <a:prstGeom prst="line">
            <a:avLst/>
          </a:prstGeom>
          <a:noFill/>
          <a:ln w="9525">
            <a:solidFill>
              <a:srgbClr val="2C3E5C"/>
            </a:solidFill>
            <a:prstDash val="solid"/>
          </a:ln>
        </p:spPr>
      </p:sp>
      <p:sp>
        <p:nvSpPr>
          <p:cNvPr id="15" name="Shape 13"/>
          <p:cNvSpPr/>
          <p:nvPr/>
        </p:nvSpPr>
        <p:spPr>
          <a:xfrm>
            <a:off x="7619365" y="2373005"/>
            <a:ext cx="775115" cy="176546"/>
          </a:xfrm>
          <a:prstGeom prst="line">
            <a:avLst/>
          </a:prstGeom>
          <a:noFill/>
          <a:ln w="9525">
            <a:solidFill>
              <a:srgbClr val="2C3E5C"/>
            </a:solidFill>
            <a:prstDash val="solid"/>
          </a:ln>
        </p:spPr>
      </p:sp>
      <p:sp>
        <p:nvSpPr>
          <p:cNvPr id="16" name="Shape 14"/>
          <p:cNvSpPr/>
          <p:nvPr/>
        </p:nvSpPr>
        <p:spPr>
          <a:xfrm>
            <a:off x="8394481" y="2549551"/>
            <a:ext cx="30952" cy="679828"/>
          </a:xfrm>
          <a:prstGeom prst="line">
            <a:avLst/>
          </a:prstGeom>
          <a:noFill/>
          <a:ln w="9525">
            <a:solidFill>
              <a:srgbClr val="2C3E5C"/>
            </a:solidFill>
            <a:prstDash val="solid"/>
          </a:ln>
        </p:spPr>
      </p:sp>
      <p:sp>
        <p:nvSpPr>
          <p:cNvPr id="17" name="Shape 15"/>
          <p:cNvSpPr/>
          <p:nvPr/>
        </p:nvSpPr>
        <p:spPr>
          <a:xfrm flipH="1">
            <a:off x="9275770" y="2853794"/>
            <a:ext cx="84906" cy="731213"/>
          </a:xfrm>
          <a:prstGeom prst="line">
            <a:avLst/>
          </a:prstGeom>
          <a:noFill/>
          <a:ln w="9525">
            <a:solidFill>
              <a:srgbClr val="2C3E5C"/>
            </a:solidFill>
            <a:prstDash val="solid"/>
          </a:ln>
        </p:spPr>
      </p:sp>
      <p:sp>
        <p:nvSpPr>
          <p:cNvPr id="18" name="Shape 16"/>
          <p:cNvSpPr/>
          <p:nvPr/>
        </p:nvSpPr>
        <p:spPr>
          <a:xfrm flipV="1">
            <a:off x="9360676" y="2752313"/>
            <a:ext cx="937852" cy="101481"/>
          </a:xfrm>
          <a:prstGeom prst="line">
            <a:avLst/>
          </a:prstGeom>
          <a:noFill/>
          <a:ln w="9525">
            <a:solidFill>
              <a:srgbClr val="2C3E5C"/>
            </a:solidFill>
            <a:prstDash val="solid"/>
          </a:ln>
        </p:spPr>
      </p:sp>
      <p:sp>
        <p:nvSpPr>
          <p:cNvPr id="19" name="Shape 17"/>
          <p:cNvSpPr/>
          <p:nvPr/>
        </p:nvSpPr>
        <p:spPr>
          <a:xfrm>
            <a:off x="10298528" y="2752313"/>
            <a:ext cx="132550" cy="443989"/>
          </a:xfrm>
          <a:prstGeom prst="line">
            <a:avLst/>
          </a:prstGeom>
          <a:noFill/>
          <a:ln w="12700">
            <a:solidFill>
              <a:srgbClr val="E0533A">
                <a:alpha val="55000"/>
              </a:srgbClr>
            </a:solidFill>
            <a:prstDash val="solid"/>
          </a:ln>
        </p:spPr>
      </p:sp>
      <p:sp>
        <p:nvSpPr>
          <p:cNvPr id="20" name="Shape 18"/>
          <p:cNvSpPr/>
          <p:nvPr/>
        </p:nvSpPr>
        <p:spPr>
          <a:xfrm>
            <a:off x="10298528" y="2752313"/>
            <a:ext cx="713014" cy="73097"/>
          </a:xfrm>
          <a:prstGeom prst="line">
            <a:avLst/>
          </a:prstGeom>
          <a:noFill/>
          <a:ln w="9525">
            <a:solidFill>
              <a:srgbClr val="2C3E5C"/>
            </a:solidFill>
            <a:prstDash val="solid"/>
          </a:ln>
        </p:spPr>
      </p:sp>
      <p:sp>
        <p:nvSpPr>
          <p:cNvPr id="21" name="Shape 19"/>
          <p:cNvSpPr/>
          <p:nvPr/>
        </p:nvSpPr>
        <p:spPr>
          <a:xfrm>
            <a:off x="11011542" y="2825410"/>
            <a:ext cx="171653" cy="370086"/>
          </a:xfrm>
          <a:prstGeom prst="line">
            <a:avLst/>
          </a:prstGeom>
          <a:noFill/>
          <a:ln w="9525">
            <a:solidFill>
              <a:srgbClr val="2C3E5C"/>
            </a:solidFill>
            <a:prstDash val="solid"/>
          </a:ln>
        </p:spPr>
      </p:sp>
      <p:sp>
        <p:nvSpPr>
          <p:cNvPr id="22" name="Shape 20"/>
          <p:cNvSpPr/>
          <p:nvPr/>
        </p:nvSpPr>
        <p:spPr>
          <a:xfrm flipH="1">
            <a:off x="10431078" y="2825410"/>
            <a:ext cx="580464" cy="370892"/>
          </a:xfrm>
          <a:prstGeom prst="line">
            <a:avLst/>
          </a:prstGeom>
          <a:noFill/>
          <a:ln w="12700">
            <a:solidFill>
              <a:srgbClr val="E0533A">
                <a:alpha val="55000"/>
              </a:srgbClr>
            </a:solidFill>
            <a:prstDash val="solid"/>
          </a:ln>
        </p:spPr>
      </p:sp>
      <p:sp>
        <p:nvSpPr>
          <p:cNvPr id="23" name="Shape 21"/>
          <p:cNvSpPr/>
          <p:nvPr/>
        </p:nvSpPr>
        <p:spPr>
          <a:xfrm flipH="1">
            <a:off x="6533097" y="3475266"/>
            <a:ext cx="24389" cy="758460"/>
          </a:xfrm>
          <a:prstGeom prst="line">
            <a:avLst/>
          </a:prstGeom>
          <a:noFill/>
          <a:ln w="9525">
            <a:solidFill>
              <a:srgbClr val="2C3E5C"/>
            </a:solidFill>
            <a:prstDash val="solid"/>
          </a:ln>
        </p:spPr>
      </p:sp>
      <p:sp>
        <p:nvSpPr>
          <p:cNvPr id="24" name="Shape 22"/>
          <p:cNvSpPr/>
          <p:nvPr/>
        </p:nvSpPr>
        <p:spPr>
          <a:xfrm>
            <a:off x="6557486" y="3475266"/>
            <a:ext cx="1049274" cy="107222"/>
          </a:xfrm>
          <a:prstGeom prst="line">
            <a:avLst/>
          </a:prstGeom>
          <a:noFill/>
          <a:ln w="9525">
            <a:solidFill>
              <a:srgbClr val="2C3E5C"/>
            </a:solidFill>
            <a:prstDash val="solid"/>
          </a:ln>
        </p:spPr>
      </p:sp>
      <p:sp>
        <p:nvSpPr>
          <p:cNvPr id="25" name="Shape 23"/>
          <p:cNvSpPr/>
          <p:nvPr/>
        </p:nvSpPr>
        <p:spPr>
          <a:xfrm flipV="1">
            <a:off x="7606760" y="3229378"/>
            <a:ext cx="818673" cy="353110"/>
          </a:xfrm>
          <a:prstGeom prst="line">
            <a:avLst/>
          </a:prstGeom>
          <a:noFill/>
          <a:ln w="9525">
            <a:solidFill>
              <a:srgbClr val="2C3E5C"/>
            </a:solidFill>
            <a:prstDash val="solid"/>
          </a:ln>
        </p:spPr>
      </p:sp>
      <p:sp>
        <p:nvSpPr>
          <p:cNvPr id="26" name="Shape 24"/>
          <p:cNvSpPr/>
          <p:nvPr/>
        </p:nvSpPr>
        <p:spPr>
          <a:xfrm flipH="1">
            <a:off x="7520127" y="3582488"/>
            <a:ext cx="86632" cy="929919"/>
          </a:xfrm>
          <a:prstGeom prst="line">
            <a:avLst/>
          </a:prstGeom>
          <a:noFill/>
          <a:ln w="9525">
            <a:solidFill>
              <a:srgbClr val="2C3E5C"/>
            </a:solidFill>
            <a:prstDash val="solid"/>
          </a:ln>
        </p:spPr>
      </p:sp>
      <p:sp>
        <p:nvSpPr>
          <p:cNvPr id="27" name="Shape 25"/>
          <p:cNvSpPr/>
          <p:nvPr/>
        </p:nvSpPr>
        <p:spPr>
          <a:xfrm>
            <a:off x="9275770" y="3585007"/>
            <a:ext cx="473909" cy="559045"/>
          </a:xfrm>
          <a:prstGeom prst="line">
            <a:avLst/>
          </a:prstGeom>
          <a:noFill/>
          <a:ln w="9525">
            <a:solidFill>
              <a:srgbClr val="2C3E5C"/>
            </a:solidFill>
            <a:prstDash val="solid"/>
          </a:ln>
        </p:spPr>
      </p:sp>
      <p:sp>
        <p:nvSpPr>
          <p:cNvPr id="28" name="Shape 26"/>
          <p:cNvSpPr/>
          <p:nvPr/>
        </p:nvSpPr>
        <p:spPr>
          <a:xfrm flipV="1">
            <a:off x="10431078" y="3195496"/>
            <a:ext cx="752117" cy="914"/>
          </a:xfrm>
          <a:prstGeom prst="line">
            <a:avLst/>
          </a:prstGeom>
          <a:noFill/>
          <a:ln w="12700">
            <a:solidFill>
              <a:srgbClr val="E0533A">
                <a:alpha val="55000"/>
              </a:srgbClr>
            </a:solidFill>
            <a:prstDash val="solid"/>
          </a:ln>
        </p:spPr>
      </p:sp>
      <p:sp>
        <p:nvSpPr>
          <p:cNvPr id="29" name="Shape 27"/>
          <p:cNvSpPr/>
          <p:nvPr/>
        </p:nvSpPr>
        <p:spPr>
          <a:xfrm>
            <a:off x="6533097" y="4233726"/>
            <a:ext cx="577482" cy="810873"/>
          </a:xfrm>
          <a:prstGeom prst="line">
            <a:avLst/>
          </a:prstGeom>
          <a:noFill/>
          <a:ln w="9525">
            <a:solidFill>
              <a:srgbClr val="2C3E5C"/>
            </a:solidFill>
            <a:prstDash val="solid"/>
          </a:ln>
        </p:spPr>
      </p:sp>
      <p:sp>
        <p:nvSpPr>
          <p:cNvPr id="30" name="Shape 28"/>
          <p:cNvSpPr/>
          <p:nvPr/>
        </p:nvSpPr>
        <p:spPr>
          <a:xfrm flipH="1">
            <a:off x="7110579" y="4512408"/>
            <a:ext cx="409548" cy="532191"/>
          </a:xfrm>
          <a:prstGeom prst="line">
            <a:avLst/>
          </a:prstGeom>
          <a:noFill/>
          <a:ln w="9525">
            <a:solidFill>
              <a:srgbClr val="2C3E5C"/>
            </a:solidFill>
            <a:prstDash val="solid"/>
          </a:ln>
        </p:spPr>
      </p:sp>
      <p:sp>
        <p:nvSpPr>
          <p:cNvPr id="31" name="Shape 29"/>
          <p:cNvSpPr/>
          <p:nvPr/>
        </p:nvSpPr>
        <p:spPr>
          <a:xfrm flipH="1">
            <a:off x="8811265" y="4485644"/>
            <a:ext cx="26758" cy="585179"/>
          </a:xfrm>
          <a:prstGeom prst="line">
            <a:avLst/>
          </a:prstGeom>
          <a:noFill/>
          <a:ln w="9525">
            <a:solidFill>
              <a:srgbClr val="2C3E5C"/>
            </a:solidFill>
            <a:prstDash val="solid"/>
          </a:ln>
        </p:spPr>
      </p:sp>
      <p:sp>
        <p:nvSpPr>
          <p:cNvPr id="32" name="Shape 30"/>
          <p:cNvSpPr/>
          <p:nvPr/>
        </p:nvSpPr>
        <p:spPr>
          <a:xfrm flipV="1">
            <a:off x="8838023" y="4144052"/>
            <a:ext cx="911655" cy="341593"/>
          </a:xfrm>
          <a:prstGeom prst="line">
            <a:avLst/>
          </a:prstGeom>
          <a:noFill/>
          <a:ln w="9525">
            <a:solidFill>
              <a:srgbClr val="2C3E5C"/>
            </a:solidFill>
            <a:prstDash val="solid"/>
          </a:ln>
        </p:spPr>
      </p:sp>
      <p:sp>
        <p:nvSpPr>
          <p:cNvPr id="33" name="Shape 31"/>
          <p:cNvSpPr/>
          <p:nvPr/>
        </p:nvSpPr>
        <p:spPr>
          <a:xfrm>
            <a:off x="9749678" y="4144052"/>
            <a:ext cx="785833" cy="124337"/>
          </a:xfrm>
          <a:prstGeom prst="line">
            <a:avLst/>
          </a:prstGeom>
          <a:noFill/>
          <a:ln w="9525">
            <a:solidFill>
              <a:srgbClr val="2C3E5C"/>
            </a:solidFill>
            <a:prstDash val="solid"/>
          </a:ln>
        </p:spPr>
      </p:sp>
      <p:sp>
        <p:nvSpPr>
          <p:cNvPr id="34" name="Shape 32"/>
          <p:cNvSpPr/>
          <p:nvPr/>
        </p:nvSpPr>
        <p:spPr>
          <a:xfrm>
            <a:off x="10535511" y="4268388"/>
            <a:ext cx="741706" cy="153559"/>
          </a:xfrm>
          <a:prstGeom prst="line">
            <a:avLst/>
          </a:prstGeom>
          <a:noFill/>
          <a:ln w="9525">
            <a:solidFill>
              <a:srgbClr val="2C3E5C"/>
            </a:solidFill>
            <a:prstDash val="solid"/>
          </a:ln>
        </p:spPr>
      </p:sp>
      <p:sp>
        <p:nvSpPr>
          <p:cNvPr id="35" name="Shape 33"/>
          <p:cNvSpPr/>
          <p:nvPr/>
        </p:nvSpPr>
        <p:spPr>
          <a:xfrm>
            <a:off x="11277217" y="4421948"/>
            <a:ext cx="224219" cy="1050993"/>
          </a:xfrm>
          <a:prstGeom prst="line">
            <a:avLst/>
          </a:prstGeom>
          <a:noFill/>
          <a:ln w="9525">
            <a:solidFill>
              <a:srgbClr val="2C3E5C"/>
            </a:solidFill>
            <a:prstDash val="solid"/>
          </a:ln>
        </p:spPr>
      </p:sp>
      <p:sp>
        <p:nvSpPr>
          <p:cNvPr id="36" name="Shape 34"/>
          <p:cNvSpPr/>
          <p:nvPr/>
        </p:nvSpPr>
        <p:spPr>
          <a:xfrm flipH="1">
            <a:off x="6694596" y="5044599"/>
            <a:ext cx="415982" cy="744302"/>
          </a:xfrm>
          <a:prstGeom prst="line">
            <a:avLst/>
          </a:prstGeom>
          <a:noFill/>
          <a:ln w="9525">
            <a:solidFill>
              <a:srgbClr val="2C3E5C"/>
            </a:solidFill>
            <a:prstDash val="solid"/>
          </a:ln>
        </p:spPr>
      </p:sp>
      <p:sp>
        <p:nvSpPr>
          <p:cNvPr id="37" name="Shape 35"/>
          <p:cNvSpPr/>
          <p:nvPr/>
        </p:nvSpPr>
        <p:spPr>
          <a:xfrm flipH="1">
            <a:off x="7962413" y="5070824"/>
            <a:ext cx="848852" cy="657588"/>
          </a:xfrm>
          <a:prstGeom prst="line">
            <a:avLst/>
          </a:prstGeom>
          <a:noFill/>
          <a:ln w="9525">
            <a:solidFill>
              <a:srgbClr val="2C3E5C"/>
            </a:solidFill>
            <a:prstDash val="solid"/>
          </a:ln>
        </p:spPr>
      </p:sp>
      <p:sp>
        <p:nvSpPr>
          <p:cNvPr id="38" name="Shape 36"/>
          <p:cNvSpPr/>
          <p:nvPr/>
        </p:nvSpPr>
        <p:spPr>
          <a:xfrm>
            <a:off x="10106127" y="5217368"/>
            <a:ext cx="180178" cy="754272"/>
          </a:xfrm>
          <a:prstGeom prst="line">
            <a:avLst/>
          </a:prstGeom>
          <a:noFill/>
          <a:ln w="9525">
            <a:solidFill>
              <a:srgbClr val="2C3E5C"/>
            </a:solidFill>
            <a:prstDash val="solid"/>
          </a:ln>
        </p:spPr>
      </p:sp>
      <p:sp>
        <p:nvSpPr>
          <p:cNvPr id="39" name="Shape 37"/>
          <p:cNvSpPr/>
          <p:nvPr/>
        </p:nvSpPr>
        <p:spPr>
          <a:xfrm flipH="1">
            <a:off x="10106127" y="4268388"/>
            <a:ext cx="429384" cy="948980"/>
          </a:xfrm>
          <a:prstGeom prst="line">
            <a:avLst/>
          </a:prstGeom>
          <a:noFill/>
          <a:ln w="9525">
            <a:solidFill>
              <a:srgbClr val="2C3E5C"/>
            </a:solidFill>
            <a:prstDash val="solid"/>
          </a:ln>
        </p:spPr>
      </p:sp>
      <p:sp>
        <p:nvSpPr>
          <p:cNvPr id="40" name="Shape 38"/>
          <p:cNvSpPr/>
          <p:nvPr/>
        </p:nvSpPr>
        <p:spPr>
          <a:xfrm flipH="1">
            <a:off x="11368442" y="5472940"/>
            <a:ext cx="132994" cy="639508"/>
          </a:xfrm>
          <a:prstGeom prst="line">
            <a:avLst/>
          </a:prstGeom>
          <a:noFill/>
          <a:ln w="9525">
            <a:solidFill>
              <a:srgbClr val="2C3E5C"/>
            </a:solidFill>
            <a:prstDash val="solid"/>
          </a:ln>
        </p:spPr>
      </p:sp>
      <p:sp>
        <p:nvSpPr>
          <p:cNvPr id="41" name="Shape 39"/>
          <p:cNvSpPr/>
          <p:nvPr/>
        </p:nvSpPr>
        <p:spPr>
          <a:xfrm flipV="1">
            <a:off x="6694596" y="5728412"/>
            <a:ext cx="1267817" cy="60488"/>
          </a:xfrm>
          <a:prstGeom prst="line">
            <a:avLst/>
          </a:prstGeom>
          <a:noFill/>
          <a:ln w="9525">
            <a:solidFill>
              <a:srgbClr val="2C3E5C"/>
            </a:solidFill>
            <a:prstDash val="solid"/>
          </a:ln>
        </p:spPr>
      </p:sp>
      <p:sp>
        <p:nvSpPr>
          <p:cNvPr id="42" name="Shape 40"/>
          <p:cNvSpPr/>
          <p:nvPr/>
        </p:nvSpPr>
        <p:spPr>
          <a:xfrm>
            <a:off x="7962413" y="5728412"/>
            <a:ext cx="856860" cy="585899"/>
          </a:xfrm>
          <a:prstGeom prst="line">
            <a:avLst/>
          </a:prstGeom>
          <a:noFill/>
          <a:ln w="9525">
            <a:solidFill>
              <a:srgbClr val="2C3E5C"/>
            </a:solidFill>
            <a:prstDash val="solid"/>
          </a:ln>
        </p:spPr>
      </p:sp>
      <p:sp>
        <p:nvSpPr>
          <p:cNvPr id="43" name="Shape 41"/>
          <p:cNvSpPr/>
          <p:nvPr/>
        </p:nvSpPr>
        <p:spPr>
          <a:xfrm flipV="1">
            <a:off x="8819273" y="6313091"/>
            <a:ext cx="924784" cy="1220"/>
          </a:xfrm>
          <a:prstGeom prst="line">
            <a:avLst/>
          </a:prstGeom>
          <a:noFill/>
          <a:ln w="9525">
            <a:solidFill>
              <a:srgbClr val="2C3E5C"/>
            </a:solidFill>
            <a:prstDash val="solid"/>
          </a:ln>
        </p:spPr>
      </p:sp>
      <p:sp>
        <p:nvSpPr>
          <p:cNvPr id="44" name="Shape 42"/>
          <p:cNvSpPr/>
          <p:nvPr/>
        </p:nvSpPr>
        <p:spPr>
          <a:xfrm flipV="1">
            <a:off x="9744057" y="5971640"/>
            <a:ext cx="542248" cy="341451"/>
          </a:xfrm>
          <a:prstGeom prst="line">
            <a:avLst/>
          </a:prstGeom>
          <a:noFill/>
          <a:ln w="9525">
            <a:solidFill>
              <a:srgbClr val="2C3E5C"/>
            </a:solidFill>
            <a:prstDash val="solid"/>
          </a:ln>
        </p:spPr>
      </p:sp>
      <p:sp>
        <p:nvSpPr>
          <p:cNvPr id="45" name="Shape 43"/>
          <p:cNvSpPr/>
          <p:nvPr/>
        </p:nvSpPr>
        <p:spPr>
          <a:xfrm>
            <a:off x="10286305" y="5971640"/>
            <a:ext cx="1082137" cy="140808"/>
          </a:xfrm>
          <a:prstGeom prst="line">
            <a:avLst/>
          </a:prstGeom>
          <a:noFill/>
          <a:ln w="9525">
            <a:solidFill>
              <a:srgbClr val="2C3E5C"/>
            </a:solidFill>
            <a:prstDash val="solid"/>
          </a:ln>
        </p:spPr>
      </p:sp>
      <p:sp>
        <p:nvSpPr>
          <p:cNvPr id="46" name="Shape 44"/>
          <p:cNvSpPr/>
          <p:nvPr/>
        </p:nvSpPr>
        <p:spPr>
          <a:xfrm>
            <a:off x="6458361" y="857481"/>
            <a:ext cx="114920" cy="114920"/>
          </a:xfrm>
          <a:prstGeom prst="ellipse">
            <a:avLst/>
          </a:prstGeom>
          <a:solidFill>
            <a:srgbClr val="4B6388"/>
          </a:solidFill>
          <a:ln w="12700">
            <a:solidFill>
              <a:srgbClr val="4B6388"/>
            </a:solidFill>
            <a:prstDash val="solid"/>
          </a:ln>
        </p:spPr>
      </p:sp>
      <p:sp>
        <p:nvSpPr>
          <p:cNvPr id="47" name="Shape 45"/>
          <p:cNvSpPr/>
          <p:nvPr/>
        </p:nvSpPr>
        <p:spPr>
          <a:xfrm>
            <a:off x="7625472" y="571036"/>
            <a:ext cx="72568" cy="72568"/>
          </a:xfrm>
          <a:prstGeom prst="ellipse">
            <a:avLst/>
          </a:prstGeom>
          <a:solidFill>
            <a:srgbClr val="4B6388"/>
          </a:solidFill>
          <a:ln w="12700">
            <a:solidFill>
              <a:srgbClr val="4B6388"/>
            </a:solidFill>
            <a:prstDash val="solid"/>
          </a:ln>
        </p:spPr>
      </p:sp>
      <p:sp>
        <p:nvSpPr>
          <p:cNvPr id="48" name="Shape 46"/>
          <p:cNvSpPr/>
          <p:nvPr/>
        </p:nvSpPr>
        <p:spPr>
          <a:xfrm>
            <a:off x="8647090" y="650141"/>
            <a:ext cx="114492" cy="114492"/>
          </a:xfrm>
          <a:prstGeom prst="ellipse">
            <a:avLst/>
          </a:prstGeom>
          <a:solidFill>
            <a:srgbClr val="4B6388"/>
          </a:solidFill>
          <a:ln w="12700">
            <a:solidFill>
              <a:srgbClr val="4B6388"/>
            </a:solidFill>
            <a:prstDash val="solid"/>
          </a:ln>
        </p:spPr>
      </p:sp>
      <p:sp>
        <p:nvSpPr>
          <p:cNvPr id="49" name="Shape 47"/>
          <p:cNvSpPr/>
          <p:nvPr/>
        </p:nvSpPr>
        <p:spPr>
          <a:xfrm>
            <a:off x="9748082" y="920881"/>
            <a:ext cx="112919" cy="112919"/>
          </a:xfrm>
          <a:prstGeom prst="ellipse">
            <a:avLst/>
          </a:prstGeom>
          <a:solidFill>
            <a:srgbClr val="4B6388"/>
          </a:solidFill>
          <a:ln w="12700">
            <a:solidFill>
              <a:srgbClr val="4B6388"/>
            </a:solidFill>
            <a:prstDash val="solid"/>
          </a:ln>
        </p:spPr>
      </p:sp>
      <p:sp>
        <p:nvSpPr>
          <p:cNvPr id="50" name="Shape 48"/>
          <p:cNvSpPr/>
          <p:nvPr/>
        </p:nvSpPr>
        <p:spPr>
          <a:xfrm>
            <a:off x="10381844" y="1029041"/>
            <a:ext cx="81045" cy="81045"/>
          </a:xfrm>
          <a:prstGeom prst="ellipse">
            <a:avLst/>
          </a:prstGeom>
          <a:solidFill>
            <a:srgbClr val="4B6388"/>
          </a:solidFill>
          <a:ln w="12700">
            <a:solidFill>
              <a:srgbClr val="4B6388"/>
            </a:solidFill>
            <a:prstDash val="solid"/>
          </a:ln>
        </p:spPr>
      </p:sp>
      <p:sp>
        <p:nvSpPr>
          <p:cNvPr id="51" name="Shape 49"/>
          <p:cNvSpPr/>
          <p:nvPr/>
        </p:nvSpPr>
        <p:spPr>
          <a:xfrm>
            <a:off x="11577625" y="765567"/>
            <a:ext cx="98647" cy="98647"/>
          </a:xfrm>
          <a:prstGeom prst="ellipse">
            <a:avLst/>
          </a:prstGeom>
          <a:solidFill>
            <a:srgbClr val="4B6388"/>
          </a:solidFill>
          <a:ln w="12700">
            <a:solidFill>
              <a:srgbClr val="4B6388"/>
            </a:solidFill>
            <a:prstDash val="solid"/>
          </a:ln>
        </p:spPr>
      </p:sp>
      <p:sp>
        <p:nvSpPr>
          <p:cNvPr id="52" name="Shape 50"/>
          <p:cNvSpPr/>
          <p:nvPr/>
        </p:nvSpPr>
        <p:spPr>
          <a:xfrm>
            <a:off x="6739270" y="1807979"/>
            <a:ext cx="107221" cy="107221"/>
          </a:xfrm>
          <a:prstGeom prst="ellipse">
            <a:avLst/>
          </a:prstGeom>
          <a:solidFill>
            <a:srgbClr val="4B6388"/>
          </a:solidFill>
          <a:ln w="12700">
            <a:solidFill>
              <a:srgbClr val="4B6388"/>
            </a:solidFill>
            <a:prstDash val="solid"/>
          </a:ln>
        </p:spPr>
      </p:sp>
      <p:sp>
        <p:nvSpPr>
          <p:cNvPr id="53" name="Shape 51"/>
          <p:cNvSpPr/>
          <p:nvPr/>
        </p:nvSpPr>
        <p:spPr>
          <a:xfrm>
            <a:off x="8467796" y="1188494"/>
            <a:ext cx="438912" cy="438912"/>
          </a:xfrm>
          <a:prstGeom prst="ellipse">
            <a:avLst/>
          </a:prstGeom>
          <a:solidFill>
            <a:srgbClr val="E0533A">
              <a:alpha val="20000"/>
            </a:srgbClr>
          </a:solidFill>
          <a:ln w="12700">
            <a:solidFill>
              <a:srgbClr val="E0533A">
                <a:alpha val="20000"/>
              </a:srgbClr>
            </a:solidFill>
            <a:prstDash val="solid"/>
          </a:ln>
        </p:spPr>
      </p:sp>
      <p:sp>
        <p:nvSpPr>
          <p:cNvPr id="54" name="Shape 52"/>
          <p:cNvSpPr/>
          <p:nvPr/>
        </p:nvSpPr>
        <p:spPr>
          <a:xfrm>
            <a:off x="8604956" y="1325654"/>
            <a:ext cx="164592" cy="164592"/>
          </a:xfrm>
          <a:prstGeom prst="ellipse">
            <a:avLst/>
          </a:prstGeom>
          <a:solidFill>
            <a:srgbClr val="E0533A"/>
          </a:solidFill>
          <a:ln w="12700">
            <a:solidFill>
              <a:srgbClr val="E0533A"/>
            </a:solidFill>
            <a:prstDash val="solid"/>
          </a:ln>
        </p:spPr>
      </p:sp>
      <p:sp>
        <p:nvSpPr>
          <p:cNvPr id="55" name="Shape 53"/>
          <p:cNvSpPr/>
          <p:nvPr/>
        </p:nvSpPr>
        <p:spPr>
          <a:xfrm>
            <a:off x="10480357" y="1418595"/>
            <a:ext cx="80462" cy="80462"/>
          </a:xfrm>
          <a:prstGeom prst="ellipse">
            <a:avLst/>
          </a:prstGeom>
          <a:solidFill>
            <a:srgbClr val="4B6388"/>
          </a:solidFill>
          <a:ln w="12700">
            <a:solidFill>
              <a:srgbClr val="4B6388"/>
            </a:solidFill>
            <a:prstDash val="solid"/>
          </a:ln>
        </p:spPr>
      </p:sp>
      <p:sp>
        <p:nvSpPr>
          <p:cNvPr id="56" name="Shape 54"/>
          <p:cNvSpPr/>
          <p:nvPr/>
        </p:nvSpPr>
        <p:spPr>
          <a:xfrm>
            <a:off x="10912363" y="1566283"/>
            <a:ext cx="104849" cy="104849"/>
          </a:xfrm>
          <a:prstGeom prst="ellipse">
            <a:avLst/>
          </a:prstGeom>
          <a:solidFill>
            <a:srgbClr val="4B6388"/>
          </a:solidFill>
          <a:ln w="12700">
            <a:solidFill>
              <a:srgbClr val="4B6388"/>
            </a:solidFill>
            <a:prstDash val="solid"/>
          </a:ln>
        </p:spPr>
      </p:sp>
      <p:sp>
        <p:nvSpPr>
          <p:cNvPr id="57" name="Shape 55"/>
          <p:cNvSpPr/>
          <p:nvPr/>
        </p:nvSpPr>
        <p:spPr>
          <a:xfrm>
            <a:off x="7580142" y="2333781"/>
            <a:ext cx="78447" cy="78447"/>
          </a:xfrm>
          <a:prstGeom prst="ellipse">
            <a:avLst/>
          </a:prstGeom>
          <a:solidFill>
            <a:srgbClr val="4B6388"/>
          </a:solidFill>
          <a:ln w="12700">
            <a:solidFill>
              <a:srgbClr val="4B6388"/>
            </a:solidFill>
            <a:prstDash val="solid"/>
          </a:ln>
        </p:spPr>
      </p:sp>
      <p:sp>
        <p:nvSpPr>
          <p:cNvPr id="58" name="Shape 56"/>
          <p:cNvSpPr/>
          <p:nvPr/>
        </p:nvSpPr>
        <p:spPr>
          <a:xfrm>
            <a:off x="8353647" y="2508717"/>
            <a:ext cx="81667" cy="81667"/>
          </a:xfrm>
          <a:prstGeom prst="ellipse">
            <a:avLst/>
          </a:prstGeom>
          <a:solidFill>
            <a:srgbClr val="4B6388"/>
          </a:solidFill>
          <a:ln w="12700">
            <a:solidFill>
              <a:srgbClr val="4B6388"/>
            </a:solidFill>
            <a:prstDash val="solid"/>
          </a:ln>
        </p:spPr>
      </p:sp>
      <p:sp>
        <p:nvSpPr>
          <p:cNvPr id="59" name="Shape 57"/>
          <p:cNvSpPr/>
          <p:nvPr/>
        </p:nvSpPr>
        <p:spPr>
          <a:xfrm>
            <a:off x="9307095" y="2800213"/>
            <a:ext cx="107162" cy="107162"/>
          </a:xfrm>
          <a:prstGeom prst="ellipse">
            <a:avLst/>
          </a:prstGeom>
          <a:solidFill>
            <a:srgbClr val="4B6388"/>
          </a:solidFill>
          <a:ln w="12700">
            <a:solidFill>
              <a:srgbClr val="4B6388"/>
            </a:solidFill>
            <a:prstDash val="solid"/>
          </a:ln>
        </p:spPr>
      </p:sp>
      <p:sp>
        <p:nvSpPr>
          <p:cNvPr id="60" name="Shape 58"/>
          <p:cNvSpPr/>
          <p:nvPr/>
        </p:nvSpPr>
        <p:spPr>
          <a:xfrm>
            <a:off x="10246485" y="2700270"/>
            <a:ext cx="104086" cy="104086"/>
          </a:xfrm>
          <a:prstGeom prst="ellipse">
            <a:avLst/>
          </a:prstGeom>
          <a:solidFill>
            <a:srgbClr val="4B6388"/>
          </a:solidFill>
          <a:ln w="12700">
            <a:solidFill>
              <a:srgbClr val="4B6388"/>
            </a:solidFill>
            <a:prstDash val="solid"/>
          </a:ln>
        </p:spPr>
      </p:sp>
      <p:sp>
        <p:nvSpPr>
          <p:cNvPr id="61" name="Shape 59"/>
          <p:cNvSpPr/>
          <p:nvPr/>
        </p:nvSpPr>
        <p:spPr>
          <a:xfrm>
            <a:off x="10976394" y="2790262"/>
            <a:ext cx="70296" cy="70296"/>
          </a:xfrm>
          <a:prstGeom prst="ellipse">
            <a:avLst/>
          </a:prstGeom>
          <a:solidFill>
            <a:srgbClr val="4B6388"/>
          </a:solidFill>
          <a:ln w="12700">
            <a:solidFill>
              <a:srgbClr val="4B6388"/>
            </a:solidFill>
            <a:prstDash val="solid"/>
          </a:ln>
        </p:spPr>
      </p:sp>
      <p:sp>
        <p:nvSpPr>
          <p:cNvPr id="62" name="Shape 60"/>
          <p:cNvSpPr/>
          <p:nvPr/>
        </p:nvSpPr>
        <p:spPr>
          <a:xfrm>
            <a:off x="6501938" y="3419718"/>
            <a:ext cx="111096" cy="111096"/>
          </a:xfrm>
          <a:prstGeom prst="ellipse">
            <a:avLst/>
          </a:prstGeom>
          <a:solidFill>
            <a:srgbClr val="4B6388"/>
          </a:solidFill>
          <a:ln w="12700">
            <a:solidFill>
              <a:srgbClr val="4B6388"/>
            </a:solidFill>
            <a:prstDash val="solid"/>
          </a:ln>
        </p:spPr>
      </p:sp>
      <p:sp>
        <p:nvSpPr>
          <p:cNvPr id="63" name="Shape 61"/>
          <p:cNvSpPr/>
          <p:nvPr/>
        </p:nvSpPr>
        <p:spPr>
          <a:xfrm>
            <a:off x="7573128" y="3548856"/>
            <a:ext cx="67264" cy="67264"/>
          </a:xfrm>
          <a:prstGeom prst="ellipse">
            <a:avLst/>
          </a:prstGeom>
          <a:solidFill>
            <a:srgbClr val="4B6388"/>
          </a:solidFill>
          <a:ln w="12700">
            <a:solidFill>
              <a:srgbClr val="4B6388"/>
            </a:solidFill>
            <a:prstDash val="solid"/>
          </a:ln>
        </p:spPr>
      </p:sp>
      <p:sp>
        <p:nvSpPr>
          <p:cNvPr id="64" name="Shape 62"/>
          <p:cNvSpPr/>
          <p:nvPr/>
        </p:nvSpPr>
        <p:spPr>
          <a:xfrm>
            <a:off x="8374023" y="3177969"/>
            <a:ext cx="102819" cy="102819"/>
          </a:xfrm>
          <a:prstGeom prst="ellipse">
            <a:avLst/>
          </a:prstGeom>
          <a:solidFill>
            <a:srgbClr val="4B6388"/>
          </a:solidFill>
          <a:ln w="12700">
            <a:solidFill>
              <a:srgbClr val="4B6388"/>
            </a:solidFill>
            <a:prstDash val="solid"/>
          </a:ln>
        </p:spPr>
      </p:sp>
      <p:sp>
        <p:nvSpPr>
          <p:cNvPr id="65" name="Shape 63"/>
          <p:cNvSpPr/>
          <p:nvPr/>
        </p:nvSpPr>
        <p:spPr>
          <a:xfrm>
            <a:off x="9225622" y="3534860"/>
            <a:ext cx="100295" cy="100295"/>
          </a:xfrm>
          <a:prstGeom prst="ellipse">
            <a:avLst/>
          </a:prstGeom>
          <a:solidFill>
            <a:srgbClr val="4B6388"/>
          </a:solidFill>
          <a:ln w="12700">
            <a:solidFill>
              <a:srgbClr val="4B6388"/>
            </a:solidFill>
            <a:prstDash val="solid"/>
          </a:ln>
        </p:spPr>
      </p:sp>
      <p:sp>
        <p:nvSpPr>
          <p:cNvPr id="66" name="Shape 64"/>
          <p:cNvSpPr/>
          <p:nvPr/>
        </p:nvSpPr>
        <p:spPr>
          <a:xfrm>
            <a:off x="10211622" y="2976846"/>
            <a:ext cx="438912" cy="438912"/>
          </a:xfrm>
          <a:prstGeom prst="ellipse">
            <a:avLst/>
          </a:prstGeom>
          <a:solidFill>
            <a:srgbClr val="E0533A">
              <a:alpha val="20000"/>
            </a:srgbClr>
          </a:solidFill>
          <a:ln w="12700">
            <a:solidFill>
              <a:srgbClr val="E0533A">
                <a:alpha val="20000"/>
              </a:srgbClr>
            </a:solidFill>
            <a:prstDash val="solid"/>
          </a:ln>
        </p:spPr>
      </p:sp>
      <p:sp>
        <p:nvSpPr>
          <p:cNvPr id="67" name="Shape 65"/>
          <p:cNvSpPr/>
          <p:nvPr/>
        </p:nvSpPr>
        <p:spPr>
          <a:xfrm>
            <a:off x="10348782" y="3114006"/>
            <a:ext cx="164592" cy="164592"/>
          </a:xfrm>
          <a:prstGeom prst="ellipse">
            <a:avLst/>
          </a:prstGeom>
          <a:solidFill>
            <a:srgbClr val="E0533A"/>
          </a:solidFill>
          <a:ln w="12700">
            <a:solidFill>
              <a:srgbClr val="E0533A"/>
            </a:solidFill>
            <a:prstDash val="solid"/>
          </a:ln>
        </p:spPr>
      </p:sp>
      <p:sp>
        <p:nvSpPr>
          <p:cNvPr id="68" name="Shape 66"/>
          <p:cNvSpPr/>
          <p:nvPr/>
        </p:nvSpPr>
        <p:spPr>
          <a:xfrm>
            <a:off x="11123474" y="3135776"/>
            <a:ext cx="119441" cy="119441"/>
          </a:xfrm>
          <a:prstGeom prst="ellipse">
            <a:avLst/>
          </a:prstGeom>
          <a:solidFill>
            <a:srgbClr val="4B6388"/>
          </a:solidFill>
          <a:ln w="12700">
            <a:solidFill>
              <a:srgbClr val="4B6388"/>
            </a:solidFill>
            <a:prstDash val="solid"/>
          </a:ln>
        </p:spPr>
      </p:sp>
      <p:sp>
        <p:nvSpPr>
          <p:cNvPr id="69" name="Shape 67"/>
          <p:cNvSpPr/>
          <p:nvPr/>
        </p:nvSpPr>
        <p:spPr>
          <a:xfrm>
            <a:off x="6481051" y="4181680"/>
            <a:ext cx="104091" cy="104091"/>
          </a:xfrm>
          <a:prstGeom prst="ellipse">
            <a:avLst/>
          </a:prstGeom>
          <a:solidFill>
            <a:srgbClr val="4B6388"/>
          </a:solidFill>
          <a:ln w="12700">
            <a:solidFill>
              <a:srgbClr val="4B6388"/>
            </a:solidFill>
            <a:prstDash val="solid"/>
          </a:ln>
        </p:spPr>
      </p:sp>
      <p:sp>
        <p:nvSpPr>
          <p:cNvPr id="70" name="Shape 68"/>
          <p:cNvSpPr/>
          <p:nvPr/>
        </p:nvSpPr>
        <p:spPr>
          <a:xfrm>
            <a:off x="7485370" y="4477650"/>
            <a:ext cx="69515" cy="69515"/>
          </a:xfrm>
          <a:prstGeom prst="ellipse">
            <a:avLst/>
          </a:prstGeom>
          <a:solidFill>
            <a:srgbClr val="4B6388"/>
          </a:solidFill>
          <a:ln w="12700">
            <a:solidFill>
              <a:srgbClr val="4B6388"/>
            </a:solidFill>
            <a:prstDash val="solid"/>
          </a:ln>
        </p:spPr>
      </p:sp>
      <p:sp>
        <p:nvSpPr>
          <p:cNvPr id="71" name="Shape 69"/>
          <p:cNvSpPr/>
          <p:nvPr/>
        </p:nvSpPr>
        <p:spPr>
          <a:xfrm>
            <a:off x="8805526" y="4453147"/>
            <a:ext cx="64995" cy="64995"/>
          </a:xfrm>
          <a:prstGeom prst="ellipse">
            <a:avLst/>
          </a:prstGeom>
          <a:solidFill>
            <a:srgbClr val="4B6388"/>
          </a:solidFill>
          <a:ln w="12700">
            <a:solidFill>
              <a:srgbClr val="4B6388"/>
            </a:solidFill>
            <a:prstDash val="solid"/>
          </a:ln>
        </p:spPr>
      </p:sp>
      <p:sp>
        <p:nvSpPr>
          <p:cNvPr id="72" name="Shape 70"/>
          <p:cNvSpPr/>
          <p:nvPr/>
        </p:nvSpPr>
        <p:spPr>
          <a:xfrm>
            <a:off x="9714594" y="4108968"/>
            <a:ext cx="70168" cy="70168"/>
          </a:xfrm>
          <a:prstGeom prst="ellipse">
            <a:avLst/>
          </a:prstGeom>
          <a:solidFill>
            <a:srgbClr val="4B6388"/>
          </a:solidFill>
          <a:ln w="12700">
            <a:solidFill>
              <a:srgbClr val="4B6388"/>
            </a:solidFill>
            <a:prstDash val="solid"/>
          </a:ln>
        </p:spPr>
      </p:sp>
      <p:sp>
        <p:nvSpPr>
          <p:cNvPr id="73" name="Shape 71"/>
          <p:cNvSpPr/>
          <p:nvPr/>
        </p:nvSpPr>
        <p:spPr>
          <a:xfrm>
            <a:off x="10486602" y="4219479"/>
            <a:ext cx="97819" cy="97819"/>
          </a:xfrm>
          <a:prstGeom prst="ellipse">
            <a:avLst/>
          </a:prstGeom>
          <a:solidFill>
            <a:srgbClr val="4B6388"/>
          </a:solidFill>
          <a:ln w="12700">
            <a:solidFill>
              <a:srgbClr val="4B6388"/>
            </a:solidFill>
            <a:prstDash val="solid"/>
          </a:ln>
        </p:spPr>
      </p:sp>
      <p:sp>
        <p:nvSpPr>
          <p:cNvPr id="74" name="Shape 72"/>
          <p:cNvSpPr/>
          <p:nvPr/>
        </p:nvSpPr>
        <p:spPr>
          <a:xfrm>
            <a:off x="11218461" y="4363191"/>
            <a:ext cx="117513" cy="117513"/>
          </a:xfrm>
          <a:prstGeom prst="ellipse">
            <a:avLst/>
          </a:prstGeom>
          <a:solidFill>
            <a:srgbClr val="4B6388"/>
          </a:solidFill>
          <a:ln w="12700">
            <a:solidFill>
              <a:srgbClr val="4B6388"/>
            </a:solidFill>
            <a:prstDash val="solid"/>
          </a:ln>
        </p:spPr>
      </p:sp>
      <p:sp>
        <p:nvSpPr>
          <p:cNvPr id="75" name="Shape 73"/>
          <p:cNvSpPr/>
          <p:nvPr/>
        </p:nvSpPr>
        <p:spPr>
          <a:xfrm>
            <a:off x="7050056" y="4984076"/>
            <a:ext cx="121046" cy="121046"/>
          </a:xfrm>
          <a:prstGeom prst="ellipse">
            <a:avLst/>
          </a:prstGeom>
          <a:solidFill>
            <a:srgbClr val="4B6388"/>
          </a:solidFill>
          <a:ln w="12700">
            <a:solidFill>
              <a:srgbClr val="4B6388"/>
            </a:solidFill>
            <a:prstDash val="solid"/>
          </a:ln>
        </p:spPr>
      </p:sp>
      <p:sp>
        <p:nvSpPr>
          <p:cNvPr id="76" name="Shape 74"/>
          <p:cNvSpPr/>
          <p:nvPr/>
        </p:nvSpPr>
        <p:spPr>
          <a:xfrm>
            <a:off x="8770405" y="5029963"/>
            <a:ext cx="81722" cy="81722"/>
          </a:xfrm>
          <a:prstGeom prst="ellipse">
            <a:avLst/>
          </a:prstGeom>
          <a:solidFill>
            <a:srgbClr val="4B6388"/>
          </a:solidFill>
          <a:ln w="12700">
            <a:solidFill>
              <a:srgbClr val="4B6388"/>
            </a:solidFill>
            <a:prstDash val="solid"/>
          </a:ln>
        </p:spPr>
      </p:sp>
      <p:sp>
        <p:nvSpPr>
          <p:cNvPr id="77" name="Shape 75"/>
          <p:cNvSpPr/>
          <p:nvPr/>
        </p:nvSpPr>
        <p:spPr>
          <a:xfrm>
            <a:off x="10044054" y="5155295"/>
            <a:ext cx="124146" cy="124146"/>
          </a:xfrm>
          <a:prstGeom prst="ellipse">
            <a:avLst/>
          </a:prstGeom>
          <a:solidFill>
            <a:srgbClr val="4B6388"/>
          </a:solidFill>
          <a:ln w="12700">
            <a:solidFill>
              <a:srgbClr val="4B6388"/>
            </a:solidFill>
            <a:prstDash val="solid"/>
          </a:ln>
        </p:spPr>
      </p:sp>
      <p:sp>
        <p:nvSpPr>
          <p:cNvPr id="78" name="Shape 76"/>
          <p:cNvSpPr/>
          <p:nvPr/>
        </p:nvSpPr>
        <p:spPr>
          <a:xfrm>
            <a:off x="11454750" y="5426254"/>
            <a:ext cx="93372" cy="93372"/>
          </a:xfrm>
          <a:prstGeom prst="ellipse">
            <a:avLst/>
          </a:prstGeom>
          <a:solidFill>
            <a:srgbClr val="4B6388"/>
          </a:solidFill>
          <a:ln w="12700">
            <a:solidFill>
              <a:srgbClr val="4B6388"/>
            </a:solidFill>
            <a:prstDash val="solid"/>
          </a:ln>
        </p:spPr>
      </p:sp>
      <p:sp>
        <p:nvSpPr>
          <p:cNvPr id="79" name="Shape 77"/>
          <p:cNvSpPr/>
          <p:nvPr/>
        </p:nvSpPr>
        <p:spPr>
          <a:xfrm>
            <a:off x="6640742" y="5735046"/>
            <a:ext cx="107708" cy="107708"/>
          </a:xfrm>
          <a:prstGeom prst="ellipse">
            <a:avLst/>
          </a:prstGeom>
          <a:solidFill>
            <a:srgbClr val="4B6388"/>
          </a:solidFill>
          <a:ln w="12700">
            <a:solidFill>
              <a:srgbClr val="4B6388"/>
            </a:solidFill>
            <a:prstDash val="solid"/>
          </a:ln>
        </p:spPr>
      </p:sp>
      <p:sp>
        <p:nvSpPr>
          <p:cNvPr id="80" name="Shape 78"/>
          <p:cNvSpPr/>
          <p:nvPr/>
        </p:nvSpPr>
        <p:spPr>
          <a:xfrm>
            <a:off x="7912089" y="5678088"/>
            <a:ext cx="100648" cy="100648"/>
          </a:xfrm>
          <a:prstGeom prst="ellipse">
            <a:avLst/>
          </a:prstGeom>
          <a:solidFill>
            <a:srgbClr val="4B6388"/>
          </a:solidFill>
          <a:ln w="12700">
            <a:solidFill>
              <a:srgbClr val="4B6388"/>
            </a:solidFill>
            <a:prstDash val="solid"/>
          </a:ln>
        </p:spPr>
      </p:sp>
      <p:sp>
        <p:nvSpPr>
          <p:cNvPr id="81" name="Shape 79"/>
          <p:cNvSpPr/>
          <p:nvPr/>
        </p:nvSpPr>
        <p:spPr>
          <a:xfrm>
            <a:off x="8786029" y="6281068"/>
            <a:ext cx="66488" cy="66488"/>
          </a:xfrm>
          <a:prstGeom prst="ellipse">
            <a:avLst/>
          </a:prstGeom>
          <a:solidFill>
            <a:srgbClr val="4B6388"/>
          </a:solidFill>
          <a:ln w="12700">
            <a:solidFill>
              <a:srgbClr val="4B6388"/>
            </a:solidFill>
            <a:prstDash val="solid"/>
          </a:ln>
        </p:spPr>
      </p:sp>
      <p:sp>
        <p:nvSpPr>
          <p:cNvPr id="82" name="Shape 80"/>
          <p:cNvSpPr/>
          <p:nvPr/>
        </p:nvSpPr>
        <p:spPr>
          <a:xfrm>
            <a:off x="9707754" y="6276788"/>
            <a:ext cx="72606" cy="72606"/>
          </a:xfrm>
          <a:prstGeom prst="ellipse">
            <a:avLst/>
          </a:prstGeom>
          <a:solidFill>
            <a:srgbClr val="4B6388"/>
          </a:solidFill>
          <a:ln w="12700">
            <a:solidFill>
              <a:srgbClr val="4B6388"/>
            </a:solidFill>
            <a:prstDash val="solid"/>
          </a:ln>
        </p:spPr>
      </p:sp>
      <p:sp>
        <p:nvSpPr>
          <p:cNvPr id="83" name="Shape 81"/>
          <p:cNvSpPr/>
          <p:nvPr/>
        </p:nvSpPr>
        <p:spPr>
          <a:xfrm>
            <a:off x="10231289" y="5916625"/>
            <a:ext cx="110031" cy="110031"/>
          </a:xfrm>
          <a:prstGeom prst="ellipse">
            <a:avLst/>
          </a:prstGeom>
          <a:solidFill>
            <a:srgbClr val="4B6388"/>
          </a:solidFill>
          <a:ln w="12700">
            <a:solidFill>
              <a:srgbClr val="4B6388"/>
            </a:solidFill>
            <a:prstDash val="solid"/>
          </a:ln>
        </p:spPr>
      </p:sp>
      <p:sp>
        <p:nvSpPr>
          <p:cNvPr id="84" name="Shape 82"/>
          <p:cNvSpPr/>
          <p:nvPr/>
        </p:nvSpPr>
        <p:spPr>
          <a:xfrm>
            <a:off x="11307968" y="6051975"/>
            <a:ext cx="120947" cy="120947"/>
          </a:xfrm>
          <a:prstGeom prst="ellipse">
            <a:avLst/>
          </a:prstGeom>
          <a:solidFill>
            <a:srgbClr val="4B6388"/>
          </a:solidFill>
          <a:ln w="12700">
            <a:solidFill>
              <a:srgbClr val="4B6388"/>
            </a:solidFill>
            <a:prstDash val="solid"/>
          </a:ln>
        </p:spPr>
      </p:sp>
      <p:sp>
        <p:nvSpPr>
          <p:cNvPr id="85" name="Text 83"/>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04</a:t>
            </a:r>
            <a:endParaRPr lang="en-US" sz="9600" dirty="0"/>
          </a:p>
        </p:txBody>
      </p:sp>
      <p:sp>
        <p:nvSpPr>
          <p:cNvPr id="86" name="Text 84"/>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Conclusions</a:t>
            </a:r>
            <a:endParaRPr lang="en-US" sz="4400" dirty="0"/>
          </a:p>
        </p:txBody>
      </p:sp>
      <p:sp>
        <p:nvSpPr>
          <p:cNvPr id="87" name="Text 85"/>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What we have shown so far, and the plan for the final evaluation</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04 · CONCLUSIONS</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What we have shown so far</a:t>
            </a:r>
            <a:endParaRPr lang="en-US" sz="3000" dirty="0"/>
          </a:p>
        </p:txBody>
      </p:sp>
      <p:sp>
        <p:nvSpPr>
          <p:cNvPr id="4" name="Text 2"/>
          <p:cNvSpPr txBox="1"/>
          <p:nvPr/>
        </p:nvSpPr>
        <p:spPr>
          <a:xfrm>
            <a:off x="685800" y="182880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01</a:t>
            </a:r>
            <a:endParaRPr lang="en-US" sz="2600" dirty="0"/>
          </a:p>
        </p:txBody>
      </p:sp>
      <p:sp>
        <p:nvSpPr>
          <p:cNvPr id="5" name="Text 3"/>
          <p:cNvSpPr txBox="1"/>
          <p:nvPr/>
        </p:nvSpPr>
        <p:spPr>
          <a:xfrm>
            <a:off x="1508760" y="187452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It works on APT data, but not as claimed</a:t>
            </a:r>
            <a:endParaRPr lang="en-US" sz="1550" dirty="0"/>
          </a:p>
        </p:txBody>
      </p:sp>
      <p:sp>
        <p:nvSpPr>
          <p:cNvPr id="6" name="Text 4"/>
          <p:cNvSpPr txBox="1"/>
          <p:nvPr/>
        </p:nvSpPr>
        <p:spPr>
          <a:xfrm>
            <a:off x="1508760" y="225856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AUC ≈ 99%, but the false positive rate is ≈ 6%, not 0.52%</a:t>
            </a:r>
            <a:endParaRPr lang="en-US" sz="1250" dirty="0"/>
          </a:p>
        </p:txBody>
      </p:sp>
      <p:sp>
        <p:nvSpPr>
          <p:cNvPr id="7" name="Text 5"/>
          <p:cNvSpPr txBox="1"/>
          <p:nvPr/>
        </p:nvSpPr>
        <p:spPr>
          <a:xfrm>
            <a:off x="6370168" y="182880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02</a:t>
            </a:r>
            <a:endParaRPr lang="en-US" sz="2600" dirty="0"/>
          </a:p>
        </p:txBody>
      </p:sp>
      <p:sp>
        <p:nvSpPr>
          <p:cNvPr id="8" name="Text 6"/>
          <p:cNvSpPr txBox="1"/>
          <p:nvPr/>
        </p:nvSpPr>
        <p:spPr>
          <a:xfrm>
            <a:off x="7193128" y="187452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The paper's protocol inflates results</a:t>
            </a:r>
            <a:endParaRPr lang="en-US" sz="1550" dirty="0"/>
          </a:p>
        </p:txBody>
      </p:sp>
      <p:sp>
        <p:nvSpPr>
          <p:cNvPr id="9" name="Text 7"/>
          <p:cNvSpPr txBox="1"/>
          <p:nvPr/>
        </p:nvSpPr>
        <p:spPr>
          <a:xfrm>
            <a:off x="7193128" y="225856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Balancing before splitting: F1 96.5% → 89.5%, missed APT flows ×3</a:t>
            </a:r>
            <a:endParaRPr lang="en-US" sz="1250" dirty="0"/>
          </a:p>
        </p:txBody>
      </p:sp>
      <p:sp>
        <p:nvSpPr>
          <p:cNvPr id="10" name="Shape 8"/>
          <p:cNvSpPr/>
          <p:nvPr/>
        </p:nvSpPr>
        <p:spPr>
          <a:xfrm>
            <a:off x="685800" y="3200400"/>
            <a:ext cx="5135728" cy="914"/>
          </a:xfrm>
          <a:prstGeom prst="line">
            <a:avLst/>
          </a:prstGeom>
          <a:noFill/>
          <a:ln w="9525">
            <a:solidFill>
              <a:srgbClr val="E2E6EC"/>
            </a:solidFill>
            <a:prstDash val="solid"/>
          </a:ln>
        </p:spPr>
      </p:sp>
      <p:sp>
        <p:nvSpPr>
          <p:cNvPr id="11" name="Text 9"/>
          <p:cNvSpPr txBox="1"/>
          <p:nvPr/>
        </p:nvSpPr>
        <p:spPr>
          <a:xfrm>
            <a:off x="685800" y="333756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03</a:t>
            </a:r>
            <a:endParaRPr lang="en-US" sz="2600" dirty="0"/>
          </a:p>
        </p:txBody>
      </p:sp>
      <p:sp>
        <p:nvSpPr>
          <p:cNvPr id="12" name="Text 10"/>
          <p:cNvSpPr txBox="1"/>
          <p:nvPr/>
        </p:nvSpPr>
        <p:spPr>
          <a:xfrm>
            <a:off x="1508760" y="338328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The hybrid ≈ its own components</a:t>
            </a:r>
            <a:endParaRPr lang="en-US" sz="1550" dirty="0"/>
          </a:p>
        </p:txBody>
      </p:sp>
      <p:sp>
        <p:nvSpPr>
          <p:cNvPr id="13" name="Text 11"/>
          <p:cNvSpPr txBox="1"/>
          <p:nvPr/>
        </p:nvSpPr>
        <p:spPr>
          <a:xfrm>
            <a:off x="1508760" y="376732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Tied with RF and XGBoost on F1; the OR rule trades false alarms for recall</a:t>
            </a:r>
            <a:endParaRPr lang="en-US" sz="1250" dirty="0"/>
          </a:p>
        </p:txBody>
      </p:sp>
      <p:sp>
        <p:nvSpPr>
          <p:cNvPr id="14" name="Shape 12"/>
          <p:cNvSpPr/>
          <p:nvPr/>
        </p:nvSpPr>
        <p:spPr>
          <a:xfrm>
            <a:off x="6370168" y="3200400"/>
            <a:ext cx="5135728" cy="914"/>
          </a:xfrm>
          <a:prstGeom prst="line">
            <a:avLst/>
          </a:prstGeom>
          <a:noFill/>
          <a:ln w="9525">
            <a:solidFill>
              <a:srgbClr val="E2E6EC"/>
            </a:solidFill>
            <a:prstDash val="solid"/>
          </a:ln>
        </p:spPr>
      </p:sp>
      <p:sp>
        <p:nvSpPr>
          <p:cNvPr id="15" name="Text 13"/>
          <p:cNvSpPr txBox="1"/>
          <p:nvPr/>
        </p:nvSpPr>
        <p:spPr>
          <a:xfrm>
            <a:off x="6370168" y="333756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04</a:t>
            </a:r>
            <a:endParaRPr lang="en-US" sz="2600" dirty="0"/>
          </a:p>
        </p:txBody>
      </p:sp>
      <p:sp>
        <p:nvSpPr>
          <p:cNvPr id="16" name="Text 14"/>
          <p:cNvSpPr txBox="1"/>
          <p:nvPr/>
        </p:nvSpPr>
        <p:spPr>
          <a:xfrm>
            <a:off x="7193128" y="338328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Trees beat deep learning here</a:t>
            </a:r>
            <a:endParaRPr lang="en-US" sz="1550" dirty="0"/>
          </a:p>
        </p:txBody>
      </p:sp>
      <p:sp>
        <p:nvSpPr>
          <p:cNvPr id="17" name="Text 15"/>
          <p:cNvSpPr txBox="1"/>
          <p:nvPr/>
        </p:nvSpPr>
        <p:spPr>
          <a:xfrm>
            <a:off x="7193128" y="376732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CNN, ANN and MLP do not outperform tree ensembles on flow features</a:t>
            </a:r>
            <a:endParaRPr lang="en-US" sz="1250" dirty="0"/>
          </a:p>
        </p:txBody>
      </p:sp>
      <p:sp>
        <p:nvSpPr>
          <p:cNvPr id="18" name="Shape 16"/>
          <p:cNvSpPr/>
          <p:nvPr/>
        </p:nvSpPr>
        <p:spPr>
          <a:xfrm>
            <a:off x="685800" y="4709160"/>
            <a:ext cx="5135728" cy="914"/>
          </a:xfrm>
          <a:prstGeom prst="line">
            <a:avLst/>
          </a:prstGeom>
          <a:noFill/>
          <a:ln w="9525">
            <a:solidFill>
              <a:srgbClr val="E2E6EC"/>
            </a:solidFill>
            <a:prstDash val="solid"/>
          </a:ln>
        </p:spPr>
      </p:sp>
      <p:sp>
        <p:nvSpPr>
          <p:cNvPr id="19" name="Text 17"/>
          <p:cNvSpPr txBox="1"/>
          <p:nvPr/>
        </p:nvSpPr>
        <p:spPr>
          <a:xfrm>
            <a:off x="685800" y="484632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05</a:t>
            </a:r>
            <a:endParaRPr lang="en-US" sz="2600" dirty="0"/>
          </a:p>
        </p:txBody>
      </p:sp>
      <p:sp>
        <p:nvSpPr>
          <p:cNvPr id="20" name="Text 18"/>
          <p:cNvSpPr txBox="1"/>
          <p:nvPr/>
        </p:nvSpPr>
        <p:spPr>
          <a:xfrm>
            <a:off x="1508760" y="489204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APT stages can be identified</a:t>
            </a:r>
            <a:endParaRPr lang="en-US" sz="1550" dirty="0"/>
          </a:p>
        </p:txBody>
      </p:sp>
      <p:sp>
        <p:nvSpPr>
          <p:cNvPr id="21" name="Text 19"/>
          <p:cNvSpPr txBox="1"/>
          <p:nvPr/>
        </p:nvSpPr>
        <p:spPr>
          <a:xfrm>
            <a:off x="1508760" y="527608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Reconnaissance and foothold ≥ 96%, lateral movement 90%</a:t>
            </a:r>
            <a:endParaRPr lang="en-US" sz="1250" dirty="0"/>
          </a:p>
        </p:txBody>
      </p:sp>
      <p:sp>
        <p:nvSpPr>
          <p:cNvPr id="22" name="Shape 20"/>
          <p:cNvSpPr/>
          <p:nvPr/>
        </p:nvSpPr>
        <p:spPr>
          <a:xfrm>
            <a:off x="6370168" y="4709160"/>
            <a:ext cx="5135728" cy="914"/>
          </a:xfrm>
          <a:prstGeom prst="line">
            <a:avLst/>
          </a:prstGeom>
          <a:noFill/>
          <a:ln w="9525">
            <a:solidFill>
              <a:srgbClr val="E2E6EC"/>
            </a:solidFill>
            <a:prstDash val="solid"/>
          </a:ln>
        </p:spPr>
      </p:sp>
      <p:sp>
        <p:nvSpPr>
          <p:cNvPr id="23" name="Text 21"/>
          <p:cNvSpPr txBox="1"/>
          <p:nvPr/>
        </p:nvSpPr>
        <p:spPr>
          <a:xfrm>
            <a:off x="6370168" y="484632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06</a:t>
            </a:r>
            <a:endParaRPr lang="en-US" sz="2600" dirty="0"/>
          </a:p>
        </p:txBody>
      </p:sp>
      <p:sp>
        <p:nvSpPr>
          <p:cNvPr id="24" name="Text 22"/>
          <p:cNvSpPr txBox="1"/>
          <p:nvPr/>
        </p:nvSpPr>
        <p:spPr>
          <a:xfrm>
            <a:off x="7193128" y="489204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Rare, quiet steps remain hard</a:t>
            </a:r>
            <a:endParaRPr lang="en-US" sz="1550" dirty="0"/>
          </a:p>
        </p:txBody>
      </p:sp>
      <p:sp>
        <p:nvSpPr>
          <p:cNvPr id="25" name="Text 23"/>
          <p:cNvSpPr txBox="1"/>
          <p:nvPr/>
        </p:nvSpPr>
        <p:spPr>
          <a:xfrm>
            <a:off x="7193128" y="527608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SQL injection, privilege escalation, exfiltration; plus label noise in DAPT2020</a:t>
            </a:r>
            <a:endParaRPr lang="en-US" sz="1250" dirty="0"/>
          </a:p>
        </p:txBody>
      </p:sp>
      <p:sp>
        <p:nvSpPr>
          <p:cNvPr id="26" name="Text 24"/>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7" name="Text 25"/>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04 · CONCLUSIONS</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Plan for the final evaluation</a:t>
            </a:r>
            <a:endParaRPr lang="en-US" sz="3000" dirty="0"/>
          </a:p>
        </p:txBody>
      </p:sp>
      <p:sp>
        <p:nvSpPr>
          <p:cNvPr id="4" name="Shape 2"/>
          <p:cNvSpPr/>
          <p:nvPr/>
        </p:nvSpPr>
        <p:spPr>
          <a:xfrm>
            <a:off x="2038312" y="2514600"/>
            <a:ext cx="8115071" cy="914"/>
          </a:xfrm>
          <a:prstGeom prst="line">
            <a:avLst/>
          </a:prstGeom>
          <a:noFill/>
          <a:ln w="19050">
            <a:solidFill>
              <a:srgbClr val="E2E6EC"/>
            </a:solidFill>
            <a:prstDash val="solid"/>
          </a:ln>
        </p:spPr>
      </p:sp>
      <p:sp>
        <p:nvSpPr>
          <p:cNvPr id="5" name="Shape 3"/>
          <p:cNvSpPr/>
          <p:nvPr/>
        </p:nvSpPr>
        <p:spPr>
          <a:xfrm>
            <a:off x="1603972" y="2080260"/>
            <a:ext cx="868680" cy="868680"/>
          </a:xfrm>
          <a:prstGeom prst="ellipse">
            <a:avLst/>
          </a:prstGeom>
          <a:solidFill>
            <a:srgbClr val="E0533A"/>
          </a:solidFill>
          <a:ln w="12700">
            <a:solidFill>
              <a:srgbClr val="E0533A"/>
            </a:solidFill>
            <a:prstDash val="solid"/>
          </a:ln>
        </p:spPr>
      </p:sp>
      <p:pic>
        <p:nvPicPr>
          <p:cNvPr id="6" name="Image 0" descr="preencoded.png">    </p:cNvPr>
          <p:cNvPicPr>
            <a:picLocks noChangeAspect="1"/>
          </p:cNvPicPr>
          <p:nvPr/>
        </p:nvPicPr>
        <p:blipFill>
          <a:blip r:embed="rId1"/>
          <a:stretch>
            <a:fillRect/>
          </a:stretch>
        </p:blipFill>
        <p:spPr>
          <a:xfrm>
            <a:off x="1838515" y="2314804"/>
            <a:ext cx="399593" cy="399593"/>
          </a:xfrm>
          <a:prstGeom prst="rect">
            <a:avLst/>
          </a:prstGeom>
        </p:spPr>
      </p:pic>
      <p:sp>
        <p:nvSpPr>
          <p:cNvPr id="7" name="Text 4"/>
          <p:cNvSpPr txBox="1"/>
          <p:nvPr/>
        </p:nvSpPr>
        <p:spPr>
          <a:xfrm>
            <a:off x="941032"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1</a:t>
            </a:r>
            <a:endParaRPr lang="en-US" sz="1000" dirty="0"/>
          </a:p>
        </p:txBody>
      </p:sp>
      <p:sp>
        <p:nvSpPr>
          <p:cNvPr id="8" name="Text 5"/>
          <p:cNvSpPr txBox="1"/>
          <p:nvPr/>
        </p:nvSpPr>
        <p:spPr>
          <a:xfrm>
            <a:off x="803872"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Second APT dataset</a:t>
            </a:r>
            <a:endParaRPr lang="en-US" sz="1600" dirty="0"/>
          </a:p>
        </p:txBody>
      </p:sp>
      <p:sp>
        <p:nvSpPr>
          <p:cNvPr id="9" name="Text 6"/>
          <p:cNvSpPr txBox="1"/>
          <p:nvPr/>
        </p:nvSpPr>
        <p:spPr>
          <a:xfrm>
            <a:off x="849592"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Validate on Unraveled (2023) or SCVIC-APT-2021</a:t>
            </a:r>
            <a:endParaRPr lang="en-US" sz="1250" dirty="0"/>
          </a:p>
        </p:txBody>
      </p:sp>
      <p:sp>
        <p:nvSpPr>
          <p:cNvPr id="10" name="Shape 7"/>
          <p:cNvSpPr/>
          <p:nvPr/>
        </p:nvSpPr>
        <p:spPr>
          <a:xfrm>
            <a:off x="4308996" y="2080260"/>
            <a:ext cx="868680" cy="868680"/>
          </a:xfrm>
          <a:prstGeom prst="ellipse">
            <a:avLst/>
          </a:prstGeom>
          <a:solidFill>
            <a:srgbClr val="0B1526"/>
          </a:solidFill>
          <a:ln w="12700">
            <a:solidFill>
              <a:srgbClr val="0B1526"/>
            </a:solidFill>
            <a:prstDash val="solid"/>
          </a:ln>
        </p:spPr>
      </p:sp>
      <p:pic>
        <p:nvPicPr>
          <p:cNvPr id="11" name="Image 1" descr="preencoded.png">    </p:cNvPr>
          <p:cNvPicPr>
            <a:picLocks noChangeAspect="1"/>
          </p:cNvPicPr>
          <p:nvPr/>
        </p:nvPicPr>
        <p:blipFill>
          <a:blip r:embed="rId2"/>
          <a:stretch>
            <a:fillRect/>
          </a:stretch>
        </p:blipFill>
        <p:spPr>
          <a:xfrm>
            <a:off x="4543539" y="2314804"/>
            <a:ext cx="399593" cy="399593"/>
          </a:xfrm>
          <a:prstGeom prst="rect">
            <a:avLst/>
          </a:prstGeom>
        </p:spPr>
      </p:pic>
      <p:sp>
        <p:nvSpPr>
          <p:cNvPr id="12" name="Text 8"/>
          <p:cNvSpPr txBox="1"/>
          <p:nvPr/>
        </p:nvSpPr>
        <p:spPr>
          <a:xfrm>
            <a:off x="3646056"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2</a:t>
            </a:r>
            <a:endParaRPr lang="en-US" sz="1000" dirty="0"/>
          </a:p>
        </p:txBody>
      </p:sp>
      <p:sp>
        <p:nvSpPr>
          <p:cNvPr id="13" name="Text 9"/>
          <p:cNvSpPr txBox="1"/>
          <p:nvPr/>
        </p:nvSpPr>
        <p:spPr>
          <a:xfrm>
            <a:off x="3508896"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Time-based evaluation</a:t>
            </a:r>
            <a:endParaRPr lang="en-US" sz="1600" dirty="0"/>
          </a:p>
        </p:txBody>
      </p:sp>
      <p:sp>
        <p:nvSpPr>
          <p:cNvPr id="14" name="Text 10"/>
          <p:cNvSpPr txBox="1"/>
          <p:nvPr/>
        </p:nvSpPr>
        <p:spPr>
          <a:xfrm>
            <a:off x="3554616"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Train on earlier days, test on later days: an unseen campaign</a:t>
            </a:r>
            <a:endParaRPr lang="en-US" sz="1250" dirty="0"/>
          </a:p>
        </p:txBody>
      </p:sp>
      <p:sp>
        <p:nvSpPr>
          <p:cNvPr id="15" name="Shape 11"/>
          <p:cNvSpPr/>
          <p:nvPr/>
        </p:nvSpPr>
        <p:spPr>
          <a:xfrm>
            <a:off x="7014019" y="2080260"/>
            <a:ext cx="868680" cy="868680"/>
          </a:xfrm>
          <a:prstGeom prst="ellipse">
            <a:avLst/>
          </a:prstGeom>
          <a:solidFill>
            <a:srgbClr val="0B1526"/>
          </a:solidFill>
          <a:ln w="12700">
            <a:solidFill>
              <a:srgbClr val="0B1526"/>
            </a:solidFill>
            <a:prstDash val="solid"/>
          </a:ln>
        </p:spPr>
      </p:sp>
      <p:pic>
        <p:nvPicPr>
          <p:cNvPr id="16" name="Image 2" descr="preencoded.png">    </p:cNvPr>
          <p:cNvPicPr>
            <a:picLocks noChangeAspect="1"/>
          </p:cNvPicPr>
          <p:nvPr/>
        </p:nvPicPr>
        <p:blipFill>
          <a:blip r:embed="rId3"/>
          <a:stretch>
            <a:fillRect/>
          </a:stretch>
        </p:blipFill>
        <p:spPr>
          <a:xfrm>
            <a:off x="7248563" y="2314804"/>
            <a:ext cx="399593" cy="399593"/>
          </a:xfrm>
          <a:prstGeom prst="rect">
            <a:avLst/>
          </a:prstGeom>
        </p:spPr>
      </p:pic>
      <p:sp>
        <p:nvSpPr>
          <p:cNvPr id="17" name="Text 12"/>
          <p:cNvSpPr txBox="1"/>
          <p:nvPr/>
        </p:nvSpPr>
        <p:spPr>
          <a:xfrm>
            <a:off x="6351079"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3</a:t>
            </a:r>
            <a:endParaRPr lang="en-US" sz="1000" dirty="0"/>
          </a:p>
        </p:txBody>
      </p:sp>
      <p:sp>
        <p:nvSpPr>
          <p:cNvPr id="18" name="Text 13"/>
          <p:cNvSpPr txBox="1"/>
          <p:nvPr/>
        </p:nvSpPr>
        <p:spPr>
          <a:xfrm>
            <a:off x="6213919"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Improve the hybrid</a:t>
            </a:r>
            <a:endParaRPr lang="en-US" sz="1600" dirty="0"/>
          </a:p>
        </p:txBody>
      </p:sp>
      <p:sp>
        <p:nvSpPr>
          <p:cNvPr id="19" name="Text 14"/>
          <p:cNvSpPr txBox="1"/>
          <p:nvPr/>
        </p:nvSpPr>
        <p:spPr>
          <a:xfrm>
            <a:off x="6259639"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Tune model weights and threshold; handle rare stages better</a:t>
            </a:r>
            <a:endParaRPr lang="en-US" sz="1250" dirty="0"/>
          </a:p>
        </p:txBody>
      </p:sp>
      <p:sp>
        <p:nvSpPr>
          <p:cNvPr id="20" name="Shape 15"/>
          <p:cNvSpPr/>
          <p:nvPr/>
        </p:nvSpPr>
        <p:spPr>
          <a:xfrm>
            <a:off x="9719043" y="2080260"/>
            <a:ext cx="868680" cy="868680"/>
          </a:xfrm>
          <a:prstGeom prst="ellipse">
            <a:avLst/>
          </a:prstGeom>
          <a:solidFill>
            <a:srgbClr val="0B1526"/>
          </a:solidFill>
          <a:ln w="12700">
            <a:solidFill>
              <a:srgbClr val="0B1526"/>
            </a:solidFill>
            <a:prstDash val="solid"/>
          </a:ln>
        </p:spPr>
      </p:sp>
      <p:pic>
        <p:nvPicPr>
          <p:cNvPr id="21" name="Image 3" descr="preencoded.png">    </p:cNvPr>
          <p:cNvPicPr>
            <a:picLocks noChangeAspect="1"/>
          </p:cNvPicPr>
          <p:nvPr/>
        </p:nvPicPr>
        <p:blipFill>
          <a:blip r:embed="rId4"/>
          <a:stretch>
            <a:fillRect/>
          </a:stretch>
        </p:blipFill>
        <p:spPr>
          <a:xfrm>
            <a:off x="9953587" y="2314804"/>
            <a:ext cx="399593" cy="399593"/>
          </a:xfrm>
          <a:prstGeom prst="rect">
            <a:avLst/>
          </a:prstGeom>
        </p:spPr>
      </p:pic>
      <p:sp>
        <p:nvSpPr>
          <p:cNvPr id="22" name="Text 16"/>
          <p:cNvSpPr txBox="1"/>
          <p:nvPr/>
        </p:nvSpPr>
        <p:spPr>
          <a:xfrm>
            <a:off x="9056103"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4</a:t>
            </a:r>
            <a:endParaRPr lang="en-US" sz="1000" dirty="0"/>
          </a:p>
        </p:txBody>
      </p:sp>
      <p:sp>
        <p:nvSpPr>
          <p:cNvPr id="23" name="Text 17"/>
          <p:cNvSpPr txBox="1"/>
          <p:nvPr/>
        </p:nvSpPr>
        <p:spPr>
          <a:xfrm>
            <a:off x="8918943"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Explainability</a:t>
            </a:r>
            <a:endParaRPr lang="en-US" sz="1600" dirty="0"/>
          </a:p>
        </p:txBody>
      </p:sp>
      <p:sp>
        <p:nvSpPr>
          <p:cNvPr id="24" name="Text 18"/>
          <p:cNvSpPr txBox="1"/>
          <p:nvPr/>
        </p:nvSpPr>
        <p:spPr>
          <a:xfrm>
            <a:off x="8964663"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SHAP analysis of the hybrid, as in the paper's Figures 25–26</a:t>
            </a:r>
            <a:endParaRPr lang="en-US" sz="1250" dirty="0"/>
          </a:p>
        </p:txBody>
      </p:sp>
      <p:sp>
        <p:nvSpPr>
          <p:cNvPr id="25" name="Shape 19"/>
          <p:cNvSpPr/>
          <p:nvPr/>
        </p:nvSpPr>
        <p:spPr>
          <a:xfrm>
            <a:off x="685800" y="5257800"/>
            <a:ext cx="10820095" cy="731520"/>
          </a:xfrm>
          <a:prstGeom prst="roundRect">
            <a:avLst>
              <a:gd name="adj" fmla="val 7500"/>
            </a:avLst>
          </a:prstGeom>
          <a:solidFill>
            <a:srgbClr val="E7F4ED"/>
          </a:solidFill>
          <a:ln w="12700">
            <a:solidFill>
              <a:srgbClr val="E7F4ED"/>
            </a:solidFill>
            <a:prstDash val="solid"/>
          </a:ln>
        </p:spPr>
      </p:sp>
      <p:pic>
        <p:nvPicPr>
          <p:cNvPr id="26" name="Image 4" descr="preencoded.png">    </p:cNvPr>
          <p:cNvPicPr>
            <a:picLocks noChangeAspect="1"/>
          </p:cNvPicPr>
          <p:nvPr/>
        </p:nvPicPr>
        <p:blipFill>
          <a:blip r:embed="rId5"/>
          <a:stretch>
            <a:fillRect/>
          </a:stretch>
        </p:blipFill>
        <p:spPr>
          <a:xfrm>
            <a:off x="960120" y="5449824"/>
            <a:ext cx="347472" cy="347472"/>
          </a:xfrm>
          <a:prstGeom prst="rect">
            <a:avLst/>
          </a:prstGeom>
        </p:spPr>
      </p:pic>
      <p:sp>
        <p:nvSpPr>
          <p:cNvPr id="27" name="Text 20"/>
          <p:cNvSpPr txBox="1"/>
          <p:nvPr/>
        </p:nvSpPr>
        <p:spPr>
          <a:xfrm>
            <a:off x="1463040" y="5257800"/>
            <a:ext cx="9814255" cy="731520"/>
          </a:xfrm>
          <a:prstGeom prst="rect">
            <a:avLst/>
          </a:prstGeom>
          <a:noFill/>
          <a:ln/>
        </p:spPr>
        <p:txBody>
          <a:bodyPr wrap="square" lIns="0" tIns="0" rIns="0" bIns="0" rtlCol="0" anchor="ctr"/>
          <a:lstStyle/>
          <a:p>
            <a:pPr indent="0" marL="0">
              <a:buNone/>
            </a:pPr>
            <a:r>
              <a:rPr lang="en-US" sz="1350" b="1" dirty="0">
                <a:solidFill>
                  <a:srgbClr val="1E8A5F"/>
                </a:solidFill>
                <a:latin typeface="Arial" pitchFamily="34" charset="0"/>
                <a:ea typeface="Arial" pitchFamily="34" charset="-122"/>
                <a:cs typeface="Arial" pitchFamily="34" charset="-120"/>
              </a:rPr>
              <a:t>Already in place: </a:t>
            </a:r>
            <a:pPr indent="0" marL="0">
              <a:buNone/>
            </a:pPr>
            <a:r>
              <a:rPr lang="en-US" sz="1350" dirty="0">
                <a:solidFill>
                  <a:srgbClr val="0F1B2D"/>
                </a:solidFill>
                <a:latin typeface="Arial" pitchFamily="34" charset="0"/>
                <a:ea typeface="Arial" pitchFamily="34" charset="-122"/>
                <a:cs typeface="Arial" pitchFamily="34" charset="-120"/>
              </a:rPr>
              <a:t>reproducible code for every experiment, results for all 15 models, figures and a full written report.</a:t>
            </a:r>
            <a:endParaRPr lang="en-US" sz="1350" dirty="0"/>
          </a:p>
        </p:txBody>
      </p:sp>
      <p:sp>
        <p:nvSpPr>
          <p:cNvPr id="28" name="Text 21"/>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9" name="Text 22"/>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REFERENCES</a:t>
            </a:r>
            <a:endParaRPr lang="en-US" sz="1100" dirty="0"/>
          </a:p>
        </p:txBody>
      </p:sp>
      <p:sp>
        <p:nvSpPr>
          <p:cNvPr id="3" name="Text 1"/>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References</a:t>
            </a:r>
            <a:endParaRPr lang="en-US" sz="3000" dirty="0"/>
          </a:p>
        </p:txBody>
      </p:sp>
      <p:sp>
        <p:nvSpPr>
          <p:cNvPr id="4" name="Text 2"/>
          <p:cNvSpPr txBox="1"/>
          <p:nvPr/>
        </p:nvSpPr>
        <p:spPr>
          <a:xfrm>
            <a:off x="685800" y="1783080"/>
            <a:ext cx="10820095" cy="448056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N. Saini, V. Bhat Kasaragod, K. Prakasha, A. K. Das. A hybrid ensemble machine learning model for detecting APT attacks based on network behavior anomaly detection. Concurrency and Computation: Practice and Experience, 35(28):e7865, 2023. doi:10.1002/cpe.7865</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S. Myneni, A. Chowdhary, A. Sabur, S. Sengupta, G. Agrawal, D. Huang, M. Kang. DAPT 2020 – Constructing a benchmark dataset for advanced persistent threats. Deployable Machine Learning for Security Defense (MLHat 2020), Springer CCIS, 2020. doi:10.1007/978-3-030-59621-7_8</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DAPT2020 dataset. kaggle.com/datasets/sowmyamyneni/dapt2020</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N. V. Chawla, K. W. Bowyer, L. O. Hall, W. P. Kegelmeyer. SMOTE: Synthetic minority over-sampling technique. Journal of Artificial Intelligence Research, 16:321–357, 2002.</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G. E. Batista, R. C. Prati, M. C. Monard. A study of the behavior of several methods for balancing machine learning training data. ACM SIGKDD Explorations, 6(1):20–29, 2004.</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L. Breiman. Random forests. Machine Learning, 45:5–32, 2001.</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T. Chen, C. Guestrin. XGBoost: A scalable tree boosting system. Proceedings of ACM SIGKDD, 2016.</a:t>
            </a:r>
            <a:endParaRPr lang="en-US" sz="1200" dirty="0"/>
          </a:p>
        </p:txBody>
      </p:sp>
      <p:sp>
        <p:nvSpPr>
          <p:cNvPr id="5" name="Text 3"/>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6" name="Text 4"/>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526"/>
        </a:solidFill>
      </p:bgPr>
    </p:bg>
    <p:spTree>
      <p:nvGrpSpPr>
        <p:cNvPr id="1" name=""/>
        <p:cNvGrpSpPr/>
        <p:nvPr/>
      </p:nvGrpSpPr>
      <p:grpSpPr>
        <a:xfrm>
          <a:off x="0" y="0"/>
          <a:ext cx="0" cy="0"/>
          <a:chOff x="0" y="0"/>
          <a:chExt cx="0" cy="0"/>
        </a:xfrm>
      </p:grpSpPr>
      <p:sp>
        <p:nvSpPr>
          <p:cNvPr id="2" name="Shape 0"/>
          <p:cNvSpPr/>
          <p:nvPr/>
        </p:nvSpPr>
        <p:spPr>
          <a:xfrm>
            <a:off x="6997568" y="1108585"/>
            <a:ext cx="339251" cy="535553"/>
          </a:xfrm>
          <a:prstGeom prst="line">
            <a:avLst/>
          </a:prstGeom>
          <a:noFill/>
          <a:ln w="9525">
            <a:solidFill>
              <a:srgbClr val="2C3E5C"/>
            </a:solidFill>
            <a:prstDash val="solid"/>
          </a:ln>
        </p:spPr>
      </p:sp>
      <p:sp>
        <p:nvSpPr>
          <p:cNvPr id="3" name="Shape 1"/>
          <p:cNvSpPr/>
          <p:nvPr/>
        </p:nvSpPr>
        <p:spPr>
          <a:xfrm flipV="1">
            <a:off x="6997568" y="871335"/>
            <a:ext cx="906965" cy="237250"/>
          </a:xfrm>
          <a:prstGeom prst="line">
            <a:avLst/>
          </a:prstGeom>
          <a:noFill/>
          <a:ln w="9525">
            <a:solidFill>
              <a:srgbClr val="2C3E5C"/>
            </a:solidFill>
            <a:prstDash val="solid"/>
          </a:ln>
        </p:spPr>
      </p:sp>
      <p:sp>
        <p:nvSpPr>
          <p:cNvPr id="4" name="Shape 2"/>
          <p:cNvSpPr/>
          <p:nvPr/>
        </p:nvSpPr>
        <p:spPr>
          <a:xfrm>
            <a:off x="7904533" y="871335"/>
            <a:ext cx="239104" cy="736086"/>
          </a:xfrm>
          <a:prstGeom prst="line">
            <a:avLst/>
          </a:prstGeom>
          <a:noFill/>
          <a:ln w="9525">
            <a:solidFill>
              <a:srgbClr val="2C3E5C"/>
            </a:solidFill>
            <a:prstDash val="solid"/>
          </a:ln>
        </p:spPr>
      </p:sp>
      <p:sp>
        <p:nvSpPr>
          <p:cNvPr id="5" name="Shape 3"/>
          <p:cNvSpPr/>
          <p:nvPr/>
        </p:nvSpPr>
        <p:spPr>
          <a:xfrm flipV="1">
            <a:off x="7904533" y="667019"/>
            <a:ext cx="989824" cy="204316"/>
          </a:xfrm>
          <a:prstGeom prst="line">
            <a:avLst/>
          </a:prstGeom>
          <a:noFill/>
          <a:ln w="9525">
            <a:solidFill>
              <a:srgbClr val="2C3E5C"/>
            </a:solidFill>
            <a:prstDash val="solid"/>
          </a:ln>
        </p:spPr>
      </p:sp>
      <p:sp>
        <p:nvSpPr>
          <p:cNvPr id="6" name="Shape 4"/>
          <p:cNvSpPr/>
          <p:nvPr/>
        </p:nvSpPr>
        <p:spPr>
          <a:xfrm>
            <a:off x="8894357" y="667019"/>
            <a:ext cx="993653" cy="351353"/>
          </a:xfrm>
          <a:prstGeom prst="line">
            <a:avLst/>
          </a:prstGeom>
          <a:noFill/>
          <a:ln w="9525">
            <a:solidFill>
              <a:srgbClr val="2C3E5C"/>
            </a:solidFill>
            <a:prstDash val="solid"/>
          </a:ln>
        </p:spPr>
      </p:sp>
      <p:sp>
        <p:nvSpPr>
          <p:cNvPr id="7" name="Shape 5"/>
          <p:cNvSpPr/>
          <p:nvPr/>
        </p:nvSpPr>
        <p:spPr>
          <a:xfrm>
            <a:off x="9888010" y="1018372"/>
            <a:ext cx="318907" cy="157625"/>
          </a:xfrm>
          <a:prstGeom prst="line">
            <a:avLst/>
          </a:prstGeom>
          <a:noFill/>
          <a:ln w="9525">
            <a:solidFill>
              <a:srgbClr val="2C3E5C"/>
            </a:solidFill>
            <a:prstDash val="solid"/>
          </a:ln>
        </p:spPr>
      </p:sp>
      <p:sp>
        <p:nvSpPr>
          <p:cNvPr id="8" name="Shape 6"/>
          <p:cNvSpPr/>
          <p:nvPr/>
        </p:nvSpPr>
        <p:spPr>
          <a:xfrm>
            <a:off x="9888010" y="1018372"/>
            <a:ext cx="350452" cy="644002"/>
          </a:xfrm>
          <a:prstGeom prst="line">
            <a:avLst/>
          </a:prstGeom>
          <a:noFill/>
          <a:ln w="9525">
            <a:solidFill>
              <a:srgbClr val="2C3E5C"/>
            </a:solidFill>
            <a:prstDash val="solid"/>
          </a:ln>
        </p:spPr>
      </p:sp>
      <p:sp>
        <p:nvSpPr>
          <p:cNvPr id="9" name="Shape 7"/>
          <p:cNvSpPr/>
          <p:nvPr/>
        </p:nvSpPr>
        <p:spPr>
          <a:xfrm>
            <a:off x="10206917" y="1175998"/>
            <a:ext cx="31545" cy="486377"/>
          </a:xfrm>
          <a:prstGeom prst="line">
            <a:avLst/>
          </a:prstGeom>
          <a:noFill/>
          <a:ln w="9525">
            <a:solidFill>
              <a:srgbClr val="2C3E5C"/>
            </a:solidFill>
            <a:prstDash val="solid"/>
          </a:ln>
        </p:spPr>
      </p:sp>
      <p:sp>
        <p:nvSpPr>
          <p:cNvPr id="10" name="Shape 8"/>
          <p:cNvSpPr/>
          <p:nvPr/>
        </p:nvSpPr>
        <p:spPr>
          <a:xfrm>
            <a:off x="11531883" y="918277"/>
            <a:ext cx="90883" cy="1110908"/>
          </a:xfrm>
          <a:prstGeom prst="line">
            <a:avLst/>
          </a:prstGeom>
          <a:noFill/>
          <a:ln w="12700">
            <a:solidFill>
              <a:srgbClr val="E0533A">
                <a:alpha val="55000"/>
              </a:srgbClr>
            </a:solidFill>
            <a:prstDash val="solid"/>
          </a:ln>
        </p:spPr>
      </p:sp>
      <p:sp>
        <p:nvSpPr>
          <p:cNvPr id="11" name="Shape 9"/>
          <p:cNvSpPr/>
          <p:nvPr/>
        </p:nvSpPr>
        <p:spPr>
          <a:xfrm flipV="1">
            <a:off x="10206917" y="918277"/>
            <a:ext cx="1324967" cy="257720"/>
          </a:xfrm>
          <a:prstGeom prst="line">
            <a:avLst/>
          </a:prstGeom>
          <a:noFill/>
          <a:ln w="9525">
            <a:solidFill>
              <a:srgbClr val="2C3E5C"/>
            </a:solidFill>
            <a:prstDash val="solid"/>
          </a:ln>
        </p:spPr>
      </p:sp>
      <p:sp>
        <p:nvSpPr>
          <p:cNvPr id="12" name="Shape 10"/>
          <p:cNvSpPr/>
          <p:nvPr/>
        </p:nvSpPr>
        <p:spPr>
          <a:xfrm flipV="1">
            <a:off x="7336819" y="1607421"/>
            <a:ext cx="806817" cy="36717"/>
          </a:xfrm>
          <a:prstGeom prst="line">
            <a:avLst/>
          </a:prstGeom>
          <a:noFill/>
          <a:ln w="9525">
            <a:solidFill>
              <a:srgbClr val="2C3E5C"/>
            </a:solidFill>
            <a:prstDash val="solid"/>
          </a:ln>
        </p:spPr>
      </p:sp>
      <p:sp>
        <p:nvSpPr>
          <p:cNvPr id="13" name="Shape 11"/>
          <p:cNvSpPr/>
          <p:nvPr/>
        </p:nvSpPr>
        <p:spPr>
          <a:xfrm>
            <a:off x="9153297" y="1975864"/>
            <a:ext cx="270535" cy="712051"/>
          </a:xfrm>
          <a:prstGeom prst="line">
            <a:avLst/>
          </a:prstGeom>
          <a:noFill/>
          <a:ln w="9525">
            <a:solidFill>
              <a:srgbClr val="2C3E5C"/>
            </a:solidFill>
            <a:prstDash val="solid"/>
          </a:ln>
        </p:spPr>
      </p:sp>
      <p:sp>
        <p:nvSpPr>
          <p:cNvPr id="14" name="Shape 12"/>
          <p:cNvSpPr/>
          <p:nvPr/>
        </p:nvSpPr>
        <p:spPr>
          <a:xfrm flipH="1">
            <a:off x="8752147" y="1975864"/>
            <a:ext cx="401150" cy="717211"/>
          </a:xfrm>
          <a:prstGeom prst="line">
            <a:avLst/>
          </a:prstGeom>
          <a:noFill/>
          <a:ln w="9525">
            <a:solidFill>
              <a:srgbClr val="2C3E5C"/>
            </a:solidFill>
            <a:prstDash val="solid"/>
          </a:ln>
        </p:spPr>
      </p:sp>
      <p:sp>
        <p:nvSpPr>
          <p:cNvPr id="15" name="Shape 13"/>
          <p:cNvSpPr/>
          <p:nvPr/>
        </p:nvSpPr>
        <p:spPr>
          <a:xfrm flipH="1">
            <a:off x="11149437" y="2029186"/>
            <a:ext cx="473329" cy="689083"/>
          </a:xfrm>
          <a:prstGeom prst="line">
            <a:avLst/>
          </a:prstGeom>
          <a:noFill/>
          <a:ln w="12700">
            <a:solidFill>
              <a:srgbClr val="E0533A">
                <a:alpha val="55000"/>
              </a:srgbClr>
            </a:solidFill>
            <a:prstDash val="solid"/>
          </a:ln>
        </p:spPr>
      </p:sp>
      <p:sp>
        <p:nvSpPr>
          <p:cNvPr id="16" name="Shape 14"/>
          <p:cNvSpPr/>
          <p:nvPr/>
        </p:nvSpPr>
        <p:spPr>
          <a:xfrm flipH="1">
            <a:off x="7318260" y="2455786"/>
            <a:ext cx="474599" cy="709846"/>
          </a:xfrm>
          <a:prstGeom prst="line">
            <a:avLst/>
          </a:prstGeom>
          <a:noFill/>
          <a:ln w="9525">
            <a:solidFill>
              <a:srgbClr val="2C3E5C"/>
            </a:solidFill>
            <a:prstDash val="solid"/>
          </a:ln>
        </p:spPr>
      </p:sp>
      <p:sp>
        <p:nvSpPr>
          <p:cNvPr id="17" name="Shape 15"/>
          <p:cNvSpPr/>
          <p:nvPr/>
        </p:nvSpPr>
        <p:spPr>
          <a:xfrm flipH="1">
            <a:off x="7792859" y="1607421"/>
            <a:ext cx="350778" cy="848365"/>
          </a:xfrm>
          <a:prstGeom prst="line">
            <a:avLst/>
          </a:prstGeom>
          <a:noFill/>
          <a:ln w="9525">
            <a:solidFill>
              <a:srgbClr val="2C3E5C"/>
            </a:solidFill>
            <a:prstDash val="solid"/>
          </a:ln>
        </p:spPr>
      </p:sp>
      <p:sp>
        <p:nvSpPr>
          <p:cNvPr id="18" name="Shape 16"/>
          <p:cNvSpPr/>
          <p:nvPr/>
        </p:nvSpPr>
        <p:spPr>
          <a:xfrm flipV="1">
            <a:off x="8752147" y="2687915"/>
            <a:ext cx="671685" cy="5160"/>
          </a:xfrm>
          <a:prstGeom prst="line">
            <a:avLst/>
          </a:prstGeom>
          <a:noFill/>
          <a:ln w="9525">
            <a:solidFill>
              <a:srgbClr val="2C3E5C"/>
            </a:solidFill>
            <a:prstDash val="solid"/>
          </a:ln>
        </p:spPr>
      </p:sp>
      <p:sp>
        <p:nvSpPr>
          <p:cNvPr id="19" name="Shape 17"/>
          <p:cNvSpPr/>
          <p:nvPr/>
        </p:nvSpPr>
        <p:spPr>
          <a:xfrm>
            <a:off x="9423832" y="2687915"/>
            <a:ext cx="147478" cy="554338"/>
          </a:xfrm>
          <a:prstGeom prst="line">
            <a:avLst/>
          </a:prstGeom>
          <a:noFill/>
          <a:ln w="9525">
            <a:solidFill>
              <a:srgbClr val="2C3E5C"/>
            </a:solidFill>
            <a:prstDash val="solid"/>
          </a:ln>
        </p:spPr>
      </p:sp>
      <p:sp>
        <p:nvSpPr>
          <p:cNvPr id="20" name="Shape 18"/>
          <p:cNvSpPr/>
          <p:nvPr/>
        </p:nvSpPr>
        <p:spPr>
          <a:xfrm>
            <a:off x="10469432" y="2397497"/>
            <a:ext cx="680005" cy="320772"/>
          </a:xfrm>
          <a:prstGeom prst="line">
            <a:avLst/>
          </a:prstGeom>
          <a:noFill/>
          <a:ln w="9525">
            <a:solidFill>
              <a:srgbClr val="2C3E5C"/>
            </a:solidFill>
            <a:prstDash val="solid"/>
          </a:ln>
        </p:spPr>
      </p:sp>
      <p:sp>
        <p:nvSpPr>
          <p:cNvPr id="21" name="Shape 19"/>
          <p:cNvSpPr/>
          <p:nvPr/>
        </p:nvSpPr>
        <p:spPr>
          <a:xfrm>
            <a:off x="10238462" y="1662375"/>
            <a:ext cx="230970" cy="735122"/>
          </a:xfrm>
          <a:prstGeom prst="line">
            <a:avLst/>
          </a:prstGeom>
          <a:noFill/>
          <a:ln w="9525">
            <a:solidFill>
              <a:srgbClr val="2C3E5C"/>
            </a:solidFill>
            <a:prstDash val="solid"/>
          </a:ln>
        </p:spPr>
      </p:sp>
      <p:sp>
        <p:nvSpPr>
          <p:cNvPr id="22" name="Shape 20"/>
          <p:cNvSpPr/>
          <p:nvPr/>
        </p:nvSpPr>
        <p:spPr>
          <a:xfrm>
            <a:off x="7318260" y="3165632"/>
            <a:ext cx="505747" cy="474985"/>
          </a:xfrm>
          <a:prstGeom prst="line">
            <a:avLst/>
          </a:prstGeom>
          <a:noFill/>
          <a:ln w="9525">
            <a:solidFill>
              <a:srgbClr val="2C3E5C"/>
            </a:solidFill>
            <a:prstDash val="solid"/>
          </a:ln>
        </p:spPr>
      </p:sp>
      <p:sp>
        <p:nvSpPr>
          <p:cNvPr id="23" name="Shape 21"/>
          <p:cNvSpPr/>
          <p:nvPr/>
        </p:nvSpPr>
        <p:spPr>
          <a:xfrm>
            <a:off x="7824006" y="3640617"/>
            <a:ext cx="206564" cy="825665"/>
          </a:xfrm>
          <a:prstGeom prst="line">
            <a:avLst/>
          </a:prstGeom>
          <a:noFill/>
          <a:ln w="9525">
            <a:solidFill>
              <a:srgbClr val="2C3E5C"/>
            </a:solidFill>
            <a:prstDash val="solid"/>
          </a:ln>
        </p:spPr>
      </p:sp>
      <p:sp>
        <p:nvSpPr>
          <p:cNvPr id="24" name="Shape 22"/>
          <p:cNvSpPr/>
          <p:nvPr/>
        </p:nvSpPr>
        <p:spPr>
          <a:xfrm flipV="1">
            <a:off x="8998122" y="3242253"/>
            <a:ext cx="573188" cy="397622"/>
          </a:xfrm>
          <a:prstGeom prst="line">
            <a:avLst/>
          </a:prstGeom>
          <a:noFill/>
          <a:ln w="9525">
            <a:solidFill>
              <a:srgbClr val="2C3E5C"/>
            </a:solidFill>
            <a:prstDash val="solid"/>
          </a:ln>
        </p:spPr>
      </p:sp>
      <p:sp>
        <p:nvSpPr>
          <p:cNvPr id="25" name="Shape 23"/>
          <p:cNvSpPr/>
          <p:nvPr/>
        </p:nvSpPr>
        <p:spPr>
          <a:xfrm flipH="1">
            <a:off x="8743972" y="3639875"/>
            <a:ext cx="254150" cy="862163"/>
          </a:xfrm>
          <a:prstGeom prst="line">
            <a:avLst/>
          </a:prstGeom>
          <a:noFill/>
          <a:ln w="9525">
            <a:solidFill>
              <a:srgbClr val="2C3E5C"/>
            </a:solidFill>
            <a:prstDash val="solid"/>
          </a:ln>
        </p:spPr>
      </p:sp>
      <p:sp>
        <p:nvSpPr>
          <p:cNvPr id="26" name="Shape 24"/>
          <p:cNvSpPr/>
          <p:nvPr/>
        </p:nvSpPr>
        <p:spPr>
          <a:xfrm>
            <a:off x="9571310" y="3242253"/>
            <a:ext cx="718522" cy="324456"/>
          </a:xfrm>
          <a:prstGeom prst="line">
            <a:avLst/>
          </a:prstGeom>
          <a:noFill/>
          <a:ln w="9525">
            <a:solidFill>
              <a:srgbClr val="2C3E5C"/>
            </a:solidFill>
            <a:prstDash val="solid"/>
          </a:ln>
        </p:spPr>
      </p:sp>
      <p:sp>
        <p:nvSpPr>
          <p:cNvPr id="27" name="Shape 25"/>
          <p:cNvSpPr/>
          <p:nvPr/>
        </p:nvSpPr>
        <p:spPr>
          <a:xfrm>
            <a:off x="10289832" y="3566709"/>
            <a:ext cx="1000440" cy="180479"/>
          </a:xfrm>
          <a:prstGeom prst="line">
            <a:avLst/>
          </a:prstGeom>
          <a:noFill/>
          <a:ln w="9525">
            <a:solidFill>
              <a:srgbClr val="2C3E5C"/>
            </a:solidFill>
            <a:prstDash val="solid"/>
          </a:ln>
        </p:spPr>
      </p:sp>
      <p:sp>
        <p:nvSpPr>
          <p:cNvPr id="28" name="Shape 26"/>
          <p:cNvSpPr/>
          <p:nvPr/>
        </p:nvSpPr>
        <p:spPr>
          <a:xfrm>
            <a:off x="11290272" y="3747188"/>
            <a:ext cx="30071" cy="237161"/>
          </a:xfrm>
          <a:prstGeom prst="line">
            <a:avLst/>
          </a:prstGeom>
          <a:noFill/>
          <a:ln w="12700">
            <a:solidFill>
              <a:srgbClr val="E0533A">
                <a:alpha val="55000"/>
              </a:srgbClr>
            </a:solidFill>
            <a:prstDash val="solid"/>
          </a:ln>
        </p:spPr>
      </p:sp>
      <p:sp>
        <p:nvSpPr>
          <p:cNvPr id="29" name="Shape 27"/>
          <p:cNvSpPr/>
          <p:nvPr/>
        </p:nvSpPr>
        <p:spPr>
          <a:xfrm flipH="1">
            <a:off x="6919630" y="3640617"/>
            <a:ext cx="904376" cy="485451"/>
          </a:xfrm>
          <a:prstGeom prst="line">
            <a:avLst/>
          </a:prstGeom>
          <a:noFill/>
          <a:ln w="9525">
            <a:solidFill>
              <a:srgbClr val="2C3E5C"/>
            </a:solidFill>
            <a:prstDash val="solid"/>
          </a:ln>
        </p:spPr>
      </p:sp>
      <p:sp>
        <p:nvSpPr>
          <p:cNvPr id="30" name="Shape 28"/>
          <p:cNvSpPr/>
          <p:nvPr/>
        </p:nvSpPr>
        <p:spPr>
          <a:xfrm flipH="1">
            <a:off x="6919630" y="3165632"/>
            <a:ext cx="398630" cy="960436"/>
          </a:xfrm>
          <a:prstGeom prst="line">
            <a:avLst/>
          </a:prstGeom>
          <a:noFill/>
          <a:ln w="9525">
            <a:solidFill>
              <a:srgbClr val="2C3E5C"/>
            </a:solidFill>
            <a:prstDash val="solid"/>
          </a:ln>
        </p:spPr>
      </p:sp>
      <p:sp>
        <p:nvSpPr>
          <p:cNvPr id="31" name="Shape 29"/>
          <p:cNvSpPr/>
          <p:nvPr/>
        </p:nvSpPr>
        <p:spPr>
          <a:xfrm flipH="1">
            <a:off x="7880226" y="4466282"/>
            <a:ext cx="150344" cy="456205"/>
          </a:xfrm>
          <a:prstGeom prst="line">
            <a:avLst/>
          </a:prstGeom>
          <a:noFill/>
          <a:ln w="9525">
            <a:solidFill>
              <a:srgbClr val="2C3E5C"/>
            </a:solidFill>
            <a:prstDash val="solid"/>
          </a:ln>
        </p:spPr>
      </p:sp>
      <p:sp>
        <p:nvSpPr>
          <p:cNvPr id="32" name="Shape 30"/>
          <p:cNvSpPr/>
          <p:nvPr/>
        </p:nvSpPr>
        <p:spPr>
          <a:xfrm>
            <a:off x="8030570" y="4466282"/>
            <a:ext cx="713402" cy="35756"/>
          </a:xfrm>
          <a:prstGeom prst="line">
            <a:avLst/>
          </a:prstGeom>
          <a:noFill/>
          <a:ln w="9525">
            <a:solidFill>
              <a:srgbClr val="2C3E5C"/>
            </a:solidFill>
            <a:prstDash val="solid"/>
          </a:ln>
        </p:spPr>
      </p:sp>
      <p:sp>
        <p:nvSpPr>
          <p:cNvPr id="33" name="Shape 31"/>
          <p:cNvSpPr/>
          <p:nvPr/>
        </p:nvSpPr>
        <p:spPr>
          <a:xfrm>
            <a:off x="8743972" y="4502038"/>
            <a:ext cx="109040" cy="312804"/>
          </a:xfrm>
          <a:prstGeom prst="line">
            <a:avLst/>
          </a:prstGeom>
          <a:noFill/>
          <a:ln w="9525">
            <a:solidFill>
              <a:srgbClr val="2C3E5C"/>
            </a:solidFill>
            <a:prstDash val="solid"/>
          </a:ln>
        </p:spPr>
      </p:sp>
      <p:sp>
        <p:nvSpPr>
          <p:cNvPr id="34" name="Shape 32"/>
          <p:cNvSpPr/>
          <p:nvPr/>
        </p:nvSpPr>
        <p:spPr>
          <a:xfrm>
            <a:off x="9706424" y="4594632"/>
            <a:ext cx="1155" cy="306139"/>
          </a:xfrm>
          <a:prstGeom prst="line">
            <a:avLst/>
          </a:prstGeom>
          <a:noFill/>
          <a:ln w="9525">
            <a:solidFill>
              <a:srgbClr val="2C3E5C"/>
            </a:solidFill>
            <a:prstDash val="solid"/>
          </a:ln>
        </p:spPr>
      </p:sp>
      <p:sp>
        <p:nvSpPr>
          <p:cNvPr id="35" name="Shape 33"/>
          <p:cNvSpPr/>
          <p:nvPr/>
        </p:nvSpPr>
        <p:spPr>
          <a:xfrm flipH="1">
            <a:off x="8853012" y="4594632"/>
            <a:ext cx="853412" cy="220210"/>
          </a:xfrm>
          <a:prstGeom prst="line">
            <a:avLst/>
          </a:prstGeom>
          <a:noFill/>
          <a:ln w="9525">
            <a:solidFill>
              <a:srgbClr val="2C3E5C"/>
            </a:solidFill>
            <a:prstDash val="solid"/>
          </a:ln>
        </p:spPr>
      </p:sp>
      <p:sp>
        <p:nvSpPr>
          <p:cNvPr id="36" name="Shape 34"/>
          <p:cNvSpPr/>
          <p:nvPr/>
        </p:nvSpPr>
        <p:spPr>
          <a:xfrm>
            <a:off x="10289832" y="3566709"/>
            <a:ext cx="1030512" cy="417640"/>
          </a:xfrm>
          <a:prstGeom prst="line">
            <a:avLst/>
          </a:prstGeom>
          <a:noFill/>
          <a:ln w="12700">
            <a:solidFill>
              <a:srgbClr val="E0533A">
                <a:alpha val="55000"/>
              </a:srgbClr>
            </a:solidFill>
            <a:prstDash val="solid"/>
          </a:ln>
        </p:spPr>
      </p:sp>
      <p:sp>
        <p:nvSpPr>
          <p:cNvPr id="37" name="Shape 35"/>
          <p:cNvSpPr/>
          <p:nvPr/>
        </p:nvSpPr>
        <p:spPr>
          <a:xfrm flipV="1">
            <a:off x="6889268" y="4922487"/>
            <a:ext cx="990957" cy="288721"/>
          </a:xfrm>
          <a:prstGeom prst="line">
            <a:avLst/>
          </a:prstGeom>
          <a:noFill/>
          <a:ln w="9525">
            <a:solidFill>
              <a:srgbClr val="2C3E5C"/>
            </a:solidFill>
            <a:prstDash val="solid"/>
          </a:ln>
        </p:spPr>
      </p:sp>
      <p:sp>
        <p:nvSpPr>
          <p:cNvPr id="38" name="Shape 36"/>
          <p:cNvSpPr/>
          <p:nvPr/>
        </p:nvSpPr>
        <p:spPr>
          <a:xfrm>
            <a:off x="6889268" y="5211209"/>
            <a:ext cx="594298" cy="906503"/>
          </a:xfrm>
          <a:prstGeom prst="line">
            <a:avLst/>
          </a:prstGeom>
          <a:noFill/>
          <a:ln w="9525">
            <a:solidFill>
              <a:srgbClr val="2C3E5C"/>
            </a:solidFill>
            <a:prstDash val="solid"/>
          </a:ln>
        </p:spPr>
      </p:sp>
      <p:sp>
        <p:nvSpPr>
          <p:cNvPr id="39" name="Shape 37"/>
          <p:cNvSpPr/>
          <p:nvPr/>
        </p:nvSpPr>
        <p:spPr>
          <a:xfrm flipH="1">
            <a:off x="7880226" y="4502038"/>
            <a:ext cx="863746" cy="420449"/>
          </a:xfrm>
          <a:prstGeom prst="line">
            <a:avLst/>
          </a:prstGeom>
          <a:noFill/>
          <a:ln w="9525">
            <a:solidFill>
              <a:srgbClr val="2C3E5C"/>
            </a:solidFill>
            <a:prstDash val="solid"/>
          </a:ln>
        </p:spPr>
      </p:sp>
      <p:sp>
        <p:nvSpPr>
          <p:cNvPr id="40" name="Shape 38"/>
          <p:cNvSpPr/>
          <p:nvPr/>
        </p:nvSpPr>
        <p:spPr>
          <a:xfrm>
            <a:off x="8853012" y="4814842"/>
            <a:ext cx="854567" cy="85929"/>
          </a:xfrm>
          <a:prstGeom prst="line">
            <a:avLst/>
          </a:prstGeom>
          <a:noFill/>
          <a:ln w="9525">
            <a:solidFill>
              <a:srgbClr val="2C3E5C"/>
            </a:solidFill>
            <a:prstDash val="solid"/>
          </a:ln>
        </p:spPr>
      </p:sp>
      <p:sp>
        <p:nvSpPr>
          <p:cNvPr id="41" name="Shape 39"/>
          <p:cNvSpPr/>
          <p:nvPr/>
        </p:nvSpPr>
        <p:spPr>
          <a:xfrm>
            <a:off x="10819209" y="5074879"/>
            <a:ext cx="341415" cy="308013"/>
          </a:xfrm>
          <a:prstGeom prst="line">
            <a:avLst/>
          </a:prstGeom>
          <a:noFill/>
          <a:ln w="9525">
            <a:solidFill>
              <a:srgbClr val="2C3E5C"/>
            </a:solidFill>
            <a:prstDash val="solid"/>
          </a:ln>
        </p:spPr>
      </p:sp>
      <p:sp>
        <p:nvSpPr>
          <p:cNvPr id="42" name="Shape 40"/>
          <p:cNvSpPr/>
          <p:nvPr/>
        </p:nvSpPr>
        <p:spPr>
          <a:xfrm flipH="1">
            <a:off x="10319396" y="5074879"/>
            <a:ext cx="499813" cy="964926"/>
          </a:xfrm>
          <a:prstGeom prst="line">
            <a:avLst/>
          </a:prstGeom>
          <a:noFill/>
          <a:ln w="9525">
            <a:solidFill>
              <a:srgbClr val="2C3E5C"/>
            </a:solidFill>
            <a:prstDash val="solid"/>
          </a:ln>
        </p:spPr>
      </p:sp>
      <p:sp>
        <p:nvSpPr>
          <p:cNvPr id="43" name="Shape 41"/>
          <p:cNvSpPr/>
          <p:nvPr/>
        </p:nvSpPr>
        <p:spPr>
          <a:xfrm flipH="1">
            <a:off x="10319396" y="5382892"/>
            <a:ext cx="841228" cy="656913"/>
          </a:xfrm>
          <a:prstGeom prst="line">
            <a:avLst/>
          </a:prstGeom>
          <a:noFill/>
          <a:ln w="9525">
            <a:solidFill>
              <a:srgbClr val="2C3E5C"/>
            </a:solidFill>
            <a:prstDash val="solid"/>
          </a:ln>
        </p:spPr>
      </p:sp>
      <p:sp>
        <p:nvSpPr>
          <p:cNvPr id="44" name="Shape 42"/>
          <p:cNvSpPr/>
          <p:nvPr/>
        </p:nvSpPr>
        <p:spPr>
          <a:xfrm>
            <a:off x="7483567" y="6117711"/>
            <a:ext cx="394495" cy="197638"/>
          </a:xfrm>
          <a:prstGeom prst="line">
            <a:avLst/>
          </a:prstGeom>
          <a:noFill/>
          <a:ln w="9525">
            <a:solidFill>
              <a:srgbClr val="2C3E5C"/>
            </a:solidFill>
            <a:prstDash val="solid"/>
          </a:ln>
        </p:spPr>
      </p:sp>
      <p:sp>
        <p:nvSpPr>
          <p:cNvPr id="45" name="Shape 43"/>
          <p:cNvSpPr/>
          <p:nvPr/>
        </p:nvSpPr>
        <p:spPr>
          <a:xfrm flipV="1">
            <a:off x="7878062" y="5955748"/>
            <a:ext cx="1023924" cy="359601"/>
          </a:xfrm>
          <a:prstGeom prst="line">
            <a:avLst/>
          </a:prstGeom>
          <a:noFill/>
          <a:ln w="9525">
            <a:solidFill>
              <a:srgbClr val="2C3E5C"/>
            </a:solidFill>
            <a:prstDash val="solid"/>
          </a:ln>
        </p:spPr>
      </p:sp>
      <p:sp>
        <p:nvSpPr>
          <p:cNvPr id="46" name="Shape 44"/>
          <p:cNvSpPr/>
          <p:nvPr/>
        </p:nvSpPr>
        <p:spPr>
          <a:xfrm>
            <a:off x="8901986" y="5955748"/>
            <a:ext cx="566360" cy="293116"/>
          </a:xfrm>
          <a:prstGeom prst="line">
            <a:avLst/>
          </a:prstGeom>
          <a:noFill/>
          <a:ln w="9525">
            <a:solidFill>
              <a:srgbClr val="2C3E5C"/>
            </a:solidFill>
            <a:prstDash val="solid"/>
          </a:ln>
        </p:spPr>
      </p:sp>
      <p:sp>
        <p:nvSpPr>
          <p:cNvPr id="47" name="Shape 45"/>
          <p:cNvSpPr/>
          <p:nvPr/>
        </p:nvSpPr>
        <p:spPr>
          <a:xfrm flipV="1">
            <a:off x="9468346" y="6039805"/>
            <a:ext cx="851049" cy="209059"/>
          </a:xfrm>
          <a:prstGeom prst="line">
            <a:avLst/>
          </a:prstGeom>
          <a:noFill/>
          <a:ln w="9525">
            <a:solidFill>
              <a:srgbClr val="2C3E5C"/>
            </a:solidFill>
            <a:prstDash val="solid"/>
          </a:ln>
        </p:spPr>
      </p:sp>
      <p:sp>
        <p:nvSpPr>
          <p:cNvPr id="48" name="Shape 46"/>
          <p:cNvSpPr/>
          <p:nvPr/>
        </p:nvSpPr>
        <p:spPr>
          <a:xfrm>
            <a:off x="6940027" y="1051045"/>
            <a:ext cx="115082" cy="115082"/>
          </a:xfrm>
          <a:prstGeom prst="ellipse">
            <a:avLst/>
          </a:prstGeom>
          <a:solidFill>
            <a:srgbClr val="4B6388"/>
          </a:solidFill>
          <a:ln w="12700">
            <a:solidFill>
              <a:srgbClr val="4B6388"/>
            </a:solidFill>
            <a:prstDash val="solid"/>
          </a:ln>
        </p:spPr>
      </p:sp>
      <p:sp>
        <p:nvSpPr>
          <p:cNvPr id="49" name="Shape 47"/>
          <p:cNvSpPr/>
          <p:nvPr/>
        </p:nvSpPr>
        <p:spPr>
          <a:xfrm>
            <a:off x="7866125" y="832928"/>
            <a:ext cx="76815" cy="76815"/>
          </a:xfrm>
          <a:prstGeom prst="ellipse">
            <a:avLst/>
          </a:prstGeom>
          <a:solidFill>
            <a:srgbClr val="4B6388"/>
          </a:solidFill>
          <a:ln w="12700">
            <a:solidFill>
              <a:srgbClr val="4B6388"/>
            </a:solidFill>
            <a:prstDash val="solid"/>
          </a:ln>
        </p:spPr>
      </p:sp>
      <p:sp>
        <p:nvSpPr>
          <p:cNvPr id="50" name="Shape 48"/>
          <p:cNvSpPr/>
          <p:nvPr/>
        </p:nvSpPr>
        <p:spPr>
          <a:xfrm>
            <a:off x="8854571" y="627234"/>
            <a:ext cx="79571" cy="79571"/>
          </a:xfrm>
          <a:prstGeom prst="ellipse">
            <a:avLst/>
          </a:prstGeom>
          <a:solidFill>
            <a:srgbClr val="4B6388"/>
          </a:solidFill>
          <a:ln w="12700">
            <a:solidFill>
              <a:srgbClr val="4B6388"/>
            </a:solidFill>
            <a:prstDash val="solid"/>
          </a:ln>
        </p:spPr>
      </p:sp>
      <p:sp>
        <p:nvSpPr>
          <p:cNvPr id="51" name="Shape 49"/>
          <p:cNvSpPr/>
          <p:nvPr/>
        </p:nvSpPr>
        <p:spPr>
          <a:xfrm>
            <a:off x="9854108" y="984471"/>
            <a:ext cx="67803" cy="67803"/>
          </a:xfrm>
          <a:prstGeom prst="ellipse">
            <a:avLst/>
          </a:prstGeom>
          <a:solidFill>
            <a:srgbClr val="4B6388"/>
          </a:solidFill>
          <a:ln w="12700">
            <a:solidFill>
              <a:srgbClr val="4B6388"/>
            </a:solidFill>
            <a:prstDash val="solid"/>
          </a:ln>
        </p:spPr>
      </p:sp>
      <p:sp>
        <p:nvSpPr>
          <p:cNvPr id="52" name="Shape 50"/>
          <p:cNvSpPr/>
          <p:nvPr/>
        </p:nvSpPr>
        <p:spPr>
          <a:xfrm>
            <a:off x="10147415" y="1116496"/>
            <a:ext cx="119004" cy="119004"/>
          </a:xfrm>
          <a:prstGeom prst="ellipse">
            <a:avLst/>
          </a:prstGeom>
          <a:solidFill>
            <a:srgbClr val="4B6388"/>
          </a:solidFill>
          <a:ln w="12700">
            <a:solidFill>
              <a:srgbClr val="4B6388"/>
            </a:solidFill>
            <a:prstDash val="solid"/>
          </a:ln>
        </p:spPr>
      </p:sp>
      <p:sp>
        <p:nvSpPr>
          <p:cNvPr id="53" name="Shape 51"/>
          <p:cNvSpPr/>
          <p:nvPr/>
        </p:nvSpPr>
        <p:spPr>
          <a:xfrm>
            <a:off x="11480289" y="866683"/>
            <a:ext cx="103189" cy="103189"/>
          </a:xfrm>
          <a:prstGeom prst="ellipse">
            <a:avLst/>
          </a:prstGeom>
          <a:solidFill>
            <a:srgbClr val="4B6388"/>
          </a:solidFill>
          <a:ln w="12700">
            <a:solidFill>
              <a:srgbClr val="4B6388"/>
            </a:solidFill>
            <a:prstDash val="solid"/>
          </a:ln>
        </p:spPr>
      </p:sp>
      <p:sp>
        <p:nvSpPr>
          <p:cNvPr id="54" name="Shape 52"/>
          <p:cNvSpPr/>
          <p:nvPr/>
        </p:nvSpPr>
        <p:spPr>
          <a:xfrm>
            <a:off x="7300437" y="1607756"/>
            <a:ext cx="72764" cy="72764"/>
          </a:xfrm>
          <a:prstGeom prst="ellipse">
            <a:avLst/>
          </a:prstGeom>
          <a:solidFill>
            <a:srgbClr val="4B6388"/>
          </a:solidFill>
          <a:ln w="12700">
            <a:solidFill>
              <a:srgbClr val="4B6388"/>
            </a:solidFill>
            <a:prstDash val="solid"/>
          </a:ln>
        </p:spPr>
      </p:sp>
      <p:sp>
        <p:nvSpPr>
          <p:cNvPr id="55" name="Shape 53"/>
          <p:cNvSpPr/>
          <p:nvPr/>
        </p:nvSpPr>
        <p:spPr>
          <a:xfrm>
            <a:off x="8098418" y="1562203"/>
            <a:ext cx="90437" cy="90437"/>
          </a:xfrm>
          <a:prstGeom prst="ellipse">
            <a:avLst/>
          </a:prstGeom>
          <a:solidFill>
            <a:srgbClr val="4B6388"/>
          </a:solidFill>
          <a:ln w="12700">
            <a:solidFill>
              <a:srgbClr val="4B6388"/>
            </a:solidFill>
            <a:prstDash val="solid"/>
          </a:ln>
        </p:spPr>
      </p:sp>
      <p:sp>
        <p:nvSpPr>
          <p:cNvPr id="56" name="Shape 54"/>
          <p:cNvSpPr/>
          <p:nvPr/>
        </p:nvSpPr>
        <p:spPr>
          <a:xfrm>
            <a:off x="9116215" y="1938781"/>
            <a:ext cx="74164" cy="74164"/>
          </a:xfrm>
          <a:prstGeom prst="ellipse">
            <a:avLst/>
          </a:prstGeom>
          <a:solidFill>
            <a:srgbClr val="4B6388"/>
          </a:solidFill>
          <a:ln w="12700">
            <a:solidFill>
              <a:srgbClr val="4B6388"/>
            </a:solidFill>
            <a:prstDash val="solid"/>
          </a:ln>
        </p:spPr>
      </p:sp>
      <p:sp>
        <p:nvSpPr>
          <p:cNvPr id="57" name="Shape 55"/>
          <p:cNvSpPr/>
          <p:nvPr/>
        </p:nvSpPr>
        <p:spPr>
          <a:xfrm>
            <a:off x="10186128" y="1610041"/>
            <a:ext cx="104667" cy="104667"/>
          </a:xfrm>
          <a:prstGeom prst="ellipse">
            <a:avLst/>
          </a:prstGeom>
          <a:solidFill>
            <a:srgbClr val="4B6388"/>
          </a:solidFill>
          <a:ln w="12700">
            <a:solidFill>
              <a:srgbClr val="4B6388"/>
            </a:solidFill>
            <a:prstDash val="solid"/>
          </a:ln>
        </p:spPr>
      </p:sp>
      <p:sp>
        <p:nvSpPr>
          <p:cNvPr id="58" name="Shape 56"/>
          <p:cNvSpPr/>
          <p:nvPr/>
        </p:nvSpPr>
        <p:spPr>
          <a:xfrm>
            <a:off x="11403310" y="1809730"/>
            <a:ext cx="438912" cy="438912"/>
          </a:xfrm>
          <a:prstGeom prst="ellipse">
            <a:avLst/>
          </a:prstGeom>
          <a:solidFill>
            <a:srgbClr val="E0533A">
              <a:alpha val="20000"/>
            </a:srgbClr>
          </a:solidFill>
          <a:ln w="12700">
            <a:solidFill>
              <a:srgbClr val="E0533A">
                <a:alpha val="20000"/>
              </a:srgbClr>
            </a:solidFill>
            <a:prstDash val="solid"/>
          </a:ln>
        </p:spPr>
      </p:sp>
      <p:sp>
        <p:nvSpPr>
          <p:cNvPr id="59" name="Shape 57"/>
          <p:cNvSpPr/>
          <p:nvPr/>
        </p:nvSpPr>
        <p:spPr>
          <a:xfrm>
            <a:off x="11540470" y="1946890"/>
            <a:ext cx="164592" cy="164592"/>
          </a:xfrm>
          <a:prstGeom prst="ellipse">
            <a:avLst/>
          </a:prstGeom>
          <a:solidFill>
            <a:srgbClr val="E0533A"/>
          </a:solidFill>
          <a:ln w="12700">
            <a:solidFill>
              <a:srgbClr val="E0533A"/>
            </a:solidFill>
            <a:prstDash val="solid"/>
          </a:ln>
        </p:spPr>
      </p:sp>
      <p:sp>
        <p:nvSpPr>
          <p:cNvPr id="60" name="Shape 58"/>
          <p:cNvSpPr/>
          <p:nvPr/>
        </p:nvSpPr>
        <p:spPr>
          <a:xfrm>
            <a:off x="7738055" y="2400982"/>
            <a:ext cx="109608" cy="109608"/>
          </a:xfrm>
          <a:prstGeom prst="ellipse">
            <a:avLst/>
          </a:prstGeom>
          <a:solidFill>
            <a:srgbClr val="4B6388"/>
          </a:solidFill>
          <a:ln w="12700">
            <a:solidFill>
              <a:srgbClr val="4B6388"/>
            </a:solidFill>
            <a:prstDash val="solid"/>
          </a:ln>
        </p:spPr>
      </p:sp>
      <p:sp>
        <p:nvSpPr>
          <p:cNvPr id="61" name="Shape 59"/>
          <p:cNvSpPr/>
          <p:nvPr/>
        </p:nvSpPr>
        <p:spPr>
          <a:xfrm>
            <a:off x="8706298" y="2647226"/>
            <a:ext cx="91698" cy="91698"/>
          </a:xfrm>
          <a:prstGeom prst="ellipse">
            <a:avLst/>
          </a:prstGeom>
          <a:solidFill>
            <a:srgbClr val="4B6388"/>
          </a:solidFill>
          <a:ln w="12700">
            <a:solidFill>
              <a:srgbClr val="4B6388"/>
            </a:solidFill>
            <a:prstDash val="solid"/>
          </a:ln>
        </p:spPr>
      </p:sp>
      <p:sp>
        <p:nvSpPr>
          <p:cNvPr id="62" name="Shape 60"/>
          <p:cNvSpPr/>
          <p:nvPr/>
        </p:nvSpPr>
        <p:spPr>
          <a:xfrm>
            <a:off x="9377144" y="2641226"/>
            <a:ext cx="93377" cy="93377"/>
          </a:xfrm>
          <a:prstGeom prst="ellipse">
            <a:avLst/>
          </a:prstGeom>
          <a:solidFill>
            <a:srgbClr val="4B6388"/>
          </a:solidFill>
          <a:ln w="12700">
            <a:solidFill>
              <a:srgbClr val="4B6388"/>
            </a:solidFill>
            <a:prstDash val="solid"/>
          </a:ln>
        </p:spPr>
      </p:sp>
      <p:sp>
        <p:nvSpPr>
          <p:cNvPr id="63" name="Shape 61"/>
          <p:cNvSpPr/>
          <p:nvPr/>
        </p:nvSpPr>
        <p:spPr>
          <a:xfrm>
            <a:off x="10422983" y="2351047"/>
            <a:ext cx="92899" cy="92899"/>
          </a:xfrm>
          <a:prstGeom prst="ellipse">
            <a:avLst/>
          </a:prstGeom>
          <a:solidFill>
            <a:srgbClr val="4B6388"/>
          </a:solidFill>
          <a:ln w="12700">
            <a:solidFill>
              <a:srgbClr val="4B6388"/>
            </a:solidFill>
            <a:prstDash val="solid"/>
          </a:ln>
        </p:spPr>
      </p:sp>
      <p:sp>
        <p:nvSpPr>
          <p:cNvPr id="64" name="Shape 62"/>
          <p:cNvSpPr/>
          <p:nvPr/>
        </p:nvSpPr>
        <p:spPr>
          <a:xfrm>
            <a:off x="11106080" y="2674911"/>
            <a:ext cx="86714" cy="86714"/>
          </a:xfrm>
          <a:prstGeom prst="ellipse">
            <a:avLst/>
          </a:prstGeom>
          <a:solidFill>
            <a:srgbClr val="4B6388"/>
          </a:solidFill>
          <a:ln w="12700">
            <a:solidFill>
              <a:srgbClr val="4B6388"/>
            </a:solidFill>
            <a:prstDash val="solid"/>
          </a:ln>
        </p:spPr>
      </p:sp>
      <p:sp>
        <p:nvSpPr>
          <p:cNvPr id="65" name="Shape 63"/>
          <p:cNvSpPr/>
          <p:nvPr/>
        </p:nvSpPr>
        <p:spPr>
          <a:xfrm>
            <a:off x="7278029" y="3125401"/>
            <a:ext cx="80462" cy="80462"/>
          </a:xfrm>
          <a:prstGeom prst="ellipse">
            <a:avLst/>
          </a:prstGeom>
          <a:solidFill>
            <a:srgbClr val="4B6388"/>
          </a:solidFill>
          <a:ln w="12700">
            <a:solidFill>
              <a:srgbClr val="4B6388"/>
            </a:solidFill>
            <a:prstDash val="solid"/>
          </a:ln>
        </p:spPr>
      </p:sp>
      <p:sp>
        <p:nvSpPr>
          <p:cNvPr id="66" name="Shape 64"/>
          <p:cNvSpPr/>
          <p:nvPr/>
        </p:nvSpPr>
        <p:spPr>
          <a:xfrm>
            <a:off x="7784390" y="3601000"/>
            <a:ext cx="79234" cy="79234"/>
          </a:xfrm>
          <a:prstGeom prst="ellipse">
            <a:avLst/>
          </a:prstGeom>
          <a:solidFill>
            <a:srgbClr val="4B6388"/>
          </a:solidFill>
          <a:ln w="12700">
            <a:solidFill>
              <a:srgbClr val="4B6388"/>
            </a:solidFill>
            <a:prstDash val="solid"/>
          </a:ln>
        </p:spPr>
      </p:sp>
      <p:sp>
        <p:nvSpPr>
          <p:cNvPr id="67" name="Shape 65"/>
          <p:cNvSpPr/>
          <p:nvPr/>
        </p:nvSpPr>
        <p:spPr>
          <a:xfrm>
            <a:off x="8941875" y="3583627"/>
            <a:ext cx="112495" cy="112495"/>
          </a:xfrm>
          <a:prstGeom prst="ellipse">
            <a:avLst/>
          </a:prstGeom>
          <a:solidFill>
            <a:srgbClr val="4B6388"/>
          </a:solidFill>
          <a:ln w="12700">
            <a:solidFill>
              <a:srgbClr val="4B6388"/>
            </a:solidFill>
            <a:prstDash val="solid"/>
          </a:ln>
        </p:spPr>
      </p:sp>
      <p:sp>
        <p:nvSpPr>
          <p:cNvPr id="68" name="Shape 66"/>
          <p:cNvSpPr/>
          <p:nvPr/>
        </p:nvSpPr>
        <p:spPr>
          <a:xfrm>
            <a:off x="9527360" y="3198302"/>
            <a:ext cx="87901" cy="87901"/>
          </a:xfrm>
          <a:prstGeom prst="ellipse">
            <a:avLst/>
          </a:prstGeom>
          <a:solidFill>
            <a:srgbClr val="4B6388"/>
          </a:solidFill>
          <a:ln w="12700">
            <a:solidFill>
              <a:srgbClr val="4B6388"/>
            </a:solidFill>
            <a:prstDash val="solid"/>
          </a:ln>
        </p:spPr>
      </p:sp>
      <p:sp>
        <p:nvSpPr>
          <p:cNvPr id="69" name="Shape 67"/>
          <p:cNvSpPr/>
          <p:nvPr/>
        </p:nvSpPr>
        <p:spPr>
          <a:xfrm>
            <a:off x="10233349" y="3510226"/>
            <a:ext cx="112967" cy="112967"/>
          </a:xfrm>
          <a:prstGeom prst="ellipse">
            <a:avLst/>
          </a:prstGeom>
          <a:solidFill>
            <a:srgbClr val="4B6388"/>
          </a:solidFill>
          <a:ln w="12700">
            <a:solidFill>
              <a:srgbClr val="4B6388"/>
            </a:solidFill>
            <a:prstDash val="solid"/>
          </a:ln>
        </p:spPr>
      </p:sp>
      <p:sp>
        <p:nvSpPr>
          <p:cNvPr id="70" name="Shape 68"/>
          <p:cNvSpPr/>
          <p:nvPr/>
        </p:nvSpPr>
        <p:spPr>
          <a:xfrm>
            <a:off x="11249628" y="3706543"/>
            <a:ext cx="81290" cy="81290"/>
          </a:xfrm>
          <a:prstGeom prst="ellipse">
            <a:avLst/>
          </a:prstGeom>
          <a:solidFill>
            <a:srgbClr val="4B6388"/>
          </a:solidFill>
          <a:ln w="12700">
            <a:solidFill>
              <a:srgbClr val="4B6388"/>
            </a:solidFill>
            <a:prstDash val="solid"/>
          </a:ln>
        </p:spPr>
      </p:sp>
      <p:sp>
        <p:nvSpPr>
          <p:cNvPr id="71" name="Shape 69"/>
          <p:cNvSpPr/>
          <p:nvPr/>
        </p:nvSpPr>
        <p:spPr>
          <a:xfrm>
            <a:off x="6856717" y="4063155"/>
            <a:ext cx="125826" cy="125826"/>
          </a:xfrm>
          <a:prstGeom prst="ellipse">
            <a:avLst/>
          </a:prstGeom>
          <a:solidFill>
            <a:srgbClr val="4B6388"/>
          </a:solidFill>
          <a:ln w="12700">
            <a:solidFill>
              <a:srgbClr val="4B6388"/>
            </a:solidFill>
            <a:prstDash val="solid"/>
          </a:ln>
        </p:spPr>
      </p:sp>
      <p:sp>
        <p:nvSpPr>
          <p:cNvPr id="72" name="Shape 70"/>
          <p:cNvSpPr/>
          <p:nvPr/>
        </p:nvSpPr>
        <p:spPr>
          <a:xfrm>
            <a:off x="7986446" y="4422158"/>
            <a:ext cx="88247" cy="88247"/>
          </a:xfrm>
          <a:prstGeom prst="ellipse">
            <a:avLst/>
          </a:prstGeom>
          <a:solidFill>
            <a:srgbClr val="4B6388"/>
          </a:solidFill>
          <a:ln w="12700">
            <a:solidFill>
              <a:srgbClr val="4B6388"/>
            </a:solidFill>
            <a:prstDash val="solid"/>
          </a:ln>
        </p:spPr>
      </p:sp>
      <p:sp>
        <p:nvSpPr>
          <p:cNvPr id="73" name="Shape 71"/>
          <p:cNvSpPr/>
          <p:nvPr/>
        </p:nvSpPr>
        <p:spPr>
          <a:xfrm>
            <a:off x="8697387" y="4455453"/>
            <a:ext cx="93170" cy="93170"/>
          </a:xfrm>
          <a:prstGeom prst="ellipse">
            <a:avLst/>
          </a:prstGeom>
          <a:solidFill>
            <a:srgbClr val="4B6388"/>
          </a:solidFill>
          <a:ln w="12700">
            <a:solidFill>
              <a:srgbClr val="4B6388"/>
            </a:solidFill>
            <a:prstDash val="solid"/>
          </a:ln>
        </p:spPr>
      </p:sp>
      <p:sp>
        <p:nvSpPr>
          <p:cNvPr id="74" name="Shape 72"/>
          <p:cNvSpPr/>
          <p:nvPr/>
        </p:nvSpPr>
        <p:spPr>
          <a:xfrm>
            <a:off x="9667443" y="4555651"/>
            <a:ext cx="77962" cy="77962"/>
          </a:xfrm>
          <a:prstGeom prst="ellipse">
            <a:avLst/>
          </a:prstGeom>
          <a:solidFill>
            <a:srgbClr val="4B6388"/>
          </a:solidFill>
          <a:ln w="12700">
            <a:solidFill>
              <a:srgbClr val="4B6388"/>
            </a:solidFill>
            <a:prstDash val="solid"/>
          </a:ln>
        </p:spPr>
      </p:sp>
      <p:sp>
        <p:nvSpPr>
          <p:cNvPr id="75" name="Shape 73"/>
          <p:cNvSpPr/>
          <p:nvPr/>
        </p:nvSpPr>
        <p:spPr>
          <a:xfrm>
            <a:off x="11100888" y="3764893"/>
            <a:ext cx="438912" cy="438912"/>
          </a:xfrm>
          <a:prstGeom prst="ellipse">
            <a:avLst/>
          </a:prstGeom>
          <a:solidFill>
            <a:srgbClr val="E0533A">
              <a:alpha val="20000"/>
            </a:srgbClr>
          </a:solidFill>
          <a:ln w="12700">
            <a:solidFill>
              <a:srgbClr val="E0533A">
                <a:alpha val="20000"/>
              </a:srgbClr>
            </a:solidFill>
            <a:prstDash val="solid"/>
          </a:ln>
        </p:spPr>
      </p:sp>
      <p:sp>
        <p:nvSpPr>
          <p:cNvPr id="76" name="Shape 74"/>
          <p:cNvSpPr/>
          <p:nvPr/>
        </p:nvSpPr>
        <p:spPr>
          <a:xfrm>
            <a:off x="11238048" y="3902053"/>
            <a:ext cx="164592" cy="164592"/>
          </a:xfrm>
          <a:prstGeom prst="ellipse">
            <a:avLst/>
          </a:prstGeom>
          <a:solidFill>
            <a:srgbClr val="E0533A"/>
          </a:solidFill>
          <a:ln w="12700">
            <a:solidFill>
              <a:srgbClr val="E0533A"/>
            </a:solidFill>
            <a:prstDash val="solid"/>
          </a:ln>
        </p:spPr>
      </p:sp>
      <p:sp>
        <p:nvSpPr>
          <p:cNvPr id="77" name="Shape 75"/>
          <p:cNvSpPr/>
          <p:nvPr/>
        </p:nvSpPr>
        <p:spPr>
          <a:xfrm>
            <a:off x="6847143" y="5169083"/>
            <a:ext cx="84251" cy="84251"/>
          </a:xfrm>
          <a:prstGeom prst="ellipse">
            <a:avLst/>
          </a:prstGeom>
          <a:solidFill>
            <a:srgbClr val="4B6388"/>
          </a:solidFill>
          <a:ln w="12700">
            <a:solidFill>
              <a:srgbClr val="4B6388"/>
            </a:solidFill>
            <a:prstDash val="solid"/>
          </a:ln>
        </p:spPr>
      </p:sp>
      <p:sp>
        <p:nvSpPr>
          <p:cNvPr id="78" name="Shape 76"/>
          <p:cNvSpPr/>
          <p:nvPr/>
        </p:nvSpPr>
        <p:spPr>
          <a:xfrm>
            <a:off x="7837222" y="4879483"/>
            <a:ext cx="86008" cy="86008"/>
          </a:xfrm>
          <a:prstGeom prst="ellipse">
            <a:avLst/>
          </a:prstGeom>
          <a:solidFill>
            <a:srgbClr val="4B6388"/>
          </a:solidFill>
          <a:ln w="12700">
            <a:solidFill>
              <a:srgbClr val="4B6388"/>
            </a:solidFill>
            <a:prstDash val="solid"/>
          </a:ln>
        </p:spPr>
      </p:sp>
      <p:sp>
        <p:nvSpPr>
          <p:cNvPr id="79" name="Shape 77"/>
          <p:cNvSpPr/>
          <p:nvPr/>
        </p:nvSpPr>
        <p:spPr>
          <a:xfrm>
            <a:off x="8795407" y="4757237"/>
            <a:ext cx="115210" cy="115210"/>
          </a:xfrm>
          <a:prstGeom prst="ellipse">
            <a:avLst/>
          </a:prstGeom>
          <a:solidFill>
            <a:srgbClr val="4B6388"/>
          </a:solidFill>
          <a:ln w="12700">
            <a:solidFill>
              <a:srgbClr val="4B6388"/>
            </a:solidFill>
            <a:prstDash val="solid"/>
          </a:ln>
        </p:spPr>
      </p:sp>
      <p:sp>
        <p:nvSpPr>
          <p:cNvPr id="80" name="Shape 78"/>
          <p:cNvSpPr/>
          <p:nvPr/>
        </p:nvSpPr>
        <p:spPr>
          <a:xfrm>
            <a:off x="9661731" y="4854923"/>
            <a:ext cx="91695" cy="91695"/>
          </a:xfrm>
          <a:prstGeom prst="ellipse">
            <a:avLst/>
          </a:prstGeom>
          <a:solidFill>
            <a:srgbClr val="4B6388"/>
          </a:solidFill>
          <a:ln w="12700">
            <a:solidFill>
              <a:srgbClr val="4B6388"/>
            </a:solidFill>
            <a:prstDash val="solid"/>
          </a:ln>
        </p:spPr>
      </p:sp>
      <p:sp>
        <p:nvSpPr>
          <p:cNvPr id="81" name="Shape 79"/>
          <p:cNvSpPr/>
          <p:nvPr/>
        </p:nvSpPr>
        <p:spPr>
          <a:xfrm>
            <a:off x="10772325" y="5027994"/>
            <a:ext cx="93769" cy="93769"/>
          </a:xfrm>
          <a:prstGeom prst="ellipse">
            <a:avLst/>
          </a:prstGeom>
          <a:solidFill>
            <a:srgbClr val="4B6388"/>
          </a:solidFill>
          <a:ln w="12700">
            <a:solidFill>
              <a:srgbClr val="4B6388"/>
            </a:solidFill>
            <a:prstDash val="solid"/>
          </a:ln>
        </p:spPr>
      </p:sp>
      <p:sp>
        <p:nvSpPr>
          <p:cNvPr id="82" name="Shape 80"/>
          <p:cNvSpPr/>
          <p:nvPr/>
        </p:nvSpPr>
        <p:spPr>
          <a:xfrm>
            <a:off x="11124486" y="5346754"/>
            <a:ext cx="72275" cy="72275"/>
          </a:xfrm>
          <a:prstGeom prst="ellipse">
            <a:avLst/>
          </a:prstGeom>
          <a:solidFill>
            <a:srgbClr val="4B6388"/>
          </a:solidFill>
          <a:ln w="12700">
            <a:solidFill>
              <a:srgbClr val="4B6388"/>
            </a:solidFill>
            <a:prstDash val="solid"/>
          </a:ln>
        </p:spPr>
      </p:sp>
      <p:sp>
        <p:nvSpPr>
          <p:cNvPr id="83" name="Shape 81"/>
          <p:cNvSpPr/>
          <p:nvPr/>
        </p:nvSpPr>
        <p:spPr>
          <a:xfrm>
            <a:off x="7428122" y="6062267"/>
            <a:ext cx="110889" cy="110889"/>
          </a:xfrm>
          <a:prstGeom prst="ellipse">
            <a:avLst/>
          </a:prstGeom>
          <a:solidFill>
            <a:srgbClr val="4B6388"/>
          </a:solidFill>
          <a:ln w="12700">
            <a:solidFill>
              <a:srgbClr val="4B6388"/>
            </a:solidFill>
            <a:prstDash val="solid"/>
          </a:ln>
        </p:spPr>
      </p:sp>
      <p:sp>
        <p:nvSpPr>
          <p:cNvPr id="84" name="Shape 82"/>
          <p:cNvSpPr/>
          <p:nvPr/>
        </p:nvSpPr>
        <p:spPr>
          <a:xfrm>
            <a:off x="7838698" y="6275986"/>
            <a:ext cx="78727" cy="78727"/>
          </a:xfrm>
          <a:prstGeom prst="ellipse">
            <a:avLst/>
          </a:prstGeom>
          <a:solidFill>
            <a:srgbClr val="4B6388"/>
          </a:solidFill>
          <a:ln w="12700">
            <a:solidFill>
              <a:srgbClr val="4B6388"/>
            </a:solidFill>
            <a:prstDash val="solid"/>
          </a:ln>
        </p:spPr>
      </p:sp>
      <p:sp>
        <p:nvSpPr>
          <p:cNvPr id="85" name="Shape 83"/>
          <p:cNvSpPr/>
          <p:nvPr/>
        </p:nvSpPr>
        <p:spPr>
          <a:xfrm>
            <a:off x="8858464" y="5912225"/>
            <a:ext cx="87045" cy="87045"/>
          </a:xfrm>
          <a:prstGeom prst="ellipse">
            <a:avLst/>
          </a:prstGeom>
          <a:solidFill>
            <a:srgbClr val="4B6388"/>
          </a:solidFill>
          <a:ln w="12700">
            <a:solidFill>
              <a:srgbClr val="4B6388"/>
            </a:solidFill>
            <a:prstDash val="solid"/>
          </a:ln>
        </p:spPr>
      </p:sp>
      <p:sp>
        <p:nvSpPr>
          <p:cNvPr id="86" name="Shape 84"/>
          <p:cNvSpPr/>
          <p:nvPr/>
        </p:nvSpPr>
        <p:spPr>
          <a:xfrm>
            <a:off x="9429456" y="6209974"/>
            <a:ext cx="77781" cy="77781"/>
          </a:xfrm>
          <a:prstGeom prst="ellipse">
            <a:avLst/>
          </a:prstGeom>
          <a:solidFill>
            <a:srgbClr val="4B6388"/>
          </a:solidFill>
          <a:ln w="12700">
            <a:solidFill>
              <a:srgbClr val="4B6388"/>
            </a:solidFill>
            <a:prstDash val="solid"/>
          </a:ln>
        </p:spPr>
      </p:sp>
      <p:sp>
        <p:nvSpPr>
          <p:cNvPr id="87" name="Shape 85"/>
          <p:cNvSpPr/>
          <p:nvPr/>
        </p:nvSpPr>
        <p:spPr>
          <a:xfrm>
            <a:off x="10280035" y="6000444"/>
            <a:ext cx="78722" cy="78722"/>
          </a:xfrm>
          <a:prstGeom prst="ellipse">
            <a:avLst/>
          </a:prstGeom>
          <a:solidFill>
            <a:srgbClr val="4B6388"/>
          </a:solidFill>
          <a:ln w="12700">
            <a:solidFill>
              <a:srgbClr val="4B6388"/>
            </a:solidFill>
            <a:prstDash val="solid"/>
          </a:ln>
        </p:spPr>
      </p:sp>
      <p:sp>
        <p:nvSpPr>
          <p:cNvPr id="88" name="Text 86"/>
          <p:cNvSpPr txBox="1"/>
          <p:nvPr/>
        </p:nvSpPr>
        <p:spPr>
          <a:xfrm>
            <a:off x="685800" y="2103120"/>
            <a:ext cx="5943600" cy="1097280"/>
          </a:xfrm>
          <a:prstGeom prst="rect">
            <a:avLst/>
          </a:prstGeom>
          <a:noFill/>
          <a:ln/>
        </p:spPr>
        <p:txBody>
          <a:bodyPr wrap="square" lIns="0" tIns="0" rIns="0" bIns="0" rtlCol="0" anchor="t"/>
          <a:lstStyle/>
          <a:p>
            <a:pPr indent="0" marL="0">
              <a:buNone/>
            </a:pPr>
            <a:r>
              <a:rPr lang="en-US" sz="6000" dirty="0">
                <a:solidFill>
                  <a:srgbClr val="FFFFFF"/>
                </a:solidFill>
                <a:latin typeface="Georgia" pitchFamily="34" charset="0"/>
                <a:ea typeface="Georgia" pitchFamily="34" charset="-122"/>
                <a:cs typeface="Georgia" pitchFamily="34" charset="-120"/>
              </a:rPr>
              <a:t>Thank you</a:t>
            </a:r>
            <a:endParaRPr lang="en-US" sz="6000" dirty="0"/>
          </a:p>
        </p:txBody>
      </p:sp>
      <p:sp>
        <p:nvSpPr>
          <p:cNvPr id="89" name="Text 87"/>
          <p:cNvSpPr txBox="1"/>
          <p:nvPr/>
        </p:nvSpPr>
        <p:spPr>
          <a:xfrm>
            <a:off x="685800" y="3246120"/>
            <a:ext cx="5943600" cy="457200"/>
          </a:xfrm>
          <a:prstGeom prst="rect">
            <a:avLst/>
          </a:prstGeom>
          <a:noFill/>
          <a:ln/>
        </p:spPr>
        <p:txBody>
          <a:bodyPr wrap="square" lIns="0" tIns="0" rIns="0" bIns="0" rtlCol="0" anchor="t"/>
          <a:lstStyle/>
          <a:p>
            <a:pPr indent="0" marL="0">
              <a:buNone/>
            </a:pPr>
            <a:r>
              <a:rPr lang="en-US" sz="2200" dirty="0">
                <a:solidFill>
                  <a:srgbClr val="A9B6C8"/>
                </a:solidFill>
                <a:latin typeface="Arial" pitchFamily="34" charset="0"/>
                <a:ea typeface="Arial" pitchFamily="34" charset="-122"/>
                <a:cs typeface="Arial" pitchFamily="34" charset="-120"/>
              </a:rPr>
              <a:t>Questions and discussion</a:t>
            </a:r>
            <a:endParaRPr lang="en-US" sz="2200" dirty="0"/>
          </a:p>
        </p:txBody>
      </p:sp>
      <p:sp>
        <p:nvSpPr>
          <p:cNvPr id="90" name="Text 88"/>
          <p:cNvSpPr txBox="1"/>
          <p:nvPr/>
        </p:nvSpPr>
        <p:spPr>
          <a:xfrm>
            <a:off x="685800" y="4754880"/>
            <a:ext cx="5669280" cy="822960"/>
          </a:xfrm>
          <a:prstGeom prst="rect">
            <a:avLst/>
          </a:prstGeom>
          <a:noFill/>
          <a:ln/>
        </p:spPr>
        <p:txBody>
          <a:bodyPr wrap="square" lIns="0" tIns="0" rIns="0" bIns="0" rtlCol="0" anchor="t"/>
          <a:lstStyle/>
          <a:p>
            <a:pPr indent="0" marL="0">
              <a:buNone/>
            </a:pPr>
            <a:r>
              <a:rPr lang="en-US" sz="1300" dirty="0">
                <a:solidFill>
                  <a:srgbClr val="6F7F96"/>
                </a:solidFill>
                <a:latin typeface="Arial" pitchFamily="34" charset="0"/>
                <a:ea typeface="Arial" pitchFamily="34" charset="-122"/>
                <a:cs typeface="Arial" pitchFamily="34" charset="-120"/>
              </a:rPr>
              <a:t>On real APT traffic the hybrid ranks threats well (AUC ≈ 99%), but raises ≈ 6% false alarms, and the paper's protocol inflates its reported results.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Anomaly Detection Using Machine Learning for Advanced Persistent Threats</dc:title>
  <dc:subject>PptxGenJS Presentation</dc:subject>
  <dc:creator>PptxGenJS</dc:creator>
  <cp:lastModifiedBy>PptxGenJS</cp:lastModifiedBy>
  <cp:revision>1</cp:revision>
  <dcterms:created xsi:type="dcterms:W3CDTF">2026-09-30T14:38:21Z</dcterms:created>
  <dcterms:modified xsi:type="dcterms:W3CDTF">2026-09-30T14:38:21Z</dcterms:modified>
</cp:coreProperties>
</file>