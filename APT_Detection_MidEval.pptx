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[ 0:40 on this slide  |  clock 0:00 -&gt; 0:40 of 20:00 ]
Good morning. We are Ashish Jain, Ameya Purohit and Chaitanya Shah, and we are presenting Project 16: anomaly detection using machine learning for Advanced Persistent Threats, or APTs.
Our reference paper is Saini and colleagues, published in 2023 in Concurrency and Computation: Practice and Experience. It proposes a hybrid Random Forest plus XGBoost model for detecting APT attacks.
In this mid-term evaluation we will show that we implemented the complete method, moved it to a dataset that genuinely contains APT attacks, and tested whether the paper's claims hold up.
TRANSITION: Here is how the talk is organised.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[ 0:40 on this slide  |  clock 0:40 -&gt; 1:20 of 20:00 ]
Four parts. First, background: the paper, what makes an APT different, and why the paper's datasets are a problem. Second, data and method: the DAPT2020 dataset, the pipeline, the hybrid model, and a flaw in the paper's evaluation. Third, six results. Fourth, conclusions and the plan for the final evaluation.
One question runs through all of it: does the paper's hybrid model really detect APTs?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[ 0:10 on this slide  |  clock 1:20 -&gt; 1:30 of 20:00 ]
Let's start with the background.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[ 1:10 on this slide  |  clock 1:30 -&gt; 2:40 of 20:00 ]
The paper combines two tree-based models, Random Forest and XGBoost, using a Python library called combo.
It compares this hybrid against thirteen other models, from K-nearest neighbours and SVMs to CNN and MLP, on four public intrusion-detection datasets: CSE-CIC-IDS2018, CIC-IDS2017, NSL-KDD and UNSW-NB15.
The headline claim: 98.92 percent accuracy with a false positive rate of only 0.52 percent on CSE-CIC-IDS2018, and the hybrid beats every other model.
Our task: implement the method completely, test it on a genuine APT dataset, and check whether the claims hold. Keep the false positive rate in mind; in a security operations centre, false alarms are what analysts drown in.
TRANSITION: To see why the dataset matters, we first need to be clear about what an APT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[ 1:00 on this slide  |  clock 2:40 -&gt; 3:40 of 20:00 ]
An Advanced Persistent Threat is a campaign, not a single attack. It moves through stages: reconnaissance, where the attacker maps the target; establishing a foothold, for example through SQL injection and a backdoor; lateral movement inside the network; and finally data exfiltration.
APTs are hard to detect because they are low and slow, they deliberately blend in with normal traffic, and they aim for long-term access.
So to claim we detect APTs, the test data must contain this kind of multi-stage campaign.
TRANSITION: That is exactly where the paper falls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[ 1:20 on this slide  |  clock 3:40 -&gt; 5:00 of 20:00 ]
This table compares the paper's datasets, on the left, with the one we used, on the right.
None of the paper's datasets was built around an APT campaign, and none labels flows with an APT stage. Their attacks are generic and isolated: DoS, brute force, botnets, probes, exploits. NSL-KDD is even based on traffic from 1998.
DAPT2020 was published in 2020 by researchers at Arizona State University specifically for APT research. A red team ran a full campaign over five days, and every flow is labelled with its stage.
Crucially, it uses the same 76 CICFlowMeter features as CIC-IDS2017 and 2018, the paper's main datasets, so the paper's method runs on it unchanged and our results are directly comparable.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[ 0:10 on this slide  |  clock 5:00 -&gt; 5:10 of 20:00 ]
Part two: the data and our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[ 0:55 on this slide  |  clock 5:10 -&gt; 6:05 of 20:00 ]
DAPT2020 contains 86,691 labelled network flows with 76 features each, captured over five days from a public web server and a private network.
The chart shows the flows per stage after cleaning, on a logarithmic axis. Benign traffic dominates with 62,463 flows; reconnaissance has 10,651, foothold 6,166, lateral movement 2,148, and data exfiltration, in red, only 15.
So the most damaging stage of an APT is also the one with the least data.
TRANSITION: Before using the data, we had to fix several problems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[ 1:00 on this slide  |  clock 6:05 -&gt; 7:05 of 20:00 ]
We found four problems.
The most serious: one of the ten CSV files has no header row. A standard loader treats its first flow as the header, which loses 2,314 flows: 94 percent of all Lateral Movement.
Second, benign traffic is labelled in three different ways, which we unified. Third, 5,248 duplicate flows and 12 constant columns, removed as the paper prescribes. Fourth, only 15 exfiltration flows.
Sanity check: after the fix we count 63,712 benign flows, which matches the figure other researchers report for DAPT2020.
TRANSITION: With clean data, we implemented the paper's pipeline.
HAND-OFF POINT (Speaker 2, from 7:05): pipeline, hybrid model, experiments and the first two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[ 1:10 on this slide  |  clock 7:05 -&gt; 8:15 of 20:00 ]
We followed the paper's Section 3.2 and Algorithm 1 step by step.
One, clean: drop identifiers such as IP addresses, ports and timestamps, and remove missing values, duplicates and constant columns.
Two, balance with SMOTETomek, which creates synthetic minority samples and removes borderline pairs. It is highlighted in red; we will come back to it.
Three, split 70 percent training, 30 percent test.
Four, select features: drop features more than 90 percent correlated with another, then keep the top 30 by mutual information.
Five, train the hybrid and 13 baselines. Six, evaluate with the paper's eight metrics.
The most informative feature is dst port, exactly as in the paper.
TRANSITION: Now let's look inside the hybrid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[ 1:10 on this slide  |  clock 8:15 -&gt; 9:25 of 20:00 ]
Random Forest uses bagging: 100 independent trees that vote. XGBoost uses boosting: 100 trees built one after another, with learning rate 1.0 and depth 4, as in the paper. We apply the depth limit to XGBoost only, since Random Forest trees are normally grown fully.
The paper combines them with combo's "average" aggregator. When we read the library's source code, we found that its prediction step averages the two models' 0-or-1 labels and outputs APT when the average is at least 0.5. With two models, that is an OR rule: a flow is flagged if either model flags it. More attacks caught, but more false alarms.
We reproduce this exactly, and also test a soft-vote version that averages probabilities.
TRANSITION: While reproducing the paper, we found a more serious issue in how it evaluates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[ 1:20 on this slide  |  clock 9:25 -&gt; 10:45 of 20:00 ]
The paper balances the data with SMOTETomek before splitting it, and says so explicitly in Section 3.2.
That causes two problems. First, SMOTE creates synthetic attack flows by interpolating between real ones, so after the split the test set contains synthetic flows built from flows the model trained on. Second, the test set becomes fifty-fifty, while real traffic here is 77 percent benign; a balanced test set makes false alarms look rarer than they are.
Our fix changes only the order: split first, balance the training data only. The test set is untouched real traffic. Any difference between the two protocols comes from the order of these two steps, and in the results we will separate the two problems.
TRANSITION: This gives us our experimental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[ 0:40 on this slide  |  clock 10:45 -&gt; 11:25 of 20:00 ]
Three experiments. A replication with exactly the paper's protocol. A correction: the same pipeline, leakage-free, repeated over five random seeds for the key models. And an extension the paper's datasets cannot support: predicting the APT stage of each flow.
Fifteen models in total: the hybrid as published, a soft-vote variant, ten classical models and three deep learning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[ 0:10 on this slide  |  clock 11:25 -&gt; 11:35 of 20:00 ]
Part three: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[ 1:10 on this slide  |  clock 11:35 -&gt; 12:45 of 20:00 ]
First, the paper's model on real APT traffic.
On the left, the paper's claim: 98.92 percent accuracy, false positive rate 0.52 percent. In the middle, our replication with the paper's own protocol: accuracy 96.99 percent, false positive rate 5.44 percent. On the right, the realistic leakage-free version: accuracy 94.28, F1 88.85, false positive rate 6.78 percent.
The hybrid still ranks APT flows very well, AUC 99.1 percent, but raises about 13 times more false alarms than claimed. APT traffic is designed to look normal, so it is much harder than the paper's DoS and brute-force attacks.
TRANSITION: F1 is 8.2 points lower on the realistic test set. Where does that gap come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[ 1:05 on this slide  |  clock 12:45 -&gt; 13:50 of 20:00 ]
We took the paper-protocol predictions and re-scored them at the real class ratio. That is exact: recall and false positive rate don't depend on the class mix, so precision and F1 can be recomputed.
On the left, as the paper would report it: F1 97.06 percent. Same predictions at the real ratio: 91.49. So 5.6 of the 8.2 points come purely from testing on a fifty-fifty set: precision drops from 94.8 to 84.7 percent.
The remaining 2.6 points are the leak: 70 percent of the APT flows in the paper's test set are synthetic, and the model misses only 0.34 percent of those, versus 1.12 percent of real ones.
Both effects come from balancing before splitting; the misleading class ratio accounts for about 68 percent of the gap, leakage for the rest.
TRANSITION: Is this specific to the hybrid? Here are all fifteen models.
HAND-OFF POINT (Speaker 3, from 13:50): remaining results, conclusions and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[ 0:55 on this slide  |  clock 13:50 -&gt; 14:45 of 20:00 ]
Grey bars: the paper's protocol. Blue bars: leakage-free, sorted by the realistic F1.
Every model scores lower on the realistic test set, by 8.0 to 21.2 F1 points. We measured the breakdown for the hybrid; the same two mechanisms apply to every model, so this is a property of the evaluation, not of the hybrid.
The ranking is stable: the tree ensembles lead, and deep learning does not help on these tabular features, which matches the paper's own table. Simple models collapse: Naive Bayes raises alarms on 32 percent of benign flows.
TRANSITION: The paper claims the hybrid beats everything. Let's test that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[ 1:10 on this slide  |  clock 14:45 -&gt; 15:55 of 20:00 ]
We compare the hybrid with its own components over five random splits: mean and standard deviation.
The paper's OR hybrid scores F1 88.82, against 89.00 for Random Forest and 89.01 for XGBoost. So the published hybrid does not beat its own parts. The OR rule catches the most APT flows, recall 96.9 percent, but also raises the most false alarms, 6.5 percent.
The soft vote, averaging probabilities instead, has the best mean F1, 89.21: ahead of XGBoost and the OR hybrid on 5 of 5 seeds and of Random Forest on 4 of 5. It's a small gain, about 0.2 points, so combining the models helps only a little, and only with the right combination rule.
TRANSITION: Because DAPT2020 labels stages, we can go further than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[ 1:00 on this slide  |  clock 15:55 -&gt; 16:55 of 20:00 ]
Here the model predicts which APT stage each flow belongs to; rows are actual stages, columns predicted ones.
Reconnaissance is recognised 97.6 percent of the time, establishing a foothold 98.3 percent, and lateral movement 91.6 percent. Data exfiltration is the weak point: 2 of 5 test flows.
With only 5 exfiltration flows in the test set, one flow shifts macro F1 by several points, so we don't rank models on it. Without exfiltration, Random Forest, XGBoost and the soft vote are within half a point of each other.
TRANSITION: Finally, where do the errors come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[ 1:00 on this slide  |  clock 16:55 -&gt; 17:55 of 20:00 ]
False alarms first. 50.6 percent of them are flows labelled benign that involve the attacker's own hosts. That may be label noise, but it's not proof: those hosts also appear on Monday, when no attacks are labelled. And 42.2 percent of false alarms fall on Monday itself, so they are genuine false alarms on normal traffic.
Missed attacks, on the right. Rare, low-volume steps such as CSRF, command injection, privilege escalation and SQL injection have the highest miss rates. But by count, most misses are Account Discovery: 57 of 127. That is a clear target for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[ 0:10 on this slide  |  clock 17:55 -&gt; 18:05 of 20:00 ]
Part four: conclusions.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[ 0:55 on this slide  |  clock 18:05 -&gt; 19:00 of 20:00 ]
To summarise. One: the method works on real APT data, but not as claimed: AUC about 99 percent, but a false positive rate of about 7 percent rather than 0.52.
Two: balancing before splitting inflates the reported scores: about two thirds through the fifty-fifty test set and one third through leakage.
Three: the published OR hybrid does not beat its parts; a soft vote is slightly better on average.
Four: tree ensembles beat deep learning here.
Five: APT stages can be identified, except exfiltration, which has too little data.
Six: the weak spots are account discovery and rare, quiet attack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[ 0:40 on this slide  |  clock 19:00 -&gt; 19:40 of 20:00 ]
For the final evaluation we propose four steps: validate on a second APT dataset such as Unraveled or SCVIC-APT-2021; a time-based evaluation, training on earlier days and testing on later ones; improving the hybrid, for example with soft voting and a tuned decision threshold; and SHAP explanations, as in the paper.
All code, results and figures are already in place and reproducible.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[ 0:10 on this slide  |  clock 19:40 -&gt; 19:50 of 20:00 ]
Our main references are listed here: the paper, the DAPT2020 dataset paper, and the core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[ 0:10 on this slide  |  clock 19:50 -&gt; 20:00 of 20:00 ]
Thank you for listening. We are happy to take questions.
----- LIKELY QUESTIONS (Q&amp;A, not part of the 20 minutes) -----
Q: Isn't most of the drop just the class ratio, not leakage?
A: Yes, and we show it: about 5.6 of the 8.2 F1 points come from the fifty-fifty test set and about 2.6 from synthetic-flow leakage. Both are caused by balancing before splitting.
Q: Are you sure the paper balances before splitting?
A: Yes. Section 3.2: "After converting it into balanced dataset, the CSE-CIC-IDS2018 dataset has been divided into two parts: training and testing." Its Figure 11 has 15,583 test rows, 30 percent of the balanced total.
Q: Why is your false positive rate so much higher?
A: APT traffic is built to look normal. 42 percent of false alarms are on attack-free Monday traffic, so they are real errors. 51 percent involve attacker hosts labelled benign, which may be label noise.
Q: How do you know the hybrid is an OR rule?
A: We read combo's source: SimpleClassifierAggregator.predict() averages the base models' labels and applies "&gt;= 0.5". We also ran the library itself and it matched our implementation on every test flow.
Q: Did you find other problems in the paper?
A: The CNN, ANN and MLP rows are identical in Table 7 (CSE-CIC-IDS2018) and Table 9 (NSL-KDD), and the CNN row is internally inconsistent: with recall 98.21 and TNR 99.51 on a balanced test set, precision should be about 99.5, not 98.25. Also, Table 7's XGBoost has a higher false positive rate than the hybrid, which is impossible under an OR rule if it is the same model.
Q: Why DAPT2020 and not a newer dataset?
A: It is the most widely used APT network benchmark and has the same features as the paper's main datasets. We plan to add a second dataset for the final evaluation.
Q: Implementation choices?
A: Max depth 4 is applied to XGBoost only; SMOTETomek removes Tomek links from both classes, its default; CSV parsing uses exact float round-trip so results reproduce across machines.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slideLayout" Target="../slideLayouts/slideLayout1.xml"/><Relationship Id="rId1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1.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205741" y="955184"/>
            <a:ext cx="748326" cy="692069"/>
          </a:xfrm>
          <a:prstGeom prst="line">
            <a:avLst/>
          </a:prstGeom>
          <a:noFill/>
          <a:ln w="9525">
            <a:solidFill>
              <a:srgbClr val="2C3E5C"/>
            </a:solidFill>
            <a:prstDash val="solid"/>
          </a:ln>
        </p:spPr>
      </p:sp>
      <p:sp>
        <p:nvSpPr>
          <p:cNvPr id="3" name="Shape 1"/>
          <p:cNvSpPr/>
          <p:nvPr/>
        </p:nvSpPr>
        <p:spPr>
          <a:xfrm flipV="1">
            <a:off x="7205741" y="907570"/>
            <a:ext cx="1053336" cy="47614"/>
          </a:xfrm>
          <a:prstGeom prst="line">
            <a:avLst/>
          </a:prstGeom>
          <a:noFill/>
          <a:ln w="9525">
            <a:solidFill>
              <a:srgbClr val="2C3E5C"/>
            </a:solidFill>
            <a:prstDash val="solid"/>
          </a:ln>
        </p:spPr>
      </p:sp>
      <p:sp>
        <p:nvSpPr>
          <p:cNvPr id="4" name="Shape 2"/>
          <p:cNvSpPr/>
          <p:nvPr/>
        </p:nvSpPr>
        <p:spPr>
          <a:xfrm flipH="1">
            <a:off x="7954066" y="907570"/>
            <a:ext cx="305010" cy="739683"/>
          </a:xfrm>
          <a:prstGeom prst="line">
            <a:avLst/>
          </a:prstGeom>
          <a:noFill/>
          <a:ln w="9525">
            <a:solidFill>
              <a:srgbClr val="2C3E5C"/>
            </a:solidFill>
            <a:prstDash val="solid"/>
          </a:ln>
        </p:spPr>
      </p:sp>
      <p:sp>
        <p:nvSpPr>
          <p:cNvPr id="5" name="Shape 3"/>
          <p:cNvSpPr/>
          <p:nvPr/>
        </p:nvSpPr>
        <p:spPr>
          <a:xfrm>
            <a:off x="8259077" y="907570"/>
            <a:ext cx="353187" cy="889203"/>
          </a:xfrm>
          <a:prstGeom prst="line">
            <a:avLst/>
          </a:prstGeom>
          <a:noFill/>
          <a:ln w="9525">
            <a:solidFill>
              <a:srgbClr val="2C3E5C"/>
            </a:solidFill>
            <a:prstDash val="solid"/>
          </a:ln>
        </p:spPr>
      </p:sp>
      <p:sp>
        <p:nvSpPr>
          <p:cNvPr id="6" name="Shape 4"/>
          <p:cNvSpPr/>
          <p:nvPr/>
        </p:nvSpPr>
        <p:spPr>
          <a:xfrm flipV="1">
            <a:off x="9772504" y="827385"/>
            <a:ext cx="996307" cy="20615"/>
          </a:xfrm>
          <a:prstGeom prst="line">
            <a:avLst/>
          </a:prstGeom>
          <a:noFill/>
          <a:ln w="9525">
            <a:solidFill>
              <a:srgbClr val="2C3E5C"/>
            </a:solidFill>
            <a:prstDash val="solid"/>
          </a:ln>
        </p:spPr>
      </p:sp>
      <p:sp>
        <p:nvSpPr>
          <p:cNvPr id="7" name="Shape 5"/>
          <p:cNvSpPr/>
          <p:nvPr/>
        </p:nvSpPr>
        <p:spPr>
          <a:xfrm flipH="1">
            <a:off x="9645554" y="848000"/>
            <a:ext cx="126950" cy="1116667"/>
          </a:xfrm>
          <a:prstGeom prst="line">
            <a:avLst/>
          </a:prstGeom>
          <a:noFill/>
          <a:ln w="9525">
            <a:solidFill>
              <a:srgbClr val="2C3E5C"/>
            </a:solidFill>
            <a:prstDash val="solid"/>
          </a:ln>
        </p:spPr>
      </p:sp>
      <p:sp>
        <p:nvSpPr>
          <p:cNvPr id="8" name="Shape 6"/>
          <p:cNvSpPr/>
          <p:nvPr/>
        </p:nvSpPr>
        <p:spPr>
          <a:xfrm>
            <a:off x="10768811" y="827385"/>
            <a:ext cx="441335" cy="602007"/>
          </a:xfrm>
          <a:prstGeom prst="line">
            <a:avLst/>
          </a:prstGeom>
          <a:noFill/>
          <a:ln w="9525">
            <a:solidFill>
              <a:srgbClr val="2C3E5C"/>
            </a:solidFill>
            <a:prstDash val="solid"/>
          </a:ln>
        </p:spPr>
      </p:sp>
      <p:sp>
        <p:nvSpPr>
          <p:cNvPr id="9" name="Shape 7"/>
          <p:cNvSpPr/>
          <p:nvPr/>
        </p:nvSpPr>
        <p:spPr>
          <a:xfrm flipV="1">
            <a:off x="10768811" y="651345"/>
            <a:ext cx="729575" cy="176040"/>
          </a:xfrm>
          <a:prstGeom prst="line">
            <a:avLst/>
          </a:prstGeom>
          <a:noFill/>
          <a:ln w="9525">
            <a:solidFill>
              <a:srgbClr val="2C3E5C"/>
            </a:solidFill>
            <a:prstDash val="solid"/>
          </a:ln>
        </p:spPr>
      </p:sp>
      <p:sp>
        <p:nvSpPr>
          <p:cNvPr id="10" name="Shape 8"/>
          <p:cNvSpPr/>
          <p:nvPr/>
        </p:nvSpPr>
        <p:spPr>
          <a:xfrm flipH="1">
            <a:off x="11210146" y="651345"/>
            <a:ext cx="288240" cy="778047"/>
          </a:xfrm>
          <a:prstGeom prst="line">
            <a:avLst/>
          </a:prstGeom>
          <a:noFill/>
          <a:ln w="9525">
            <a:solidFill>
              <a:srgbClr val="2C3E5C"/>
            </a:solidFill>
            <a:prstDash val="solid"/>
          </a:ln>
        </p:spPr>
      </p:sp>
      <p:sp>
        <p:nvSpPr>
          <p:cNvPr id="11" name="Shape 9"/>
          <p:cNvSpPr/>
          <p:nvPr/>
        </p:nvSpPr>
        <p:spPr>
          <a:xfrm>
            <a:off x="7954066" y="1647254"/>
            <a:ext cx="658197" cy="149520"/>
          </a:xfrm>
          <a:prstGeom prst="line">
            <a:avLst/>
          </a:prstGeom>
          <a:noFill/>
          <a:ln w="9525">
            <a:solidFill>
              <a:srgbClr val="2C3E5C"/>
            </a:solidFill>
            <a:prstDash val="solid"/>
          </a:ln>
        </p:spPr>
      </p:sp>
      <p:sp>
        <p:nvSpPr>
          <p:cNvPr id="12" name="Shape 10"/>
          <p:cNvSpPr/>
          <p:nvPr/>
        </p:nvSpPr>
        <p:spPr>
          <a:xfrm>
            <a:off x="8612264" y="1796773"/>
            <a:ext cx="147344" cy="819445"/>
          </a:xfrm>
          <a:prstGeom prst="line">
            <a:avLst/>
          </a:prstGeom>
          <a:noFill/>
          <a:ln w="9525">
            <a:solidFill>
              <a:srgbClr val="2C3E5C"/>
            </a:solidFill>
            <a:prstDash val="solid"/>
          </a:ln>
        </p:spPr>
      </p:sp>
      <p:sp>
        <p:nvSpPr>
          <p:cNvPr id="13" name="Shape 11"/>
          <p:cNvSpPr/>
          <p:nvPr/>
        </p:nvSpPr>
        <p:spPr>
          <a:xfrm>
            <a:off x="9645554" y="1964667"/>
            <a:ext cx="286388" cy="372897"/>
          </a:xfrm>
          <a:prstGeom prst="line">
            <a:avLst/>
          </a:prstGeom>
          <a:noFill/>
          <a:ln w="9525">
            <a:solidFill>
              <a:srgbClr val="2C3E5C"/>
            </a:solidFill>
            <a:prstDash val="solid"/>
          </a:ln>
        </p:spPr>
      </p:sp>
      <p:sp>
        <p:nvSpPr>
          <p:cNvPr id="14" name="Shape 12"/>
          <p:cNvSpPr/>
          <p:nvPr/>
        </p:nvSpPr>
        <p:spPr>
          <a:xfrm>
            <a:off x="8612264" y="1796773"/>
            <a:ext cx="1033290" cy="167894"/>
          </a:xfrm>
          <a:prstGeom prst="line">
            <a:avLst/>
          </a:prstGeom>
          <a:noFill/>
          <a:ln w="9525">
            <a:solidFill>
              <a:srgbClr val="2C3E5C"/>
            </a:solidFill>
            <a:prstDash val="solid"/>
          </a:ln>
        </p:spPr>
      </p:sp>
      <p:sp>
        <p:nvSpPr>
          <p:cNvPr id="15" name="Shape 13"/>
          <p:cNvSpPr/>
          <p:nvPr/>
        </p:nvSpPr>
        <p:spPr>
          <a:xfrm flipV="1">
            <a:off x="10718710" y="1429392"/>
            <a:ext cx="491436" cy="177545"/>
          </a:xfrm>
          <a:prstGeom prst="line">
            <a:avLst/>
          </a:prstGeom>
          <a:noFill/>
          <a:ln w="12700">
            <a:solidFill>
              <a:srgbClr val="E0533A">
                <a:alpha val="55000"/>
              </a:srgbClr>
            </a:solidFill>
            <a:prstDash val="solid"/>
          </a:ln>
        </p:spPr>
      </p:sp>
      <p:sp>
        <p:nvSpPr>
          <p:cNvPr id="16" name="Shape 14"/>
          <p:cNvSpPr/>
          <p:nvPr/>
        </p:nvSpPr>
        <p:spPr>
          <a:xfrm flipH="1">
            <a:off x="10718710" y="827385"/>
            <a:ext cx="50102" cy="779552"/>
          </a:xfrm>
          <a:prstGeom prst="line">
            <a:avLst/>
          </a:prstGeom>
          <a:noFill/>
          <a:ln w="12700">
            <a:solidFill>
              <a:srgbClr val="E0533A">
                <a:alpha val="55000"/>
              </a:srgbClr>
            </a:solidFill>
            <a:prstDash val="solid"/>
          </a:ln>
        </p:spPr>
      </p:sp>
      <p:sp>
        <p:nvSpPr>
          <p:cNvPr id="17" name="Shape 15"/>
          <p:cNvSpPr/>
          <p:nvPr/>
        </p:nvSpPr>
        <p:spPr>
          <a:xfrm flipH="1">
            <a:off x="7505966" y="1647254"/>
            <a:ext cx="448100" cy="794658"/>
          </a:xfrm>
          <a:prstGeom prst="line">
            <a:avLst/>
          </a:prstGeom>
          <a:noFill/>
          <a:ln w="9525">
            <a:solidFill>
              <a:srgbClr val="2C3E5C"/>
            </a:solidFill>
            <a:prstDash val="solid"/>
          </a:ln>
        </p:spPr>
      </p:sp>
      <p:sp>
        <p:nvSpPr>
          <p:cNvPr id="18" name="Shape 16"/>
          <p:cNvSpPr/>
          <p:nvPr/>
        </p:nvSpPr>
        <p:spPr>
          <a:xfrm>
            <a:off x="7505966" y="2441912"/>
            <a:ext cx="516056" cy="1004824"/>
          </a:xfrm>
          <a:prstGeom prst="line">
            <a:avLst/>
          </a:prstGeom>
          <a:noFill/>
          <a:ln w="9525">
            <a:solidFill>
              <a:srgbClr val="2C3E5C"/>
            </a:solidFill>
            <a:prstDash val="solid"/>
          </a:ln>
        </p:spPr>
      </p:sp>
      <p:sp>
        <p:nvSpPr>
          <p:cNvPr id="19" name="Shape 17"/>
          <p:cNvSpPr/>
          <p:nvPr/>
        </p:nvSpPr>
        <p:spPr>
          <a:xfrm>
            <a:off x="8759608" y="2616218"/>
            <a:ext cx="103799" cy="971881"/>
          </a:xfrm>
          <a:prstGeom prst="line">
            <a:avLst/>
          </a:prstGeom>
          <a:noFill/>
          <a:ln w="9525">
            <a:solidFill>
              <a:srgbClr val="2C3E5C"/>
            </a:solidFill>
            <a:prstDash val="solid"/>
          </a:ln>
        </p:spPr>
      </p:sp>
      <p:sp>
        <p:nvSpPr>
          <p:cNvPr id="20" name="Shape 18"/>
          <p:cNvSpPr/>
          <p:nvPr/>
        </p:nvSpPr>
        <p:spPr>
          <a:xfrm>
            <a:off x="9931942" y="2337564"/>
            <a:ext cx="821290" cy="164037"/>
          </a:xfrm>
          <a:prstGeom prst="line">
            <a:avLst/>
          </a:prstGeom>
          <a:noFill/>
          <a:ln w="9525">
            <a:solidFill>
              <a:srgbClr val="2C3E5C"/>
            </a:solidFill>
            <a:prstDash val="solid"/>
          </a:ln>
        </p:spPr>
      </p:sp>
      <p:sp>
        <p:nvSpPr>
          <p:cNvPr id="21" name="Shape 19"/>
          <p:cNvSpPr/>
          <p:nvPr/>
        </p:nvSpPr>
        <p:spPr>
          <a:xfrm>
            <a:off x="10718710" y="1606937"/>
            <a:ext cx="34522" cy="894663"/>
          </a:xfrm>
          <a:prstGeom prst="line">
            <a:avLst/>
          </a:prstGeom>
          <a:noFill/>
          <a:ln w="12700">
            <a:solidFill>
              <a:srgbClr val="E0533A">
                <a:alpha val="55000"/>
              </a:srgbClr>
            </a:solidFill>
            <a:prstDash val="solid"/>
          </a:ln>
        </p:spPr>
      </p:sp>
      <p:sp>
        <p:nvSpPr>
          <p:cNvPr id="22" name="Shape 20"/>
          <p:cNvSpPr/>
          <p:nvPr/>
        </p:nvSpPr>
        <p:spPr>
          <a:xfrm>
            <a:off x="8022022" y="3446736"/>
            <a:ext cx="841385" cy="141363"/>
          </a:xfrm>
          <a:prstGeom prst="line">
            <a:avLst/>
          </a:prstGeom>
          <a:noFill/>
          <a:ln w="9525">
            <a:solidFill>
              <a:srgbClr val="2C3E5C"/>
            </a:solidFill>
            <a:prstDash val="solid"/>
          </a:ln>
        </p:spPr>
      </p:sp>
      <p:sp>
        <p:nvSpPr>
          <p:cNvPr id="23" name="Shape 21"/>
          <p:cNvSpPr/>
          <p:nvPr/>
        </p:nvSpPr>
        <p:spPr>
          <a:xfrm flipH="1">
            <a:off x="7969833" y="3446736"/>
            <a:ext cx="52189" cy="1007594"/>
          </a:xfrm>
          <a:prstGeom prst="line">
            <a:avLst/>
          </a:prstGeom>
          <a:noFill/>
          <a:ln w="9525">
            <a:solidFill>
              <a:srgbClr val="2C3E5C"/>
            </a:solidFill>
            <a:prstDash val="solid"/>
          </a:ln>
        </p:spPr>
      </p:sp>
      <p:sp>
        <p:nvSpPr>
          <p:cNvPr id="24" name="Shape 22"/>
          <p:cNvSpPr/>
          <p:nvPr/>
        </p:nvSpPr>
        <p:spPr>
          <a:xfrm>
            <a:off x="8863407" y="3588099"/>
            <a:ext cx="35397" cy="586619"/>
          </a:xfrm>
          <a:prstGeom prst="line">
            <a:avLst/>
          </a:prstGeom>
          <a:noFill/>
          <a:ln w="9525">
            <a:solidFill>
              <a:srgbClr val="2C3E5C"/>
            </a:solidFill>
            <a:prstDash val="solid"/>
          </a:ln>
        </p:spPr>
      </p:sp>
      <p:sp>
        <p:nvSpPr>
          <p:cNvPr id="25" name="Shape 23"/>
          <p:cNvSpPr/>
          <p:nvPr/>
        </p:nvSpPr>
        <p:spPr>
          <a:xfrm>
            <a:off x="8863407" y="3588099"/>
            <a:ext cx="608979" cy="430898"/>
          </a:xfrm>
          <a:prstGeom prst="line">
            <a:avLst/>
          </a:prstGeom>
          <a:noFill/>
          <a:ln w="9525">
            <a:solidFill>
              <a:srgbClr val="2C3E5C"/>
            </a:solidFill>
            <a:prstDash val="solid"/>
          </a:ln>
        </p:spPr>
      </p:sp>
      <p:sp>
        <p:nvSpPr>
          <p:cNvPr id="26" name="Shape 24"/>
          <p:cNvSpPr/>
          <p:nvPr/>
        </p:nvSpPr>
        <p:spPr>
          <a:xfrm>
            <a:off x="10233423" y="3391327"/>
            <a:ext cx="387941" cy="632359"/>
          </a:xfrm>
          <a:prstGeom prst="line">
            <a:avLst/>
          </a:prstGeom>
          <a:noFill/>
          <a:ln w="9525">
            <a:solidFill>
              <a:srgbClr val="2C3E5C"/>
            </a:solidFill>
            <a:prstDash val="solid"/>
          </a:ln>
        </p:spPr>
      </p:sp>
      <p:sp>
        <p:nvSpPr>
          <p:cNvPr id="27" name="Shape 25"/>
          <p:cNvSpPr/>
          <p:nvPr/>
        </p:nvSpPr>
        <p:spPr>
          <a:xfrm flipH="1">
            <a:off x="9472386" y="3391327"/>
            <a:ext cx="761038" cy="627670"/>
          </a:xfrm>
          <a:prstGeom prst="line">
            <a:avLst/>
          </a:prstGeom>
          <a:noFill/>
          <a:ln w="9525">
            <a:solidFill>
              <a:srgbClr val="2C3E5C"/>
            </a:solidFill>
            <a:prstDash val="solid"/>
          </a:ln>
        </p:spPr>
      </p:sp>
      <p:sp>
        <p:nvSpPr>
          <p:cNvPr id="28" name="Shape 26"/>
          <p:cNvSpPr/>
          <p:nvPr/>
        </p:nvSpPr>
        <p:spPr>
          <a:xfrm flipH="1">
            <a:off x="10621365" y="3380222"/>
            <a:ext cx="1080097" cy="643463"/>
          </a:xfrm>
          <a:prstGeom prst="line">
            <a:avLst/>
          </a:prstGeom>
          <a:noFill/>
          <a:ln w="9525">
            <a:solidFill>
              <a:srgbClr val="2C3E5C"/>
            </a:solidFill>
            <a:prstDash val="solid"/>
          </a:ln>
        </p:spPr>
      </p:sp>
      <p:sp>
        <p:nvSpPr>
          <p:cNvPr id="29" name="Shape 27"/>
          <p:cNvSpPr/>
          <p:nvPr/>
        </p:nvSpPr>
        <p:spPr>
          <a:xfrm flipH="1">
            <a:off x="11294596" y="3380222"/>
            <a:ext cx="406865" cy="1194910"/>
          </a:xfrm>
          <a:prstGeom prst="line">
            <a:avLst/>
          </a:prstGeom>
          <a:noFill/>
          <a:ln w="12700">
            <a:solidFill>
              <a:srgbClr val="E0533A">
                <a:alpha val="55000"/>
              </a:srgbClr>
            </a:solidFill>
            <a:prstDash val="solid"/>
          </a:ln>
        </p:spPr>
      </p:sp>
      <p:sp>
        <p:nvSpPr>
          <p:cNvPr id="30" name="Shape 28"/>
          <p:cNvSpPr/>
          <p:nvPr/>
        </p:nvSpPr>
        <p:spPr>
          <a:xfrm>
            <a:off x="7087029" y="3971246"/>
            <a:ext cx="882804" cy="483084"/>
          </a:xfrm>
          <a:prstGeom prst="line">
            <a:avLst/>
          </a:prstGeom>
          <a:noFill/>
          <a:ln w="9525">
            <a:solidFill>
              <a:srgbClr val="2C3E5C"/>
            </a:solidFill>
            <a:prstDash val="solid"/>
          </a:ln>
        </p:spPr>
      </p:sp>
      <p:sp>
        <p:nvSpPr>
          <p:cNvPr id="31" name="Shape 29"/>
          <p:cNvSpPr/>
          <p:nvPr/>
        </p:nvSpPr>
        <p:spPr>
          <a:xfrm flipH="1">
            <a:off x="7087029" y="3446736"/>
            <a:ext cx="934993" cy="524510"/>
          </a:xfrm>
          <a:prstGeom prst="line">
            <a:avLst/>
          </a:prstGeom>
          <a:noFill/>
          <a:ln w="9525">
            <a:solidFill>
              <a:srgbClr val="2C3E5C"/>
            </a:solidFill>
            <a:prstDash val="solid"/>
          </a:ln>
        </p:spPr>
      </p:sp>
      <p:sp>
        <p:nvSpPr>
          <p:cNvPr id="32" name="Shape 30"/>
          <p:cNvSpPr/>
          <p:nvPr/>
        </p:nvSpPr>
        <p:spPr>
          <a:xfrm>
            <a:off x="7969833" y="4454330"/>
            <a:ext cx="112471" cy="628593"/>
          </a:xfrm>
          <a:prstGeom prst="line">
            <a:avLst/>
          </a:prstGeom>
          <a:noFill/>
          <a:ln w="9525">
            <a:solidFill>
              <a:srgbClr val="2C3E5C"/>
            </a:solidFill>
            <a:prstDash val="solid"/>
          </a:ln>
        </p:spPr>
      </p:sp>
      <p:sp>
        <p:nvSpPr>
          <p:cNvPr id="33" name="Shape 31"/>
          <p:cNvSpPr/>
          <p:nvPr/>
        </p:nvSpPr>
        <p:spPr>
          <a:xfrm flipH="1">
            <a:off x="7272762" y="4454330"/>
            <a:ext cx="697071" cy="612303"/>
          </a:xfrm>
          <a:prstGeom prst="line">
            <a:avLst/>
          </a:prstGeom>
          <a:noFill/>
          <a:ln w="9525">
            <a:solidFill>
              <a:srgbClr val="2C3E5C"/>
            </a:solidFill>
            <a:prstDash val="solid"/>
          </a:ln>
        </p:spPr>
      </p:sp>
      <p:sp>
        <p:nvSpPr>
          <p:cNvPr id="34" name="Shape 32"/>
          <p:cNvSpPr/>
          <p:nvPr/>
        </p:nvSpPr>
        <p:spPr>
          <a:xfrm flipV="1">
            <a:off x="8898804" y="4018997"/>
            <a:ext cx="573582" cy="155721"/>
          </a:xfrm>
          <a:prstGeom prst="line">
            <a:avLst/>
          </a:prstGeom>
          <a:noFill/>
          <a:ln w="9525">
            <a:solidFill>
              <a:srgbClr val="2C3E5C"/>
            </a:solidFill>
            <a:prstDash val="solid"/>
          </a:ln>
        </p:spPr>
      </p:sp>
      <p:sp>
        <p:nvSpPr>
          <p:cNvPr id="35" name="Shape 33"/>
          <p:cNvSpPr/>
          <p:nvPr/>
        </p:nvSpPr>
        <p:spPr>
          <a:xfrm>
            <a:off x="10621365" y="4023686"/>
            <a:ext cx="673232" cy="551447"/>
          </a:xfrm>
          <a:prstGeom prst="line">
            <a:avLst/>
          </a:prstGeom>
          <a:noFill/>
          <a:ln w="12700">
            <a:solidFill>
              <a:srgbClr val="E0533A">
                <a:alpha val="55000"/>
              </a:srgbClr>
            </a:solidFill>
            <a:prstDash val="solid"/>
          </a:ln>
        </p:spPr>
      </p:sp>
      <p:sp>
        <p:nvSpPr>
          <p:cNvPr id="36" name="Shape 34"/>
          <p:cNvSpPr/>
          <p:nvPr/>
        </p:nvSpPr>
        <p:spPr>
          <a:xfrm>
            <a:off x="7272762" y="5066632"/>
            <a:ext cx="809543" cy="16291"/>
          </a:xfrm>
          <a:prstGeom prst="line">
            <a:avLst/>
          </a:prstGeom>
          <a:noFill/>
          <a:ln w="9525">
            <a:solidFill>
              <a:srgbClr val="2C3E5C"/>
            </a:solidFill>
            <a:prstDash val="solid"/>
          </a:ln>
        </p:spPr>
      </p:sp>
      <p:sp>
        <p:nvSpPr>
          <p:cNvPr id="37" name="Shape 35"/>
          <p:cNvSpPr/>
          <p:nvPr/>
        </p:nvSpPr>
        <p:spPr>
          <a:xfrm flipH="1">
            <a:off x="7215511" y="5066632"/>
            <a:ext cx="57251" cy="919193"/>
          </a:xfrm>
          <a:prstGeom prst="line">
            <a:avLst/>
          </a:prstGeom>
          <a:noFill/>
          <a:ln w="9525">
            <a:solidFill>
              <a:srgbClr val="2C3E5C"/>
            </a:solidFill>
            <a:prstDash val="solid"/>
          </a:ln>
        </p:spPr>
      </p:sp>
      <p:sp>
        <p:nvSpPr>
          <p:cNvPr id="38" name="Shape 36"/>
          <p:cNvSpPr/>
          <p:nvPr/>
        </p:nvSpPr>
        <p:spPr>
          <a:xfrm flipH="1">
            <a:off x="8871787" y="4174718"/>
            <a:ext cx="27017" cy="618657"/>
          </a:xfrm>
          <a:prstGeom prst="line">
            <a:avLst/>
          </a:prstGeom>
          <a:noFill/>
          <a:ln w="9525">
            <a:solidFill>
              <a:srgbClr val="2C3E5C"/>
            </a:solidFill>
            <a:prstDash val="solid"/>
          </a:ln>
        </p:spPr>
      </p:sp>
      <p:sp>
        <p:nvSpPr>
          <p:cNvPr id="39" name="Shape 37"/>
          <p:cNvSpPr/>
          <p:nvPr/>
        </p:nvSpPr>
        <p:spPr>
          <a:xfrm>
            <a:off x="8871787" y="4793375"/>
            <a:ext cx="695431" cy="271400"/>
          </a:xfrm>
          <a:prstGeom prst="line">
            <a:avLst/>
          </a:prstGeom>
          <a:noFill/>
          <a:ln w="9525">
            <a:solidFill>
              <a:srgbClr val="2C3E5C"/>
            </a:solidFill>
            <a:prstDash val="solid"/>
          </a:ln>
        </p:spPr>
      </p:sp>
      <p:sp>
        <p:nvSpPr>
          <p:cNvPr id="40" name="Shape 38"/>
          <p:cNvSpPr/>
          <p:nvPr/>
        </p:nvSpPr>
        <p:spPr>
          <a:xfrm>
            <a:off x="9567218" y="5064775"/>
            <a:ext cx="198884" cy="981952"/>
          </a:xfrm>
          <a:prstGeom prst="line">
            <a:avLst/>
          </a:prstGeom>
          <a:noFill/>
          <a:ln w="9525">
            <a:solidFill>
              <a:srgbClr val="2C3E5C"/>
            </a:solidFill>
            <a:prstDash val="solid"/>
          </a:ln>
        </p:spPr>
      </p:sp>
      <p:sp>
        <p:nvSpPr>
          <p:cNvPr id="41" name="Shape 39"/>
          <p:cNvSpPr/>
          <p:nvPr/>
        </p:nvSpPr>
        <p:spPr>
          <a:xfrm flipH="1">
            <a:off x="7215511" y="5082923"/>
            <a:ext cx="866793" cy="902903"/>
          </a:xfrm>
          <a:prstGeom prst="line">
            <a:avLst/>
          </a:prstGeom>
          <a:noFill/>
          <a:ln w="9525">
            <a:solidFill>
              <a:srgbClr val="2C3E5C"/>
            </a:solidFill>
            <a:prstDash val="solid"/>
          </a:ln>
        </p:spPr>
      </p:sp>
      <p:sp>
        <p:nvSpPr>
          <p:cNvPr id="42" name="Shape 40"/>
          <p:cNvSpPr/>
          <p:nvPr/>
        </p:nvSpPr>
        <p:spPr>
          <a:xfrm flipV="1">
            <a:off x="8943895" y="6046727"/>
            <a:ext cx="822207" cy="190647"/>
          </a:xfrm>
          <a:prstGeom prst="line">
            <a:avLst/>
          </a:prstGeom>
          <a:noFill/>
          <a:ln w="9525">
            <a:solidFill>
              <a:srgbClr val="2C3E5C"/>
            </a:solidFill>
            <a:prstDash val="solid"/>
          </a:ln>
        </p:spPr>
      </p:sp>
      <p:sp>
        <p:nvSpPr>
          <p:cNvPr id="43" name="Shape 41"/>
          <p:cNvSpPr/>
          <p:nvPr/>
        </p:nvSpPr>
        <p:spPr>
          <a:xfrm flipH="1">
            <a:off x="8943895" y="5064775"/>
            <a:ext cx="623323" cy="1172599"/>
          </a:xfrm>
          <a:prstGeom prst="line">
            <a:avLst/>
          </a:prstGeom>
          <a:noFill/>
          <a:ln w="9525">
            <a:solidFill>
              <a:srgbClr val="2C3E5C"/>
            </a:solidFill>
            <a:prstDash val="solid"/>
          </a:ln>
        </p:spPr>
      </p:sp>
      <p:sp>
        <p:nvSpPr>
          <p:cNvPr id="44" name="Shape 42"/>
          <p:cNvSpPr/>
          <p:nvPr/>
        </p:nvSpPr>
        <p:spPr>
          <a:xfrm flipV="1">
            <a:off x="9766102" y="5700768"/>
            <a:ext cx="763661" cy="345959"/>
          </a:xfrm>
          <a:prstGeom prst="line">
            <a:avLst/>
          </a:prstGeom>
          <a:noFill/>
          <a:ln w="9525">
            <a:solidFill>
              <a:srgbClr val="2C3E5C"/>
            </a:solidFill>
            <a:prstDash val="solid"/>
          </a:ln>
        </p:spPr>
      </p:sp>
      <p:sp>
        <p:nvSpPr>
          <p:cNvPr id="45" name="Shape 43"/>
          <p:cNvSpPr/>
          <p:nvPr/>
        </p:nvSpPr>
        <p:spPr>
          <a:xfrm>
            <a:off x="10529763" y="5700768"/>
            <a:ext cx="948024" cy="612014"/>
          </a:xfrm>
          <a:prstGeom prst="line">
            <a:avLst/>
          </a:prstGeom>
          <a:noFill/>
          <a:ln w="9525">
            <a:solidFill>
              <a:srgbClr val="2C3E5C"/>
            </a:solidFill>
            <a:prstDash val="solid"/>
          </a:ln>
        </p:spPr>
      </p:sp>
      <p:sp>
        <p:nvSpPr>
          <p:cNvPr id="46" name="Shape 44"/>
          <p:cNvSpPr/>
          <p:nvPr/>
        </p:nvSpPr>
        <p:spPr>
          <a:xfrm>
            <a:off x="9766102" y="6046727"/>
            <a:ext cx="1711685" cy="266055"/>
          </a:xfrm>
          <a:prstGeom prst="line">
            <a:avLst/>
          </a:prstGeom>
          <a:noFill/>
          <a:ln w="9525">
            <a:solidFill>
              <a:srgbClr val="2C3E5C"/>
            </a:solidFill>
            <a:prstDash val="solid"/>
          </a:ln>
        </p:spPr>
      </p:sp>
      <p:sp>
        <p:nvSpPr>
          <p:cNvPr id="47" name="Shape 45"/>
          <p:cNvSpPr/>
          <p:nvPr/>
        </p:nvSpPr>
        <p:spPr>
          <a:xfrm>
            <a:off x="7150997" y="900440"/>
            <a:ext cx="109488" cy="109488"/>
          </a:xfrm>
          <a:prstGeom prst="ellipse">
            <a:avLst/>
          </a:prstGeom>
          <a:solidFill>
            <a:srgbClr val="4B6388"/>
          </a:solidFill>
          <a:ln w="12700">
            <a:solidFill>
              <a:srgbClr val="4B6388"/>
            </a:solidFill>
            <a:prstDash val="solid"/>
          </a:ln>
        </p:spPr>
      </p:sp>
      <p:sp>
        <p:nvSpPr>
          <p:cNvPr id="48" name="Shape 46"/>
          <p:cNvSpPr/>
          <p:nvPr/>
        </p:nvSpPr>
        <p:spPr>
          <a:xfrm>
            <a:off x="8222750" y="871243"/>
            <a:ext cx="72654" cy="72654"/>
          </a:xfrm>
          <a:prstGeom prst="ellipse">
            <a:avLst/>
          </a:prstGeom>
          <a:solidFill>
            <a:srgbClr val="4B6388"/>
          </a:solidFill>
          <a:ln w="12700">
            <a:solidFill>
              <a:srgbClr val="4B6388"/>
            </a:solidFill>
            <a:prstDash val="solid"/>
          </a:ln>
        </p:spPr>
      </p:sp>
      <p:sp>
        <p:nvSpPr>
          <p:cNvPr id="49" name="Shape 47"/>
          <p:cNvSpPr/>
          <p:nvPr/>
        </p:nvSpPr>
        <p:spPr>
          <a:xfrm>
            <a:off x="9736099" y="811595"/>
            <a:ext cx="72810" cy="72810"/>
          </a:xfrm>
          <a:prstGeom prst="ellipse">
            <a:avLst/>
          </a:prstGeom>
          <a:solidFill>
            <a:srgbClr val="4B6388"/>
          </a:solidFill>
          <a:ln w="12700">
            <a:solidFill>
              <a:srgbClr val="4B6388"/>
            </a:solidFill>
            <a:prstDash val="solid"/>
          </a:ln>
        </p:spPr>
      </p:sp>
      <p:sp>
        <p:nvSpPr>
          <p:cNvPr id="50" name="Shape 48"/>
          <p:cNvSpPr/>
          <p:nvPr/>
        </p:nvSpPr>
        <p:spPr>
          <a:xfrm>
            <a:off x="10716103" y="774677"/>
            <a:ext cx="105417" cy="105417"/>
          </a:xfrm>
          <a:prstGeom prst="ellipse">
            <a:avLst/>
          </a:prstGeom>
          <a:solidFill>
            <a:srgbClr val="4B6388"/>
          </a:solidFill>
          <a:ln w="12700">
            <a:solidFill>
              <a:srgbClr val="4B6388"/>
            </a:solidFill>
            <a:prstDash val="solid"/>
          </a:ln>
        </p:spPr>
      </p:sp>
      <p:sp>
        <p:nvSpPr>
          <p:cNvPr id="51" name="Shape 49"/>
          <p:cNvSpPr/>
          <p:nvPr/>
        </p:nvSpPr>
        <p:spPr>
          <a:xfrm>
            <a:off x="11435271" y="588230"/>
            <a:ext cx="126229" cy="126229"/>
          </a:xfrm>
          <a:prstGeom prst="ellipse">
            <a:avLst/>
          </a:prstGeom>
          <a:solidFill>
            <a:srgbClr val="4B6388"/>
          </a:solidFill>
          <a:ln w="12700">
            <a:solidFill>
              <a:srgbClr val="4B6388"/>
            </a:solidFill>
            <a:prstDash val="solid"/>
          </a:ln>
        </p:spPr>
      </p:sp>
      <p:sp>
        <p:nvSpPr>
          <p:cNvPr id="52" name="Shape 50"/>
          <p:cNvSpPr/>
          <p:nvPr/>
        </p:nvSpPr>
        <p:spPr>
          <a:xfrm>
            <a:off x="7911070" y="1604257"/>
            <a:ext cx="85993" cy="85993"/>
          </a:xfrm>
          <a:prstGeom prst="ellipse">
            <a:avLst/>
          </a:prstGeom>
          <a:solidFill>
            <a:srgbClr val="4B6388"/>
          </a:solidFill>
          <a:ln w="12700">
            <a:solidFill>
              <a:srgbClr val="4B6388"/>
            </a:solidFill>
            <a:prstDash val="solid"/>
          </a:ln>
        </p:spPr>
      </p:sp>
      <p:sp>
        <p:nvSpPr>
          <p:cNvPr id="53" name="Shape 51"/>
          <p:cNvSpPr/>
          <p:nvPr/>
        </p:nvSpPr>
        <p:spPr>
          <a:xfrm>
            <a:off x="8550640" y="1735149"/>
            <a:ext cx="123248" cy="123248"/>
          </a:xfrm>
          <a:prstGeom prst="ellipse">
            <a:avLst/>
          </a:prstGeom>
          <a:solidFill>
            <a:srgbClr val="4B6388"/>
          </a:solidFill>
          <a:ln w="12700">
            <a:solidFill>
              <a:srgbClr val="4B6388"/>
            </a:solidFill>
            <a:prstDash val="solid"/>
          </a:ln>
        </p:spPr>
      </p:sp>
      <p:sp>
        <p:nvSpPr>
          <p:cNvPr id="54" name="Shape 52"/>
          <p:cNvSpPr/>
          <p:nvPr/>
        </p:nvSpPr>
        <p:spPr>
          <a:xfrm>
            <a:off x="9601499" y="1920613"/>
            <a:ext cx="88109" cy="88109"/>
          </a:xfrm>
          <a:prstGeom prst="ellipse">
            <a:avLst/>
          </a:prstGeom>
          <a:solidFill>
            <a:srgbClr val="4B6388"/>
          </a:solidFill>
          <a:ln w="12700">
            <a:solidFill>
              <a:srgbClr val="4B6388"/>
            </a:solidFill>
            <a:prstDash val="solid"/>
          </a:ln>
        </p:spPr>
      </p:sp>
      <p:sp>
        <p:nvSpPr>
          <p:cNvPr id="55" name="Shape 53"/>
          <p:cNvSpPr/>
          <p:nvPr/>
        </p:nvSpPr>
        <p:spPr>
          <a:xfrm>
            <a:off x="10499254" y="1387481"/>
            <a:ext cx="438912" cy="438912"/>
          </a:xfrm>
          <a:prstGeom prst="ellipse">
            <a:avLst/>
          </a:prstGeom>
          <a:solidFill>
            <a:srgbClr val="E0533A">
              <a:alpha val="20000"/>
            </a:srgbClr>
          </a:solidFill>
          <a:ln w="12700">
            <a:solidFill>
              <a:srgbClr val="E0533A">
                <a:alpha val="20000"/>
              </a:srgbClr>
            </a:solidFill>
            <a:prstDash val="solid"/>
          </a:ln>
        </p:spPr>
      </p:sp>
      <p:sp>
        <p:nvSpPr>
          <p:cNvPr id="56" name="Shape 54"/>
          <p:cNvSpPr/>
          <p:nvPr/>
        </p:nvSpPr>
        <p:spPr>
          <a:xfrm>
            <a:off x="10636414" y="1524641"/>
            <a:ext cx="164592" cy="164592"/>
          </a:xfrm>
          <a:prstGeom prst="ellipse">
            <a:avLst/>
          </a:prstGeom>
          <a:solidFill>
            <a:srgbClr val="E0533A"/>
          </a:solidFill>
          <a:ln w="12700">
            <a:solidFill>
              <a:srgbClr val="E0533A"/>
            </a:solidFill>
            <a:prstDash val="solid"/>
          </a:ln>
        </p:spPr>
      </p:sp>
      <p:sp>
        <p:nvSpPr>
          <p:cNvPr id="57" name="Shape 55"/>
          <p:cNvSpPr/>
          <p:nvPr/>
        </p:nvSpPr>
        <p:spPr>
          <a:xfrm>
            <a:off x="11153797" y="1373043"/>
            <a:ext cx="112698" cy="112698"/>
          </a:xfrm>
          <a:prstGeom prst="ellipse">
            <a:avLst/>
          </a:prstGeom>
          <a:solidFill>
            <a:srgbClr val="4B6388"/>
          </a:solidFill>
          <a:ln w="12700">
            <a:solidFill>
              <a:srgbClr val="4B6388"/>
            </a:solidFill>
            <a:prstDash val="solid"/>
          </a:ln>
        </p:spPr>
      </p:sp>
      <p:sp>
        <p:nvSpPr>
          <p:cNvPr id="58" name="Shape 56"/>
          <p:cNvSpPr/>
          <p:nvPr/>
        </p:nvSpPr>
        <p:spPr>
          <a:xfrm>
            <a:off x="7453037" y="2388983"/>
            <a:ext cx="105858" cy="105858"/>
          </a:xfrm>
          <a:prstGeom prst="ellipse">
            <a:avLst/>
          </a:prstGeom>
          <a:solidFill>
            <a:srgbClr val="4B6388"/>
          </a:solidFill>
          <a:ln w="12700">
            <a:solidFill>
              <a:srgbClr val="4B6388"/>
            </a:solidFill>
            <a:prstDash val="solid"/>
          </a:ln>
        </p:spPr>
      </p:sp>
      <p:sp>
        <p:nvSpPr>
          <p:cNvPr id="59" name="Shape 57"/>
          <p:cNvSpPr/>
          <p:nvPr/>
        </p:nvSpPr>
        <p:spPr>
          <a:xfrm>
            <a:off x="8725321" y="2581932"/>
            <a:ext cx="68574" cy="68574"/>
          </a:xfrm>
          <a:prstGeom prst="ellipse">
            <a:avLst/>
          </a:prstGeom>
          <a:solidFill>
            <a:srgbClr val="4B6388"/>
          </a:solidFill>
          <a:ln w="12700">
            <a:solidFill>
              <a:srgbClr val="4B6388"/>
            </a:solidFill>
            <a:prstDash val="solid"/>
          </a:ln>
        </p:spPr>
      </p:sp>
      <p:sp>
        <p:nvSpPr>
          <p:cNvPr id="60" name="Shape 58"/>
          <p:cNvSpPr/>
          <p:nvPr/>
        </p:nvSpPr>
        <p:spPr>
          <a:xfrm>
            <a:off x="9890764" y="2296385"/>
            <a:ext cx="82357" cy="82357"/>
          </a:xfrm>
          <a:prstGeom prst="ellipse">
            <a:avLst/>
          </a:prstGeom>
          <a:solidFill>
            <a:srgbClr val="4B6388"/>
          </a:solidFill>
          <a:ln w="12700">
            <a:solidFill>
              <a:srgbClr val="4B6388"/>
            </a:solidFill>
            <a:prstDash val="solid"/>
          </a:ln>
        </p:spPr>
      </p:sp>
      <p:sp>
        <p:nvSpPr>
          <p:cNvPr id="61" name="Shape 59"/>
          <p:cNvSpPr/>
          <p:nvPr/>
        </p:nvSpPr>
        <p:spPr>
          <a:xfrm>
            <a:off x="10699977" y="2448345"/>
            <a:ext cx="106510" cy="106510"/>
          </a:xfrm>
          <a:prstGeom prst="ellipse">
            <a:avLst/>
          </a:prstGeom>
          <a:solidFill>
            <a:srgbClr val="4B6388"/>
          </a:solidFill>
          <a:ln w="12700">
            <a:solidFill>
              <a:srgbClr val="4B6388"/>
            </a:solidFill>
            <a:prstDash val="solid"/>
          </a:ln>
        </p:spPr>
      </p:sp>
      <p:sp>
        <p:nvSpPr>
          <p:cNvPr id="62" name="Shape 60"/>
          <p:cNvSpPr/>
          <p:nvPr/>
        </p:nvSpPr>
        <p:spPr>
          <a:xfrm>
            <a:off x="7974260" y="3398974"/>
            <a:ext cx="95524" cy="95524"/>
          </a:xfrm>
          <a:prstGeom prst="ellipse">
            <a:avLst/>
          </a:prstGeom>
          <a:solidFill>
            <a:srgbClr val="4B6388"/>
          </a:solidFill>
          <a:ln w="12700">
            <a:solidFill>
              <a:srgbClr val="4B6388"/>
            </a:solidFill>
            <a:prstDash val="solid"/>
          </a:ln>
        </p:spPr>
      </p:sp>
      <p:sp>
        <p:nvSpPr>
          <p:cNvPr id="63" name="Shape 61"/>
          <p:cNvSpPr/>
          <p:nvPr/>
        </p:nvSpPr>
        <p:spPr>
          <a:xfrm>
            <a:off x="8811311" y="3536003"/>
            <a:ext cx="104192" cy="104192"/>
          </a:xfrm>
          <a:prstGeom prst="ellipse">
            <a:avLst/>
          </a:prstGeom>
          <a:solidFill>
            <a:srgbClr val="4B6388"/>
          </a:solidFill>
          <a:ln w="12700">
            <a:solidFill>
              <a:srgbClr val="4B6388"/>
            </a:solidFill>
            <a:prstDash val="solid"/>
          </a:ln>
        </p:spPr>
      </p:sp>
      <p:sp>
        <p:nvSpPr>
          <p:cNvPr id="64" name="Shape 62"/>
          <p:cNvSpPr/>
          <p:nvPr/>
        </p:nvSpPr>
        <p:spPr>
          <a:xfrm>
            <a:off x="10194212" y="3352115"/>
            <a:ext cx="78424" cy="78424"/>
          </a:xfrm>
          <a:prstGeom prst="ellipse">
            <a:avLst/>
          </a:prstGeom>
          <a:solidFill>
            <a:srgbClr val="4B6388"/>
          </a:solidFill>
          <a:ln w="12700">
            <a:solidFill>
              <a:srgbClr val="4B6388"/>
            </a:solidFill>
            <a:prstDash val="solid"/>
          </a:ln>
        </p:spPr>
      </p:sp>
      <p:sp>
        <p:nvSpPr>
          <p:cNvPr id="65" name="Shape 63"/>
          <p:cNvSpPr/>
          <p:nvPr/>
        </p:nvSpPr>
        <p:spPr>
          <a:xfrm>
            <a:off x="11646475" y="3325236"/>
            <a:ext cx="109973" cy="109973"/>
          </a:xfrm>
          <a:prstGeom prst="ellipse">
            <a:avLst/>
          </a:prstGeom>
          <a:solidFill>
            <a:srgbClr val="4B6388"/>
          </a:solidFill>
          <a:ln w="12700">
            <a:solidFill>
              <a:srgbClr val="4B6388"/>
            </a:solidFill>
            <a:prstDash val="solid"/>
          </a:ln>
        </p:spPr>
      </p:sp>
      <p:sp>
        <p:nvSpPr>
          <p:cNvPr id="66" name="Shape 64"/>
          <p:cNvSpPr/>
          <p:nvPr/>
        </p:nvSpPr>
        <p:spPr>
          <a:xfrm>
            <a:off x="7044947" y="3929163"/>
            <a:ext cx="84165" cy="84165"/>
          </a:xfrm>
          <a:prstGeom prst="ellipse">
            <a:avLst/>
          </a:prstGeom>
          <a:solidFill>
            <a:srgbClr val="4B6388"/>
          </a:solidFill>
          <a:ln w="12700">
            <a:solidFill>
              <a:srgbClr val="4B6388"/>
            </a:solidFill>
            <a:prstDash val="solid"/>
          </a:ln>
        </p:spPr>
      </p:sp>
      <p:sp>
        <p:nvSpPr>
          <p:cNvPr id="67" name="Shape 65"/>
          <p:cNvSpPr/>
          <p:nvPr/>
        </p:nvSpPr>
        <p:spPr>
          <a:xfrm>
            <a:off x="7934885" y="4419381"/>
            <a:ext cx="69897" cy="69897"/>
          </a:xfrm>
          <a:prstGeom prst="ellipse">
            <a:avLst/>
          </a:prstGeom>
          <a:solidFill>
            <a:srgbClr val="4B6388"/>
          </a:solidFill>
          <a:ln w="12700">
            <a:solidFill>
              <a:srgbClr val="4B6388"/>
            </a:solidFill>
            <a:prstDash val="solid"/>
          </a:ln>
        </p:spPr>
      </p:sp>
      <p:sp>
        <p:nvSpPr>
          <p:cNvPr id="68" name="Shape 66"/>
          <p:cNvSpPr/>
          <p:nvPr/>
        </p:nvSpPr>
        <p:spPr>
          <a:xfrm>
            <a:off x="8849072" y="4124986"/>
            <a:ext cx="99464" cy="99464"/>
          </a:xfrm>
          <a:prstGeom prst="ellipse">
            <a:avLst/>
          </a:prstGeom>
          <a:solidFill>
            <a:srgbClr val="4B6388"/>
          </a:solidFill>
          <a:ln w="12700">
            <a:solidFill>
              <a:srgbClr val="4B6388"/>
            </a:solidFill>
            <a:prstDash val="solid"/>
          </a:ln>
        </p:spPr>
      </p:sp>
      <p:sp>
        <p:nvSpPr>
          <p:cNvPr id="69" name="Shape 67"/>
          <p:cNvSpPr/>
          <p:nvPr/>
        </p:nvSpPr>
        <p:spPr>
          <a:xfrm>
            <a:off x="9428191" y="3974802"/>
            <a:ext cx="88390" cy="88390"/>
          </a:xfrm>
          <a:prstGeom prst="ellipse">
            <a:avLst/>
          </a:prstGeom>
          <a:solidFill>
            <a:srgbClr val="4B6388"/>
          </a:solidFill>
          <a:ln w="12700">
            <a:solidFill>
              <a:srgbClr val="4B6388"/>
            </a:solidFill>
            <a:prstDash val="solid"/>
          </a:ln>
        </p:spPr>
      </p:sp>
      <p:sp>
        <p:nvSpPr>
          <p:cNvPr id="70" name="Shape 68"/>
          <p:cNvSpPr/>
          <p:nvPr/>
        </p:nvSpPr>
        <p:spPr>
          <a:xfrm>
            <a:off x="10583566" y="3985887"/>
            <a:ext cx="75598" cy="75598"/>
          </a:xfrm>
          <a:prstGeom prst="ellipse">
            <a:avLst/>
          </a:prstGeom>
          <a:solidFill>
            <a:srgbClr val="4B6388"/>
          </a:solidFill>
          <a:ln w="12700">
            <a:solidFill>
              <a:srgbClr val="4B6388"/>
            </a:solidFill>
            <a:prstDash val="solid"/>
          </a:ln>
        </p:spPr>
      </p:sp>
      <p:sp>
        <p:nvSpPr>
          <p:cNvPr id="71" name="Shape 69"/>
          <p:cNvSpPr/>
          <p:nvPr/>
        </p:nvSpPr>
        <p:spPr>
          <a:xfrm>
            <a:off x="11075140" y="4355677"/>
            <a:ext cx="438912" cy="438912"/>
          </a:xfrm>
          <a:prstGeom prst="ellipse">
            <a:avLst/>
          </a:prstGeom>
          <a:solidFill>
            <a:srgbClr val="E0533A">
              <a:alpha val="20000"/>
            </a:srgbClr>
          </a:solidFill>
          <a:ln w="12700">
            <a:solidFill>
              <a:srgbClr val="E0533A">
                <a:alpha val="20000"/>
              </a:srgbClr>
            </a:solidFill>
            <a:prstDash val="solid"/>
          </a:ln>
        </p:spPr>
      </p:sp>
      <p:sp>
        <p:nvSpPr>
          <p:cNvPr id="72" name="Shape 70"/>
          <p:cNvSpPr/>
          <p:nvPr/>
        </p:nvSpPr>
        <p:spPr>
          <a:xfrm>
            <a:off x="11212300" y="4492837"/>
            <a:ext cx="164592" cy="164592"/>
          </a:xfrm>
          <a:prstGeom prst="ellipse">
            <a:avLst/>
          </a:prstGeom>
          <a:solidFill>
            <a:srgbClr val="E0533A"/>
          </a:solidFill>
          <a:ln w="12700">
            <a:solidFill>
              <a:srgbClr val="E0533A"/>
            </a:solidFill>
            <a:prstDash val="solid"/>
          </a:ln>
        </p:spPr>
      </p:sp>
      <p:sp>
        <p:nvSpPr>
          <p:cNvPr id="73" name="Shape 71"/>
          <p:cNvSpPr/>
          <p:nvPr/>
        </p:nvSpPr>
        <p:spPr>
          <a:xfrm>
            <a:off x="7214623" y="5008493"/>
            <a:ext cx="116279" cy="116279"/>
          </a:xfrm>
          <a:prstGeom prst="ellipse">
            <a:avLst/>
          </a:prstGeom>
          <a:solidFill>
            <a:srgbClr val="4B6388"/>
          </a:solidFill>
          <a:ln w="12700">
            <a:solidFill>
              <a:srgbClr val="4B6388"/>
            </a:solidFill>
            <a:prstDash val="solid"/>
          </a:ln>
        </p:spPr>
      </p:sp>
      <p:sp>
        <p:nvSpPr>
          <p:cNvPr id="74" name="Shape 72"/>
          <p:cNvSpPr/>
          <p:nvPr/>
        </p:nvSpPr>
        <p:spPr>
          <a:xfrm>
            <a:off x="8020373" y="5020992"/>
            <a:ext cx="123863" cy="123863"/>
          </a:xfrm>
          <a:prstGeom prst="ellipse">
            <a:avLst/>
          </a:prstGeom>
          <a:solidFill>
            <a:srgbClr val="4B6388"/>
          </a:solidFill>
          <a:ln w="12700">
            <a:solidFill>
              <a:srgbClr val="4B6388"/>
            </a:solidFill>
            <a:prstDash val="solid"/>
          </a:ln>
        </p:spPr>
      </p:sp>
      <p:sp>
        <p:nvSpPr>
          <p:cNvPr id="75" name="Shape 73"/>
          <p:cNvSpPr/>
          <p:nvPr/>
        </p:nvSpPr>
        <p:spPr>
          <a:xfrm>
            <a:off x="8815761" y="4737348"/>
            <a:ext cx="112053" cy="112053"/>
          </a:xfrm>
          <a:prstGeom prst="ellipse">
            <a:avLst/>
          </a:prstGeom>
          <a:solidFill>
            <a:srgbClr val="4B6388"/>
          </a:solidFill>
          <a:ln w="12700">
            <a:solidFill>
              <a:srgbClr val="4B6388"/>
            </a:solidFill>
            <a:prstDash val="solid"/>
          </a:ln>
        </p:spPr>
      </p:sp>
      <p:sp>
        <p:nvSpPr>
          <p:cNvPr id="76" name="Shape 74"/>
          <p:cNvSpPr/>
          <p:nvPr/>
        </p:nvSpPr>
        <p:spPr>
          <a:xfrm>
            <a:off x="9535053" y="5032609"/>
            <a:ext cx="64331" cy="64331"/>
          </a:xfrm>
          <a:prstGeom prst="ellipse">
            <a:avLst/>
          </a:prstGeom>
          <a:solidFill>
            <a:srgbClr val="4B6388"/>
          </a:solidFill>
          <a:ln w="12700">
            <a:solidFill>
              <a:srgbClr val="4B6388"/>
            </a:solidFill>
            <a:prstDash val="solid"/>
          </a:ln>
        </p:spPr>
      </p:sp>
      <p:sp>
        <p:nvSpPr>
          <p:cNvPr id="77" name="Shape 75"/>
          <p:cNvSpPr/>
          <p:nvPr/>
        </p:nvSpPr>
        <p:spPr>
          <a:xfrm>
            <a:off x="7169649" y="5939964"/>
            <a:ext cx="91725" cy="91725"/>
          </a:xfrm>
          <a:prstGeom prst="ellipse">
            <a:avLst/>
          </a:prstGeom>
          <a:solidFill>
            <a:srgbClr val="4B6388"/>
          </a:solidFill>
          <a:ln w="12700">
            <a:solidFill>
              <a:srgbClr val="4B6388"/>
            </a:solidFill>
            <a:prstDash val="solid"/>
          </a:ln>
        </p:spPr>
      </p:sp>
      <p:sp>
        <p:nvSpPr>
          <p:cNvPr id="78" name="Shape 76"/>
          <p:cNvSpPr/>
          <p:nvPr/>
        </p:nvSpPr>
        <p:spPr>
          <a:xfrm>
            <a:off x="8884675" y="6178154"/>
            <a:ext cx="118440" cy="118440"/>
          </a:xfrm>
          <a:prstGeom prst="ellipse">
            <a:avLst/>
          </a:prstGeom>
          <a:solidFill>
            <a:srgbClr val="4B6388"/>
          </a:solidFill>
          <a:ln w="12700">
            <a:solidFill>
              <a:srgbClr val="4B6388"/>
            </a:solidFill>
            <a:prstDash val="solid"/>
          </a:ln>
        </p:spPr>
      </p:sp>
      <p:sp>
        <p:nvSpPr>
          <p:cNvPr id="79" name="Shape 77"/>
          <p:cNvSpPr/>
          <p:nvPr/>
        </p:nvSpPr>
        <p:spPr>
          <a:xfrm>
            <a:off x="9715879" y="5996504"/>
            <a:ext cx="100446" cy="100446"/>
          </a:xfrm>
          <a:prstGeom prst="ellipse">
            <a:avLst/>
          </a:prstGeom>
          <a:solidFill>
            <a:srgbClr val="4B6388"/>
          </a:solidFill>
          <a:ln w="12700">
            <a:solidFill>
              <a:srgbClr val="4B6388"/>
            </a:solidFill>
            <a:prstDash val="solid"/>
          </a:ln>
        </p:spPr>
      </p:sp>
      <p:sp>
        <p:nvSpPr>
          <p:cNvPr id="80" name="Shape 78"/>
          <p:cNvSpPr/>
          <p:nvPr/>
        </p:nvSpPr>
        <p:spPr>
          <a:xfrm>
            <a:off x="10475348" y="5646353"/>
            <a:ext cx="108831" cy="108831"/>
          </a:xfrm>
          <a:prstGeom prst="ellipse">
            <a:avLst/>
          </a:prstGeom>
          <a:solidFill>
            <a:srgbClr val="4B6388"/>
          </a:solidFill>
          <a:ln w="12700">
            <a:solidFill>
              <a:srgbClr val="4B6388"/>
            </a:solidFill>
            <a:prstDash val="solid"/>
          </a:ln>
        </p:spPr>
      </p:sp>
      <p:sp>
        <p:nvSpPr>
          <p:cNvPr id="81" name="Shape 79"/>
          <p:cNvSpPr/>
          <p:nvPr/>
        </p:nvSpPr>
        <p:spPr>
          <a:xfrm>
            <a:off x="11425664" y="6260658"/>
            <a:ext cx="104248" cy="104248"/>
          </a:xfrm>
          <a:prstGeom prst="ellipse">
            <a:avLst/>
          </a:prstGeom>
          <a:solidFill>
            <a:srgbClr val="4B6388"/>
          </a:solidFill>
          <a:ln w="12700">
            <a:solidFill>
              <a:srgbClr val="4B6388"/>
            </a:solidFill>
            <a:prstDash val="solid"/>
          </a:ln>
        </p:spPr>
      </p:sp>
      <p:sp>
        <p:nvSpPr>
          <p:cNvPr id="82" name="Text 80"/>
          <p:cNvSpPr txBox="1"/>
          <p:nvPr/>
        </p:nvSpPr>
        <p:spPr>
          <a:xfrm>
            <a:off x="685800" y="777240"/>
            <a:ext cx="6035040" cy="274320"/>
          </a:xfrm>
          <a:prstGeom prst="rect">
            <a:avLst/>
          </a:prstGeom>
          <a:noFill/>
          <a:ln/>
        </p:spPr>
        <p:txBody>
          <a:bodyPr wrap="square" lIns="0" tIns="0" rIns="0" bIns="0" rtlCol="0" anchor="t"/>
          <a:lstStyle/>
          <a:p>
            <a:pPr indent="0" marL="0">
              <a:buNone/>
            </a:pPr>
            <a:r>
              <a:rPr lang="en-US" sz="1200" b="1" dirty="0">
                <a:solidFill>
                  <a:srgbClr val="F08A6E"/>
                </a:solidFill>
                <a:latin typeface="Arial" pitchFamily="34" charset="0"/>
                <a:ea typeface="Arial" pitchFamily="34" charset="-122"/>
                <a:cs typeface="Arial" pitchFamily="34" charset="-120"/>
              </a:rPr>
              <a:t>MID-TERM EVALUATION   ·   PROJECT 16</a:t>
            </a:r>
            <a:endParaRPr lang="en-US" sz="1200" dirty="0"/>
          </a:p>
        </p:txBody>
      </p:sp>
      <p:sp>
        <p:nvSpPr>
          <p:cNvPr id="83" name="Text 81"/>
          <p:cNvSpPr txBox="1"/>
          <p:nvPr/>
        </p:nvSpPr>
        <p:spPr>
          <a:xfrm>
            <a:off x="685800" y="1188720"/>
            <a:ext cx="6035040" cy="2377440"/>
          </a:xfrm>
          <a:prstGeom prst="rect">
            <a:avLst/>
          </a:prstGeom>
          <a:noFill/>
          <a:ln/>
        </p:spPr>
        <p:txBody>
          <a:bodyPr wrap="square" lIns="0" tIns="0" rIns="0" bIns="0" rtlCol="0" anchor="t"/>
          <a:lstStyle/>
          <a:p>
            <a:pPr indent="0" marL="0">
              <a:buNone/>
            </a:pPr>
            <a:r>
              <a:rPr lang="en-US" sz="3800" dirty="0">
                <a:solidFill>
                  <a:srgbClr val="FFFFFF"/>
                </a:solidFill>
                <a:latin typeface="Georgia" pitchFamily="34" charset="0"/>
                <a:ea typeface="Georgia" pitchFamily="34" charset="-122"/>
                <a:cs typeface="Georgia" pitchFamily="34" charset="-120"/>
              </a:rPr>
              <a:t>Anomaly Detection Using Machine Learning for Advanced Persistent Threats (APT)</a:t>
            </a:r>
            <a:endParaRPr lang="en-US" sz="3800" dirty="0"/>
          </a:p>
        </p:txBody>
      </p:sp>
      <p:sp>
        <p:nvSpPr>
          <p:cNvPr id="84" name="Text 82"/>
          <p:cNvSpPr txBox="1"/>
          <p:nvPr/>
        </p:nvSpPr>
        <p:spPr>
          <a:xfrm>
            <a:off x="685800" y="3657600"/>
            <a:ext cx="5760720" cy="777240"/>
          </a:xfrm>
          <a:prstGeom prst="rect">
            <a:avLst/>
          </a:prstGeom>
          <a:noFill/>
          <a:ln/>
        </p:spPr>
        <p:txBody>
          <a:bodyPr wrap="square" lIns="0" tIns="0" rIns="0" bIns="0" rtlCol="0" anchor="t"/>
          <a:lstStyle/>
          <a:p>
            <a:pPr indent="0" marL="0">
              <a:buNone/>
            </a:pPr>
            <a:r>
              <a:rPr lang="en-US" sz="1600" dirty="0">
                <a:solidFill>
                  <a:srgbClr val="A9B6C8"/>
                </a:solidFill>
                <a:latin typeface="Arial" pitchFamily="34" charset="0"/>
                <a:ea typeface="Arial" pitchFamily="34" charset="-122"/>
                <a:cs typeface="Arial" pitchFamily="34" charset="-120"/>
              </a:rPr>
              <a:t>A hybrid Random Forest + XGBoost ensemble, re-implemented and evaluated on the APT-specific DAPT2020 dataset</a:t>
            </a:r>
            <a:endParaRPr lang="en-US" sz="1600" dirty="0"/>
          </a:p>
        </p:txBody>
      </p:sp>
      <p:sp>
        <p:nvSpPr>
          <p:cNvPr id="85" name="Text 83"/>
          <p:cNvSpPr txBox="1"/>
          <p:nvPr/>
        </p:nvSpPr>
        <p:spPr>
          <a:xfrm>
            <a:off x="685800" y="4617720"/>
            <a:ext cx="3657600" cy="228600"/>
          </a:xfrm>
          <a:prstGeom prst="rect">
            <a:avLst/>
          </a:prstGeom>
          <a:noFill/>
          <a:ln/>
        </p:spPr>
        <p:txBody>
          <a:bodyPr wrap="square" lIns="0" tIns="0" rIns="0" bIns="0" rtlCol="0" anchor="t"/>
          <a:lstStyle/>
          <a:p>
            <a:pPr indent="0" marL="0">
              <a:buNone/>
            </a:pPr>
            <a:r>
              <a:rPr lang="en-US" sz="1000" b="1" dirty="0">
                <a:solidFill>
                  <a:srgbClr val="F08A6E"/>
                </a:solidFill>
                <a:latin typeface="Arial" pitchFamily="34" charset="0"/>
                <a:ea typeface="Arial" pitchFamily="34" charset="-122"/>
                <a:cs typeface="Arial" pitchFamily="34" charset="-120"/>
              </a:rPr>
              <a:t>PRESENTED BY</a:t>
            </a:r>
            <a:endParaRPr lang="en-US" sz="1000" dirty="0"/>
          </a:p>
        </p:txBody>
      </p:sp>
      <p:sp>
        <p:nvSpPr>
          <p:cNvPr id="86" name="Text 84"/>
          <p:cNvSpPr txBox="1"/>
          <p:nvPr/>
        </p:nvSpPr>
        <p:spPr>
          <a:xfrm>
            <a:off x="685800" y="4892040"/>
            <a:ext cx="5486400" cy="868680"/>
          </a:xfrm>
          <a:prstGeom prst="rect">
            <a:avLst/>
          </a:prstGeom>
          <a:noFill/>
          <a:ln/>
        </p:spPr>
        <p:txBody>
          <a:bodyPr wrap="square" lIns="0" tIns="0" rIns="0" bIns="0" rtlCol="0" anchor="t"/>
          <a:lstStyle/>
          <a:p>
            <a:pPr indent="0" marL="0">
              <a:spcAft>
                <a:spcPts val="200"/>
              </a:spcAft>
              <a:buNone/>
            </a:pPr>
            <a:r>
              <a:rPr lang="en-US" sz="1400" b="1" dirty="0">
                <a:solidFill>
                  <a:srgbClr val="FFFFFF"/>
                </a:solidFill>
                <a:latin typeface="Arial" pitchFamily="34" charset="0"/>
                <a:ea typeface="Arial" pitchFamily="34" charset="-122"/>
                <a:cs typeface="Arial" pitchFamily="34" charset="-120"/>
              </a:rPr>
              <a:t>Ashish Jain</a:t>
            </a:r>
            <a:pPr indent="0" marL="0">
              <a:spcAft>
                <a:spcPts val="200"/>
              </a:spcAft>
              <a:buNone/>
            </a:pPr>
            <a:r>
              <a:rPr lang="en-US" sz="1400" dirty="0">
                <a:solidFill>
                  <a:srgbClr val="A9B6C8"/>
                </a:solidFill>
                <a:latin typeface="Arial" pitchFamily="34" charset="0"/>
                <a:ea typeface="Arial" pitchFamily="34" charset="-122"/>
                <a:cs typeface="Arial" pitchFamily="34" charset="-120"/>
              </a:rPr>
              <a:t>   (2025202029)</a:t>
            </a:r>
            <a:endParaRPr lang="en-US" sz="1400" dirty="0"/>
          </a:p>
          <a:p>
            <a:pPr indent="0" marL="0">
              <a:spcAft>
                <a:spcPts val="200"/>
              </a:spcAft>
              <a:buNone/>
            </a:pPr>
            <a:r>
              <a:rPr lang="en-US" sz="1400" b="1" dirty="0">
                <a:solidFill>
                  <a:srgbClr val="FFFFFF"/>
                </a:solidFill>
                <a:latin typeface="Arial" pitchFamily="34" charset="0"/>
                <a:ea typeface="Arial" pitchFamily="34" charset="-122"/>
                <a:cs typeface="Arial" pitchFamily="34" charset="-120"/>
              </a:rPr>
              <a:t>Ameya Purohit</a:t>
            </a:r>
            <a:pPr indent="0" marL="0">
              <a:spcAft>
                <a:spcPts val="200"/>
              </a:spcAft>
              <a:buNone/>
            </a:pPr>
            <a:r>
              <a:rPr lang="en-US" sz="1400" dirty="0">
                <a:solidFill>
                  <a:srgbClr val="A9B6C8"/>
                </a:solidFill>
                <a:latin typeface="Arial" pitchFamily="34" charset="0"/>
                <a:ea typeface="Arial" pitchFamily="34" charset="-122"/>
                <a:cs typeface="Arial" pitchFamily="34" charset="-120"/>
              </a:rPr>
              <a:t>   (2025202006)</a:t>
            </a:r>
            <a:endParaRPr lang="en-US" sz="1400" dirty="0"/>
          </a:p>
          <a:p>
            <a:pPr indent="0" marL="0">
              <a:spcAft>
                <a:spcPts val="200"/>
              </a:spcAft>
              <a:buNone/>
            </a:pPr>
            <a:r>
              <a:rPr lang="en-US" sz="1400" b="1" dirty="0">
                <a:solidFill>
                  <a:srgbClr val="FFFFFF"/>
                </a:solidFill>
                <a:latin typeface="Arial" pitchFamily="34" charset="0"/>
                <a:ea typeface="Arial" pitchFamily="34" charset="-122"/>
                <a:cs typeface="Arial" pitchFamily="34" charset="-120"/>
              </a:rPr>
              <a:t>Chaitanya Shah</a:t>
            </a:r>
            <a:pPr indent="0" marL="0">
              <a:spcAft>
                <a:spcPts val="200"/>
              </a:spcAft>
              <a:buNone/>
            </a:pPr>
            <a:r>
              <a:rPr lang="en-US" sz="1400" dirty="0">
                <a:solidFill>
                  <a:srgbClr val="A9B6C8"/>
                </a:solidFill>
                <a:latin typeface="Arial" pitchFamily="34" charset="0"/>
                <a:ea typeface="Arial" pitchFamily="34" charset="-122"/>
                <a:cs typeface="Arial" pitchFamily="34" charset="-120"/>
              </a:rPr>
              <a:t>   (2025202033)</a:t>
            </a:r>
            <a:endParaRPr lang="en-US" sz="1400" dirty="0"/>
          </a:p>
        </p:txBody>
      </p:sp>
      <p:sp>
        <p:nvSpPr>
          <p:cNvPr id="87" name="Text 85"/>
          <p:cNvSpPr txBox="1"/>
          <p:nvPr/>
        </p:nvSpPr>
        <p:spPr>
          <a:xfrm>
            <a:off x="685800" y="5989320"/>
            <a:ext cx="5852160" cy="502920"/>
          </a:xfrm>
          <a:prstGeom prst="rect">
            <a:avLst/>
          </a:prstGeom>
          <a:noFill/>
          <a:ln/>
        </p:spPr>
        <p:txBody>
          <a:bodyPr wrap="square" lIns="0" tIns="0" rIns="0" bIns="0" rtlCol="0" anchor="t"/>
          <a:lstStyle/>
          <a:p>
            <a:pPr indent="0" marL="0">
              <a:buNone/>
            </a:pPr>
            <a:r>
              <a:rPr lang="en-US" sz="1050" dirty="0">
                <a:solidFill>
                  <a:srgbClr val="6F7F96"/>
                </a:solidFill>
                <a:latin typeface="Arial" pitchFamily="34" charset="0"/>
                <a:ea typeface="Arial" pitchFamily="34" charset="-122"/>
                <a:cs typeface="Arial" pitchFamily="34" charset="-120"/>
              </a:rPr>
              <a:t>Based on: Saini N., Bhat Kasaragod V., Prakasha K., Das A.K. Concurrency and Computation: Practice and Experience, 35(28), e7865, 2023</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1234440"/>
            <a:ext cx="3657600" cy="822960"/>
          </a:xfrm>
          <a:prstGeom prst="rect">
            <a:avLst/>
          </a:prstGeom>
          <a:noFill/>
          <a:ln/>
        </p:spPr>
        <p:txBody>
          <a:bodyPr wrap="square" lIns="0" tIns="0" rIns="0" bIns="0" rtlCol="0" anchor="t"/>
          <a:lstStyle/>
          <a:p>
            <a:pPr indent="0" marL="0">
              <a:buNone/>
            </a:pPr>
            <a:r>
              <a:rPr lang="en-US" sz="4000" dirty="0">
                <a:solidFill>
                  <a:srgbClr val="0F1B2D"/>
                </a:solidFill>
                <a:latin typeface="Georgia" pitchFamily="34" charset="0"/>
                <a:ea typeface="Georgia" pitchFamily="34" charset="-122"/>
                <a:cs typeface="Georgia" pitchFamily="34" charset="-120"/>
              </a:rPr>
              <a:t>Agenda</a:t>
            </a:r>
            <a:endParaRPr lang="en-US" sz="4000" dirty="0"/>
          </a:p>
        </p:txBody>
      </p:sp>
      <p:sp>
        <p:nvSpPr>
          <p:cNvPr id="3" name="Text 1"/>
          <p:cNvSpPr txBox="1"/>
          <p:nvPr/>
        </p:nvSpPr>
        <p:spPr>
          <a:xfrm>
            <a:off x="685800" y="2194560"/>
            <a:ext cx="3383280" cy="1097280"/>
          </a:xfrm>
          <a:prstGeom prst="rect">
            <a:avLst/>
          </a:prstGeom>
          <a:noFill/>
          <a:ln/>
        </p:spPr>
        <p:txBody>
          <a:bodyPr wrap="square" lIns="0" tIns="0" rIns="0" bIns="0" rtlCol="0" anchor="t"/>
          <a:lstStyle/>
          <a:p>
            <a:pPr indent="0" marL="0">
              <a:buNone/>
            </a:pPr>
            <a:r>
              <a:rPr lang="en-US" sz="1500" i="1" dirty="0">
                <a:solidFill>
                  <a:srgbClr val="55606E"/>
                </a:solidFill>
                <a:latin typeface="Arial" pitchFamily="34" charset="0"/>
                <a:ea typeface="Arial" pitchFamily="34" charset="-122"/>
                <a:cs typeface="Arial" pitchFamily="34" charset="-120"/>
              </a:rPr>
              <a:t>Four parts, one question: does the paper's hybrid model really detect APTs?</a:t>
            </a:r>
            <a:endParaRPr lang="en-US" sz="1500" dirty="0"/>
          </a:p>
        </p:txBody>
      </p:sp>
      <p:sp>
        <p:nvSpPr>
          <p:cNvPr id="4" name="Text 2"/>
          <p:cNvSpPr txBox="1"/>
          <p:nvPr/>
        </p:nvSpPr>
        <p:spPr>
          <a:xfrm>
            <a:off x="4846320" y="1097280"/>
            <a:ext cx="914400" cy="640080"/>
          </a:xfrm>
          <a:prstGeom prst="rect">
            <a:avLst/>
          </a:prstGeom>
          <a:noFill/>
          <a:ln/>
        </p:spPr>
        <p:txBody>
          <a:bodyPr wrap="square" lIns="0" tIns="0" rIns="0" bIns="0" rtlCol="0" anchor="t"/>
          <a:lstStyle/>
          <a:p>
            <a:pPr indent="0" marL="0">
              <a:buNone/>
            </a:pPr>
            <a:r>
              <a:rPr lang="en-US" sz="3000" dirty="0">
                <a:solidFill>
                  <a:srgbClr val="E0533A"/>
                </a:solidFill>
                <a:latin typeface="Georgia" pitchFamily="34" charset="0"/>
                <a:ea typeface="Georgia" pitchFamily="34" charset="-122"/>
                <a:cs typeface="Georgia" pitchFamily="34" charset="-120"/>
              </a:rPr>
              <a:t>01</a:t>
            </a:r>
            <a:endParaRPr lang="en-US" sz="3000" dirty="0"/>
          </a:p>
        </p:txBody>
      </p:sp>
      <p:sp>
        <p:nvSpPr>
          <p:cNvPr id="5" name="Text 3"/>
          <p:cNvSpPr txBox="1"/>
          <p:nvPr/>
        </p:nvSpPr>
        <p:spPr>
          <a:xfrm>
            <a:off x="5852160" y="1143000"/>
            <a:ext cx="5653735" cy="411480"/>
          </a:xfrm>
          <a:prstGeom prst="rect">
            <a:avLst/>
          </a:prstGeom>
          <a:noFill/>
          <a:ln/>
        </p:spPr>
        <p:txBody>
          <a:bodyPr wrap="square" lIns="0" tIns="0" rIns="0" bIns="0" rtlCol="0" anchor="t"/>
          <a:lstStyle/>
          <a:p>
            <a:pPr indent="0" marL="0">
              <a:buNone/>
            </a:pPr>
            <a:r>
              <a:rPr lang="en-US" sz="2000" b="1" dirty="0">
                <a:solidFill>
                  <a:srgbClr val="0F1B2D"/>
                </a:solidFill>
                <a:latin typeface="Arial" pitchFamily="34" charset="0"/>
                <a:ea typeface="Arial" pitchFamily="34" charset="-122"/>
                <a:cs typeface="Arial" pitchFamily="34" charset="-120"/>
              </a:rPr>
              <a:t>Background</a:t>
            </a:r>
            <a:endParaRPr lang="en-US" sz="2000" dirty="0"/>
          </a:p>
        </p:txBody>
      </p:sp>
      <p:sp>
        <p:nvSpPr>
          <p:cNvPr id="6" name="Text 4"/>
          <p:cNvSpPr txBox="1"/>
          <p:nvPr/>
        </p:nvSpPr>
        <p:spPr>
          <a:xfrm>
            <a:off x="5852160" y="1572768"/>
            <a:ext cx="5653735" cy="502920"/>
          </a:xfrm>
          <a:prstGeom prst="rect">
            <a:avLst/>
          </a:prstGeom>
          <a:noFill/>
          <a:ln/>
        </p:spPr>
        <p:txBody>
          <a:bodyPr wrap="square" lIns="0" tIns="0" rIns="0" bIns="0" rtlCol="0" anchor="t"/>
          <a:lstStyle/>
          <a:p>
            <a:pPr indent="0" marL="0">
              <a:buNone/>
            </a:pPr>
            <a:r>
              <a:rPr lang="en-US" sz="1300" dirty="0">
                <a:solidFill>
                  <a:srgbClr val="55606E"/>
                </a:solidFill>
                <a:latin typeface="Arial" pitchFamily="34" charset="0"/>
                <a:ea typeface="Arial" pitchFamily="34" charset="-122"/>
                <a:cs typeface="Arial" pitchFamily="34" charset="-120"/>
              </a:rPr>
              <a:t>The paper, what makes an APT different, and why its datasets fall short</a:t>
            </a:r>
            <a:endParaRPr lang="en-US" sz="1300" dirty="0"/>
          </a:p>
        </p:txBody>
      </p:sp>
      <p:sp>
        <p:nvSpPr>
          <p:cNvPr id="7" name="Shape 5"/>
          <p:cNvSpPr/>
          <p:nvPr/>
        </p:nvSpPr>
        <p:spPr>
          <a:xfrm>
            <a:off x="4846320" y="2167128"/>
            <a:ext cx="6659575" cy="914"/>
          </a:xfrm>
          <a:prstGeom prst="line">
            <a:avLst/>
          </a:prstGeom>
          <a:noFill/>
          <a:ln w="9525">
            <a:solidFill>
              <a:srgbClr val="E2E6EC"/>
            </a:solidFill>
            <a:prstDash val="solid"/>
          </a:ln>
        </p:spPr>
      </p:sp>
      <p:sp>
        <p:nvSpPr>
          <p:cNvPr id="8" name="Text 6"/>
          <p:cNvSpPr txBox="1"/>
          <p:nvPr/>
        </p:nvSpPr>
        <p:spPr>
          <a:xfrm>
            <a:off x="4846320" y="2286000"/>
            <a:ext cx="914400" cy="640080"/>
          </a:xfrm>
          <a:prstGeom prst="rect">
            <a:avLst/>
          </a:prstGeom>
          <a:noFill/>
          <a:ln/>
        </p:spPr>
        <p:txBody>
          <a:bodyPr wrap="square" lIns="0" tIns="0" rIns="0" bIns="0" rtlCol="0" anchor="t"/>
          <a:lstStyle/>
          <a:p>
            <a:pPr indent="0" marL="0">
              <a:buNone/>
            </a:pPr>
            <a:r>
              <a:rPr lang="en-US" sz="3000" dirty="0">
                <a:solidFill>
                  <a:srgbClr val="E0533A"/>
                </a:solidFill>
                <a:latin typeface="Georgia" pitchFamily="34" charset="0"/>
                <a:ea typeface="Georgia" pitchFamily="34" charset="-122"/>
                <a:cs typeface="Georgia" pitchFamily="34" charset="-120"/>
              </a:rPr>
              <a:t>02</a:t>
            </a:r>
            <a:endParaRPr lang="en-US" sz="3000" dirty="0"/>
          </a:p>
        </p:txBody>
      </p:sp>
      <p:sp>
        <p:nvSpPr>
          <p:cNvPr id="9" name="Text 7"/>
          <p:cNvSpPr txBox="1"/>
          <p:nvPr/>
        </p:nvSpPr>
        <p:spPr>
          <a:xfrm>
            <a:off x="5852160" y="2331720"/>
            <a:ext cx="5653735" cy="411480"/>
          </a:xfrm>
          <a:prstGeom prst="rect">
            <a:avLst/>
          </a:prstGeom>
          <a:noFill/>
          <a:ln/>
        </p:spPr>
        <p:txBody>
          <a:bodyPr wrap="square" lIns="0" tIns="0" rIns="0" bIns="0" rtlCol="0" anchor="t"/>
          <a:lstStyle/>
          <a:p>
            <a:pPr indent="0" marL="0">
              <a:buNone/>
            </a:pPr>
            <a:r>
              <a:rPr lang="en-US" sz="2000" b="1" dirty="0">
                <a:solidFill>
                  <a:srgbClr val="0F1B2D"/>
                </a:solidFill>
                <a:latin typeface="Arial" pitchFamily="34" charset="0"/>
                <a:ea typeface="Arial" pitchFamily="34" charset="-122"/>
                <a:cs typeface="Arial" pitchFamily="34" charset="-120"/>
              </a:rPr>
              <a:t>Data &amp; method</a:t>
            </a:r>
            <a:endParaRPr lang="en-US" sz="2000" dirty="0"/>
          </a:p>
        </p:txBody>
      </p:sp>
      <p:sp>
        <p:nvSpPr>
          <p:cNvPr id="10" name="Text 8"/>
          <p:cNvSpPr txBox="1"/>
          <p:nvPr/>
        </p:nvSpPr>
        <p:spPr>
          <a:xfrm>
            <a:off x="5852160" y="2761488"/>
            <a:ext cx="5653735" cy="502920"/>
          </a:xfrm>
          <a:prstGeom prst="rect">
            <a:avLst/>
          </a:prstGeom>
          <a:noFill/>
          <a:ln/>
        </p:spPr>
        <p:txBody>
          <a:bodyPr wrap="square" lIns="0" tIns="0" rIns="0" bIns="0" rtlCol="0" anchor="t"/>
          <a:lstStyle/>
          <a:p>
            <a:pPr indent="0" marL="0">
              <a:buNone/>
            </a:pPr>
            <a:r>
              <a:rPr lang="en-US" sz="1300" dirty="0">
                <a:solidFill>
                  <a:srgbClr val="55606E"/>
                </a:solidFill>
                <a:latin typeface="Arial" pitchFamily="34" charset="0"/>
                <a:ea typeface="Arial" pitchFamily="34" charset="-122"/>
                <a:cs typeface="Arial" pitchFamily="34" charset="-120"/>
              </a:rPr>
              <a:t>DAPT2020, the pipeline, the hybrid model and a flaw in the protocol</a:t>
            </a:r>
            <a:endParaRPr lang="en-US" sz="1300" dirty="0"/>
          </a:p>
        </p:txBody>
      </p:sp>
      <p:sp>
        <p:nvSpPr>
          <p:cNvPr id="11" name="Shape 9"/>
          <p:cNvSpPr/>
          <p:nvPr/>
        </p:nvSpPr>
        <p:spPr>
          <a:xfrm>
            <a:off x="4846320" y="3355848"/>
            <a:ext cx="6659575" cy="914"/>
          </a:xfrm>
          <a:prstGeom prst="line">
            <a:avLst/>
          </a:prstGeom>
          <a:noFill/>
          <a:ln w="9525">
            <a:solidFill>
              <a:srgbClr val="E2E6EC"/>
            </a:solidFill>
            <a:prstDash val="solid"/>
          </a:ln>
        </p:spPr>
      </p:sp>
      <p:sp>
        <p:nvSpPr>
          <p:cNvPr id="12" name="Text 10"/>
          <p:cNvSpPr txBox="1"/>
          <p:nvPr/>
        </p:nvSpPr>
        <p:spPr>
          <a:xfrm>
            <a:off x="4846320" y="3474720"/>
            <a:ext cx="914400" cy="640080"/>
          </a:xfrm>
          <a:prstGeom prst="rect">
            <a:avLst/>
          </a:prstGeom>
          <a:noFill/>
          <a:ln/>
        </p:spPr>
        <p:txBody>
          <a:bodyPr wrap="square" lIns="0" tIns="0" rIns="0" bIns="0" rtlCol="0" anchor="t"/>
          <a:lstStyle/>
          <a:p>
            <a:pPr indent="0" marL="0">
              <a:buNone/>
            </a:pPr>
            <a:r>
              <a:rPr lang="en-US" sz="3000" dirty="0">
                <a:solidFill>
                  <a:srgbClr val="E0533A"/>
                </a:solidFill>
                <a:latin typeface="Georgia" pitchFamily="34" charset="0"/>
                <a:ea typeface="Georgia" pitchFamily="34" charset="-122"/>
                <a:cs typeface="Georgia" pitchFamily="34" charset="-120"/>
              </a:rPr>
              <a:t>03</a:t>
            </a:r>
            <a:endParaRPr lang="en-US" sz="3000" dirty="0"/>
          </a:p>
        </p:txBody>
      </p:sp>
      <p:sp>
        <p:nvSpPr>
          <p:cNvPr id="13" name="Text 11"/>
          <p:cNvSpPr txBox="1"/>
          <p:nvPr/>
        </p:nvSpPr>
        <p:spPr>
          <a:xfrm>
            <a:off x="5852160" y="3520440"/>
            <a:ext cx="5653735" cy="411480"/>
          </a:xfrm>
          <a:prstGeom prst="rect">
            <a:avLst/>
          </a:prstGeom>
          <a:noFill/>
          <a:ln/>
        </p:spPr>
        <p:txBody>
          <a:bodyPr wrap="square" lIns="0" tIns="0" rIns="0" bIns="0" rtlCol="0" anchor="t"/>
          <a:lstStyle/>
          <a:p>
            <a:pPr indent="0" marL="0">
              <a:buNone/>
            </a:pPr>
            <a:r>
              <a:rPr lang="en-US" sz="2000" b="1" dirty="0">
                <a:solidFill>
                  <a:srgbClr val="0F1B2D"/>
                </a:solidFill>
                <a:latin typeface="Arial" pitchFamily="34" charset="0"/>
                <a:ea typeface="Arial" pitchFamily="34" charset="-122"/>
                <a:cs typeface="Arial" pitchFamily="34" charset="-120"/>
              </a:rPr>
              <a:t>Results</a:t>
            </a:r>
            <a:endParaRPr lang="en-US" sz="2000" dirty="0"/>
          </a:p>
        </p:txBody>
      </p:sp>
      <p:sp>
        <p:nvSpPr>
          <p:cNvPr id="14" name="Text 12"/>
          <p:cNvSpPr txBox="1"/>
          <p:nvPr/>
        </p:nvSpPr>
        <p:spPr>
          <a:xfrm>
            <a:off x="5852160" y="3950208"/>
            <a:ext cx="5653735" cy="502920"/>
          </a:xfrm>
          <a:prstGeom prst="rect">
            <a:avLst/>
          </a:prstGeom>
          <a:noFill/>
          <a:ln/>
        </p:spPr>
        <p:txBody>
          <a:bodyPr wrap="square" lIns="0" tIns="0" rIns="0" bIns="0" rtlCol="0" anchor="t"/>
          <a:lstStyle/>
          <a:p>
            <a:pPr indent="0" marL="0">
              <a:buNone/>
            </a:pPr>
            <a:r>
              <a:rPr lang="en-US" sz="1300" dirty="0">
                <a:solidFill>
                  <a:srgbClr val="55606E"/>
                </a:solidFill>
                <a:latin typeface="Arial" pitchFamily="34" charset="0"/>
                <a:ea typeface="Arial" pitchFamily="34" charset="-122"/>
                <a:cs typeface="Arial" pitchFamily="34" charset="-120"/>
              </a:rPr>
              <a:t>Six results on real APT traffic, including 15 models and 5 random seeds</a:t>
            </a:r>
            <a:endParaRPr lang="en-US" sz="1300" dirty="0"/>
          </a:p>
        </p:txBody>
      </p:sp>
      <p:sp>
        <p:nvSpPr>
          <p:cNvPr id="15" name="Shape 13"/>
          <p:cNvSpPr/>
          <p:nvPr/>
        </p:nvSpPr>
        <p:spPr>
          <a:xfrm>
            <a:off x="4846320" y="4544568"/>
            <a:ext cx="6659575" cy="914"/>
          </a:xfrm>
          <a:prstGeom prst="line">
            <a:avLst/>
          </a:prstGeom>
          <a:noFill/>
          <a:ln w="9525">
            <a:solidFill>
              <a:srgbClr val="E2E6EC"/>
            </a:solidFill>
            <a:prstDash val="solid"/>
          </a:ln>
        </p:spPr>
      </p:sp>
      <p:sp>
        <p:nvSpPr>
          <p:cNvPr id="16" name="Text 14"/>
          <p:cNvSpPr txBox="1"/>
          <p:nvPr/>
        </p:nvSpPr>
        <p:spPr>
          <a:xfrm>
            <a:off x="4846320" y="4663440"/>
            <a:ext cx="914400" cy="640080"/>
          </a:xfrm>
          <a:prstGeom prst="rect">
            <a:avLst/>
          </a:prstGeom>
          <a:noFill/>
          <a:ln/>
        </p:spPr>
        <p:txBody>
          <a:bodyPr wrap="square" lIns="0" tIns="0" rIns="0" bIns="0" rtlCol="0" anchor="t"/>
          <a:lstStyle/>
          <a:p>
            <a:pPr indent="0" marL="0">
              <a:buNone/>
            </a:pPr>
            <a:r>
              <a:rPr lang="en-US" sz="3000" dirty="0">
                <a:solidFill>
                  <a:srgbClr val="E0533A"/>
                </a:solidFill>
                <a:latin typeface="Georgia" pitchFamily="34" charset="0"/>
                <a:ea typeface="Georgia" pitchFamily="34" charset="-122"/>
                <a:cs typeface="Georgia" pitchFamily="34" charset="-120"/>
              </a:rPr>
              <a:t>04</a:t>
            </a:r>
            <a:endParaRPr lang="en-US" sz="3000" dirty="0"/>
          </a:p>
        </p:txBody>
      </p:sp>
      <p:sp>
        <p:nvSpPr>
          <p:cNvPr id="17" name="Text 15"/>
          <p:cNvSpPr txBox="1"/>
          <p:nvPr/>
        </p:nvSpPr>
        <p:spPr>
          <a:xfrm>
            <a:off x="5852160" y="4709160"/>
            <a:ext cx="5653735" cy="411480"/>
          </a:xfrm>
          <a:prstGeom prst="rect">
            <a:avLst/>
          </a:prstGeom>
          <a:noFill/>
          <a:ln/>
        </p:spPr>
        <p:txBody>
          <a:bodyPr wrap="square" lIns="0" tIns="0" rIns="0" bIns="0" rtlCol="0" anchor="t"/>
          <a:lstStyle/>
          <a:p>
            <a:pPr indent="0" marL="0">
              <a:buNone/>
            </a:pPr>
            <a:r>
              <a:rPr lang="en-US" sz="2000" b="1" dirty="0">
                <a:solidFill>
                  <a:srgbClr val="0F1B2D"/>
                </a:solidFill>
                <a:latin typeface="Arial" pitchFamily="34" charset="0"/>
                <a:ea typeface="Arial" pitchFamily="34" charset="-122"/>
                <a:cs typeface="Arial" pitchFamily="34" charset="-120"/>
              </a:rPr>
              <a:t>Conclusions</a:t>
            </a:r>
            <a:endParaRPr lang="en-US" sz="2000" dirty="0"/>
          </a:p>
        </p:txBody>
      </p:sp>
      <p:sp>
        <p:nvSpPr>
          <p:cNvPr id="18" name="Text 16"/>
          <p:cNvSpPr txBox="1"/>
          <p:nvPr/>
        </p:nvSpPr>
        <p:spPr>
          <a:xfrm>
            <a:off x="5852160" y="5138928"/>
            <a:ext cx="5653735" cy="502920"/>
          </a:xfrm>
          <a:prstGeom prst="rect">
            <a:avLst/>
          </a:prstGeom>
          <a:noFill/>
          <a:ln/>
        </p:spPr>
        <p:txBody>
          <a:bodyPr wrap="square" lIns="0" tIns="0" rIns="0" bIns="0" rtlCol="0" anchor="t"/>
          <a:lstStyle/>
          <a:p>
            <a:pPr indent="0" marL="0">
              <a:buNone/>
            </a:pPr>
            <a:r>
              <a:rPr lang="en-US" sz="1300" dirty="0">
                <a:solidFill>
                  <a:srgbClr val="55606E"/>
                </a:solidFill>
                <a:latin typeface="Arial" pitchFamily="34" charset="0"/>
                <a:ea typeface="Arial" pitchFamily="34" charset="-122"/>
                <a:cs typeface="Arial" pitchFamily="34" charset="-120"/>
              </a:rPr>
              <a:t>What we have shown so far and the plan for the final evaluation</a:t>
            </a:r>
            <a:endParaRPr lang="en-US" sz="1300" dirty="0"/>
          </a:p>
        </p:txBody>
      </p:sp>
      <p:sp>
        <p:nvSpPr>
          <p:cNvPr id="19" name="Text 17"/>
          <p:cNvSpPr txBox="1"/>
          <p:nvPr/>
        </p:nvSpPr>
        <p:spPr>
          <a:xfrm>
            <a:off x="685800" y="6400800"/>
            <a:ext cx="7315200" cy="228600"/>
          </a:xfrm>
          <a:prstGeom prst="rect">
            <a:avLst/>
          </a:prstGeom>
          <a:noFill/>
          <a:ln/>
        </p:spPr>
        <p:txBody>
          <a:bodyPr wrap="square" lIns="0" tIns="0" rIns="0" bIns="0" rtlCol="0" anchor="t"/>
          <a:lstStyle/>
          <a:p>
            <a:pPr indent="0" marL="0">
              <a:buNone/>
            </a:pPr>
            <a:r>
              <a:rPr lang="en-US" sz="900" dirty="0">
                <a:solidFill>
                  <a:srgbClr val="8A94A3"/>
                </a:solidFill>
                <a:latin typeface="Arial" pitchFamily="34" charset="0"/>
                <a:ea typeface="Arial" pitchFamily="34" charset="-122"/>
                <a:cs typeface="Arial" pitchFamily="34" charset="-120"/>
              </a:rPr>
              <a:t>Anomaly detection for Advanced Persistent Threats   |   Mid-term evaluation</a:t>
            </a:r>
            <a:endParaRPr lang="en-US" sz="900" dirty="0"/>
          </a:p>
        </p:txBody>
      </p:sp>
      <p:sp>
        <p:nvSpPr>
          <p:cNvPr id="20" name="Text 18"/>
          <p:cNvSpPr txBox="1"/>
          <p:nvPr/>
        </p:nvSpPr>
        <p:spPr>
          <a:xfrm>
            <a:off x="10591495" y="6400800"/>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724324" y="693081"/>
            <a:ext cx="928311" cy="419835"/>
          </a:xfrm>
          <a:prstGeom prst="line">
            <a:avLst/>
          </a:prstGeom>
          <a:noFill/>
          <a:ln w="9525">
            <a:solidFill>
              <a:srgbClr val="2C3E5C"/>
            </a:solidFill>
            <a:prstDash val="solid"/>
          </a:ln>
        </p:spPr>
      </p:sp>
      <p:sp>
        <p:nvSpPr>
          <p:cNvPr id="3" name="Shape 1"/>
          <p:cNvSpPr/>
          <p:nvPr/>
        </p:nvSpPr>
        <p:spPr>
          <a:xfrm flipH="1">
            <a:off x="6437404" y="693081"/>
            <a:ext cx="286919" cy="1003812"/>
          </a:xfrm>
          <a:prstGeom prst="line">
            <a:avLst/>
          </a:prstGeom>
          <a:noFill/>
          <a:ln w="9525">
            <a:solidFill>
              <a:srgbClr val="2C3E5C"/>
            </a:solidFill>
            <a:prstDash val="solid"/>
          </a:ln>
        </p:spPr>
      </p:sp>
      <p:sp>
        <p:nvSpPr>
          <p:cNvPr id="4" name="Shape 2"/>
          <p:cNvSpPr/>
          <p:nvPr/>
        </p:nvSpPr>
        <p:spPr>
          <a:xfrm>
            <a:off x="7652634" y="1112917"/>
            <a:ext cx="52930" cy="568127"/>
          </a:xfrm>
          <a:prstGeom prst="line">
            <a:avLst/>
          </a:prstGeom>
          <a:noFill/>
          <a:ln w="9525">
            <a:solidFill>
              <a:srgbClr val="2C3E5C"/>
            </a:solidFill>
            <a:prstDash val="solid"/>
          </a:ln>
        </p:spPr>
      </p:sp>
      <p:sp>
        <p:nvSpPr>
          <p:cNvPr id="5" name="Shape 3"/>
          <p:cNvSpPr/>
          <p:nvPr/>
        </p:nvSpPr>
        <p:spPr>
          <a:xfrm flipV="1">
            <a:off x="7652634" y="803133"/>
            <a:ext cx="811815" cy="309784"/>
          </a:xfrm>
          <a:prstGeom prst="line">
            <a:avLst/>
          </a:prstGeom>
          <a:noFill/>
          <a:ln w="9525">
            <a:solidFill>
              <a:srgbClr val="2C3E5C"/>
            </a:solidFill>
            <a:prstDash val="solid"/>
          </a:ln>
        </p:spPr>
      </p:sp>
      <p:sp>
        <p:nvSpPr>
          <p:cNvPr id="6" name="Shape 4"/>
          <p:cNvSpPr/>
          <p:nvPr/>
        </p:nvSpPr>
        <p:spPr>
          <a:xfrm flipV="1">
            <a:off x="8464450" y="732343"/>
            <a:ext cx="792931" cy="70790"/>
          </a:xfrm>
          <a:prstGeom prst="line">
            <a:avLst/>
          </a:prstGeom>
          <a:noFill/>
          <a:ln w="9525">
            <a:solidFill>
              <a:srgbClr val="2C3E5C"/>
            </a:solidFill>
            <a:prstDash val="solid"/>
          </a:ln>
        </p:spPr>
      </p:sp>
      <p:sp>
        <p:nvSpPr>
          <p:cNvPr id="7" name="Shape 5"/>
          <p:cNvSpPr/>
          <p:nvPr/>
        </p:nvSpPr>
        <p:spPr>
          <a:xfrm flipV="1">
            <a:off x="9257381" y="564562"/>
            <a:ext cx="1016479" cy="167781"/>
          </a:xfrm>
          <a:prstGeom prst="line">
            <a:avLst/>
          </a:prstGeom>
          <a:noFill/>
          <a:ln w="9525">
            <a:solidFill>
              <a:srgbClr val="2C3E5C"/>
            </a:solidFill>
            <a:prstDash val="solid"/>
          </a:ln>
        </p:spPr>
      </p:sp>
      <p:sp>
        <p:nvSpPr>
          <p:cNvPr id="8" name="Shape 6"/>
          <p:cNvSpPr/>
          <p:nvPr/>
        </p:nvSpPr>
        <p:spPr>
          <a:xfrm>
            <a:off x="10273859" y="564562"/>
            <a:ext cx="809812" cy="315465"/>
          </a:xfrm>
          <a:prstGeom prst="line">
            <a:avLst/>
          </a:prstGeom>
          <a:noFill/>
          <a:ln w="12700">
            <a:solidFill>
              <a:srgbClr val="E0533A">
                <a:alpha val="55000"/>
              </a:srgbClr>
            </a:solidFill>
            <a:prstDash val="solid"/>
          </a:ln>
        </p:spPr>
      </p:sp>
      <p:sp>
        <p:nvSpPr>
          <p:cNvPr id="9" name="Shape 7"/>
          <p:cNvSpPr/>
          <p:nvPr/>
        </p:nvSpPr>
        <p:spPr>
          <a:xfrm>
            <a:off x="10273859" y="564562"/>
            <a:ext cx="180642" cy="921854"/>
          </a:xfrm>
          <a:prstGeom prst="line">
            <a:avLst/>
          </a:prstGeom>
          <a:noFill/>
          <a:ln w="9525">
            <a:solidFill>
              <a:srgbClr val="2C3E5C"/>
            </a:solidFill>
            <a:prstDash val="solid"/>
          </a:ln>
        </p:spPr>
      </p:sp>
      <p:sp>
        <p:nvSpPr>
          <p:cNvPr id="10" name="Shape 8"/>
          <p:cNvSpPr/>
          <p:nvPr/>
        </p:nvSpPr>
        <p:spPr>
          <a:xfrm>
            <a:off x="11083671" y="880027"/>
            <a:ext cx="127185" cy="694656"/>
          </a:xfrm>
          <a:prstGeom prst="line">
            <a:avLst/>
          </a:prstGeom>
          <a:noFill/>
          <a:ln w="12700">
            <a:solidFill>
              <a:srgbClr val="E0533A">
                <a:alpha val="55000"/>
              </a:srgbClr>
            </a:solidFill>
            <a:prstDash val="solid"/>
          </a:ln>
        </p:spPr>
      </p:sp>
      <p:sp>
        <p:nvSpPr>
          <p:cNvPr id="11" name="Shape 9"/>
          <p:cNvSpPr/>
          <p:nvPr/>
        </p:nvSpPr>
        <p:spPr>
          <a:xfrm>
            <a:off x="6437404" y="1696893"/>
            <a:ext cx="271152" cy="793144"/>
          </a:xfrm>
          <a:prstGeom prst="line">
            <a:avLst/>
          </a:prstGeom>
          <a:noFill/>
          <a:ln w="9525">
            <a:solidFill>
              <a:srgbClr val="2C3E5C"/>
            </a:solidFill>
            <a:prstDash val="solid"/>
          </a:ln>
        </p:spPr>
      </p:sp>
      <p:sp>
        <p:nvSpPr>
          <p:cNvPr id="12" name="Shape 10"/>
          <p:cNvSpPr/>
          <p:nvPr/>
        </p:nvSpPr>
        <p:spPr>
          <a:xfrm>
            <a:off x="7705564" y="1681044"/>
            <a:ext cx="23395" cy="1060546"/>
          </a:xfrm>
          <a:prstGeom prst="line">
            <a:avLst/>
          </a:prstGeom>
          <a:noFill/>
          <a:ln w="9525">
            <a:solidFill>
              <a:srgbClr val="2C3E5C"/>
            </a:solidFill>
            <a:prstDash val="solid"/>
          </a:ln>
        </p:spPr>
      </p:sp>
      <p:sp>
        <p:nvSpPr>
          <p:cNvPr id="13" name="Shape 11"/>
          <p:cNvSpPr/>
          <p:nvPr/>
        </p:nvSpPr>
        <p:spPr>
          <a:xfrm flipH="1">
            <a:off x="9584973" y="1979448"/>
            <a:ext cx="119031" cy="330665"/>
          </a:xfrm>
          <a:prstGeom prst="line">
            <a:avLst/>
          </a:prstGeom>
          <a:noFill/>
          <a:ln w="9525">
            <a:solidFill>
              <a:srgbClr val="2C3E5C"/>
            </a:solidFill>
            <a:prstDash val="solid"/>
          </a:ln>
        </p:spPr>
      </p:sp>
      <p:sp>
        <p:nvSpPr>
          <p:cNvPr id="14" name="Shape 12"/>
          <p:cNvSpPr/>
          <p:nvPr/>
        </p:nvSpPr>
        <p:spPr>
          <a:xfrm>
            <a:off x="9704004" y="1979448"/>
            <a:ext cx="366415" cy="312572"/>
          </a:xfrm>
          <a:prstGeom prst="line">
            <a:avLst/>
          </a:prstGeom>
          <a:noFill/>
          <a:ln w="9525">
            <a:solidFill>
              <a:srgbClr val="2C3E5C"/>
            </a:solidFill>
            <a:prstDash val="solid"/>
          </a:ln>
        </p:spPr>
      </p:sp>
      <p:sp>
        <p:nvSpPr>
          <p:cNvPr id="15" name="Shape 13"/>
          <p:cNvSpPr/>
          <p:nvPr/>
        </p:nvSpPr>
        <p:spPr>
          <a:xfrm>
            <a:off x="10454501" y="1486416"/>
            <a:ext cx="756355" cy="88267"/>
          </a:xfrm>
          <a:prstGeom prst="line">
            <a:avLst/>
          </a:prstGeom>
          <a:noFill/>
          <a:ln w="9525">
            <a:solidFill>
              <a:srgbClr val="2C3E5C"/>
            </a:solidFill>
            <a:prstDash val="solid"/>
          </a:ln>
        </p:spPr>
      </p:sp>
      <p:sp>
        <p:nvSpPr>
          <p:cNvPr id="16" name="Shape 14"/>
          <p:cNvSpPr/>
          <p:nvPr/>
        </p:nvSpPr>
        <p:spPr>
          <a:xfrm flipH="1">
            <a:off x="10454501" y="880027"/>
            <a:ext cx="629170" cy="606389"/>
          </a:xfrm>
          <a:prstGeom prst="line">
            <a:avLst/>
          </a:prstGeom>
          <a:noFill/>
          <a:ln w="12700">
            <a:solidFill>
              <a:srgbClr val="E0533A">
                <a:alpha val="55000"/>
              </a:srgbClr>
            </a:solidFill>
            <a:prstDash val="solid"/>
          </a:ln>
        </p:spPr>
      </p:sp>
      <p:sp>
        <p:nvSpPr>
          <p:cNvPr id="17" name="Shape 15"/>
          <p:cNvSpPr/>
          <p:nvPr/>
        </p:nvSpPr>
        <p:spPr>
          <a:xfrm>
            <a:off x="6708556" y="2490037"/>
            <a:ext cx="623782" cy="611111"/>
          </a:xfrm>
          <a:prstGeom prst="line">
            <a:avLst/>
          </a:prstGeom>
          <a:noFill/>
          <a:ln w="12700">
            <a:solidFill>
              <a:srgbClr val="E0533A">
                <a:alpha val="55000"/>
              </a:srgbClr>
            </a:solidFill>
            <a:prstDash val="solid"/>
          </a:ln>
        </p:spPr>
      </p:sp>
      <p:sp>
        <p:nvSpPr>
          <p:cNvPr id="18" name="Shape 16"/>
          <p:cNvSpPr/>
          <p:nvPr/>
        </p:nvSpPr>
        <p:spPr>
          <a:xfrm flipH="1">
            <a:off x="7332338" y="2741590"/>
            <a:ext cx="396621" cy="359558"/>
          </a:xfrm>
          <a:prstGeom prst="line">
            <a:avLst/>
          </a:prstGeom>
          <a:noFill/>
          <a:ln w="12700">
            <a:solidFill>
              <a:srgbClr val="E0533A">
                <a:alpha val="55000"/>
              </a:srgbClr>
            </a:solidFill>
            <a:prstDash val="solid"/>
          </a:ln>
        </p:spPr>
      </p:sp>
      <p:sp>
        <p:nvSpPr>
          <p:cNvPr id="19" name="Shape 17"/>
          <p:cNvSpPr/>
          <p:nvPr/>
        </p:nvSpPr>
        <p:spPr>
          <a:xfrm>
            <a:off x="6708556" y="2490037"/>
            <a:ext cx="1020403" cy="251553"/>
          </a:xfrm>
          <a:prstGeom prst="line">
            <a:avLst/>
          </a:prstGeom>
          <a:noFill/>
          <a:ln w="9525">
            <a:solidFill>
              <a:srgbClr val="2C3E5C"/>
            </a:solidFill>
            <a:prstDash val="solid"/>
          </a:ln>
        </p:spPr>
      </p:sp>
      <p:sp>
        <p:nvSpPr>
          <p:cNvPr id="20" name="Shape 18"/>
          <p:cNvSpPr/>
          <p:nvPr/>
        </p:nvSpPr>
        <p:spPr>
          <a:xfrm flipV="1">
            <a:off x="8840915" y="2310113"/>
            <a:ext cx="744058" cy="547424"/>
          </a:xfrm>
          <a:prstGeom prst="line">
            <a:avLst/>
          </a:prstGeom>
          <a:noFill/>
          <a:ln w="9525">
            <a:solidFill>
              <a:srgbClr val="2C3E5C"/>
            </a:solidFill>
            <a:prstDash val="solid"/>
          </a:ln>
        </p:spPr>
      </p:sp>
      <p:sp>
        <p:nvSpPr>
          <p:cNvPr id="21" name="Shape 19"/>
          <p:cNvSpPr/>
          <p:nvPr/>
        </p:nvSpPr>
        <p:spPr>
          <a:xfrm>
            <a:off x="8840915" y="2857537"/>
            <a:ext cx="716153" cy="745180"/>
          </a:xfrm>
          <a:prstGeom prst="line">
            <a:avLst/>
          </a:prstGeom>
          <a:noFill/>
          <a:ln w="9525">
            <a:solidFill>
              <a:srgbClr val="2C3E5C"/>
            </a:solidFill>
            <a:prstDash val="solid"/>
          </a:ln>
        </p:spPr>
      </p:sp>
      <p:sp>
        <p:nvSpPr>
          <p:cNvPr id="22" name="Shape 20"/>
          <p:cNvSpPr/>
          <p:nvPr/>
        </p:nvSpPr>
        <p:spPr>
          <a:xfrm flipV="1">
            <a:off x="9584973" y="2292019"/>
            <a:ext cx="485446" cy="18094"/>
          </a:xfrm>
          <a:prstGeom prst="line">
            <a:avLst/>
          </a:prstGeom>
          <a:noFill/>
          <a:ln w="9525">
            <a:solidFill>
              <a:srgbClr val="2C3E5C"/>
            </a:solidFill>
            <a:prstDash val="solid"/>
          </a:ln>
        </p:spPr>
      </p:sp>
      <p:sp>
        <p:nvSpPr>
          <p:cNvPr id="23" name="Shape 21"/>
          <p:cNvSpPr/>
          <p:nvPr/>
        </p:nvSpPr>
        <p:spPr>
          <a:xfrm>
            <a:off x="11218349" y="2763714"/>
            <a:ext cx="420044" cy="496625"/>
          </a:xfrm>
          <a:prstGeom prst="line">
            <a:avLst/>
          </a:prstGeom>
          <a:noFill/>
          <a:ln w="9525">
            <a:solidFill>
              <a:srgbClr val="2C3E5C"/>
            </a:solidFill>
            <a:prstDash val="solid"/>
          </a:ln>
        </p:spPr>
      </p:sp>
      <p:sp>
        <p:nvSpPr>
          <p:cNvPr id="24" name="Shape 22"/>
          <p:cNvSpPr/>
          <p:nvPr/>
        </p:nvSpPr>
        <p:spPr>
          <a:xfrm flipH="1">
            <a:off x="10731348" y="2763714"/>
            <a:ext cx="487002" cy="468275"/>
          </a:xfrm>
          <a:prstGeom prst="line">
            <a:avLst/>
          </a:prstGeom>
          <a:noFill/>
          <a:ln w="9525">
            <a:solidFill>
              <a:srgbClr val="2C3E5C"/>
            </a:solidFill>
            <a:prstDash val="solid"/>
          </a:ln>
        </p:spPr>
      </p:sp>
      <p:sp>
        <p:nvSpPr>
          <p:cNvPr id="25" name="Shape 23"/>
          <p:cNvSpPr/>
          <p:nvPr/>
        </p:nvSpPr>
        <p:spPr>
          <a:xfrm flipH="1">
            <a:off x="6407188" y="3538530"/>
            <a:ext cx="148444" cy="467365"/>
          </a:xfrm>
          <a:prstGeom prst="line">
            <a:avLst/>
          </a:prstGeom>
          <a:noFill/>
          <a:ln w="9525">
            <a:solidFill>
              <a:srgbClr val="2C3E5C"/>
            </a:solidFill>
            <a:prstDash val="solid"/>
          </a:ln>
        </p:spPr>
      </p:sp>
      <p:sp>
        <p:nvSpPr>
          <p:cNvPr id="26" name="Shape 24"/>
          <p:cNvSpPr/>
          <p:nvPr/>
        </p:nvSpPr>
        <p:spPr>
          <a:xfrm flipV="1">
            <a:off x="6555632" y="3101149"/>
            <a:ext cx="776706" cy="437381"/>
          </a:xfrm>
          <a:prstGeom prst="line">
            <a:avLst/>
          </a:prstGeom>
          <a:noFill/>
          <a:ln w="12700">
            <a:solidFill>
              <a:srgbClr val="E0533A">
                <a:alpha val="55000"/>
              </a:srgbClr>
            </a:solidFill>
            <a:prstDash val="solid"/>
          </a:ln>
        </p:spPr>
      </p:sp>
      <p:sp>
        <p:nvSpPr>
          <p:cNvPr id="27" name="Shape 25"/>
          <p:cNvSpPr/>
          <p:nvPr/>
        </p:nvSpPr>
        <p:spPr>
          <a:xfrm>
            <a:off x="9557068" y="3602717"/>
            <a:ext cx="133671" cy="515754"/>
          </a:xfrm>
          <a:prstGeom prst="line">
            <a:avLst/>
          </a:prstGeom>
          <a:noFill/>
          <a:ln w="9525">
            <a:solidFill>
              <a:srgbClr val="2C3E5C"/>
            </a:solidFill>
            <a:prstDash val="solid"/>
          </a:ln>
        </p:spPr>
      </p:sp>
      <p:sp>
        <p:nvSpPr>
          <p:cNvPr id="28" name="Shape 26"/>
          <p:cNvSpPr/>
          <p:nvPr/>
        </p:nvSpPr>
        <p:spPr>
          <a:xfrm>
            <a:off x="9557068" y="3602717"/>
            <a:ext cx="587494" cy="728329"/>
          </a:xfrm>
          <a:prstGeom prst="line">
            <a:avLst/>
          </a:prstGeom>
          <a:noFill/>
          <a:ln w="9525">
            <a:solidFill>
              <a:srgbClr val="2C3E5C"/>
            </a:solidFill>
            <a:prstDash val="solid"/>
          </a:ln>
        </p:spPr>
      </p:sp>
      <p:sp>
        <p:nvSpPr>
          <p:cNvPr id="29" name="Shape 27"/>
          <p:cNvSpPr/>
          <p:nvPr/>
        </p:nvSpPr>
        <p:spPr>
          <a:xfrm>
            <a:off x="10731348" y="3231988"/>
            <a:ext cx="907045" cy="28350"/>
          </a:xfrm>
          <a:prstGeom prst="line">
            <a:avLst/>
          </a:prstGeom>
          <a:noFill/>
          <a:ln w="9525">
            <a:solidFill>
              <a:srgbClr val="2C3E5C"/>
            </a:solidFill>
            <a:prstDash val="solid"/>
          </a:ln>
        </p:spPr>
      </p:sp>
      <p:sp>
        <p:nvSpPr>
          <p:cNvPr id="30" name="Shape 28"/>
          <p:cNvSpPr/>
          <p:nvPr/>
        </p:nvSpPr>
        <p:spPr>
          <a:xfrm>
            <a:off x="6407188" y="4005895"/>
            <a:ext cx="253837" cy="1088980"/>
          </a:xfrm>
          <a:prstGeom prst="line">
            <a:avLst/>
          </a:prstGeom>
          <a:noFill/>
          <a:ln w="9525">
            <a:solidFill>
              <a:srgbClr val="2C3E5C"/>
            </a:solidFill>
            <a:prstDash val="solid"/>
          </a:ln>
        </p:spPr>
      </p:sp>
      <p:sp>
        <p:nvSpPr>
          <p:cNvPr id="31" name="Shape 29"/>
          <p:cNvSpPr/>
          <p:nvPr/>
        </p:nvSpPr>
        <p:spPr>
          <a:xfrm flipH="1">
            <a:off x="7550885" y="4444202"/>
            <a:ext cx="351778" cy="500081"/>
          </a:xfrm>
          <a:prstGeom prst="line">
            <a:avLst/>
          </a:prstGeom>
          <a:noFill/>
          <a:ln w="9525">
            <a:solidFill>
              <a:srgbClr val="2C3E5C"/>
            </a:solidFill>
            <a:prstDash val="solid"/>
          </a:ln>
        </p:spPr>
      </p:sp>
      <p:sp>
        <p:nvSpPr>
          <p:cNvPr id="32" name="Shape 30"/>
          <p:cNvSpPr/>
          <p:nvPr/>
        </p:nvSpPr>
        <p:spPr>
          <a:xfrm flipV="1">
            <a:off x="7902663" y="4101021"/>
            <a:ext cx="540350" cy="343181"/>
          </a:xfrm>
          <a:prstGeom prst="line">
            <a:avLst/>
          </a:prstGeom>
          <a:noFill/>
          <a:ln w="9525">
            <a:solidFill>
              <a:srgbClr val="2C3E5C"/>
            </a:solidFill>
            <a:prstDash val="solid"/>
          </a:ln>
        </p:spPr>
      </p:sp>
      <p:sp>
        <p:nvSpPr>
          <p:cNvPr id="33" name="Shape 31"/>
          <p:cNvSpPr/>
          <p:nvPr/>
        </p:nvSpPr>
        <p:spPr>
          <a:xfrm>
            <a:off x="8443013" y="4101021"/>
            <a:ext cx="376346" cy="1105569"/>
          </a:xfrm>
          <a:prstGeom prst="line">
            <a:avLst/>
          </a:prstGeom>
          <a:noFill/>
          <a:ln w="9525">
            <a:solidFill>
              <a:srgbClr val="2C3E5C"/>
            </a:solidFill>
            <a:prstDash val="solid"/>
          </a:ln>
        </p:spPr>
      </p:sp>
      <p:sp>
        <p:nvSpPr>
          <p:cNvPr id="34" name="Shape 32"/>
          <p:cNvSpPr/>
          <p:nvPr/>
        </p:nvSpPr>
        <p:spPr>
          <a:xfrm>
            <a:off x="9690740" y="4118471"/>
            <a:ext cx="453822" cy="212575"/>
          </a:xfrm>
          <a:prstGeom prst="line">
            <a:avLst/>
          </a:prstGeom>
          <a:noFill/>
          <a:ln w="9525">
            <a:solidFill>
              <a:srgbClr val="2C3E5C"/>
            </a:solidFill>
            <a:prstDash val="solid"/>
          </a:ln>
        </p:spPr>
      </p:sp>
      <p:sp>
        <p:nvSpPr>
          <p:cNvPr id="35" name="Shape 33"/>
          <p:cNvSpPr/>
          <p:nvPr/>
        </p:nvSpPr>
        <p:spPr>
          <a:xfrm flipV="1">
            <a:off x="10144562" y="4330483"/>
            <a:ext cx="827788" cy="914"/>
          </a:xfrm>
          <a:prstGeom prst="line">
            <a:avLst/>
          </a:prstGeom>
          <a:noFill/>
          <a:ln w="9525">
            <a:solidFill>
              <a:srgbClr val="2C3E5C"/>
            </a:solidFill>
            <a:prstDash val="solid"/>
          </a:ln>
        </p:spPr>
      </p:sp>
      <p:sp>
        <p:nvSpPr>
          <p:cNvPr id="36" name="Shape 34"/>
          <p:cNvSpPr/>
          <p:nvPr/>
        </p:nvSpPr>
        <p:spPr>
          <a:xfrm>
            <a:off x="10731348" y="3231988"/>
            <a:ext cx="241003" cy="1098494"/>
          </a:xfrm>
          <a:prstGeom prst="line">
            <a:avLst/>
          </a:prstGeom>
          <a:noFill/>
          <a:ln w="9525">
            <a:solidFill>
              <a:srgbClr val="2C3E5C"/>
            </a:solidFill>
            <a:prstDash val="solid"/>
          </a:ln>
        </p:spPr>
      </p:sp>
      <p:sp>
        <p:nvSpPr>
          <p:cNvPr id="37" name="Shape 35"/>
          <p:cNvSpPr/>
          <p:nvPr/>
        </p:nvSpPr>
        <p:spPr>
          <a:xfrm>
            <a:off x="6661025" y="5094875"/>
            <a:ext cx="208860" cy="759512"/>
          </a:xfrm>
          <a:prstGeom prst="line">
            <a:avLst/>
          </a:prstGeom>
          <a:noFill/>
          <a:ln w="9525">
            <a:solidFill>
              <a:srgbClr val="2C3E5C"/>
            </a:solidFill>
            <a:prstDash val="solid"/>
          </a:ln>
        </p:spPr>
      </p:sp>
      <p:sp>
        <p:nvSpPr>
          <p:cNvPr id="38" name="Shape 36"/>
          <p:cNvSpPr/>
          <p:nvPr/>
        </p:nvSpPr>
        <p:spPr>
          <a:xfrm flipV="1">
            <a:off x="6661025" y="4944283"/>
            <a:ext cx="889860" cy="150592"/>
          </a:xfrm>
          <a:prstGeom prst="line">
            <a:avLst/>
          </a:prstGeom>
          <a:noFill/>
          <a:ln w="9525">
            <a:solidFill>
              <a:srgbClr val="2C3E5C"/>
            </a:solidFill>
            <a:prstDash val="solid"/>
          </a:ln>
        </p:spPr>
      </p:sp>
      <p:sp>
        <p:nvSpPr>
          <p:cNvPr id="39" name="Shape 37"/>
          <p:cNvSpPr/>
          <p:nvPr/>
        </p:nvSpPr>
        <p:spPr>
          <a:xfrm flipV="1">
            <a:off x="8819359" y="4842491"/>
            <a:ext cx="635927" cy="364098"/>
          </a:xfrm>
          <a:prstGeom prst="line">
            <a:avLst/>
          </a:prstGeom>
          <a:noFill/>
          <a:ln w="9525">
            <a:solidFill>
              <a:srgbClr val="2C3E5C"/>
            </a:solidFill>
            <a:prstDash val="solid"/>
          </a:ln>
        </p:spPr>
      </p:sp>
      <p:sp>
        <p:nvSpPr>
          <p:cNvPr id="40" name="Shape 38"/>
          <p:cNvSpPr/>
          <p:nvPr/>
        </p:nvSpPr>
        <p:spPr>
          <a:xfrm flipH="1">
            <a:off x="8537081" y="5206589"/>
            <a:ext cx="282278" cy="785703"/>
          </a:xfrm>
          <a:prstGeom prst="line">
            <a:avLst/>
          </a:prstGeom>
          <a:noFill/>
          <a:ln w="9525">
            <a:solidFill>
              <a:srgbClr val="2C3E5C"/>
            </a:solidFill>
            <a:prstDash val="solid"/>
          </a:ln>
        </p:spPr>
      </p:sp>
      <p:sp>
        <p:nvSpPr>
          <p:cNvPr id="41" name="Shape 39"/>
          <p:cNvSpPr/>
          <p:nvPr/>
        </p:nvSpPr>
        <p:spPr>
          <a:xfrm>
            <a:off x="9455287" y="4842491"/>
            <a:ext cx="574190" cy="434935"/>
          </a:xfrm>
          <a:prstGeom prst="line">
            <a:avLst/>
          </a:prstGeom>
          <a:noFill/>
          <a:ln w="9525">
            <a:solidFill>
              <a:srgbClr val="2C3E5C"/>
            </a:solidFill>
            <a:prstDash val="solid"/>
          </a:ln>
        </p:spPr>
      </p:sp>
      <p:sp>
        <p:nvSpPr>
          <p:cNvPr id="42" name="Shape 40"/>
          <p:cNvSpPr/>
          <p:nvPr/>
        </p:nvSpPr>
        <p:spPr>
          <a:xfrm flipH="1">
            <a:off x="9780859" y="5277426"/>
            <a:ext cx="248618" cy="404534"/>
          </a:xfrm>
          <a:prstGeom prst="line">
            <a:avLst/>
          </a:prstGeom>
          <a:noFill/>
          <a:ln w="9525">
            <a:solidFill>
              <a:srgbClr val="2C3E5C"/>
            </a:solidFill>
            <a:prstDash val="solid"/>
          </a:ln>
        </p:spPr>
      </p:sp>
      <p:sp>
        <p:nvSpPr>
          <p:cNvPr id="43" name="Shape 41"/>
          <p:cNvSpPr/>
          <p:nvPr/>
        </p:nvSpPr>
        <p:spPr>
          <a:xfrm flipV="1">
            <a:off x="6869885" y="5825527"/>
            <a:ext cx="1051305" cy="28860"/>
          </a:xfrm>
          <a:prstGeom prst="line">
            <a:avLst/>
          </a:prstGeom>
          <a:noFill/>
          <a:ln w="9525">
            <a:solidFill>
              <a:srgbClr val="2C3E5C"/>
            </a:solidFill>
            <a:prstDash val="solid"/>
          </a:ln>
        </p:spPr>
      </p:sp>
      <p:sp>
        <p:nvSpPr>
          <p:cNvPr id="44" name="Shape 42"/>
          <p:cNvSpPr/>
          <p:nvPr/>
        </p:nvSpPr>
        <p:spPr>
          <a:xfrm>
            <a:off x="7921191" y="5825527"/>
            <a:ext cx="615891" cy="166766"/>
          </a:xfrm>
          <a:prstGeom prst="line">
            <a:avLst/>
          </a:prstGeom>
          <a:noFill/>
          <a:ln w="9525">
            <a:solidFill>
              <a:srgbClr val="2C3E5C"/>
            </a:solidFill>
            <a:prstDash val="solid"/>
          </a:ln>
        </p:spPr>
      </p:sp>
      <p:sp>
        <p:nvSpPr>
          <p:cNvPr id="45" name="Shape 43"/>
          <p:cNvSpPr/>
          <p:nvPr/>
        </p:nvSpPr>
        <p:spPr>
          <a:xfrm>
            <a:off x="7550885" y="4944283"/>
            <a:ext cx="370306" cy="881244"/>
          </a:xfrm>
          <a:prstGeom prst="line">
            <a:avLst/>
          </a:prstGeom>
          <a:noFill/>
          <a:ln w="9525">
            <a:solidFill>
              <a:srgbClr val="2C3E5C"/>
            </a:solidFill>
            <a:prstDash val="solid"/>
          </a:ln>
        </p:spPr>
      </p:sp>
      <p:sp>
        <p:nvSpPr>
          <p:cNvPr id="46" name="Shape 44"/>
          <p:cNvSpPr/>
          <p:nvPr/>
        </p:nvSpPr>
        <p:spPr>
          <a:xfrm>
            <a:off x="9780859" y="5681960"/>
            <a:ext cx="541828" cy="499870"/>
          </a:xfrm>
          <a:prstGeom prst="line">
            <a:avLst/>
          </a:prstGeom>
          <a:noFill/>
          <a:ln w="9525">
            <a:solidFill>
              <a:srgbClr val="2C3E5C"/>
            </a:solidFill>
            <a:prstDash val="solid"/>
          </a:ln>
        </p:spPr>
      </p:sp>
      <p:sp>
        <p:nvSpPr>
          <p:cNvPr id="47" name="Shape 45"/>
          <p:cNvSpPr/>
          <p:nvPr/>
        </p:nvSpPr>
        <p:spPr>
          <a:xfrm>
            <a:off x="10029477" y="5277426"/>
            <a:ext cx="293210" cy="904404"/>
          </a:xfrm>
          <a:prstGeom prst="line">
            <a:avLst/>
          </a:prstGeom>
          <a:noFill/>
          <a:ln w="9525">
            <a:solidFill>
              <a:srgbClr val="2C3E5C"/>
            </a:solidFill>
            <a:prstDash val="solid"/>
          </a:ln>
        </p:spPr>
      </p:sp>
      <p:sp>
        <p:nvSpPr>
          <p:cNvPr id="48" name="Shape 46"/>
          <p:cNvSpPr/>
          <p:nvPr/>
        </p:nvSpPr>
        <p:spPr>
          <a:xfrm flipV="1">
            <a:off x="10322687" y="6071926"/>
            <a:ext cx="1196179" cy="109904"/>
          </a:xfrm>
          <a:prstGeom prst="line">
            <a:avLst/>
          </a:prstGeom>
          <a:noFill/>
          <a:ln w="9525">
            <a:solidFill>
              <a:srgbClr val="2C3E5C"/>
            </a:solidFill>
            <a:prstDash val="solid"/>
          </a:ln>
        </p:spPr>
      </p:sp>
      <p:sp>
        <p:nvSpPr>
          <p:cNvPr id="49" name="Shape 47"/>
          <p:cNvSpPr/>
          <p:nvPr/>
        </p:nvSpPr>
        <p:spPr>
          <a:xfrm>
            <a:off x="10029477" y="5277426"/>
            <a:ext cx="1489389" cy="794500"/>
          </a:xfrm>
          <a:prstGeom prst="line">
            <a:avLst/>
          </a:prstGeom>
          <a:noFill/>
          <a:ln w="9525">
            <a:solidFill>
              <a:srgbClr val="2C3E5C"/>
            </a:solidFill>
            <a:prstDash val="solid"/>
          </a:ln>
        </p:spPr>
      </p:sp>
      <p:sp>
        <p:nvSpPr>
          <p:cNvPr id="50" name="Shape 48"/>
          <p:cNvSpPr/>
          <p:nvPr/>
        </p:nvSpPr>
        <p:spPr>
          <a:xfrm>
            <a:off x="6671336" y="640093"/>
            <a:ext cx="105975" cy="105975"/>
          </a:xfrm>
          <a:prstGeom prst="ellipse">
            <a:avLst/>
          </a:prstGeom>
          <a:solidFill>
            <a:srgbClr val="4B6388"/>
          </a:solidFill>
          <a:ln w="12700">
            <a:solidFill>
              <a:srgbClr val="4B6388"/>
            </a:solidFill>
            <a:prstDash val="solid"/>
          </a:ln>
        </p:spPr>
      </p:sp>
      <p:sp>
        <p:nvSpPr>
          <p:cNvPr id="51" name="Shape 49"/>
          <p:cNvSpPr/>
          <p:nvPr/>
        </p:nvSpPr>
        <p:spPr>
          <a:xfrm>
            <a:off x="7593970" y="1054252"/>
            <a:ext cx="117329" cy="117329"/>
          </a:xfrm>
          <a:prstGeom prst="ellipse">
            <a:avLst/>
          </a:prstGeom>
          <a:solidFill>
            <a:srgbClr val="4B6388"/>
          </a:solidFill>
          <a:ln w="12700">
            <a:solidFill>
              <a:srgbClr val="4B6388"/>
            </a:solidFill>
            <a:prstDash val="solid"/>
          </a:ln>
        </p:spPr>
      </p:sp>
      <p:sp>
        <p:nvSpPr>
          <p:cNvPr id="52" name="Shape 50"/>
          <p:cNvSpPr/>
          <p:nvPr/>
        </p:nvSpPr>
        <p:spPr>
          <a:xfrm>
            <a:off x="8417434" y="756117"/>
            <a:ext cx="94031" cy="94031"/>
          </a:xfrm>
          <a:prstGeom prst="ellipse">
            <a:avLst/>
          </a:prstGeom>
          <a:solidFill>
            <a:srgbClr val="4B6388"/>
          </a:solidFill>
          <a:ln w="12700">
            <a:solidFill>
              <a:srgbClr val="4B6388"/>
            </a:solidFill>
            <a:prstDash val="solid"/>
          </a:ln>
        </p:spPr>
      </p:sp>
      <p:sp>
        <p:nvSpPr>
          <p:cNvPr id="53" name="Shape 51"/>
          <p:cNvSpPr/>
          <p:nvPr/>
        </p:nvSpPr>
        <p:spPr>
          <a:xfrm>
            <a:off x="9198088" y="673050"/>
            <a:ext cx="118586" cy="118586"/>
          </a:xfrm>
          <a:prstGeom prst="ellipse">
            <a:avLst/>
          </a:prstGeom>
          <a:solidFill>
            <a:srgbClr val="4B6388"/>
          </a:solidFill>
          <a:ln w="12700">
            <a:solidFill>
              <a:srgbClr val="4B6388"/>
            </a:solidFill>
            <a:prstDash val="solid"/>
          </a:ln>
        </p:spPr>
      </p:sp>
      <p:sp>
        <p:nvSpPr>
          <p:cNvPr id="54" name="Shape 52"/>
          <p:cNvSpPr/>
          <p:nvPr/>
        </p:nvSpPr>
        <p:spPr>
          <a:xfrm>
            <a:off x="10228726" y="519428"/>
            <a:ext cx="90267" cy="90267"/>
          </a:xfrm>
          <a:prstGeom prst="ellipse">
            <a:avLst/>
          </a:prstGeom>
          <a:solidFill>
            <a:srgbClr val="4B6388"/>
          </a:solidFill>
          <a:ln w="12700">
            <a:solidFill>
              <a:srgbClr val="4B6388"/>
            </a:solidFill>
            <a:prstDash val="solid"/>
          </a:ln>
        </p:spPr>
      </p:sp>
      <p:sp>
        <p:nvSpPr>
          <p:cNvPr id="55" name="Shape 53"/>
          <p:cNvSpPr/>
          <p:nvPr/>
        </p:nvSpPr>
        <p:spPr>
          <a:xfrm>
            <a:off x="10864215" y="660571"/>
            <a:ext cx="438912" cy="438912"/>
          </a:xfrm>
          <a:prstGeom prst="ellipse">
            <a:avLst/>
          </a:prstGeom>
          <a:solidFill>
            <a:srgbClr val="E0533A">
              <a:alpha val="20000"/>
            </a:srgbClr>
          </a:solidFill>
          <a:ln w="12700">
            <a:solidFill>
              <a:srgbClr val="E0533A">
                <a:alpha val="20000"/>
              </a:srgbClr>
            </a:solidFill>
            <a:prstDash val="solid"/>
          </a:ln>
        </p:spPr>
      </p:sp>
      <p:sp>
        <p:nvSpPr>
          <p:cNvPr id="56" name="Shape 54"/>
          <p:cNvSpPr/>
          <p:nvPr/>
        </p:nvSpPr>
        <p:spPr>
          <a:xfrm>
            <a:off x="11001375" y="797731"/>
            <a:ext cx="164592" cy="164592"/>
          </a:xfrm>
          <a:prstGeom prst="ellipse">
            <a:avLst/>
          </a:prstGeom>
          <a:solidFill>
            <a:srgbClr val="E0533A"/>
          </a:solidFill>
          <a:ln w="12700">
            <a:solidFill>
              <a:srgbClr val="E0533A"/>
            </a:solidFill>
            <a:prstDash val="solid"/>
          </a:ln>
        </p:spPr>
      </p:sp>
      <p:sp>
        <p:nvSpPr>
          <p:cNvPr id="57" name="Shape 55"/>
          <p:cNvSpPr/>
          <p:nvPr/>
        </p:nvSpPr>
        <p:spPr>
          <a:xfrm>
            <a:off x="6403548" y="1663037"/>
            <a:ext cx="67712" cy="67712"/>
          </a:xfrm>
          <a:prstGeom prst="ellipse">
            <a:avLst/>
          </a:prstGeom>
          <a:solidFill>
            <a:srgbClr val="4B6388"/>
          </a:solidFill>
          <a:ln w="12700">
            <a:solidFill>
              <a:srgbClr val="4B6388"/>
            </a:solidFill>
            <a:prstDash val="solid"/>
          </a:ln>
        </p:spPr>
      </p:sp>
      <p:sp>
        <p:nvSpPr>
          <p:cNvPr id="58" name="Shape 56"/>
          <p:cNvSpPr/>
          <p:nvPr/>
        </p:nvSpPr>
        <p:spPr>
          <a:xfrm>
            <a:off x="7667254" y="1642733"/>
            <a:ext cx="76621" cy="76621"/>
          </a:xfrm>
          <a:prstGeom prst="ellipse">
            <a:avLst/>
          </a:prstGeom>
          <a:solidFill>
            <a:srgbClr val="4B6388"/>
          </a:solidFill>
          <a:ln w="12700">
            <a:solidFill>
              <a:srgbClr val="4B6388"/>
            </a:solidFill>
            <a:prstDash val="solid"/>
          </a:ln>
        </p:spPr>
      </p:sp>
      <p:sp>
        <p:nvSpPr>
          <p:cNvPr id="59" name="Shape 57"/>
          <p:cNvSpPr/>
          <p:nvPr/>
        </p:nvSpPr>
        <p:spPr>
          <a:xfrm>
            <a:off x="9664247" y="1939690"/>
            <a:ext cx="79514" cy="79514"/>
          </a:xfrm>
          <a:prstGeom prst="ellipse">
            <a:avLst/>
          </a:prstGeom>
          <a:solidFill>
            <a:srgbClr val="4B6388"/>
          </a:solidFill>
          <a:ln w="12700">
            <a:solidFill>
              <a:srgbClr val="4B6388"/>
            </a:solidFill>
            <a:prstDash val="solid"/>
          </a:ln>
        </p:spPr>
      </p:sp>
      <p:sp>
        <p:nvSpPr>
          <p:cNvPr id="60" name="Shape 58"/>
          <p:cNvSpPr/>
          <p:nvPr/>
        </p:nvSpPr>
        <p:spPr>
          <a:xfrm>
            <a:off x="10401557" y="1433472"/>
            <a:ext cx="105887" cy="105887"/>
          </a:xfrm>
          <a:prstGeom prst="ellipse">
            <a:avLst/>
          </a:prstGeom>
          <a:solidFill>
            <a:srgbClr val="4B6388"/>
          </a:solidFill>
          <a:ln w="12700">
            <a:solidFill>
              <a:srgbClr val="4B6388"/>
            </a:solidFill>
            <a:prstDash val="solid"/>
          </a:ln>
        </p:spPr>
      </p:sp>
      <p:sp>
        <p:nvSpPr>
          <p:cNvPr id="61" name="Shape 59"/>
          <p:cNvSpPr/>
          <p:nvPr/>
        </p:nvSpPr>
        <p:spPr>
          <a:xfrm>
            <a:off x="11176566" y="1540394"/>
            <a:ext cx="68579" cy="68579"/>
          </a:xfrm>
          <a:prstGeom prst="ellipse">
            <a:avLst/>
          </a:prstGeom>
          <a:solidFill>
            <a:srgbClr val="4B6388"/>
          </a:solidFill>
          <a:ln w="12700">
            <a:solidFill>
              <a:srgbClr val="4B6388"/>
            </a:solidFill>
            <a:prstDash val="solid"/>
          </a:ln>
        </p:spPr>
      </p:sp>
      <p:sp>
        <p:nvSpPr>
          <p:cNvPr id="62" name="Shape 60"/>
          <p:cNvSpPr/>
          <p:nvPr/>
        </p:nvSpPr>
        <p:spPr>
          <a:xfrm>
            <a:off x="6653154" y="2434635"/>
            <a:ext cx="110804" cy="110804"/>
          </a:xfrm>
          <a:prstGeom prst="ellipse">
            <a:avLst/>
          </a:prstGeom>
          <a:solidFill>
            <a:srgbClr val="4B6388"/>
          </a:solidFill>
          <a:ln w="12700">
            <a:solidFill>
              <a:srgbClr val="4B6388"/>
            </a:solidFill>
            <a:prstDash val="solid"/>
          </a:ln>
        </p:spPr>
      </p:sp>
      <p:sp>
        <p:nvSpPr>
          <p:cNvPr id="63" name="Shape 61"/>
          <p:cNvSpPr/>
          <p:nvPr/>
        </p:nvSpPr>
        <p:spPr>
          <a:xfrm>
            <a:off x="7683920" y="2696550"/>
            <a:ext cx="90079" cy="90079"/>
          </a:xfrm>
          <a:prstGeom prst="ellipse">
            <a:avLst/>
          </a:prstGeom>
          <a:solidFill>
            <a:srgbClr val="4B6388"/>
          </a:solidFill>
          <a:ln w="12700">
            <a:solidFill>
              <a:srgbClr val="4B6388"/>
            </a:solidFill>
            <a:prstDash val="solid"/>
          </a:ln>
        </p:spPr>
      </p:sp>
      <p:sp>
        <p:nvSpPr>
          <p:cNvPr id="64" name="Shape 62"/>
          <p:cNvSpPr/>
          <p:nvPr/>
        </p:nvSpPr>
        <p:spPr>
          <a:xfrm>
            <a:off x="8778101" y="2794722"/>
            <a:ext cx="125628" cy="125628"/>
          </a:xfrm>
          <a:prstGeom prst="ellipse">
            <a:avLst/>
          </a:prstGeom>
          <a:solidFill>
            <a:srgbClr val="4B6388"/>
          </a:solidFill>
          <a:ln w="12700">
            <a:solidFill>
              <a:srgbClr val="4B6388"/>
            </a:solidFill>
            <a:prstDash val="solid"/>
          </a:ln>
        </p:spPr>
      </p:sp>
      <p:sp>
        <p:nvSpPr>
          <p:cNvPr id="65" name="Shape 63"/>
          <p:cNvSpPr/>
          <p:nvPr/>
        </p:nvSpPr>
        <p:spPr>
          <a:xfrm>
            <a:off x="9543491" y="2268631"/>
            <a:ext cx="82964" cy="82964"/>
          </a:xfrm>
          <a:prstGeom prst="ellipse">
            <a:avLst/>
          </a:prstGeom>
          <a:solidFill>
            <a:srgbClr val="4B6388"/>
          </a:solidFill>
          <a:ln w="12700">
            <a:solidFill>
              <a:srgbClr val="4B6388"/>
            </a:solidFill>
            <a:prstDash val="solid"/>
          </a:ln>
        </p:spPr>
      </p:sp>
      <p:sp>
        <p:nvSpPr>
          <p:cNvPr id="66" name="Shape 64"/>
          <p:cNvSpPr/>
          <p:nvPr/>
        </p:nvSpPr>
        <p:spPr>
          <a:xfrm>
            <a:off x="10018899" y="2240499"/>
            <a:ext cx="103040" cy="103040"/>
          </a:xfrm>
          <a:prstGeom prst="ellipse">
            <a:avLst/>
          </a:prstGeom>
          <a:solidFill>
            <a:srgbClr val="4B6388"/>
          </a:solidFill>
          <a:ln w="12700">
            <a:solidFill>
              <a:srgbClr val="4B6388"/>
            </a:solidFill>
            <a:prstDash val="solid"/>
          </a:ln>
        </p:spPr>
      </p:sp>
      <p:sp>
        <p:nvSpPr>
          <p:cNvPr id="67" name="Shape 65"/>
          <p:cNvSpPr/>
          <p:nvPr/>
        </p:nvSpPr>
        <p:spPr>
          <a:xfrm>
            <a:off x="11172719" y="2718083"/>
            <a:ext cx="91261" cy="91261"/>
          </a:xfrm>
          <a:prstGeom prst="ellipse">
            <a:avLst/>
          </a:prstGeom>
          <a:solidFill>
            <a:srgbClr val="4B6388"/>
          </a:solidFill>
          <a:ln w="12700">
            <a:solidFill>
              <a:srgbClr val="4B6388"/>
            </a:solidFill>
            <a:prstDash val="solid"/>
          </a:ln>
        </p:spPr>
      </p:sp>
      <p:sp>
        <p:nvSpPr>
          <p:cNvPr id="68" name="Shape 66"/>
          <p:cNvSpPr/>
          <p:nvPr/>
        </p:nvSpPr>
        <p:spPr>
          <a:xfrm>
            <a:off x="6520172" y="3503070"/>
            <a:ext cx="70919" cy="70919"/>
          </a:xfrm>
          <a:prstGeom prst="ellipse">
            <a:avLst/>
          </a:prstGeom>
          <a:solidFill>
            <a:srgbClr val="4B6388"/>
          </a:solidFill>
          <a:ln w="12700">
            <a:solidFill>
              <a:srgbClr val="4B6388"/>
            </a:solidFill>
            <a:prstDash val="solid"/>
          </a:ln>
        </p:spPr>
      </p:sp>
      <p:sp>
        <p:nvSpPr>
          <p:cNvPr id="69" name="Shape 67"/>
          <p:cNvSpPr/>
          <p:nvPr/>
        </p:nvSpPr>
        <p:spPr>
          <a:xfrm>
            <a:off x="7112882" y="2881693"/>
            <a:ext cx="438912" cy="438912"/>
          </a:xfrm>
          <a:prstGeom prst="ellipse">
            <a:avLst/>
          </a:prstGeom>
          <a:solidFill>
            <a:srgbClr val="E0533A">
              <a:alpha val="20000"/>
            </a:srgbClr>
          </a:solidFill>
          <a:ln w="12700">
            <a:solidFill>
              <a:srgbClr val="E0533A">
                <a:alpha val="20000"/>
              </a:srgbClr>
            </a:solidFill>
            <a:prstDash val="solid"/>
          </a:ln>
        </p:spPr>
      </p:sp>
      <p:sp>
        <p:nvSpPr>
          <p:cNvPr id="70" name="Shape 68"/>
          <p:cNvSpPr/>
          <p:nvPr/>
        </p:nvSpPr>
        <p:spPr>
          <a:xfrm>
            <a:off x="7250042" y="3018853"/>
            <a:ext cx="164592" cy="164592"/>
          </a:xfrm>
          <a:prstGeom prst="ellipse">
            <a:avLst/>
          </a:prstGeom>
          <a:solidFill>
            <a:srgbClr val="E0533A"/>
          </a:solidFill>
          <a:ln w="12700">
            <a:solidFill>
              <a:srgbClr val="E0533A"/>
            </a:solidFill>
            <a:prstDash val="solid"/>
          </a:ln>
        </p:spPr>
      </p:sp>
      <p:sp>
        <p:nvSpPr>
          <p:cNvPr id="71" name="Shape 69"/>
          <p:cNvSpPr/>
          <p:nvPr/>
        </p:nvSpPr>
        <p:spPr>
          <a:xfrm>
            <a:off x="9514440" y="3560088"/>
            <a:ext cx="85257" cy="85257"/>
          </a:xfrm>
          <a:prstGeom prst="ellipse">
            <a:avLst/>
          </a:prstGeom>
          <a:solidFill>
            <a:srgbClr val="4B6388"/>
          </a:solidFill>
          <a:ln w="12700">
            <a:solidFill>
              <a:srgbClr val="4B6388"/>
            </a:solidFill>
            <a:prstDash val="solid"/>
          </a:ln>
        </p:spPr>
      </p:sp>
      <p:sp>
        <p:nvSpPr>
          <p:cNvPr id="72" name="Shape 70"/>
          <p:cNvSpPr/>
          <p:nvPr/>
        </p:nvSpPr>
        <p:spPr>
          <a:xfrm>
            <a:off x="10681158" y="3181798"/>
            <a:ext cx="100380" cy="100380"/>
          </a:xfrm>
          <a:prstGeom prst="ellipse">
            <a:avLst/>
          </a:prstGeom>
          <a:solidFill>
            <a:srgbClr val="4B6388"/>
          </a:solidFill>
          <a:ln w="12700">
            <a:solidFill>
              <a:srgbClr val="4B6388"/>
            </a:solidFill>
            <a:prstDash val="solid"/>
          </a:ln>
        </p:spPr>
      </p:sp>
      <p:sp>
        <p:nvSpPr>
          <p:cNvPr id="73" name="Shape 71"/>
          <p:cNvSpPr/>
          <p:nvPr/>
        </p:nvSpPr>
        <p:spPr>
          <a:xfrm>
            <a:off x="11599383" y="3221328"/>
            <a:ext cx="78020" cy="78020"/>
          </a:xfrm>
          <a:prstGeom prst="ellipse">
            <a:avLst/>
          </a:prstGeom>
          <a:solidFill>
            <a:srgbClr val="4B6388"/>
          </a:solidFill>
          <a:ln w="12700">
            <a:solidFill>
              <a:srgbClr val="4B6388"/>
            </a:solidFill>
            <a:prstDash val="solid"/>
          </a:ln>
        </p:spPr>
      </p:sp>
      <p:sp>
        <p:nvSpPr>
          <p:cNvPr id="74" name="Shape 72"/>
          <p:cNvSpPr/>
          <p:nvPr/>
        </p:nvSpPr>
        <p:spPr>
          <a:xfrm>
            <a:off x="6361487" y="3960193"/>
            <a:ext cx="91402" cy="91402"/>
          </a:xfrm>
          <a:prstGeom prst="ellipse">
            <a:avLst/>
          </a:prstGeom>
          <a:solidFill>
            <a:srgbClr val="4B6388"/>
          </a:solidFill>
          <a:ln w="12700">
            <a:solidFill>
              <a:srgbClr val="4B6388"/>
            </a:solidFill>
            <a:prstDash val="solid"/>
          </a:ln>
        </p:spPr>
      </p:sp>
      <p:sp>
        <p:nvSpPr>
          <p:cNvPr id="75" name="Shape 73"/>
          <p:cNvSpPr/>
          <p:nvPr/>
        </p:nvSpPr>
        <p:spPr>
          <a:xfrm>
            <a:off x="7868495" y="4410034"/>
            <a:ext cx="68335" cy="68335"/>
          </a:xfrm>
          <a:prstGeom prst="ellipse">
            <a:avLst/>
          </a:prstGeom>
          <a:solidFill>
            <a:srgbClr val="4B6388"/>
          </a:solidFill>
          <a:ln w="12700">
            <a:solidFill>
              <a:srgbClr val="4B6388"/>
            </a:solidFill>
            <a:prstDash val="solid"/>
          </a:ln>
        </p:spPr>
      </p:sp>
      <p:sp>
        <p:nvSpPr>
          <p:cNvPr id="76" name="Shape 74"/>
          <p:cNvSpPr/>
          <p:nvPr/>
        </p:nvSpPr>
        <p:spPr>
          <a:xfrm>
            <a:off x="8405081" y="4063088"/>
            <a:ext cx="75865" cy="75865"/>
          </a:xfrm>
          <a:prstGeom prst="ellipse">
            <a:avLst/>
          </a:prstGeom>
          <a:solidFill>
            <a:srgbClr val="4B6388"/>
          </a:solidFill>
          <a:ln w="12700">
            <a:solidFill>
              <a:srgbClr val="4B6388"/>
            </a:solidFill>
            <a:prstDash val="solid"/>
          </a:ln>
        </p:spPr>
      </p:sp>
      <p:sp>
        <p:nvSpPr>
          <p:cNvPr id="77" name="Shape 75"/>
          <p:cNvSpPr/>
          <p:nvPr/>
        </p:nvSpPr>
        <p:spPr>
          <a:xfrm>
            <a:off x="9630833" y="4058564"/>
            <a:ext cx="119813" cy="119813"/>
          </a:xfrm>
          <a:prstGeom prst="ellipse">
            <a:avLst/>
          </a:prstGeom>
          <a:solidFill>
            <a:srgbClr val="4B6388"/>
          </a:solidFill>
          <a:ln w="12700">
            <a:solidFill>
              <a:srgbClr val="4B6388"/>
            </a:solidFill>
            <a:prstDash val="solid"/>
          </a:ln>
        </p:spPr>
      </p:sp>
      <p:sp>
        <p:nvSpPr>
          <p:cNvPr id="78" name="Shape 76"/>
          <p:cNvSpPr/>
          <p:nvPr/>
        </p:nvSpPr>
        <p:spPr>
          <a:xfrm>
            <a:off x="10081258" y="4267742"/>
            <a:ext cx="126608" cy="126608"/>
          </a:xfrm>
          <a:prstGeom prst="ellipse">
            <a:avLst/>
          </a:prstGeom>
          <a:solidFill>
            <a:srgbClr val="4B6388"/>
          </a:solidFill>
          <a:ln w="12700">
            <a:solidFill>
              <a:srgbClr val="4B6388"/>
            </a:solidFill>
            <a:prstDash val="solid"/>
          </a:ln>
        </p:spPr>
      </p:sp>
      <p:sp>
        <p:nvSpPr>
          <p:cNvPr id="79" name="Shape 77"/>
          <p:cNvSpPr/>
          <p:nvPr/>
        </p:nvSpPr>
        <p:spPr>
          <a:xfrm>
            <a:off x="10920605" y="4278738"/>
            <a:ext cx="103490" cy="103490"/>
          </a:xfrm>
          <a:prstGeom prst="ellipse">
            <a:avLst/>
          </a:prstGeom>
          <a:solidFill>
            <a:srgbClr val="4B6388"/>
          </a:solidFill>
          <a:ln w="12700">
            <a:solidFill>
              <a:srgbClr val="4B6388"/>
            </a:solidFill>
            <a:prstDash val="solid"/>
          </a:ln>
        </p:spPr>
      </p:sp>
      <p:sp>
        <p:nvSpPr>
          <p:cNvPr id="80" name="Shape 78"/>
          <p:cNvSpPr/>
          <p:nvPr/>
        </p:nvSpPr>
        <p:spPr>
          <a:xfrm>
            <a:off x="6600226" y="5034076"/>
            <a:ext cx="121597" cy="121597"/>
          </a:xfrm>
          <a:prstGeom prst="ellipse">
            <a:avLst/>
          </a:prstGeom>
          <a:solidFill>
            <a:srgbClr val="4B6388"/>
          </a:solidFill>
          <a:ln w="12700">
            <a:solidFill>
              <a:srgbClr val="4B6388"/>
            </a:solidFill>
            <a:prstDash val="solid"/>
          </a:ln>
        </p:spPr>
      </p:sp>
      <p:sp>
        <p:nvSpPr>
          <p:cNvPr id="81" name="Shape 79"/>
          <p:cNvSpPr/>
          <p:nvPr/>
        </p:nvSpPr>
        <p:spPr>
          <a:xfrm>
            <a:off x="7504516" y="4897914"/>
            <a:ext cx="92738" cy="92738"/>
          </a:xfrm>
          <a:prstGeom prst="ellipse">
            <a:avLst/>
          </a:prstGeom>
          <a:solidFill>
            <a:srgbClr val="4B6388"/>
          </a:solidFill>
          <a:ln w="12700">
            <a:solidFill>
              <a:srgbClr val="4B6388"/>
            </a:solidFill>
            <a:prstDash val="solid"/>
          </a:ln>
        </p:spPr>
      </p:sp>
      <p:sp>
        <p:nvSpPr>
          <p:cNvPr id="82" name="Shape 80"/>
          <p:cNvSpPr/>
          <p:nvPr/>
        </p:nvSpPr>
        <p:spPr>
          <a:xfrm>
            <a:off x="8770444" y="5157674"/>
            <a:ext cx="97831" cy="97831"/>
          </a:xfrm>
          <a:prstGeom prst="ellipse">
            <a:avLst/>
          </a:prstGeom>
          <a:solidFill>
            <a:srgbClr val="4B6388"/>
          </a:solidFill>
          <a:ln w="12700">
            <a:solidFill>
              <a:srgbClr val="4B6388"/>
            </a:solidFill>
            <a:prstDash val="solid"/>
          </a:ln>
        </p:spPr>
      </p:sp>
      <p:sp>
        <p:nvSpPr>
          <p:cNvPr id="83" name="Shape 81"/>
          <p:cNvSpPr/>
          <p:nvPr/>
        </p:nvSpPr>
        <p:spPr>
          <a:xfrm>
            <a:off x="9413553" y="4800757"/>
            <a:ext cx="83468" cy="83468"/>
          </a:xfrm>
          <a:prstGeom prst="ellipse">
            <a:avLst/>
          </a:prstGeom>
          <a:solidFill>
            <a:srgbClr val="4B6388"/>
          </a:solidFill>
          <a:ln w="12700">
            <a:solidFill>
              <a:srgbClr val="4B6388"/>
            </a:solidFill>
            <a:prstDash val="solid"/>
          </a:ln>
        </p:spPr>
      </p:sp>
      <p:sp>
        <p:nvSpPr>
          <p:cNvPr id="84" name="Shape 82"/>
          <p:cNvSpPr/>
          <p:nvPr/>
        </p:nvSpPr>
        <p:spPr>
          <a:xfrm>
            <a:off x="9984821" y="5232770"/>
            <a:ext cx="89312" cy="89312"/>
          </a:xfrm>
          <a:prstGeom prst="ellipse">
            <a:avLst/>
          </a:prstGeom>
          <a:solidFill>
            <a:srgbClr val="4B6388"/>
          </a:solidFill>
          <a:ln w="12700">
            <a:solidFill>
              <a:srgbClr val="4B6388"/>
            </a:solidFill>
            <a:prstDash val="solid"/>
          </a:ln>
        </p:spPr>
      </p:sp>
      <p:sp>
        <p:nvSpPr>
          <p:cNvPr id="85" name="Shape 83"/>
          <p:cNvSpPr/>
          <p:nvPr/>
        </p:nvSpPr>
        <p:spPr>
          <a:xfrm>
            <a:off x="6833158" y="5817659"/>
            <a:ext cx="73455" cy="73455"/>
          </a:xfrm>
          <a:prstGeom prst="ellipse">
            <a:avLst/>
          </a:prstGeom>
          <a:solidFill>
            <a:srgbClr val="4B6388"/>
          </a:solidFill>
          <a:ln w="12700">
            <a:solidFill>
              <a:srgbClr val="4B6388"/>
            </a:solidFill>
            <a:prstDash val="solid"/>
          </a:ln>
        </p:spPr>
      </p:sp>
      <p:sp>
        <p:nvSpPr>
          <p:cNvPr id="86" name="Shape 84"/>
          <p:cNvSpPr/>
          <p:nvPr/>
        </p:nvSpPr>
        <p:spPr>
          <a:xfrm>
            <a:off x="7879824" y="5784160"/>
            <a:ext cx="82734" cy="82734"/>
          </a:xfrm>
          <a:prstGeom prst="ellipse">
            <a:avLst/>
          </a:prstGeom>
          <a:solidFill>
            <a:srgbClr val="4B6388"/>
          </a:solidFill>
          <a:ln w="12700">
            <a:solidFill>
              <a:srgbClr val="4B6388"/>
            </a:solidFill>
            <a:prstDash val="solid"/>
          </a:ln>
        </p:spPr>
      </p:sp>
      <p:sp>
        <p:nvSpPr>
          <p:cNvPr id="87" name="Shape 85"/>
          <p:cNvSpPr/>
          <p:nvPr/>
        </p:nvSpPr>
        <p:spPr>
          <a:xfrm>
            <a:off x="8483702" y="5938913"/>
            <a:ext cx="106759" cy="106759"/>
          </a:xfrm>
          <a:prstGeom prst="ellipse">
            <a:avLst/>
          </a:prstGeom>
          <a:solidFill>
            <a:srgbClr val="4B6388"/>
          </a:solidFill>
          <a:ln w="12700">
            <a:solidFill>
              <a:srgbClr val="4B6388"/>
            </a:solidFill>
            <a:prstDash val="solid"/>
          </a:ln>
        </p:spPr>
      </p:sp>
      <p:sp>
        <p:nvSpPr>
          <p:cNvPr id="88" name="Shape 86"/>
          <p:cNvSpPr/>
          <p:nvPr/>
        </p:nvSpPr>
        <p:spPr>
          <a:xfrm>
            <a:off x="9733487" y="5634588"/>
            <a:ext cx="94745" cy="94745"/>
          </a:xfrm>
          <a:prstGeom prst="ellipse">
            <a:avLst/>
          </a:prstGeom>
          <a:solidFill>
            <a:srgbClr val="4B6388"/>
          </a:solidFill>
          <a:ln w="12700">
            <a:solidFill>
              <a:srgbClr val="4B6388"/>
            </a:solidFill>
            <a:prstDash val="solid"/>
          </a:ln>
        </p:spPr>
      </p:sp>
      <p:sp>
        <p:nvSpPr>
          <p:cNvPr id="89" name="Shape 87"/>
          <p:cNvSpPr/>
          <p:nvPr/>
        </p:nvSpPr>
        <p:spPr>
          <a:xfrm>
            <a:off x="10271175" y="6130318"/>
            <a:ext cx="103024" cy="103024"/>
          </a:xfrm>
          <a:prstGeom prst="ellipse">
            <a:avLst/>
          </a:prstGeom>
          <a:solidFill>
            <a:srgbClr val="4B6388"/>
          </a:solidFill>
          <a:ln w="12700">
            <a:solidFill>
              <a:srgbClr val="4B6388"/>
            </a:solidFill>
            <a:prstDash val="solid"/>
          </a:ln>
        </p:spPr>
      </p:sp>
      <p:sp>
        <p:nvSpPr>
          <p:cNvPr id="90" name="Shape 88"/>
          <p:cNvSpPr/>
          <p:nvPr/>
        </p:nvSpPr>
        <p:spPr>
          <a:xfrm>
            <a:off x="11485516" y="6038575"/>
            <a:ext cx="66701" cy="66701"/>
          </a:xfrm>
          <a:prstGeom prst="ellipse">
            <a:avLst/>
          </a:prstGeom>
          <a:solidFill>
            <a:srgbClr val="4B6388"/>
          </a:solidFill>
          <a:ln w="12700">
            <a:solidFill>
              <a:srgbClr val="4B6388"/>
            </a:solidFill>
            <a:prstDash val="solid"/>
          </a:ln>
        </p:spPr>
      </p:sp>
      <p:sp>
        <p:nvSpPr>
          <p:cNvPr id="91" name="Text 89"/>
          <p:cNvSpPr txBox="1"/>
          <p:nvPr/>
        </p:nvSpPr>
        <p:spPr>
          <a:xfrm>
            <a:off x="685800" y="1600200"/>
            <a:ext cx="2743200" cy="1371600"/>
          </a:xfrm>
          <a:prstGeom prst="rect">
            <a:avLst/>
          </a:prstGeom>
          <a:noFill/>
          <a:ln/>
        </p:spPr>
        <p:txBody>
          <a:bodyPr wrap="square" lIns="0" tIns="0" rIns="0" bIns="0" rtlCol="0" anchor="t"/>
          <a:lstStyle/>
          <a:p>
            <a:pPr indent="0" marL="0">
              <a:buNone/>
            </a:pPr>
            <a:r>
              <a:rPr lang="en-US" sz="9600" dirty="0">
                <a:solidFill>
                  <a:srgbClr val="F08A6E"/>
                </a:solidFill>
                <a:latin typeface="Georgia" pitchFamily="34" charset="0"/>
                <a:ea typeface="Georgia" pitchFamily="34" charset="-122"/>
                <a:cs typeface="Georgia" pitchFamily="34" charset="-120"/>
              </a:rPr>
              <a:t>01</a:t>
            </a:r>
            <a:endParaRPr lang="en-US" sz="9600" dirty="0"/>
          </a:p>
        </p:txBody>
      </p:sp>
      <p:sp>
        <p:nvSpPr>
          <p:cNvPr id="92" name="Text 90"/>
          <p:cNvSpPr txBox="1"/>
          <p:nvPr/>
        </p:nvSpPr>
        <p:spPr>
          <a:xfrm>
            <a:off x="685800" y="3063240"/>
            <a:ext cx="5486400" cy="868680"/>
          </a:xfrm>
          <a:prstGeom prst="rect">
            <a:avLst/>
          </a:prstGeom>
          <a:noFill/>
          <a:ln/>
        </p:spPr>
        <p:txBody>
          <a:bodyPr wrap="square" lIns="0" tIns="0" rIns="0" bIns="0" rtlCol="0" anchor="t"/>
          <a:lstStyle/>
          <a:p>
            <a:pPr indent="0" marL="0">
              <a:buNone/>
            </a:pPr>
            <a:r>
              <a:rPr lang="en-US" sz="4400" dirty="0">
                <a:solidFill>
                  <a:srgbClr val="FFFFFF"/>
                </a:solidFill>
                <a:latin typeface="Georgia" pitchFamily="34" charset="0"/>
                <a:ea typeface="Georgia" pitchFamily="34" charset="-122"/>
                <a:cs typeface="Georgia" pitchFamily="34" charset="-120"/>
              </a:rPr>
              <a:t>Background</a:t>
            </a:r>
            <a:endParaRPr lang="en-US" sz="4400" dirty="0"/>
          </a:p>
        </p:txBody>
      </p:sp>
      <p:sp>
        <p:nvSpPr>
          <p:cNvPr id="93" name="Text 91"/>
          <p:cNvSpPr txBox="1"/>
          <p:nvPr/>
        </p:nvSpPr>
        <p:spPr>
          <a:xfrm>
            <a:off x="685800" y="4023360"/>
            <a:ext cx="5212080" cy="1005840"/>
          </a:xfrm>
          <a:prstGeom prst="rect">
            <a:avLst/>
          </a:prstGeom>
          <a:noFill/>
          <a:ln/>
        </p:spPr>
        <p:txBody>
          <a:bodyPr wrap="square" lIns="0" tIns="0" rIns="0" bIns="0" rtlCol="0" anchor="t"/>
          <a:lstStyle/>
          <a:p>
            <a:pPr indent="0" marL="0">
              <a:buNone/>
            </a:pPr>
            <a:r>
              <a:rPr lang="en-US" sz="1600" dirty="0">
                <a:solidFill>
                  <a:srgbClr val="A9B6C8"/>
                </a:solidFill>
                <a:latin typeface="Arial" pitchFamily="34" charset="0"/>
                <a:ea typeface="Arial" pitchFamily="34" charset="-122"/>
                <a:cs typeface="Arial" pitchFamily="34" charset="-120"/>
              </a:rPr>
              <a:t>The paper, what makes an APT different, and why its datasets fall short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V="1">
            <a:off x="10087295" y="470002"/>
            <a:ext cx="288950" cy="416966"/>
          </a:xfrm>
          <a:prstGeom prst="line">
            <a:avLst/>
          </a:prstGeom>
          <a:noFill/>
          <a:ln w="9525">
            <a:solidFill>
              <a:srgbClr val="DCE2EA"/>
            </a:solidFill>
            <a:prstDash val="solid"/>
          </a:ln>
        </p:spPr>
      </p:sp>
      <p:sp>
        <p:nvSpPr>
          <p:cNvPr id="3" name="Shape 1"/>
          <p:cNvSpPr/>
          <p:nvPr/>
        </p:nvSpPr>
        <p:spPr>
          <a:xfrm>
            <a:off x="10087295" y="886968"/>
            <a:ext cx="549006" cy="69494"/>
          </a:xfrm>
          <a:prstGeom prst="line">
            <a:avLst/>
          </a:prstGeom>
          <a:noFill/>
          <a:ln w="9525">
            <a:solidFill>
              <a:srgbClr val="DCE2EA"/>
            </a:solidFill>
            <a:prstDash val="solid"/>
          </a:ln>
        </p:spPr>
      </p:sp>
      <p:sp>
        <p:nvSpPr>
          <p:cNvPr id="4" name="Shape 2"/>
          <p:cNvSpPr/>
          <p:nvPr/>
        </p:nvSpPr>
        <p:spPr>
          <a:xfrm>
            <a:off x="10376245" y="470002"/>
            <a:ext cx="549006" cy="156362"/>
          </a:xfrm>
          <a:prstGeom prst="line">
            <a:avLst/>
          </a:prstGeom>
          <a:noFill/>
          <a:ln w="9525">
            <a:solidFill>
              <a:srgbClr val="F2B7A8"/>
            </a:solidFill>
            <a:prstDash val="solid"/>
          </a:ln>
        </p:spPr>
      </p:sp>
      <p:sp>
        <p:nvSpPr>
          <p:cNvPr id="5" name="Shape 3"/>
          <p:cNvSpPr/>
          <p:nvPr/>
        </p:nvSpPr>
        <p:spPr>
          <a:xfrm flipV="1">
            <a:off x="10636301" y="626364"/>
            <a:ext cx="288950" cy="330098"/>
          </a:xfrm>
          <a:prstGeom prst="line">
            <a:avLst/>
          </a:prstGeom>
          <a:noFill/>
          <a:ln w="9525">
            <a:solidFill>
              <a:srgbClr val="F2B7A8"/>
            </a:solidFill>
            <a:prstDash val="solid"/>
          </a:ln>
        </p:spPr>
      </p:sp>
      <p:sp>
        <p:nvSpPr>
          <p:cNvPr id="6" name="Shape 4"/>
          <p:cNvSpPr/>
          <p:nvPr/>
        </p:nvSpPr>
        <p:spPr>
          <a:xfrm flipV="1">
            <a:off x="10925251" y="522122"/>
            <a:ext cx="534558" cy="104242"/>
          </a:xfrm>
          <a:prstGeom prst="line">
            <a:avLst/>
          </a:prstGeom>
          <a:noFill/>
          <a:ln w="9525">
            <a:solidFill>
              <a:srgbClr val="F2B7A8"/>
            </a:solidFill>
            <a:prstDash val="solid"/>
          </a:ln>
        </p:spPr>
      </p:sp>
      <p:sp>
        <p:nvSpPr>
          <p:cNvPr id="7" name="Shape 5"/>
          <p:cNvSpPr/>
          <p:nvPr/>
        </p:nvSpPr>
        <p:spPr>
          <a:xfrm>
            <a:off x="10636301" y="956462"/>
            <a:ext cx="549006" cy="121615"/>
          </a:xfrm>
          <a:prstGeom prst="line">
            <a:avLst/>
          </a:prstGeom>
          <a:noFill/>
          <a:ln w="9525">
            <a:solidFill>
              <a:srgbClr val="DCE2EA"/>
            </a:solidFill>
            <a:prstDash val="solid"/>
          </a:ln>
        </p:spPr>
      </p:sp>
      <p:sp>
        <p:nvSpPr>
          <p:cNvPr id="8" name="Shape 6"/>
          <p:cNvSpPr/>
          <p:nvPr/>
        </p:nvSpPr>
        <p:spPr>
          <a:xfrm flipV="1">
            <a:off x="11185307" y="843534"/>
            <a:ext cx="173370" cy="234544"/>
          </a:xfrm>
          <a:prstGeom prst="line">
            <a:avLst/>
          </a:prstGeom>
          <a:noFill/>
          <a:ln w="9525">
            <a:solidFill>
              <a:srgbClr val="DCE2EA"/>
            </a:solidFill>
            <a:prstDash val="solid"/>
          </a:ln>
        </p:spPr>
      </p:sp>
      <p:sp>
        <p:nvSpPr>
          <p:cNvPr id="9" name="Shape 7"/>
          <p:cNvSpPr/>
          <p:nvPr/>
        </p:nvSpPr>
        <p:spPr>
          <a:xfrm flipH="1">
            <a:off x="11358677" y="522122"/>
            <a:ext cx="101133" cy="321412"/>
          </a:xfrm>
          <a:prstGeom prst="line">
            <a:avLst/>
          </a:prstGeom>
          <a:noFill/>
          <a:ln w="9525">
            <a:solidFill>
              <a:srgbClr val="DCE2EA"/>
            </a:solidFill>
            <a:prstDash val="solid"/>
          </a:ln>
        </p:spPr>
      </p:sp>
      <p:sp>
        <p:nvSpPr>
          <p:cNvPr id="10" name="Shape 8"/>
          <p:cNvSpPr/>
          <p:nvPr/>
        </p:nvSpPr>
        <p:spPr>
          <a:xfrm>
            <a:off x="10055291" y="854964"/>
            <a:ext cx="64008" cy="64008"/>
          </a:xfrm>
          <a:prstGeom prst="ellipse">
            <a:avLst/>
          </a:prstGeom>
          <a:solidFill>
            <a:srgbClr val="C3CCD9"/>
          </a:solidFill>
          <a:ln w="12700">
            <a:solidFill>
              <a:srgbClr val="C3CCD9"/>
            </a:solidFill>
            <a:prstDash val="solid"/>
          </a:ln>
        </p:spPr>
      </p:sp>
      <p:sp>
        <p:nvSpPr>
          <p:cNvPr id="11" name="Shape 9"/>
          <p:cNvSpPr/>
          <p:nvPr/>
        </p:nvSpPr>
        <p:spPr>
          <a:xfrm>
            <a:off x="10335097" y="428854"/>
            <a:ext cx="82296" cy="82296"/>
          </a:xfrm>
          <a:prstGeom prst="ellipse">
            <a:avLst/>
          </a:prstGeom>
          <a:solidFill>
            <a:srgbClr val="C3CCD9"/>
          </a:solidFill>
          <a:ln w="12700">
            <a:solidFill>
              <a:srgbClr val="C3CCD9"/>
            </a:solidFill>
            <a:prstDash val="solid"/>
          </a:ln>
        </p:spPr>
      </p:sp>
      <p:sp>
        <p:nvSpPr>
          <p:cNvPr id="12" name="Shape 10"/>
          <p:cNvSpPr/>
          <p:nvPr/>
        </p:nvSpPr>
        <p:spPr>
          <a:xfrm>
            <a:off x="10599725" y="919886"/>
            <a:ext cx="73152" cy="73152"/>
          </a:xfrm>
          <a:prstGeom prst="ellipse">
            <a:avLst/>
          </a:prstGeom>
          <a:solidFill>
            <a:srgbClr val="C3CCD9"/>
          </a:solidFill>
          <a:ln w="12700">
            <a:solidFill>
              <a:srgbClr val="C3CCD9"/>
            </a:solidFill>
            <a:prstDash val="solid"/>
          </a:ln>
        </p:spPr>
      </p:sp>
      <p:sp>
        <p:nvSpPr>
          <p:cNvPr id="13" name="Shape 11"/>
          <p:cNvSpPr/>
          <p:nvPr/>
        </p:nvSpPr>
        <p:spPr>
          <a:xfrm>
            <a:off x="10806379" y="507492"/>
            <a:ext cx="237744" cy="237744"/>
          </a:xfrm>
          <a:prstGeom prst="ellipse">
            <a:avLst/>
          </a:prstGeom>
          <a:solidFill>
            <a:srgbClr val="E0533A">
              <a:alpha val="18000"/>
            </a:srgbClr>
          </a:solidFill>
          <a:ln w="12700">
            <a:solidFill>
              <a:srgbClr val="E0533A">
                <a:alpha val="18000"/>
              </a:srgbClr>
            </a:solidFill>
            <a:prstDash val="solid"/>
          </a:ln>
        </p:spPr>
      </p:sp>
      <p:sp>
        <p:nvSpPr>
          <p:cNvPr id="14" name="Shape 12"/>
          <p:cNvSpPr/>
          <p:nvPr/>
        </p:nvSpPr>
        <p:spPr>
          <a:xfrm>
            <a:off x="10874959" y="576072"/>
            <a:ext cx="100584" cy="100584"/>
          </a:xfrm>
          <a:prstGeom prst="ellipse">
            <a:avLst/>
          </a:prstGeom>
          <a:solidFill>
            <a:srgbClr val="E0533A"/>
          </a:solidFill>
          <a:ln w="12700">
            <a:solidFill>
              <a:srgbClr val="E0533A"/>
            </a:solidFill>
            <a:prstDash val="solid"/>
          </a:ln>
        </p:spPr>
      </p:sp>
      <p:sp>
        <p:nvSpPr>
          <p:cNvPr id="15" name="Shape 13"/>
          <p:cNvSpPr/>
          <p:nvPr/>
        </p:nvSpPr>
        <p:spPr>
          <a:xfrm>
            <a:off x="11144159" y="1036930"/>
            <a:ext cx="82296" cy="82296"/>
          </a:xfrm>
          <a:prstGeom prst="ellipse">
            <a:avLst/>
          </a:prstGeom>
          <a:solidFill>
            <a:srgbClr val="C3CCD9"/>
          </a:solidFill>
          <a:ln w="12700">
            <a:solidFill>
              <a:srgbClr val="C3CCD9"/>
            </a:solidFill>
            <a:prstDash val="solid"/>
          </a:ln>
        </p:spPr>
      </p:sp>
      <p:sp>
        <p:nvSpPr>
          <p:cNvPr id="16" name="Shape 14"/>
          <p:cNvSpPr/>
          <p:nvPr/>
        </p:nvSpPr>
        <p:spPr>
          <a:xfrm>
            <a:off x="11427805" y="490118"/>
            <a:ext cx="64008" cy="64008"/>
          </a:xfrm>
          <a:prstGeom prst="ellipse">
            <a:avLst/>
          </a:prstGeom>
          <a:solidFill>
            <a:srgbClr val="C3CCD9"/>
          </a:solidFill>
          <a:ln w="12700">
            <a:solidFill>
              <a:srgbClr val="C3CCD9"/>
            </a:solidFill>
            <a:prstDash val="solid"/>
          </a:ln>
        </p:spPr>
      </p:sp>
      <p:sp>
        <p:nvSpPr>
          <p:cNvPr id="17" name="Shape 15"/>
          <p:cNvSpPr/>
          <p:nvPr/>
        </p:nvSpPr>
        <p:spPr>
          <a:xfrm>
            <a:off x="11331245" y="816102"/>
            <a:ext cx="54864" cy="54864"/>
          </a:xfrm>
          <a:prstGeom prst="ellipse">
            <a:avLst/>
          </a:prstGeom>
          <a:solidFill>
            <a:srgbClr val="C3CCD9"/>
          </a:solidFill>
          <a:ln w="12700">
            <a:solidFill>
              <a:srgbClr val="C3CCD9"/>
            </a:solidFill>
            <a:prstDash val="solid"/>
          </a:ln>
        </p:spPr>
      </p:sp>
      <p:sp>
        <p:nvSpPr>
          <p:cNvPr id="18" name="Text 16"/>
          <p:cNvSpPr txBox="1"/>
          <p:nvPr/>
        </p:nvSpPr>
        <p:spPr>
          <a:xfrm>
            <a:off x="685800" y="475488"/>
            <a:ext cx="10820095" cy="256032"/>
          </a:xfrm>
          <a:prstGeom prst="rect">
            <a:avLst/>
          </a:prstGeom>
          <a:noFill/>
          <a:ln/>
        </p:spPr>
        <p:txBody>
          <a:bodyPr wrap="square" lIns="0" tIns="0" rIns="0" bIns="0" rtlCol="0" anchor="t"/>
          <a:lstStyle/>
          <a:p>
            <a:pPr indent="0" marL="0">
              <a:buNone/>
            </a:pPr>
            <a:r>
              <a:rPr lang="en-US" sz="1100" b="1" dirty="0">
                <a:solidFill>
                  <a:srgbClr val="E0533A"/>
                </a:solidFill>
                <a:latin typeface="Arial" pitchFamily="34" charset="0"/>
                <a:ea typeface="Arial" pitchFamily="34" charset="-122"/>
                <a:cs typeface="Arial" pitchFamily="34" charset="-120"/>
              </a:rPr>
              <a:t>01 · BACKGROUND</a:t>
            </a:r>
            <a:endParaRPr lang="en-US" sz="1100" dirty="0"/>
          </a:p>
        </p:txBody>
      </p:sp>
      <p:sp>
        <p:nvSpPr>
          <p:cNvPr id="19" name="Text 17"/>
          <p:cNvSpPr txBox="1"/>
          <p:nvPr/>
        </p:nvSpPr>
        <p:spPr>
          <a:xfrm>
            <a:off x="685800" y="768096"/>
            <a:ext cx="10820095" cy="822960"/>
          </a:xfrm>
          <a:prstGeom prst="rect">
            <a:avLst/>
          </a:prstGeom>
          <a:noFill/>
          <a:ln/>
        </p:spPr>
        <p:txBody>
          <a:bodyPr wrap="square" lIns="0" tIns="0" rIns="0" bIns="0" rtlCol="0" anchor="t"/>
          <a:lstStyle/>
          <a:p>
            <a:pPr indent="0" marL="0">
              <a:buNone/>
            </a:pPr>
            <a:r>
              <a:rPr lang="en-US" sz="3000" dirty="0">
                <a:solidFill>
                  <a:srgbClr val="0F1B2D"/>
                </a:solidFill>
                <a:latin typeface="Georgia" pitchFamily="34" charset="0"/>
                <a:ea typeface="Georgia" pitchFamily="34" charset="-122"/>
                <a:cs typeface="Georgia" pitchFamily="34" charset="-120"/>
              </a:rPr>
              <a:t>The paper: a hybrid ensemble for APT detection</a:t>
            </a:r>
            <a:endParaRPr lang="en-US" sz="3000" dirty="0"/>
          </a:p>
        </p:txBody>
      </p:sp>
      <p:sp>
        <p:nvSpPr>
          <p:cNvPr id="20" name="Shape 18"/>
          <p:cNvSpPr/>
          <p:nvPr/>
        </p:nvSpPr>
        <p:spPr>
          <a:xfrm>
            <a:off x="685800" y="1828800"/>
            <a:ext cx="5074920" cy="4251960"/>
          </a:xfrm>
          <a:prstGeom prst="roundRect">
            <a:avLst>
              <a:gd name="adj" fmla="val 1290"/>
            </a:avLst>
          </a:prstGeom>
          <a:solidFill>
            <a:srgbClr val="F4F6F9"/>
          </a:solidFill>
          <a:ln w="12700">
            <a:solidFill>
              <a:srgbClr val="F4F6F9"/>
            </a:solidFill>
            <a:prstDash val="solid"/>
          </a:ln>
        </p:spPr>
      </p:sp>
      <p:sp>
        <p:nvSpPr>
          <p:cNvPr id="21" name="Text 19"/>
          <p:cNvSpPr txBox="1"/>
          <p:nvPr/>
        </p:nvSpPr>
        <p:spPr>
          <a:xfrm>
            <a:off x="1051560" y="2148840"/>
            <a:ext cx="4389120" cy="274320"/>
          </a:xfrm>
          <a:prstGeom prst="rect">
            <a:avLst/>
          </a:prstGeom>
          <a:noFill/>
          <a:ln/>
        </p:spPr>
        <p:txBody>
          <a:bodyPr wrap="square" lIns="0" tIns="0" rIns="0" bIns="0" rtlCol="0" anchor="t"/>
          <a:lstStyle/>
          <a:p>
            <a:pPr indent="0" marL="0">
              <a:buNone/>
            </a:pPr>
            <a:r>
              <a:rPr lang="en-US" sz="950" b="1" dirty="0">
                <a:solidFill>
                  <a:srgbClr val="8A94A3"/>
                </a:solidFill>
                <a:latin typeface="Arial" pitchFamily="34" charset="0"/>
                <a:ea typeface="Arial" pitchFamily="34" charset="-122"/>
                <a:cs typeface="Arial" pitchFamily="34" charset="-120"/>
              </a:rPr>
              <a:t>CONCURRENCY AND COMPUTATION: PRACTICE AND EXPERIENCE  ·  2023</a:t>
            </a:r>
            <a:endParaRPr lang="en-US" sz="950" dirty="0"/>
          </a:p>
        </p:txBody>
      </p:sp>
      <p:sp>
        <p:nvSpPr>
          <p:cNvPr id="22" name="Text 20"/>
          <p:cNvSpPr txBox="1"/>
          <p:nvPr/>
        </p:nvSpPr>
        <p:spPr>
          <a:xfrm>
            <a:off x="1051560" y="2514600"/>
            <a:ext cx="4389120" cy="1463040"/>
          </a:xfrm>
          <a:prstGeom prst="rect">
            <a:avLst/>
          </a:prstGeom>
          <a:noFill/>
          <a:ln/>
        </p:spPr>
        <p:txBody>
          <a:bodyPr wrap="square" lIns="0" tIns="0" rIns="0" bIns="0" rtlCol="0" anchor="t"/>
          <a:lstStyle/>
          <a:p>
            <a:pPr indent="0" marL="0">
              <a:buNone/>
            </a:pPr>
            <a:r>
              <a:rPr lang="en-US" sz="1900" dirty="0">
                <a:solidFill>
                  <a:srgbClr val="0F1B2D"/>
                </a:solidFill>
                <a:latin typeface="Georgia" pitchFamily="34" charset="0"/>
                <a:ea typeface="Georgia" pitchFamily="34" charset="-122"/>
                <a:cs typeface="Georgia" pitchFamily="34" charset="-120"/>
              </a:rPr>
              <a:t>A hybrid ensemble machine learning model for detecting APT attacks based on network behavior anomaly detection</a:t>
            </a:r>
            <a:endParaRPr lang="en-US" sz="1900" dirty="0"/>
          </a:p>
        </p:txBody>
      </p:sp>
      <p:sp>
        <p:nvSpPr>
          <p:cNvPr id="23" name="Text 21"/>
          <p:cNvSpPr txBox="1"/>
          <p:nvPr/>
        </p:nvSpPr>
        <p:spPr>
          <a:xfrm>
            <a:off x="1051560" y="3794760"/>
            <a:ext cx="4389120" cy="594360"/>
          </a:xfrm>
          <a:prstGeom prst="rect">
            <a:avLst/>
          </a:prstGeom>
          <a:noFill/>
          <a:ln/>
        </p:spPr>
        <p:txBody>
          <a:bodyPr wrap="square" lIns="0" tIns="0" rIns="0" bIns="0" rtlCol="0" anchor="t"/>
          <a:lstStyle/>
          <a:p>
            <a:pPr indent="0" marL="0">
              <a:buNone/>
            </a:pPr>
            <a:r>
              <a:rPr lang="en-US" sz="1300" dirty="0">
                <a:solidFill>
                  <a:srgbClr val="55606E"/>
                </a:solidFill>
                <a:latin typeface="Arial" pitchFamily="34" charset="0"/>
                <a:ea typeface="Arial" pitchFamily="34" charset="-122"/>
                <a:cs typeface="Arial" pitchFamily="34" charset="-120"/>
              </a:rPr>
              <a:t>Neeraj Saini, Vivekananda Bhat Kasaragod, Krishna Prakasha, Ashok Kumar Das</a:t>
            </a:r>
            <a:endParaRPr lang="en-US" sz="1300" dirty="0"/>
          </a:p>
        </p:txBody>
      </p:sp>
      <p:sp>
        <p:nvSpPr>
          <p:cNvPr id="24" name="Text 22"/>
          <p:cNvSpPr txBox="1"/>
          <p:nvPr/>
        </p:nvSpPr>
        <p:spPr>
          <a:xfrm>
            <a:off x="1051560" y="4434840"/>
            <a:ext cx="4389120" cy="274320"/>
          </a:xfrm>
          <a:prstGeom prst="rect">
            <a:avLst/>
          </a:prstGeom>
          <a:noFill/>
          <a:ln/>
        </p:spPr>
        <p:txBody>
          <a:bodyPr wrap="square" lIns="0" tIns="0" rIns="0" bIns="0" rtlCol="0" anchor="t"/>
          <a:lstStyle/>
          <a:p>
            <a:pPr indent="0" marL="0">
              <a:buNone/>
            </a:pPr>
            <a:r>
              <a:rPr lang="en-US" sz="1200" dirty="0">
                <a:solidFill>
                  <a:srgbClr val="8A94A3"/>
                </a:solidFill>
                <a:latin typeface="Arial" pitchFamily="34" charset="0"/>
                <a:ea typeface="Arial" pitchFamily="34" charset="-122"/>
                <a:cs typeface="Arial" pitchFamily="34" charset="-120"/>
              </a:rPr>
              <a:t>Manipal Institute of Technology  ·  IIIT Hyderabad</a:t>
            </a:r>
            <a:endParaRPr lang="en-US" sz="1200" dirty="0"/>
          </a:p>
        </p:txBody>
      </p:sp>
      <p:sp>
        <p:nvSpPr>
          <p:cNvPr id="25" name="Text 23"/>
          <p:cNvSpPr txBox="1"/>
          <p:nvPr/>
        </p:nvSpPr>
        <p:spPr>
          <a:xfrm>
            <a:off x="1051560" y="5532120"/>
            <a:ext cx="4389120" cy="274320"/>
          </a:xfrm>
          <a:prstGeom prst="rect">
            <a:avLst/>
          </a:prstGeom>
          <a:noFill/>
          <a:ln/>
        </p:spPr>
        <p:txBody>
          <a:bodyPr wrap="square" lIns="0" tIns="0" rIns="0" bIns="0" rtlCol="0" anchor="t"/>
          <a:lstStyle/>
          <a:p>
            <a:pPr indent="0" marL="0">
              <a:buNone/>
            </a:pPr>
            <a:r>
              <a:rPr lang="en-US" sz="1200" dirty="0">
                <a:solidFill>
                  <a:srgbClr val="2A78D6"/>
                </a:solidFill>
                <a:latin typeface="Arial" pitchFamily="34" charset="0"/>
                <a:ea typeface="Arial" pitchFamily="34" charset="-122"/>
                <a:cs typeface="Arial" pitchFamily="34" charset="-120"/>
              </a:rPr>
              <a:t>doi.org/10.1002/cpe.7865</a:t>
            </a:r>
            <a:endParaRPr lang="en-US" sz="1200" dirty="0"/>
          </a:p>
        </p:txBody>
      </p:sp>
      <p:sp>
        <p:nvSpPr>
          <p:cNvPr id="26" name="Text 24"/>
          <p:cNvSpPr txBox="1"/>
          <p:nvPr/>
        </p:nvSpPr>
        <p:spPr>
          <a:xfrm>
            <a:off x="6263640" y="1828800"/>
            <a:ext cx="5212080" cy="365760"/>
          </a:xfrm>
          <a:prstGeom prst="rect">
            <a:avLst/>
          </a:prstGeom>
          <a:noFill/>
          <a:ln/>
        </p:spPr>
        <p:txBody>
          <a:bodyPr wrap="square" lIns="0" tIns="0" rIns="0" bIns="0" rtlCol="0" anchor="t"/>
          <a:lstStyle/>
          <a:p>
            <a:pPr indent="0" marL="0">
              <a:buNone/>
            </a:pPr>
            <a:r>
              <a:rPr lang="en-US" sz="1600" b="1" dirty="0">
                <a:solidFill>
                  <a:srgbClr val="0F1B2D"/>
                </a:solidFill>
                <a:latin typeface="Arial" pitchFamily="34" charset="0"/>
                <a:ea typeface="Arial" pitchFamily="34" charset="-122"/>
                <a:cs typeface="Arial" pitchFamily="34" charset="-120"/>
              </a:rPr>
              <a:t>What the paper claims</a:t>
            </a:r>
            <a:endParaRPr lang="en-US" sz="1600" dirty="0"/>
          </a:p>
        </p:txBody>
      </p:sp>
      <p:sp>
        <p:nvSpPr>
          <p:cNvPr id="27" name="Text 25"/>
          <p:cNvSpPr txBox="1"/>
          <p:nvPr/>
        </p:nvSpPr>
        <p:spPr>
          <a:xfrm>
            <a:off x="6263640" y="2377440"/>
            <a:ext cx="2560320" cy="731520"/>
          </a:xfrm>
          <a:prstGeom prst="rect">
            <a:avLst/>
          </a:prstGeom>
          <a:noFill/>
          <a:ln/>
        </p:spPr>
        <p:txBody>
          <a:bodyPr wrap="square" lIns="0" tIns="0" rIns="0" bIns="0" rtlCol="0" anchor="t"/>
          <a:lstStyle/>
          <a:p>
            <a:pPr indent="0" marL="0">
              <a:buNone/>
            </a:pPr>
            <a:r>
              <a:rPr lang="en-US" sz="4000" dirty="0">
                <a:solidFill>
                  <a:srgbClr val="0F1B2D"/>
                </a:solidFill>
                <a:latin typeface="Georgia" pitchFamily="34" charset="0"/>
                <a:ea typeface="Georgia" pitchFamily="34" charset="-122"/>
                <a:cs typeface="Georgia" pitchFamily="34" charset="-120"/>
              </a:rPr>
              <a:t>98.92%</a:t>
            </a:r>
            <a:endParaRPr lang="en-US" sz="4000" dirty="0"/>
          </a:p>
        </p:txBody>
      </p:sp>
      <p:sp>
        <p:nvSpPr>
          <p:cNvPr id="28" name="Text 26"/>
          <p:cNvSpPr txBox="1"/>
          <p:nvPr/>
        </p:nvSpPr>
        <p:spPr>
          <a:xfrm>
            <a:off x="6263640" y="3127248"/>
            <a:ext cx="2560320" cy="548640"/>
          </a:xfrm>
          <a:prstGeom prst="rect">
            <a:avLst/>
          </a:prstGeom>
          <a:noFill/>
          <a:ln/>
        </p:spPr>
        <p:txBody>
          <a:bodyPr wrap="square" lIns="0" tIns="0" rIns="0" bIns="0" rtlCol="0" anchor="t"/>
          <a:lstStyle/>
          <a:p>
            <a:pPr indent="0" marL="0">
              <a:buNone/>
            </a:pPr>
            <a:r>
              <a:rPr lang="en-US" sz="1250" dirty="0">
                <a:solidFill>
                  <a:srgbClr val="55606E"/>
                </a:solidFill>
                <a:latin typeface="Arial" pitchFamily="34" charset="0"/>
                <a:ea typeface="Arial" pitchFamily="34" charset="-122"/>
                <a:cs typeface="Arial" pitchFamily="34" charset="-120"/>
              </a:rPr>
              <a:t>accuracy on</a:t>
            </a:r>
            <a:endParaRPr lang="en-US" sz="1250" dirty="0"/>
          </a:p>
          <a:p>
            <a:pPr indent="0" marL="0">
              <a:buNone/>
            </a:pPr>
            <a:r>
              <a:rPr lang="en-US" sz="1250" dirty="0">
                <a:solidFill>
                  <a:srgbClr val="55606E"/>
                </a:solidFill>
                <a:latin typeface="Arial" pitchFamily="34" charset="0"/>
                <a:ea typeface="Arial" pitchFamily="34" charset="-122"/>
                <a:cs typeface="Arial" pitchFamily="34" charset="-120"/>
              </a:rPr>
              <a:t>CSE-CIC-IDS2018</a:t>
            </a:r>
            <a:endParaRPr lang="en-US" sz="1250" dirty="0"/>
          </a:p>
        </p:txBody>
      </p:sp>
      <p:sp>
        <p:nvSpPr>
          <p:cNvPr id="29" name="Text 27"/>
          <p:cNvSpPr txBox="1"/>
          <p:nvPr/>
        </p:nvSpPr>
        <p:spPr>
          <a:xfrm>
            <a:off x="8961120" y="2377440"/>
            <a:ext cx="2560320" cy="731520"/>
          </a:xfrm>
          <a:prstGeom prst="rect">
            <a:avLst/>
          </a:prstGeom>
          <a:noFill/>
          <a:ln/>
        </p:spPr>
        <p:txBody>
          <a:bodyPr wrap="square" lIns="0" tIns="0" rIns="0" bIns="0" rtlCol="0" anchor="t"/>
          <a:lstStyle/>
          <a:p>
            <a:pPr indent="0" marL="0">
              <a:buNone/>
            </a:pPr>
            <a:r>
              <a:rPr lang="en-US" sz="4000" dirty="0">
                <a:solidFill>
                  <a:srgbClr val="0F1B2D"/>
                </a:solidFill>
                <a:latin typeface="Georgia" pitchFamily="34" charset="0"/>
                <a:ea typeface="Georgia" pitchFamily="34" charset="-122"/>
                <a:cs typeface="Georgia" pitchFamily="34" charset="-120"/>
              </a:rPr>
              <a:t>0.52%</a:t>
            </a:r>
            <a:endParaRPr lang="en-US" sz="4000" dirty="0"/>
          </a:p>
        </p:txBody>
      </p:sp>
      <p:sp>
        <p:nvSpPr>
          <p:cNvPr id="30" name="Text 28"/>
          <p:cNvSpPr txBox="1"/>
          <p:nvPr/>
        </p:nvSpPr>
        <p:spPr>
          <a:xfrm>
            <a:off x="8961120" y="3127248"/>
            <a:ext cx="2560320" cy="548640"/>
          </a:xfrm>
          <a:prstGeom prst="rect">
            <a:avLst/>
          </a:prstGeom>
          <a:noFill/>
          <a:ln/>
        </p:spPr>
        <p:txBody>
          <a:bodyPr wrap="square" lIns="0" tIns="0" rIns="0" bIns="0" rtlCol="0" anchor="t"/>
          <a:lstStyle/>
          <a:p>
            <a:pPr indent="0" marL="0">
              <a:buNone/>
            </a:pPr>
            <a:r>
              <a:rPr lang="en-US" sz="1250" dirty="0">
                <a:solidFill>
                  <a:srgbClr val="55606E"/>
                </a:solidFill>
                <a:latin typeface="Arial" pitchFamily="34" charset="0"/>
                <a:ea typeface="Arial" pitchFamily="34" charset="-122"/>
                <a:cs typeface="Arial" pitchFamily="34" charset="-120"/>
              </a:rPr>
              <a:t>false positive</a:t>
            </a:r>
            <a:endParaRPr lang="en-US" sz="1250" dirty="0"/>
          </a:p>
          <a:p>
            <a:pPr indent="0" marL="0">
              <a:buNone/>
            </a:pPr>
            <a:r>
              <a:rPr lang="en-US" sz="1250" dirty="0">
                <a:solidFill>
                  <a:srgbClr val="55606E"/>
                </a:solidFill>
                <a:latin typeface="Arial" pitchFamily="34" charset="0"/>
                <a:ea typeface="Arial" pitchFamily="34" charset="-122"/>
                <a:cs typeface="Arial" pitchFamily="34" charset="-120"/>
              </a:rPr>
              <a:t>rate</a:t>
            </a:r>
            <a:endParaRPr lang="en-US" sz="1250" dirty="0"/>
          </a:p>
        </p:txBody>
      </p:sp>
      <p:sp>
        <p:nvSpPr>
          <p:cNvPr id="31" name="Text 29"/>
          <p:cNvSpPr txBox="1"/>
          <p:nvPr/>
        </p:nvSpPr>
        <p:spPr>
          <a:xfrm>
            <a:off x="6263640" y="3977640"/>
            <a:ext cx="2560320" cy="731520"/>
          </a:xfrm>
          <a:prstGeom prst="rect">
            <a:avLst/>
          </a:prstGeom>
          <a:noFill/>
          <a:ln/>
        </p:spPr>
        <p:txBody>
          <a:bodyPr wrap="square" lIns="0" tIns="0" rIns="0" bIns="0" rtlCol="0" anchor="t"/>
          <a:lstStyle/>
          <a:p>
            <a:pPr indent="0" marL="0">
              <a:buNone/>
            </a:pPr>
            <a:r>
              <a:rPr lang="en-US" sz="4000" dirty="0">
                <a:solidFill>
                  <a:srgbClr val="0F1B2D"/>
                </a:solidFill>
                <a:latin typeface="Georgia" pitchFamily="34" charset="0"/>
                <a:ea typeface="Georgia" pitchFamily="34" charset="-122"/>
                <a:cs typeface="Georgia" pitchFamily="34" charset="-120"/>
              </a:rPr>
              <a:t>4</a:t>
            </a:r>
            <a:endParaRPr lang="en-US" sz="4000" dirty="0"/>
          </a:p>
        </p:txBody>
      </p:sp>
      <p:sp>
        <p:nvSpPr>
          <p:cNvPr id="32" name="Text 30"/>
          <p:cNvSpPr txBox="1"/>
          <p:nvPr/>
        </p:nvSpPr>
        <p:spPr>
          <a:xfrm>
            <a:off x="6263640" y="4727448"/>
            <a:ext cx="2560320" cy="548640"/>
          </a:xfrm>
          <a:prstGeom prst="rect">
            <a:avLst/>
          </a:prstGeom>
          <a:noFill/>
          <a:ln/>
        </p:spPr>
        <p:txBody>
          <a:bodyPr wrap="square" lIns="0" tIns="0" rIns="0" bIns="0" rtlCol="0" anchor="t"/>
          <a:lstStyle/>
          <a:p>
            <a:pPr indent="0" marL="0">
              <a:buNone/>
            </a:pPr>
            <a:r>
              <a:rPr lang="en-US" sz="1250" dirty="0">
                <a:solidFill>
                  <a:srgbClr val="55606E"/>
                </a:solidFill>
                <a:latin typeface="Arial" pitchFamily="34" charset="0"/>
                <a:ea typeface="Arial" pitchFamily="34" charset="-122"/>
                <a:cs typeface="Arial" pitchFamily="34" charset="-120"/>
              </a:rPr>
              <a:t>public intrusion</a:t>
            </a:r>
            <a:endParaRPr lang="en-US" sz="1250" dirty="0"/>
          </a:p>
          <a:p>
            <a:pPr indent="0" marL="0">
              <a:buNone/>
            </a:pPr>
            <a:r>
              <a:rPr lang="en-US" sz="1250" dirty="0">
                <a:solidFill>
                  <a:srgbClr val="55606E"/>
                </a:solidFill>
                <a:latin typeface="Arial" pitchFamily="34" charset="0"/>
                <a:ea typeface="Arial" pitchFamily="34" charset="-122"/>
                <a:cs typeface="Arial" pitchFamily="34" charset="-120"/>
              </a:rPr>
              <a:t>datasets</a:t>
            </a:r>
            <a:endParaRPr lang="en-US" sz="1250" dirty="0"/>
          </a:p>
        </p:txBody>
      </p:sp>
      <p:sp>
        <p:nvSpPr>
          <p:cNvPr id="33" name="Text 31"/>
          <p:cNvSpPr txBox="1"/>
          <p:nvPr/>
        </p:nvSpPr>
        <p:spPr>
          <a:xfrm>
            <a:off x="8961120" y="3977640"/>
            <a:ext cx="2560320" cy="731520"/>
          </a:xfrm>
          <a:prstGeom prst="rect">
            <a:avLst/>
          </a:prstGeom>
          <a:noFill/>
          <a:ln/>
        </p:spPr>
        <p:txBody>
          <a:bodyPr wrap="square" lIns="0" tIns="0" rIns="0" bIns="0" rtlCol="0" anchor="t"/>
          <a:lstStyle/>
          <a:p>
            <a:pPr indent="0" marL="0">
              <a:buNone/>
            </a:pPr>
            <a:r>
              <a:rPr lang="en-US" sz="4000" dirty="0">
                <a:solidFill>
                  <a:srgbClr val="0F1B2D"/>
                </a:solidFill>
                <a:latin typeface="Georgia" pitchFamily="34" charset="0"/>
                <a:ea typeface="Georgia" pitchFamily="34" charset="-122"/>
                <a:cs typeface="Georgia" pitchFamily="34" charset="-120"/>
              </a:rPr>
              <a:t>13</a:t>
            </a:r>
            <a:endParaRPr lang="en-US" sz="4000" dirty="0"/>
          </a:p>
        </p:txBody>
      </p:sp>
      <p:sp>
        <p:nvSpPr>
          <p:cNvPr id="34" name="Text 32"/>
          <p:cNvSpPr txBox="1"/>
          <p:nvPr/>
        </p:nvSpPr>
        <p:spPr>
          <a:xfrm>
            <a:off x="8961120" y="4727448"/>
            <a:ext cx="2560320" cy="548640"/>
          </a:xfrm>
          <a:prstGeom prst="rect">
            <a:avLst/>
          </a:prstGeom>
          <a:noFill/>
          <a:ln/>
        </p:spPr>
        <p:txBody>
          <a:bodyPr wrap="square" lIns="0" tIns="0" rIns="0" bIns="0" rtlCol="0" anchor="t"/>
          <a:lstStyle/>
          <a:p>
            <a:pPr indent="0" marL="0">
              <a:buNone/>
            </a:pPr>
            <a:r>
              <a:rPr lang="en-US" sz="1250" dirty="0">
                <a:solidFill>
                  <a:srgbClr val="55606E"/>
                </a:solidFill>
                <a:latin typeface="Arial" pitchFamily="34" charset="0"/>
                <a:ea typeface="Arial" pitchFamily="34" charset="-122"/>
                <a:cs typeface="Arial" pitchFamily="34" charset="-120"/>
              </a:rPr>
              <a:t>baseline models,</a:t>
            </a:r>
            <a:endParaRPr lang="en-US" sz="1250" dirty="0"/>
          </a:p>
          <a:p>
            <a:pPr indent="0" marL="0">
              <a:buNone/>
            </a:pPr>
            <a:r>
              <a:rPr lang="en-US" sz="1250" dirty="0">
                <a:solidFill>
                  <a:srgbClr val="55606E"/>
                </a:solidFill>
                <a:latin typeface="Arial" pitchFamily="34" charset="0"/>
                <a:ea typeface="Arial" pitchFamily="34" charset="-122"/>
                <a:cs typeface="Arial" pitchFamily="34" charset="-120"/>
              </a:rPr>
              <a:t>including CNN and MLP</a:t>
            </a:r>
            <a:endParaRPr lang="en-US" sz="1250" dirty="0"/>
          </a:p>
        </p:txBody>
      </p:sp>
      <p:sp>
        <p:nvSpPr>
          <p:cNvPr id="35" name="Text 33"/>
          <p:cNvSpPr txBox="1"/>
          <p:nvPr/>
        </p:nvSpPr>
        <p:spPr>
          <a:xfrm>
            <a:off x="6263640" y="5532120"/>
            <a:ext cx="5257800" cy="548640"/>
          </a:xfrm>
          <a:prstGeom prst="rect">
            <a:avLst/>
          </a:prstGeom>
          <a:noFill/>
          <a:ln/>
        </p:spPr>
        <p:txBody>
          <a:bodyPr wrap="square" lIns="0" tIns="0" rIns="0" bIns="0" rtlCol="0" anchor="t"/>
          <a:lstStyle/>
          <a:p>
            <a:pPr indent="0" marL="0">
              <a:buNone/>
            </a:pPr>
            <a:r>
              <a:rPr lang="en-US" sz="1350" i="1" dirty="0">
                <a:solidFill>
                  <a:srgbClr val="55606E"/>
                </a:solidFill>
                <a:latin typeface="Arial" pitchFamily="34" charset="0"/>
                <a:ea typeface="Arial" pitchFamily="34" charset="-122"/>
                <a:cs typeface="Arial" pitchFamily="34" charset="-120"/>
              </a:rPr>
              <a:t>Our task: implement it fully, test it on a genuine APT dataset, and check whether the claims hold.</a:t>
            </a:r>
            <a:endParaRPr lang="en-US" sz="1350" dirty="0"/>
          </a:p>
        </p:txBody>
      </p:sp>
      <p:sp>
        <p:nvSpPr>
          <p:cNvPr id="36" name="Text 34"/>
          <p:cNvSpPr txBox="1"/>
          <p:nvPr/>
        </p:nvSpPr>
        <p:spPr>
          <a:xfrm>
            <a:off x="685800" y="6400800"/>
            <a:ext cx="7315200" cy="228600"/>
          </a:xfrm>
          <a:prstGeom prst="rect">
            <a:avLst/>
          </a:prstGeom>
          <a:noFill/>
          <a:ln/>
        </p:spPr>
        <p:txBody>
          <a:bodyPr wrap="square" lIns="0" tIns="0" rIns="0" bIns="0" rtlCol="0" anchor="t"/>
          <a:lstStyle/>
          <a:p>
            <a:pPr indent="0" marL="0">
              <a:buNone/>
            </a:pPr>
            <a:r>
              <a:rPr lang="en-US" sz="900" dirty="0">
                <a:solidFill>
                  <a:srgbClr val="8A94A3"/>
                </a:solidFill>
                <a:latin typeface="Arial" pitchFamily="34" charset="0"/>
                <a:ea typeface="Arial" pitchFamily="34" charset="-122"/>
                <a:cs typeface="Arial" pitchFamily="34" charset="-120"/>
              </a:rPr>
              <a:t>Anomaly detection for Advanced Persistent Threats   |   Mid-term evaluation</a:t>
            </a:r>
            <a:endParaRPr lang="en-US" sz="900" dirty="0"/>
          </a:p>
        </p:txBody>
      </p:sp>
      <p:sp>
        <p:nvSpPr>
          <p:cNvPr id="37" name="Text 35"/>
          <p:cNvSpPr txBox="1"/>
          <p:nvPr/>
        </p:nvSpPr>
        <p:spPr>
          <a:xfrm>
            <a:off x="10591495" y="6400800"/>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V="1">
            <a:off x="10087295" y="470002"/>
            <a:ext cx="288950" cy="416966"/>
          </a:xfrm>
          <a:prstGeom prst="line">
            <a:avLst/>
          </a:prstGeom>
          <a:noFill/>
          <a:ln w="9525">
            <a:solidFill>
              <a:srgbClr val="DCE2EA"/>
            </a:solidFill>
            <a:prstDash val="solid"/>
          </a:ln>
        </p:spPr>
      </p:sp>
      <p:sp>
        <p:nvSpPr>
          <p:cNvPr id="3" name="Shape 1"/>
          <p:cNvSpPr/>
          <p:nvPr/>
        </p:nvSpPr>
        <p:spPr>
          <a:xfrm>
            <a:off x="10087295" y="886968"/>
            <a:ext cx="549006" cy="69494"/>
          </a:xfrm>
          <a:prstGeom prst="line">
            <a:avLst/>
          </a:prstGeom>
          <a:noFill/>
          <a:ln w="9525">
            <a:solidFill>
              <a:srgbClr val="DCE2EA"/>
            </a:solidFill>
            <a:prstDash val="solid"/>
          </a:ln>
        </p:spPr>
      </p:sp>
      <p:sp>
        <p:nvSpPr>
          <p:cNvPr id="4" name="Shape 2"/>
          <p:cNvSpPr/>
          <p:nvPr/>
        </p:nvSpPr>
        <p:spPr>
          <a:xfrm>
            <a:off x="10376245" y="470002"/>
            <a:ext cx="549006" cy="156362"/>
          </a:xfrm>
          <a:prstGeom prst="line">
            <a:avLst/>
          </a:prstGeom>
          <a:noFill/>
          <a:ln w="9525">
            <a:solidFill>
              <a:srgbClr val="F2B7A8"/>
            </a:solidFill>
            <a:prstDash val="solid"/>
          </a:ln>
        </p:spPr>
      </p:sp>
      <p:sp>
        <p:nvSpPr>
          <p:cNvPr id="5" name="Shape 3"/>
          <p:cNvSpPr/>
          <p:nvPr/>
        </p:nvSpPr>
        <p:spPr>
          <a:xfrm flipV="1">
            <a:off x="10636301" y="626364"/>
            <a:ext cx="288950" cy="330098"/>
          </a:xfrm>
          <a:prstGeom prst="line">
            <a:avLst/>
          </a:prstGeom>
          <a:noFill/>
          <a:ln w="9525">
            <a:solidFill>
              <a:srgbClr val="F2B7A8"/>
            </a:solidFill>
            <a:prstDash val="solid"/>
          </a:ln>
        </p:spPr>
      </p:sp>
      <p:sp>
        <p:nvSpPr>
          <p:cNvPr id="6" name="Shape 4"/>
          <p:cNvSpPr/>
          <p:nvPr/>
        </p:nvSpPr>
        <p:spPr>
          <a:xfrm flipV="1">
            <a:off x="10925251" y="522122"/>
            <a:ext cx="534558" cy="104242"/>
          </a:xfrm>
          <a:prstGeom prst="line">
            <a:avLst/>
          </a:prstGeom>
          <a:noFill/>
          <a:ln w="9525">
            <a:solidFill>
              <a:srgbClr val="F2B7A8"/>
            </a:solidFill>
            <a:prstDash val="solid"/>
          </a:ln>
        </p:spPr>
      </p:sp>
      <p:sp>
        <p:nvSpPr>
          <p:cNvPr id="7" name="Shape 5"/>
          <p:cNvSpPr/>
          <p:nvPr/>
        </p:nvSpPr>
        <p:spPr>
          <a:xfrm>
            <a:off x="10636301" y="956462"/>
            <a:ext cx="549006" cy="121615"/>
          </a:xfrm>
          <a:prstGeom prst="line">
            <a:avLst/>
          </a:prstGeom>
          <a:noFill/>
          <a:ln w="9525">
            <a:solidFill>
              <a:srgbClr val="DCE2EA"/>
            </a:solidFill>
            <a:prstDash val="solid"/>
          </a:ln>
        </p:spPr>
      </p:sp>
      <p:sp>
        <p:nvSpPr>
          <p:cNvPr id="8" name="Shape 6"/>
          <p:cNvSpPr/>
          <p:nvPr/>
        </p:nvSpPr>
        <p:spPr>
          <a:xfrm flipV="1">
            <a:off x="11185307" y="843534"/>
            <a:ext cx="173370" cy="234544"/>
          </a:xfrm>
          <a:prstGeom prst="line">
            <a:avLst/>
          </a:prstGeom>
          <a:noFill/>
          <a:ln w="9525">
            <a:solidFill>
              <a:srgbClr val="DCE2EA"/>
            </a:solidFill>
            <a:prstDash val="solid"/>
          </a:ln>
        </p:spPr>
      </p:sp>
      <p:sp>
        <p:nvSpPr>
          <p:cNvPr id="9" name="Shape 7"/>
          <p:cNvSpPr/>
          <p:nvPr/>
        </p:nvSpPr>
        <p:spPr>
          <a:xfrm flipH="1">
            <a:off x="11358677" y="522122"/>
            <a:ext cx="101133" cy="321412"/>
          </a:xfrm>
          <a:prstGeom prst="line">
            <a:avLst/>
          </a:prstGeom>
          <a:noFill/>
          <a:ln w="9525">
            <a:solidFill>
              <a:srgbClr val="DCE2EA"/>
            </a:solidFill>
            <a:prstDash val="solid"/>
          </a:ln>
        </p:spPr>
      </p:sp>
      <p:sp>
        <p:nvSpPr>
          <p:cNvPr id="10" name="Shape 8"/>
          <p:cNvSpPr/>
          <p:nvPr/>
        </p:nvSpPr>
        <p:spPr>
          <a:xfrm>
            <a:off x="10055291" y="854964"/>
            <a:ext cx="64008" cy="64008"/>
          </a:xfrm>
          <a:prstGeom prst="ellipse">
            <a:avLst/>
          </a:prstGeom>
          <a:solidFill>
            <a:srgbClr val="C3CCD9"/>
          </a:solidFill>
          <a:ln w="12700">
            <a:solidFill>
              <a:srgbClr val="C3CCD9"/>
            </a:solidFill>
            <a:prstDash val="solid"/>
          </a:ln>
        </p:spPr>
      </p:sp>
      <p:sp>
        <p:nvSpPr>
          <p:cNvPr id="11" name="Shape 9"/>
          <p:cNvSpPr/>
          <p:nvPr/>
        </p:nvSpPr>
        <p:spPr>
          <a:xfrm>
            <a:off x="10335097" y="428854"/>
            <a:ext cx="82296" cy="82296"/>
          </a:xfrm>
          <a:prstGeom prst="ellipse">
            <a:avLst/>
          </a:prstGeom>
          <a:solidFill>
            <a:srgbClr val="C3CCD9"/>
          </a:solidFill>
          <a:ln w="12700">
            <a:solidFill>
              <a:srgbClr val="C3CCD9"/>
            </a:solidFill>
            <a:prstDash val="solid"/>
          </a:ln>
        </p:spPr>
      </p:sp>
      <p:sp>
        <p:nvSpPr>
          <p:cNvPr id="12" name="Shape 10"/>
          <p:cNvSpPr/>
          <p:nvPr/>
        </p:nvSpPr>
        <p:spPr>
          <a:xfrm>
            <a:off x="10599725" y="919886"/>
            <a:ext cx="73152" cy="73152"/>
          </a:xfrm>
          <a:prstGeom prst="ellipse">
            <a:avLst/>
          </a:prstGeom>
          <a:solidFill>
            <a:srgbClr val="C3CCD9"/>
          </a:solidFill>
          <a:ln w="12700">
            <a:solidFill>
              <a:srgbClr val="C3CCD9"/>
            </a:solidFill>
            <a:prstDash val="solid"/>
          </a:ln>
        </p:spPr>
      </p:sp>
      <p:sp>
        <p:nvSpPr>
          <p:cNvPr id="13" name="Shape 11"/>
          <p:cNvSpPr/>
          <p:nvPr/>
        </p:nvSpPr>
        <p:spPr>
          <a:xfrm>
            <a:off x="10806379" y="507492"/>
            <a:ext cx="237744" cy="237744"/>
          </a:xfrm>
          <a:prstGeom prst="ellipse">
            <a:avLst/>
          </a:prstGeom>
          <a:solidFill>
            <a:srgbClr val="E0533A">
              <a:alpha val="18000"/>
            </a:srgbClr>
          </a:solidFill>
          <a:ln w="12700">
            <a:solidFill>
              <a:srgbClr val="E0533A">
                <a:alpha val="18000"/>
              </a:srgbClr>
            </a:solidFill>
            <a:prstDash val="solid"/>
          </a:ln>
        </p:spPr>
      </p:sp>
      <p:sp>
        <p:nvSpPr>
          <p:cNvPr id="14" name="Shape 12"/>
          <p:cNvSpPr/>
          <p:nvPr/>
        </p:nvSpPr>
        <p:spPr>
          <a:xfrm>
            <a:off x="10874959" y="576072"/>
            <a:ext cx="100584" cy="100584"/>
          </a:xfrm>
          <a:prstGeom prst="ellipse">
            <a:avLst/>
          </a:prstGeom>
          <a:solidFill>
            <a:srgbClr val="E0533A"/>
          </a:solidFill>
          <a:ln w="12700">
            <a:solidFill>
              <a:srgbClr val="E0533A"/>
            </a:solidFill>
            <a:prstDash val="solid"/>
          </a:ln>
        </p:spPr>
      </p:sp>
      <p:sp>
        <p:nvSpPr>
          <p:cNvPr id="15" name="Shape 13"/>
          <p:cNvSpPr/>
          <p:nvPr/>
        </p:nvSpPr>
        <p:spPr>
          <a:xfrm>
            <a:off x="11144159" y="1036930"/>
            <a:ext cx="82296" cy="82296"/>
          </a:xfrm>
          <a:prstGeom prst="ellipse">
            <a:avLst/>
          </a:prstGeom>
          <a:solidFill>
            <a:srgbClr val="C3CCD9"/>
          </a:solidFill>
          <a:ln w="12700">
            <a:solidFill>
              <a:srgbClr val="C3CCD9"/>
            </a:solidFill>
            <a:prstDash val="solid"/>
          </a:ln>
        </p:spPr>
      </p:sp>
      <p:sp>
        <p:nvSpPr>
          <p:cNvPr id="16" name="Shape 14"/>
          <p:cNvSpPr/>
          <p:nvPr/>
        </p:nvSpPr>
        <p:spPr>
          <a:xfrm>
            <a:off x="11427805" y="490118"/>
            <a:ext cx="64008" cy="64008"/>
          </a:xfrm>
          <a:prstGeom prst="ellipse">
            <a:avLst/>
          </a:prstGeom>
          <a:solidFill>
            <a:srgbClr val="C3CCD9"/>
          </a:solidFill>
          <a:ln w="12700">
            <a:solidFill>
              <a:srgbClr val="C3CCD9"/>
            </a:solidFill>
            <a:prstDash val="solid"/>
          </a:ln>
        </p:spPr>
      </p:sp>
      <p:sp>
        <p:nvSpPr>
          <p:cNvPr id="17" name="Shape 15"/>
          <p:cNvSpPr/>
          <p:nvPr/>
        </p:nvSpPr>
        <p:spPr>
          <a:xfrm>
            <a:off x="11331245" y="816102"/>
            <a:ext cx="54864" cy="54864"/>
          </a:xfrm>
          <a:prstGeom prst="ellipse">
            <a:avLst/>
          </a:prstGeom>
          <a:solidFill>
            <a:srgbClr val="C3CCD9"/>
          </a:solidFill>
          <a:ln w="12700">
            <a:solidFill>
              <a:srgbClr val="C3CCD9"/>
            </a:solidFill>
            <a:prstDash val="solid"/>
          </a:ln>
        </p:spPr>
      </p:sp>
      <p:sp>
        <p:nvSpPr>
          <p:cNvPr id="18" name="Text 16"/>
          <p:cNvSpPr txBox="1"/>
          <p:nvPr/>
        </p:nvSpPr>
        <p:spPr>
          <a:xfrm>
            <a:off x="685800" y="475488"/>
            <a:ext cx="10820095" cy="256032"/>
          </a:xfrm>
          <a:prstGeom prst="rect">
            <a:avLst/>
          </a:prstGeom>
          <a:noFill/>
          <a:ln/>
        </p:spPr>
        <p:txBody>
          <a:bodyPr wrap="square" lIns="0" tIns="0" rIns="0" bIns="0" rtlCol="0" anchor="t"/>
          <a:lstStyle/>
          <a:p>
            <a:pPr indent="0" marL="0">
              <a:buNone/>
            </a:pPr>
            <a:r>
              <a:rPr lang="en-US" sz="1100" b="1" dirty="0">
                <a:solidFill>
                  <a:srgbClr val="E0533A"/>
                </a:solidFill>
                <a:latin typeface="Arial" pitchFamily="34" charset="0"/>
                <a:ea typeface="Arial" pitchFamily="34" charset="-122"/>
                <a:cs typeface="Arial" pitchFamily="34" charset="-120"/>
              </a:rPr>
              <a:t>01 · BACKGROUND</a:t>
            </a:r>
            <a:endParaRPr lang="en-US" sz="1100" dirty="0"/>
          </a:p>
        </p:txBody>
      </p:sp>
      <p:sp>
        <p:nvSpPr>
          <p:cNvPr id="19" name="Text 17"/>
          <p:cNvSpPr txBox="1"/>
          <p:nvPr/>
        </p:nvSpPr>
        <p:spPr>
          <a:xfrm>
            <a:off x="685800" y="768096"/>
            <a:ext cx="10820095" cy="822960"/>
          </a:xfrm>
          <a:prstGeom prst="rect">
            <a:avLst/>
          </a:prstGeom>
          <a:noFill/>
          <a:ln/>
        </p:spPr>
        <p:txBody>
          <a:bodyPr wrap="square" lIns="0" tIns="0" rIns="0" bIns="0" rtlCol="0" anchor="t"/>
          <a:lstStyle/>
          <a:p>
            <a:pPr indent="0" marL="0">
              <a:buNone/>
            </a:pPr>
            <a:r>
              <a:rPr lang="en-US" sz="3000" dirty="0">
                <a:solidFill>
                  <a:srgbClr val="0F1B2D"/>
                </a:solidFill>
                <a:latin typeface="Georgia" pitchFamily="34" charset="0"/>
                <a:ea typeface="Georgia" pitchFamily="34" charset="-122"/>
                <a:cs typeface="Georgia" pitchFamily="34" charset="-120"/>
              </a:rPr>
              <a:t>An APT is a campaign, not a single attack</a:t>
            </a:r>
            <a:endParaRPr lang="en-US" sz="3000" dirty="0"/>
          </a:p>
        </p:txBody>
      </p:sp>
      <p:sp>
        <p:nvSpPr>
          <p:cNvPr id="20" name="Shape 18"/>
          <p:cNvSpPr/>
          <p:nvPr/>
        </p:nvSpPr>
        <p:spPr>
          <a:xfrm>
            <a:off x="2038312" y="2743200"/>
            <a:ext cx="8115071" cy="914"/>
          </a:xfrm>
          <a:prstGeom prst="line">
            <a:avLst/>
          </a:prstGeom>
          <a:noFill/>
          <a:ln w="19050">
            <a:solidFill>
              <a:srgbClr val="E2E6EC"/>
            </a:solidFill>
            <a:prstDash val="solid"/>
          </a:ln>
        </p:spPr>
      </p:sp>
      <p:sp>
        <p:nvSpPr>
          <p:cNvPr id="21" name="Text 19"/>
          <p:cNvSpPr txBox="1"/>
          <p:nvPr/>
        </p:nvSpPr>
        <p:spPr>
          <a:xfrm>
            <a:off x="1123912" y="1783080"/>
            <a:ext cx="1828800" cy="256032"/>
          </a:xfrm>
          <a:prstGeom prst="rect">
            <a:avLst/>
          </a:prstGeom>
          <a:noFill/>
          <a:ln/>
        </p:spPr>
        <p:txBody>
          <a:bodyPr wrap="square" lIns="0" tIns="0" rIns="0" bIns="0" rtlCol="0" anchor="t"/>
          <a:lstStyle/>
          <a:p>
            <a:pPr algn="ctr" indent="0" marL="0">
              <a:buNone/>
            </a:pPr>
            <a:r>
              <a:rPr lang="en-US" sz="1000" b="1" dirty="0">
                <a:solidFill>
                  <a:srgbClr val="8A94A3"/>
                </a:solidFill>
                <a:latin typeface="Arial" pitchFamily="34" charset="0"/>
                <a:ea typeface="Arial" pitchFamily="34" charset="-122"/>
                <a:cs typeface="Arial" pitchFamily="34" charset="-120"/>
              </a:rPr>
              <a:t>STAGE 1</a:t>
            </a:r>
            <a:endParaRPr lang="en-US" sz="1000" dirty="0"/>
          </a:p>
        </p:txBody>
      </p:sp>
      <p:sp>
        <p:nvSpPr>
          <p:cNvPr id="22" name="Shape 20"/>
          <p:cNvSpPr/>
          <p:nvPr/>
        </p:nvSpPr>
        <p:spPr>
          <a:xfrm>
            <a:off x="1535392" y="2240280"/>
            <a:ext cx="1005840" cy="1005840"/>
          </a:xfrm>
          <a:prstGeom prst="ellipse">
            <a:avLst/>
          </a:prstGeom>
          <a:solidFill>
            <a:srgbClr val="0B1526"/>
          </a:solidFill>
          <a:ln w="12700">
            <a:solidFill>
              <a:srgbClr val="0B1526"/>
            </a:solidFill>
            <a:prstDash val="solid"/>
          </a:ln>
        </p:spPr>
      </p:sp>
      <p:pic>
        <p:nvPicPr>
          <p:cNvPr id="23" name="Image 0" descr="preencoded.png">    </p:cNvPr>
          <p:cNvPicPr>
            <a:picLocks noChangeAspect="1"/>
          </p:cNvPicPr>
          <p:nvPr/>
        </p:nvPicPr>
        <p:blipFill>
          <a:blip r:embed="rId1"/>
          <a:stretch>
            <a:fillRect/>
          </a:stretch>
        </p:blipFill>
        <p:spPr>
          <a:xfrm>
            <a:off x="1806969" y="2511857"/>
            <a:ext cx="462686" cy="462686"/>
          </a:xfrm>
          <a:prstGeom prst="rect">
            <a:avLst/>
          </a:prstGeom>
        </p:spPr>
      </p:pic>
      <p:sp>
        <p:nvSpPr>
          <p:cNvPr id="24" name="Text 21"/>
          <p:cNvSpPr txBox="1"/>
          <p:nvPr/>
        </p:nvSpPr>
        <p:spPr>
          <a:xfrm>
            <a:off x="803872" y="3429000"/>
            <a:ext cx="2468880" cy="365760"/>
          </a:xfrm>
          <a:prstGeom prst="rect">
            <a:avLst/>
          </a:prstGeom>
          <a:noFill/>
          <a:ln/>
        </p:spPr>
        <p:txBody>
          <a:bodyPr wrap="square" lIns="0" tIns="0" rIns="0" bIns="0" rtlCol="0" anchor="t"/>
          <a:lstStyle/>
          <a:p>
            <a:pPr algn="ctr" indent="0" marL="0">
              <a:buNone/>
            </a:pPr>
            <a:r>
              <a:rPr lang="en-US" sz="1700" b="1" dirty="0">
                <a:solidFill>
                  <a:srgbClr val="0F1B2D"/>
                </a:solidFill>
                <a:latin typeface="Arial" pitchFamily="34" charset="0"/>
                <a:ea typeface="Arial" pitchFamily="34" charset="-122"/>
                <a:cs typeface="Arial" pitchFamily="34" charset="-120"/>
              </a:rPr>
              <a:t>Reconnaissance</a:t>
            </a:r>
            <a:endParaRPr lang="en-US" sz="1700" dirty="0"/>
          </a:p>
        </p:txBody>
      </p:sp>
      <p:sp>
        <p:nvSpPr>
          <p:cNvPr id="25" name="Text 22"/>
          <p:cNvSpPr txBox="1"/>
          <p:nvPr/>
        </p:nvSpPr>
        <p:spPr>
          <a:xfrm>
            <a:off x="849592" y="3840480"/>
            <a:ext cx="2377440" cy="640080"/>
          </a:xfrm>
          <a:prstGeom prst="rect">
            <a:avLst/>
          </a:prstGeom>
          <a:noFill/>
          <a:ln/>
        </p:spPr>
        <p:txBody>
          <a:bodyPr wrap="square" lIns="0" tIns="0" rIns="0" bIns="0" rtlCol="0" anchor="t"/>
          <a:lstStyle/>
          <a:p>
            <a:pPr algn="ctr" indent="0" marL="0">
              <a:buNone/>
            </a:pPr>
            <a:r>
              <a:rPr lang="en-US" sz="1300" dirty="0">
                <a:solidFill>
                  <a:srgbClr val="55606E"/>
                </a:solidFill>
                <a:latin typeface="Arial" pitchFamily="34" charset="0"/>
                <a:ea typeface="Arial" pitchFamily="34" charset="-122"/>
                <a:cs typeface="Arial" pitchFamily="34" charset="-120"/>
              </a:rPr>
              <a:t>Scan and map the target: ports, pages, accounts</a:t>
            </a:r>
            <a:endParaRPr lang="en-US" sz="1300" dirty="0"/>
          </a:p>
        </p:txBody>
      </p:sp>
      <p:sp>
        <p:nvSpPr>
          <p:cNvPr id="26" name="Text 23"/>
          <p:cNvSpPr txBox="1"/>
          <p:nvPr/>
        </p:nvSpPr>
        <p:spPr>
          <a:xfrm>
            <a:off x="3828936" y="1783080"/>
            <a:ext cx="1828800" cy="256032"/>
          </a:xfrm>
          <a:prstGeom prst="rect">
            <a:avLst/>
          </a:prstGeom>
          <a:noFill/>
          <a:ln/>
        </p:spPr>
        <p:txBody>
          <a:bodyPr wrap="square" lIns="0" tIns="0" rIns="0" bIns="0" rtlCol="0" anchor="t"/>
          <a:lstStyle/>
          <a:p>
            <a:pPr algn="ctr" indent="0" marL="0">
              <a:buNone/>
            </a:pPr>
            <a:r>
              <a:rPr lang="en-US" sz="1000" b="1" dirty="0">
                <a:solidFill>
                  <a:srgbClr val="8A94A3"/>
                </a:solidFill>
                <a:latin typeface="Arial" pitchFamily="34" charset="0"/>
                <a:ea typeface="Arial" pitchFamily="34" charset="-122"/>
                <a:cs typeface="Arial" pitchFamily="34" charset="-120"/>
              </a:rPr>
              <a:t>STAGE 2</a:t>
            </a:r>
            <a:endParaRPr lang="en-US" sz="1000" dirty="0"/>
          </a:p>
        </p:txBody>
      </p:sp>
      <p:sp>
        <p:nvSpPr>
          <p:cNvPr id="27" name="Shape 24"/>
          <p:cNvSpPr/>
          <p:nvPr/>
        </p:nvSpPr>
        <p:spPr>
          <a:xfrm>
            <a:off x="4240416" y="2240280"/>
            <a:ext cx="1005840" cy="1005840"/>
          </a:xfrm>
          <a:prstGeom prst="ellipse">
            <a:avLst/>
          </a:prstGeom>
          <a:solidFill>
            <a:srgbClr val="0B1526"/>
          </a:solidFill>
          <a:ln w="12700">
            <a:solidFill>
              <a:srgbClr val="0B1526"/>
            </a:solidFill>
            <a:prstDash val="solid"/>
          </a:ln>
        </p:spPr>
      </p:sp>
      <p:pic>
        <p:nvPicPr>
          <p:cNvPr id="28" name="Image 1" descr="preencoded.png">    </p:cNvPr>
          <p:cNvPicPr>
            <a:picLocks noChangeAspect="1"/>
          </p:cNvPicPr>
          <p:nvPr/>
        </p:nvPicPr>
        <p:blipFill>
          <a:blip r:embed="rId2"/>
          <a:stretch>
            <a:fillRect/>
          </a:stretch>
        </p:blipFill>
        <p:spPr>
          <a:xfrm>
            <a:off x="4511993" y="2511857"/>
            <a:ext cx="462686" cy="462686"/>
          </a:xfrm>
          <a:prstGeom prst="rect">
            <a:avLst/>
          </a:prstGeom>
        </p:spPr>
      </p:pic>
      <p:sp>
        <p:nvSpPr>
          <p:cNvPr id="29" name="Text 25"/>
          <p:cNvSpPr txBox="1"/>
          <p:nvPr/>
        </p:nvSpPr>
        <p:spPr>
          <a:xfrm>
            <a:off x="3508896" y="3429000"/>
            <a:ext cx="2468880" cy="365760"/>
          </a:xfrm>
          <a:prstGeom prst="rect">
            <a:avLst/>
          </a:prstGeom>
          <a:noFill/>
          <a:ln/>
        </p:spPr>
        <p:txBody>
          <a:bodyPr wrap="square" lIns="0" tIns="0" rIns="0" bIns="0" rtlCol="0" anchor="t"/>
          <a:lstStyle/>
          <a:p>
            <a:pPr algn="ctr" indent="0" marL="0">
              <a:buNone/>
            </a:pPr>
            <a:r>
              <a:rPr lang="en-US" sz="1700" b="1" dirty="0">
                <a:solidFill>
                  <a:srgbClr val="0F1B2D"/>
                </a:solidFill>
                <a:latin typeface="Arial" pitchFamily="34" charset="0"/>
                <a:ea typeface="Arial" pitchFamily="34" charset="-122"/>
                <a:cs typeface="Arial" pitchFamily="34" charset="-120"/>
              </a:rPr>
              <a:t>Establish foothold</a:t>
            </a:r>
            <a:endParaRPr lang="en-US" sz="1700" dirty="0"/>
          </a:p>
        </p:txBody>
      </p:sp>
      <p:sp>
        <p:nvSpPr>
          <p:cNvPr id="30" name="Text 26"/>
          <p:cNvSpPr txBox="1"/>
          <p:nvPr/>
        </p:nvSpPr>
        <p:spPr>
          <a:xfrm>
            <a:off x="3554616" y="3840480"/>
            <a:ext cx="2377440" cy="640080"/>
          </a:xfrm>
          <a:prstGeom prst="rect">
            <a:avLst/>
          </a:prstGeom>
          <a:noFill/>
          <a:ln/>
        </p:spPr>
        <p:txBody>
          <a:bodyPr wrap="square" lIns="0" tIns="0" rIns="0" bIns="0" rtlCol="0" anchor="t"/>
          <a:lstStyle/>
          <a:p>
            <a:pPr algn="ctr" indent="0" marL="0">
              <a:buNone/>
            </a:pPr>
            <a:r>
              <a:rPr lang="en-US" sz="1300" dirty="0">
                <a:solidFill>
                  <a:srgbClr val="55606E"/>
                </a:solidFill>
                <a:latin typeface="Arial" pitchFamily="34" charset="0"/>
                <a:ea typeface="Arial" pitchFamily="34" charset="-122"/>
                <a:cs typeface="Arial" pitchFamily="34" charset="-120"/>
              </a:rPr>
              <a:t>Exploit a weakness and plant a backdoor</a:t>
            </a:r>
            <a:endParaRPr lang="en-US" sz="1300" dirty="0"/>
          </a:p>
        </p:txBody>
      </p:sp>
      <p:sp>
        <p:nvSpPr>
          <p:cNvPr id="31" name="Text 27"/>
          <p:cNvSpPr txBox="1"/>
          <p:nvPr/>
        </p:nvSpPr>
        <p:spPr>
          <a:xfrm>
            <a:off x="6533959" y="1783080"/>
            <a:ext cx="1828800" cy="256032"/>
          </a:xfrm>
          <a:prstGeom prst="rect">
            <a:avLst/>
          </a:prstGeom>
          <a:noFill/>
          <a:ln/>
        </p:spPr>
        <p:txBody>
          <a:bodyPr wrap="square" lIns="0" tIns="0" rIns="0" bIns="0" rtlCol="0" anchor="t"/>
          <a:lstStyle/>
          <a:p>
            <a:pPr algn="ctr" indent="0" marL="0">
              <a:buNone/>
            </a:pPr>
            <a:r>
              <a:rPr lang="en-US" sz="1000" b="1" dirty="0">
                <a:solidFill>
                  <a:srgbClr val="8A94A3"/>
                </a:solidFill>
                <a:latin typeface="Arial" pitchFamily="34" charset="0"/>
                <a:ea typeface="Arial" pitchFamily="34" charset="-122"/>
                <a:cs typeface="Arial" pitchFamily="34" charset="-120"/>
              </a:rPr>
              <a:t>STAGE 3</a:t>
            </a:r>
            <a:endParaRPr lang="en-US" sz="1000" dirty="0"/>
          </a:p>
        </p:txBody>
      </p:sp>
      <p:sp>
        <p:nvSpPr>
          <p:cNvPr id="32" name="Shape 28"/>
          <p:cNvSpPr/>
          <p:nvPr/>
        </p:nvSpPr>
        <p:spPr>
          <a:xfrm>
            <a:off x="6945439" y="2240280"/>
            <a:ext cx="1005840" cy="1005840"/>
          </a:xfrm>
          <a:prstGeom prst="ellipse">
            <a:avLst/>
          </a:prstGeom>
          <a:solidFill>
            <a:srgbClr val="0B1526"/>
          </a:solidFill>
          <a:ln w="12700">
            <a:solidFill>
              <a:srgbClr val="0B1526"/>
            </a:solidFill>
            <a:prstDash val="solid"/>
          </a:ln>
        </p:spPr>
      </p:sp>
      <p:pic>
        <p:nvPicPr>
          <p:cNvPr id="33" name="Image 2" descr="preencoded.png">    </p:cNvPr>
          <p:cNvPicPr>
            <a:picLocks noChangeAspect="1"/>
          </p:cNvPicPr>
          <p:nvPr/>
        </p:nvPicPr>
        <p:blipFill>
          <a:blip r:embed="rId3"/>
          <a:stretch>
            <a:fillRect/>
          </a:stretch>
        </p:blipFill>
        <p:spPr>
          <a:xfrm>
            <a:off x="7217016" y="2511857"/>
            <a:ext cx="462686" cy="462686"/>
          </a:xfrm>
          <a:prstGeom prst="rect">
            <a:avLst/>
          </a:prstGeom>
        </p:spPr>
      </p:pic>
      <p:sp>
        <p:nvSpPr>
          <p:cNvPr id="34" name="Text 29"/>
          <p:cNvSpPr txBox="1"/>
          <p:nvPr/>
        </p:nvSpPr>
        <p:spPr>
          <a:xfrm>
            <a:off x="6213919" y="3429000"/>
            <a:ext cx="2468880" cy="365760"/>
          </a:xfrm>
          <a:prstGeom prst="rect">
            <a:avLst/>
          </a:prstGeom>
          <a:noFill/>
          <a:ln/>
        </p:spPr>
        <p:txBody>
          <a:bodyPr wrap="square" lIns="0" tIns="0" rIns="0" bIns="0" rtlCol="0" anchor="t"/>
          <a:lstStyle/>
          <a:p>
            <a:pPr algn="ctr" indent="0" marL="0">
              <a:buNone/>
            </a:pPr>
            <a:r>
              <a:rPr lang="en-US" sz="1700" b="1" dirty="0">
                <a:solidFill>
                  <a:srgbClr val="0F1B2D"/>
                </a:solidFill>
                <a:latin typeface="Arial" pitchFamily="34" charset="0"/>
                <a:ea typeface="Arial" pitchFamily="34" charset="-122"/>
                <a:cs typeface="Arial" pitchFamily="34" charset="-120"/>
              </a:rPr>
              <a:t>Lateral movement</a:t>
            </a:r>
            <a:endParaRPr lang="en-US" sz="1700" dirty="0"/>
          </a:p>
        </p:txBody>
      </p:sp>
      <p:sp>
        <p:nvSpPr>
          <p:cNvPr id="35" name="Text 30"/>
          <p:cNvSpPr txBox="1"/>
          <p:nvPr/>
        </p:nvSpPr>
        <p:spPr>
          <a:xfrm>
            <a:off x="6259639" y="3840480"/>
            <a:ext cx="2377440" cy="640080"/>
          </a:xfrm>
          <a:prstGeom prst="rect">
            <a:avLst/>
          </a:prstGeom>
          <a:noFill/>
          <a:ln/>
        </p:spPr>
        <p:txBody>
          <a:bodyPr wrap="square" lIns="0" tIns="0" rIns="0" bIns="0" rtlCol="0" anchor="t"/>
          <a:lstStyle/>
          <a:p>
            <a:pPr algn="ctr" indent="0" marL="0">
              <a:buNone/>
            </a:pPr>
            <a:r>
              <a:rPr lang="en-US" sz="1300" dirty="0">
                <a:solidFill>
                  <a:srgbClr val="55606E"/>
                </a:solidFill>
                <a:latin typeface="Arial" pitchFamily="34" charset="0"/>
                <a:ea typeface="Arial" pitchFamily="34" charset="-122"/>
                <a:cs typeface="Arial" pitchFamily="34" charset="-120"/>
              </a:rPr>
              <a:t>Spread inside the network, escalate privileges</a:t>
            </a:r>
            <a:endParaRPr lang="en-US" sz="1300" dirty="0"/>
          </a:p>
        </p:txBody>
      </p:sp>
      <p:sp>
        <p:nvSpPr>
          <p:cNvPr id="36" name="Text 31"/>
          <p:cNvSpPr txBox="1"/>
          <p:nvPr/>
        </p:nvSpPr>
        <p:spPr>
          <a:xfrm>
            <a:off x="9238983" y="1783080"/>
            <a:ext cx="1828800" cy="256032"/>
          </a:xfrm>
          <a:prstGeom prst="rect">
            <a:avLst/>
          </a:prstGeom>
          <a:noFill/>
          <a:ln/>
        </p:spPr>
        <p:txBody>
          <a:bodyPr wrap="square" lIns="0" tIns="0" rIns="0" bIns="0" rtlCol="0" anchor="t"/>
          <a:lstStyle/>
          <a:p>
            <a:pPr algn="ctr" indent="0" marL="0">
              <a:buNone/>
            </a:pPr>
            <a:r>
              <a:rPr lang="en-US" sz="1000" b="1" dirty="0">
                <a:solidFill>
                  <a:srgbClr val="8A94A3"/>
                </a:solidFill>
                <a:latin typeface="Arial" pitchFamily="34" charset="0"/>
                <a:ea typeface="Arial" pitchFamily="34" charset="-122"/>
                <a:cs typeface="Arial" pitchFamily="34" charset="-120"/>
              </a:rPr>
              <a:t>STAGE 4</a:t>
            </a:r>
            <a:endParaRPr lang="en-US" sz="1000" dirty="0"/>
          </a:p>
        </p:txBody>
      </p:sp>
      <p:sp>
        <p:nvSpPr>
          <p:cNvPr id="37" name="Shape 32"/>
          <p:cNvSpPr/>
          <p:nvPr/>
        </p:nvSpPr>
        <p:spPr>
          <a:xfrm>
            <a:off x="9650463" y="2240280"/>
            <a:ext cx="1005840" cy="1005840"/>
          </a:xfrm>
          <a:prstGeom prst="ellipse">
            <a:avLst/>
          </a:prstGeom>
          <a:solidFill>
            <a:srgbClr val="E0533A"/>
          </a:solidFill>
          <a:ln w="12700">
            <a:solidFill>
              <a:srgbClr val="E0533A"/>
            </a:solidFill>
            <a:prstDash val="solid"/>
          </a:ln>
        </p:spPr>
      </p:sp>
      <p:pic>
        <p:nvPicPr>
          <p:cNvPr id="38" name="Image 3" descr="preencoded.png">    </p:cNvPr>
          <p:cNvPicPr>
            <a:picLocks noChangeAspect="1"/>
          </p:cNvPicPr>
          <p:nvPr/>
        </p:nvPicPr>
        <p:blipFill>
          <a:blip r:embed="rId4"/>
          <a:stretch>
            <a:fillRect/>
          </a:stretch>
        </p:blipFill>
        <p:spPr>
          <a:xfrm>
            <a:off x="9922040" y="2511857"/>
            <a:ext cx="462686" cy="462686"/>
          </a:xfrm>
          <a:prstGeom prst="rect">
            <a:avLst/>
          </a:prstGeom>
        </p:spPr>
      </p:pic>
      <p:sp>
        <p:nvSpPr>
          <p:cNvPr id="39" name="Text 33"/>
          <p:cNvSpPr txBox="1"/>
          <p:nvPr/>
        </p:nvSpPr>
        <p:spPr>
          <a:xfrm>
            <a:off x="8918943" y="3429000"/>
            <a:ext cx="2468880" cy="365760"/>
          </a:xfrm>
          <a:prstGeom prst="rect">
            <a:avLst/>
          </a:prstGeom>
          <a:noFill/>
          <a:ln/>
        </p:spPr>
        <p:txBody>
          <a:bodyPr wrap="square" lIns="0" tIns="0" rIns="0" bIns="0" rtlCol="0" anchor="t"/>
          <a:lstStyle/>
          <a:p>
            <a:pPr algn="ctr" indent="0" marL="0">
              <a:buNone/>
            </a:pPr>
            <a:r>
              <a:rPr lang="en-US" sz="1700" b="1" dirty="0">
                <a:solidFill>
                  <a:srgbClr val="0F1B2D"/>
                </a:solidFill>
                <a:latin typeface="Arial" pitchFamily="34" charset="0"/>
                <a:ea typeface="Arial" pitchFamily="34" charset="-122"/>
                <a:cs typeface="Arial" pitchFamily="34" charset="-120"/>
              </a:rPr>
              <a:t>Data exfiltration</a:t>
            </a:r>
            <a:endParaRPr lang="en-US" sz="1700" dirty="0"/>
          </a:p>
        </p:txBody>
      </p:sp>
      <p:sp>
        <p:nvSpPr>
          <p:cNvPr id="40" name="Text 34"/>
          <p:cNvSpPr txBox="1"/>
          <p:nvPr/>
        </p:nvSpPr>
        <p:spPr>
          <a:xfrm>
            <a:off x="8964663" y="3840480"/>
            <a:ext cx="2377440" cy="640080"/>
          </a:xfrm>
          <a:prstGeom prst="rect">
            <a:avLst/>
          </a:prstGeom>
          <a:noFill/>
          <a:ln/>
        </p:spPr>
        <p:txBody>
          <a:bodyPr wrap="square" lIns="0" tIns="0" rIns="0" bIns="0" rtlCol="0" anchor="t"/>
          <a:lstStyle/>
          <a:p>
            <a:pPr algn="ctr" indent="0" marL="0">
              <a:buNone/>
            </a:pPr>
            <a:r>
              <a:rPr lang="en-US" sz="1300" dirty="0">
                <a:solidFill>
                  <a:srgbClr val="55606E"/>
                </a:solidFill>
                <a:latin typeface="Arial" pitchFamily="34" charset="0"/>
                <a:ea typeface="Arial" pitchFamily="34" charset="-122"/>
                <a:cs typeface="Arial" pitchFamily="34" charset="-120"/>
              </a:rPr>
              <a:t>Quietly send the stolen data out</a:t>
            </a:r>
            <a:endParaRPr lang="en-US" sz="1300" dirty="0"/>
          </a:p>
        </p:txBody>
      </p:sp>
      <p:sp>
        <p:nvSpPr>
          <p:cNvPr id="41" name="Shape 35"/>
          <p:cNvSpPr/>
          <p:nvPr/>
        </p:nvSpPr>
        <p:spPr>
          <a:xfrm>
            <a:off x="685800" y="4846320"/>
            <a:ext cx="10820095" cy="914"/>
          </a:xfrm>
          <a:prstGeom prst="line">
            <a:avLst/>
          </a:prstGeom>
          <a:noFill/>
          <a:ln w="9525">
            <a:solidFill>
              <a:srgbClr val="E2E6EC"/>
            </a:solidFill>
            <a:prstDash val="solid"/>
          </a:ln>
        </p:spPr>
      </p:sp>
      <p:sp>
        <p:nvSpPr>
          <p:cNvPr id="42" name="Shape 36"/>
          <p:cNvSpPr/>
          <p:nvPr/>
        </p:nvSpPr>
        <p:spPr>
          <a:xfrm>
            <a:off x="685800" y="5138928"/>
            <a:ext cx="530352" cy="530352"/>
          </a:xfrm>
          <a:prstGeom prst="ellipse">
            <a:avLst/>
          </a:prstGeom>
          <a:solidFill>
            <a:srgbClr val="2A78D6"/>
          </a:solidFill>
          <a:ln w="12700">
            <a:solidFill>
              <a:srgbClr val="2A78D6"/>
            </a:solidFill>
            <a:prstDash val="solid"/>
          </a:ln>
        </p:spPr>
      </p:sp>
      <p:pic>
        <p:nvPicPr>
          <p:cNvPr id="43" name="Image 4" descr="preencoded.png">    </p:cNvPr>
          <p:cNvPicPr>
            <a:picLocks noChangeAspect="1"/>
          </p:cNvPicPr>
          <p:nvPr/>
        </p:nvPicPr>
        <p:blipFill>
          <a:blip r:embed="rId5"/>
          <a:stretch>
            <a:fillRect/>
          </a:stretch>
        </p:blipFill>
        <p:spPr>
          <a:xfrm>
            <a:off x="828995" y="5282123"/>
            <a:ext cx="243962" cy="243962"/>
          </a:xfrm>
          <a:prstGeom prst="rect">
            <a:avLst/>
          </a:prstGeom>
        </p:spPr>
      </p:pic>
      <p:sp>
        <p:nvSpPr>
          <p:cNvPr id="44" name="Text 37"/>
          <p:cNvSpPr txBox="1"/>
          <p:nvPr/>
        </p:nvSpPr>
        <p:spPr>
          <a:xfrm>
            <a:off x="1417320" y="5120640"/>
            <a:ext cx="2692298" cy="320040"/>
          </a:xfrm>
          <a:prstGeom prst="rect">
            <a:avLst/>
          </a:prstGeom>
          <a:noFill/>
          <a:ln/>
        </p:spPr>
        <p:txBody>
          <a:bodyPr wrap="square" lIns="0" tIns="0" rIns="0" bIns="0" rtlCol="0" anchor="t"/>
          <a:lstStyle/>
          <a:p>
            <a:pPr indent="0" marL="0">
              <a:buNone/>
            </a:pPr>
            <a:r>
              <a:rPr lang="en-US" sz="1500" b="1" dirty="0">
                <a:solidFill>
                  <a:srgbClr val="0F1B2D"/>
                </a:solidFill>
                <a:latin typeface="Arial" pitchFamily="34" charset="0"/>
                <a:ea typeface="Arial" pitchFamily="34" charset="-122"/>
                <a:cs typeface="Arial" pitchFamily="34" charset="-120"/>
              </a:rPr>
              <a:t>Low and slow</a:t>
            </a:r>
            <a:endParaRPr lang="en-US" sz="1500" dirty="0"/>
          </a:p>
        </p:txBody>
      </p:sp>
      <p:sp>
        <p:nvSpPr>
          <p:cNvPr id="45" name="Text 38"/>
          <p:cNvSpPr txBox="1"/>
          <p:nvPr/>
        </p:nvSpPr>
        <p:spPr>
          <a:xfrm>
            <a:off x="1417320" y="5458968"/>
            <a:ext cx="2692298" cy="502920"/>
          </a:xfrm>
          <a:prstGeom prst="rect">
            <a:avLst/>
          </a:prstGeom>
          <a:noFill/>
          <a:ln/>
        </p:spPr>
        <p:txBody>
          <a:bodyPr wrap="square" lIns="0" tIns="0" rIns="0" bIns="0" rtlCol="0" anchor="t"/>
          <a:lstStyle/>
          <a:p>
            <a:pPr indent="0" marL="0">
              <a:buNone/>
            </a:pPr>
            <a:r>
              <a:rPr lang="en-US" sz="1250" dirty="0">
                <a:solidFill>
                  <a:srgbClr val="55606E"/>
                </a:solidFill>
                <a:latin typeface="Arial" pitchFamily="34" charset="0"/>
                <a:ea typeface="Arial" pitchFamily="34" charset="-122"/>
                <a:cs typeface="Arial" pitchFamily="34" charset="-120"/>
              </a:rPr>
              <a:t>Few packets, spread over days or months</a:t>
            </a:r>
            <a:endParaRPr lang="en-US" sz="1250" dirty="0"/>
          </a:p>
        </p:txBody>
      </p:sp>
      <p:sp>
        <p:nvSpPr>
          <p:cNvPr id="46" name="Shape 39"/>
          <p:cNvSpPr/>
          <p:nvPr/>
        </p:nvSpPr>
        <p:spPr>
          <a:xfrm>
            <a:off x="4292498" y="5138928"/>
            <a:ext cx="530352" cy="530352"/>
          </a:xfrm>
          <a:prstGeom prst="ellipse">
            <a:avLst/>
          </a:prstGeom>
          <a:solidFill>
            <a:srgbClr val="2A78D6"/>
          </a:solidFill>
          <a:ln w="12700">
            <a:solidFill>
              <a:srgbClr val="2A78D6"/>
            </a:solidFill>
            <a:prstDash val="solid"/>
          </a:ln>
        </p:spPr>
      </p:sp>
      <p:pic>
        <p:nvPicPr>
          <p:cNvPr id="47" name="Image 5" descr="preencoded.png">    </p:cNvPr>
          <p:cNvPicPr>
            <a:picLocks noChangeAspect="1"/>
          </p:cNvPicPr>
          <p:nvPr/>
        </p:nvPicPr>
        <p:blipFill>
          <a:blip r:embed="rId6"/>
          <a:stretch>
            <a:fillRect/>
          </a:stretch>
        </p:blipFill>
        <p:spPr>
          <a:xfrm>
            <a:off x="4435693" y="5282123"/>
            <a:ext cx="243962" cy="243962"/>
          </a:xfrm>
          <a:prstGeom prst="rect">
            <a:avLst/>
          </a:prstGeom>
        </p:spPr>
      </p:pic>
      <p:sp>
        <p:nvSpPr>
          <p:cNvPr id="48" name="Text 40"/>
          <p:cNvSpPr txBox="1"/>
          <p:nvPr/>
        </p:nvSpPr>
        <p:spPr>
          <a:xfrm>
            <a:off x="5024018" y="5120640"/>
            <a:ext cx="2692298" cy="320040"/>
          </a:xfrm>
          <a:prstGeom prst="rect">
            <a:avLst/>
          </a:prstGeom>
          <a:noFill/>
          <a:ln/>
        </p:spPr>
        <p:txBody>
          <a:bodyPr wrap="square" lIns="0" tIns="0" rIns="0" bIns="0" rtlCol="0" anchor="t"/>
          <a:lstStyle/>
          <a:p>
            <a:pPr indent="0" marL="0">
              <a:buNone/>
            </a:pPr>
            <a:r>
              <a:rPr lang="en-US" sz="1500" b="1" dirty="0">
                <a:solidFill>
                  <a:srgbClr val="0F1B2D"/>
                </a:solidFill>
                <a:latin typeface="Arial" pitchFamily="34" charset="0"/>
                <a:ea typeface="Arial" pitchFamily="34" charset="-122"/>
                <a:cs typeface="Arial" pitchFamily="34" charset="-120"/>
              </a:rPr>
              <a:t>Blends in</a:t>
            </a:r>
            <a:endParaRPr lang="en-US" sz="1500" dirty="0"/>
          </a:p>
        </p:txBody>
      </p:sp>
      <p:sp>
        <p:nvSpPr>
          <p:cNvPr id="49" name="Text 41"/>
          <p:cNvSpPr txBox="1"/>
          <p:nvPr/>
        </p:nvSpPr>
        <p:spPr>
          <a:xfrm>
            <a:off x="5024018" y="5458968"/>
            <a:ext cx="2692298" cy="502920"/>
          </a:xfrm>
          <a:prstGeom prst="rect">
            <a:avLst/>
          </a:prstGeom>
          <a:noFill/>
          <a:ln/>
        </p:spPr>
        <p:txBody>
          <a:bodyPr wrap="square" lIns="0" tIns="0" rIns="0" bIns="0" rtlCol="0" anchor="t"/>
          <a:lstStyle/>
          <a:p>
            <a:pPr indent="0" marL="0">
              <a:buNone/>
            </a:pPr>
            <a:r>
              <a:rPr lang="en-US" sz="1250" dirty="0">
                <a:solidFill>
                  <a:srgbClr val="55606E"/>
                </a:solidFill>
                <a:latin typeface="Arial" pitchFamily="34" charset="0"/>
                <a:ea typeface="Arial" pitchFamily="34" charset="-122"/>
                <a:cs typeface="Arial" pitchFamily="34" charset="-120"/>
              </a:rPr>
              <a:t>Deliberately resembles normal traffic</a:t>
            </a:r>
            <a:endParaRPr lang="en-US" sz="1250" dirty="0"/>
          </a:p>
        </p:txBody>
      </p:sp>
      <p:sp>
        <p:nvSpPr>
          <p:cNvPr id="50" name="Shape 42"/>
          <p:cNvSpPr/>
          <p:nvPr/>
        </p:nvSpPr>
        <p:spPr>
          <a:xfrm>
            <a:off x="7899197" y="5138928"/>
            <a:ext cx="530352" cy="530352"/>
          </a:xfrm>
          <a:prstGeom prst="ellipse">
            <a:avLst/>
          </a:prstGeom>
          <a:solidFill>
            <a:srgbClr val="2A78D6"/>
          </a:solidFill>
          <a:ln w="12700">
            <a:solidFill>
              <a:srgbClr val="2A78D6"/>
            </a:solidFill>
            <a:prstDash val="solid"/>
          </a:ln>
        </p:spPr>
      </p:sp>
      <p:pic>
        <p:nvPicPr>
          <p:cNvPr id="51" name="Image 6" descr="preencoded.png">    </p:cNvPr>
          <p:cNvPicPr>
            <a:picLocks noChangeAspect="1"/>
          </p:cNvPicPr>
          <p:nvPr/>
        </p:nvPicPr>
        <p:blipFill>
          <a:blip r:embed="rId7"/>
          <a:stretch>
            <a:fillRect/>
          </a:stretch>
        </p:blipFill>
        <p:spPr>
          <a:xfrm>
            <a:off x="8042392" y="5282123"/>
            <a:ext cx="243962" cy="243962"/>
          </a:xfrm>
          <a:prstGeom prst="rect">
            <a:avLst/>
          </a:prstGeom>
        </p:spPr>
      </p:pic>
      <p:sp>
        <p:nvSpPr>
          <p:cNvPr id="52" name="Text 43"/>
          <p:cNvSpPr txBox="1"/>
          <p:nvPr/>
        </p:nvSpPr>
        <p:spPr>
          <a:xfrm>
            <a:off x="8630717" y="5120640"/>
            <a:ext cx="2692298" cy="320040"/>
          </a:xfrm>
          <a:prstGeom prst="rect">
            <a:avLst/>
          </a:prstGeom>
          <a:noFill/>
          <a:ln/>
        </p:spPr>
        <p:txBody>
          <a:bodyPr wrap="square" lIns="0" tIns="0" rIns="0" bIns="0" rtlCol="0" anchor="t"/>
          <a:lstStyle/>
          <a:p>
            <a:pPr indent="0" marL="0">
              <a:buNone/>
            </a:pPr>
            <a:r>
              <a:rPr lang="en-US" sz="1500" b="1" dirty="0">
                <a:solidFill>
                  <a:srgbClr val="0F1B2D"/>
                </a:solidFill>
                <a:latin typeface="Arial" pitchFamily="34" charset="0"/>
                <a:ea typeface="Arial" pitchFamily="34" charset="-122"/>
                <a:cs typeface="Arial" pitchFamily="34" charset="-120"/>
              </a:rPr>
              <a:t>Persistent</a:t>
            </a:r>
            <a:endParaRPr lang="en-US" sz="1500" dirty="0"/>
          </a:p>
        </p:txBody>
      </p:sp>
      <p:sp>
        <p:nvSpPr>
          <p:cNvPr id="53" name="Text 44"/>
          <p:cNvSpPr txBox="1"/>
          <p:nvPr/>
        </p:nvSpPr>
        <p:spPr>
          <a:xfrm>
            <a:off x="8630717" y="5458968"/>
            <a:ext cx="2692298" cy="502920"/>
          </a:xfrm>
          <a:prstGeom prst="rect">
            <a:avLst/>
          </a:prstGeom>
          <a:noFill/>
          <a:ln/>
        </p:spPr>
        <p:txBody>
          <a:bodyPr wrap="square" lIns="0" tIns="0" rIns="0" bIns="0" rtlCol="0" anchor="t"/>
          <a:lstStyle/>
          <a:p>
            <a:pPr indent="0" marL="0">
              <a:buNone/>
            </a:pPr>
            <a:r>
              <a:rPr lang="en-US" sz="1250" dirty="0">
                <a:solidFill>
                  <a:srgbClr val="55606E"/>
                </a:solidFill>
                <a:latin typeface="Arial" pitchFamily="34" charset="0"/>
                <a:ea typeface="Arial" pitchFamily="34" charset="-122"/>
                <a:cs typeface="Arial" pitchFamily="34" charset="-120"/>
              </a:rPr>
              <a:t>Aims for long-term access and data theft</a:t>
            </a:r>
            <a:endParaRPr lang="en-US" sz="1250" dirty="0"/>
          </a:p>
        </p:txBody>
      </p:sp>
      <p:sp>
        <p:nvSpPr>
          <p:cNvPr id="54" name="Text 45"/>
          <p:cNvSpPr txBox="1"/>
          <p:nvPr/>
        </p:nvSpPr>
        <p:spPr>
          <a:xfrm>
            <a:off x="685800" y="6400800"/>
            <a:ext cx="7315200" cy="228600"/>
          </a:xfrm>
          <a:prstGeom prst="rect">
            <a:avLst/>
          </a:prstGeom>
          <a:noFill/>
          <a:ln/>
        </p:spPr>
        <p:txBody>
          <a:bodyPr wrap="square" lIns="0" tIns="0" rIns="0" bIns="0" rtlCol="0" anchor="t"/>
          <a:lstStyle/>
          <a:p>
            <a:pPr indent="0" marL="0">
              <a:buNone/>
            </a:pPr>
            <a:r>
              <a:rPr lang="en-US" sz="900" dirty="0">
                <a:solidFill>
                  <a:srgbClr val="8A94A3"/>
                </a:solidFill>
                <a:latin typeface="Arial" pitchFamily="34" charset="0"/>
                <a:ea typeface="Arial" pitchFamily="34" charset="-122"/>
                <a:cs typeface="Arial" pitchFamily="34" charset="-120"/>
              </a:rPr>
              <a:t>Anomaly detection for Advanced Persistent Threats   |   Mid-term evaluation</a:t>
            </a:r>
            <a:endParaRPr lang="en-US" sz="900" dirty="0"/>
          </a:p>
        </p:txBody>
      </p:sp>
      <p:sp>
        <p:nvSpPr>
          <p:cNvPr id="55" name="Text 46"/>
          <p:cNvSpPr txBox="1"/>
          <p:nvPr/>
        </p:nvSpPr>
        <p:spPr>
          <a:xfrm>
            <a:off x="10591495" y="6400800"/>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V="1">
            <a:off x="10087295" y="470002"/>
            <a:ext cx="288950" cy="416966"/>
          </a:xfrm>
          <a:prstGeom prst="line">
            <a:avLst/>
          </a:prstGeom>
          <a:noFill/>
          <a:ln w="9525">
            <a:solidFill>
              <a:srgbClr val="DCE2EA"/>
            </a:solidFill>
            <a:prstDash val="solid"/>
          </a:ln>
        </p:spPr>
      </p:sp>
      <p:sp>
        <p:nvSpPr>
          <p:cNvPr id="3" name="Shape 1"/>
          <p:cNvSpPr/>
          <p:nvPr/>
        </p:nvSpPr>
        <p:spPr>
          <a:xfrm>
            <a:off x="10087295" y="886968"/>
            <a:ext cx="549006" cy="69494"/>
          </a:xfrm>
          <a:prstGeom prst="line">
            <a:avLst/>
          </a:prstGeom>
          <a:noFill/>
          <a:ln w="9525">
            <a:solidFill>
              <a:srgbClr val="DCE2EA"/>
            </a:solidFill>
            <a:prstDash val="solid"/>
          </a:ln>
        </p:spPr>
      </p:sp>
      <p:sp>
        <p:nvSpPr>
          <p:cNvPr id="4" name="Shape 2"/>
          <p:cNvSpPr/>
          <p:nvPr/>
        </p:nvSpPr>
        <p:spPr>
          <a:xfrm>
            <a:off x="10376245" y="470002"/>
            <a:ext cx="549006" cy="156362"/>
          </a:xfrm>
          <a:prstGeom prst="line">
            <a:avLst/>
          </a:prstGeom>
          <a:noFill/>
          <a:ln w="9525">
            <a:solidFill>
              <a:srgbClr val="F2B7A8"/>
            </a:solidFill>
            <a:prstDash val="solid"/>
          </a:ln>
        </p:spPr>
      </p:sp>
      <p:sp>
        <p:nvSpPr>
          <p:cNvPr id="5" name="Shape 3"/>
          <p:cNvSpPr/>
          <p:nvPr/>
        </p:nvSpPr>
        <p:spPr>
          <a:xfrm flipV="1">
            <a:off x="10636301" y="626364"/>
            <a:ext cx="288950" cy="330098"/>
          </a:xfrm>
          <a:prstGeom prst="line">
            <a:avLst/>
          </a:prstGeom>
          <a:noFill/>
          <a:ln w="9525">
            <a:solidFill>
              <a:srgbClr val="F2B7A8"/>
            </a:solidFill>
            <a:prstDash val="solid"/>
          </a:ln>
        </p:spPr>
      </p:sp>
      <p:sp>
        <p:nvSpPr>
          <p:cNvPr id="6" name="Shape 4"/>
          <p:cNvSpPr/>
          <p:nvPr/>
        </p:nvSpPr>
        <p:spPr>
          <a:xfrm flipV="1">
            <a:off x="10925251" y="522122"/>
            <a:ext cx="534558" cy="104242"/>
          </a:xfrm>
          <a:prstGeom prst="line">
            <a:avLst/>
          </a:prstGeom>
          <a:noFill/>
          <a:ln w="9525">
            <a:solidFill>
              <a:srgbClr val="F2B7A8"/>
            </a:solidFill>
            <a:prstDash val="solid"/>
          </a:ln>
        </p:spPr>
      </p:sp>
      <p:sp>
        <p:nvSpPr>
          <p:cNvPr id="7" name="Shape 5"/>
          <p:cNvSpPr/>
          <p:nvPr/>
        </p:nvSpPr>
        <p:spPr>
          <a:xfrm>
            <a:off x="10636301" y="956462"/>
            <a:ext cx="549006" cy="121615"/>
          </a:xfrm>
          <a:prstGeom prst="line">
            <a:avLst/>
          </a:prstGeom>
          <a:noFill/>
          <a:ln w="9525">
            <a:solidFill>
              <a:srgbClr val="DCE2EA"/>
            </a:solidFill>
            <a:prstDash val="solid"/>
          </a:ln>
        </p:spPr>
      </p:sp>
      <p:sp>
        <p:nvSpPr>
          <p:cNvPr id="8" name="Shape 6"/>
          <p:cNvSpPr/>
          <p:nvPr/>
        </p:nvSpPr>
        <p:spPr>
          <a:xfrm flipV="1">
            <a:off x="11185307" y="843534"/>
            <a:ext cx="173370" cy="234544"/>
          </a:xfrm>
          <a:prstGeom prst="line">
            <a:avLst/>
          </a:prstGeom>
          <a:noFill/>
          <a:ln w="9525">
            <a:solidFill>
              <a:srgbClr val="DCE2EA"/>
            </a:solidFill>
            <a:prstDash val="solid"/>
          </a:ln>
        </p:spPr>
      </p:sp>
      <p:sp>
        <p:nvSpPr>
          <p:cNvPr id="9" name="Shape 7"/>
          <p:cNvSpPr/>
          <p:nvPr/>
        </p:nvSpPr>
        <p:spPr>
          <a:xfrm flipH="1">
            <a:off x="11358677" y="522122"/>
            <a:ext cx="101133" cy="321412"/>
          </a:xfrm>
          <a:prstGeom prst="line">
            <a:avLst/>
          </a:prstGeom>
          <a:noFill/>
          <a:ln w="9525">
            <a:solidFill>
              <a:srgbClr val="DCE2EA"/>
            </a:solidFill>
            <a:prstDash val="solid"/>
          </a:ln>
        </p:spPr>
      </p:sp>
      <p:sp>
        <p:nvSpPr>
          <p:cNvPr id="10" name="Shape 8"/>
          <p:cNvSpPr/>
          <p:nvPr/>
        </p:nvSpPr>
        <p:spPr>
          <a:xfrm>
            <a:off x="10055291" y="854964"/>
            <a:ext cx="64008" cy="64008"/>
          </a:xfrm>
          <a:prstGeom prst="ellipse">
            <a:avLst/>
          </a:prstGeom>
          <a:solidFill>
            <a:srgbClr val="C3CCD9"/>
          </a:solidFill>
          <a:ln w="12700">
            <a:solidFill>
              <a:srgbClr val="C3CCD9"/>
            </a:solidFill>
            <a:prstDash val="solid"/>
          </a:ln>
        </p:spPr>
      </p:sp>
      <p:sp>
        <p:nvSpPr>
          <p:cNvPr id="11" name="Shape 9"/>
          <p:cNvSpPr/>
          <p:nvPr/>
        </p:nvSpPr>
        <p:spPr>
          <a:xfrm>
            <a:off x="10335097" y="428854"/>
            <a:ext cx="82296" cy="82296"/>
          </a:xfrm>
          <a:prstGeom prst="ellipse">
            <a:avLst/>
          </a:prstGeom>
          <a:solidFill>
            <a:srgbClr val="C3CCD9"/>
          </a:solidFill>
          <a:ln w="12700">
            <a:solidFill>
              <a:srgbClr val="C3CCD9"/>
            </a:solidFill>
            <a:prstDash val="solid"/>
          </a:ln>
        </p:spPr>
      </p:sp>
      <p:sp>
        <p:nvSpPr>
          <p:cNvPr id="12" name="Shape 10"/>
          <p:cNvSpPr/>
          <p:nvPr/>
        </p:nvSpPr>
        <p:spPr>
          <a:xfrm>
            <a:off x="10599725" y="919886"/>
            <a:ext cx="73152" cy="73152"/>
          </a:xfrm>
          <a:prstGeom prst="ellipse">
            <a:avLst/>
          </a:prstGeom>
          <a:solidFill>
            <a:srgbClr val="C3CCD9"/>
          </a:solidFill>
          <a:ln w="12700">
            <a:solidFill>
              <a:srgbClr val="C3CCD9"/>
            </a:solidFill>
            <a:prstDash val="solid"/>
          </a:ln>
        </p:spPr>
      </p:sp>
      <p:sp>
        <p:nvSpPr>
          <p:cNvPr id="13" name="Shape 11"/>
          <p:cNvSpPr/>
          <p:nvPr/>
        </p:nvSpPr>
        <p:spPr>
          <a:xfrm>
            <a:off x="10806379" y="507492"/>
            <a:ext cx="237744" cy="237744"/>
          </a:xfrm>
          <a:prstGeom prst="ellipse">
            <a:avLst/>
          </a:prstGeom>
          <a:solidFill>
            <a:srgbClr val="E0533A">
              <a:alpha val="18000"/>
            </a:srgbClr>
          </a:solidFill>
          <a:ln w="12700">
            <a:solidFill>
              <a:srgbClr val="E0533A">
                <a:alpha val="18000"/>
              </a:srgbClr>
            </a:solidFill>
            <a:prstDash val="solid"/>
          </a:ln>
        </p:spPr>
      </p:sp>
      <p:sp>
        <p:nvSpPr>
          <p:cNvPr id="14" name="Shape 12"/>
          <p:cNvSpPr/>
          <p:nvPr/>
        </p:nvSpPr>
        <p:spPr>
          <a:xfrm>
            <a:off x="10874959" y="576072"/>
            <a:ext cx="100584" cy="100584"/>
          </a:xfrm>
          <a:prstGeom prst="ellipse">
            <a:avLst/>
          </a:prstGeom>
          <a:solidFill>
            <a:srgbClr val="E0533A"/>
          </a:solidFill>
          <a:ln w="12700">
            <a:solidFill>
              <a:srgbClr val="E0533A"/>
            </a:solidFill>
            <a:prstDash val="solid"/>
          </a:ln>
        </p:spPr>
      </p:sp>
      <p:sp>
        <p:nvSpPr>
          <p:cNvPr id="15" name="Shape 13"/>
          <p:cNvSpPr/>
          <p:nvPr/>
        </p:nvSpPr>
        <p:spPr>
          <a:xfrm>
            <a:off x="11144159" y="1036930"/>
            <a:ext cx="82296" cy="82296"/>
          </a:xfrm>
          <a:prstGeom prst="ellipse">
            <a:avLst/>
          </a:prstGeom>
          <a:solidFill>
            <a:srgbClr val="C3CCD9"/>
          </a:solidFill>
          <a:ln w="12700">
            <a:solidFill>
              <a:srgbClr val="C3CCD9"/>
            </a:solidFill>
            <a:prstDash val="solid"/>
          </a:ln>
        </p:spPr>
      </p:sp>
      <p:sp>
        <p:nvSpPr>
          <p:cNvPr id="16" name="Shape 14"/>
          <p:cNvSpPr/>
          <p:nvPr/>
        </p:nvSpPr>
        <p:spPr>
          <a:xfrm>
            <a:off x="11427805" y="490118"/>
            <a:ext cx="64008" cy="64008"/>
          </a:xfrm>
          <a:prstGeom prst="ellipse">
            <a:avLst/>
          </a:prstGeom>
          <a:solidFill>
            <a:srgbClr val="C3CCD9"/>
          </a:solidFill>
          <a:ln w="12700">
            <a:solidFill>
              <a:srgbClr val="C3CCD9"/>
            </a:solidFill>
            <a:prstDash val="solid"/>
          </a:ln>
        </p:spPr>
      </p:sp>
      <p:sp>
        <p:nvSpPr>
          <p:cNvPr id="17" name="Shape 15"/>
          <p:cNvSpPr/>
          <p:nvPr/>
        </p:nvSpPr>
        <p:spPr>
          <a:xfrm>
            <a:off x="11331245" y="816102"/>
            <a:ext cx="54864" cy="54864"/>
          </a:xfrm>
          <a:prstGeom prst="ellipse">
            <a:avLst/>
          </a:prstGeom>
          <a:solidFill>
            <a:srgbClr val="C3CCD9"/>
          </a:solidFill>
          <a:ln w="12700">
            <a:solidFill>
              <a:srgbClr val="C3CCD9"/>
            </a:solidFill>
            <a:prstDash val="solid"/>
          </a:ln>
        </p:spPr>
      </p:sp>
      <p:sp>
        <p:nvSpPr>
          <p:cNvPr id="18" name="Text 16"/>
          <p:cNvSpPr txBox="1"/>
          <p:nvPr/>
        </p:nvSpPr>
        <p:spPr>
          <a:xfrm>
            <a:off x="685800" y="475488"/>
            <a:ext cx="10820095" cy="256032"/>
          </a:xfrm>
          <a:prstGeom prst="rect">
            <a:avLst/>
          </a:prstGeom>
          <a:noFill/>
          <a:ln/>
        </p:spPr>
        <p:txBody>
          <a:bodyPr wrap="square" lIns="0" tIns="0" rIns="0" bIns="0" rtlCol="0" anchor="t"/>
          <a:lstStyle/>
          <a:p>
            <a:pPr indent="0" marL="0">
              <a:buNone/>
            </a:pPr>
            <a:r>
              <a:rPr lang="en-US" sz="1100" b="1" dirty="0">
                <a:solidFill>
                  <a:srgbClr val="E0533A"/>
                </a:solidFill>
                <a:latin typeface="Arial" pitchFamily="34" charset="0"/>
                <a:ea typeface="Arial" pitchFamily="34" charset="-122"/>
                <a:cs typeface="Arial" pitchFamily="34" charset="-120"/>
              </a:rPr>
              <a:t>01 · BACKGROUND</a:t>
            </a:r>
            <a:endParaRPr lang="en-US" sz="1100" dirty="0"/>
          </a:p>
        </p:txBody>
      </p:sp>
      <p:sp>
        <p:nvSpPr>
          <p:cNvPr id="19" name="Text 17"/>
          <p:cNvSpPr txBox="1"/>
          <p:nvPr/>
        </p:nvSpPr>
        <p:spPr>
          <a:xfrm>
            <a:off x="685800" y="768096"/>
            <a:ext cx="10820095" cy="822960"/>
          </a:xfrm>
          <a:prstGeom prst="rect">
            <a:avLst/>
          </a:prstGeom>
          <a:noFill/>
          <a:ln/>
        </p:spPr>
        <p:txBody>
          <a:bodyPr wrap="square" lIns="0" tIns="0" rIns="0" bIns="0" rtlCol="0" anchor="t"/>
          <a:lstStyle/>
          <a:p>
            <a:pPr indent="0" marL="0">
              <a:buNone/>
            </a:pPr>
            <a:r>
              <a:rPr lang="en-US" sz="3000" dirty="0">
                <a:solidFill>
                  <a:srgbClr val="0F1B2D"/>
                </a:solidFill>
                <a:latin typeface="Georgia" pitchFamily="34" charset="0"/>
                <a:ea typeface="Georgia" pitchFamily="34" charset="-122"/>
                <a:cs typeface="Georgia" pitchFamily="34" charset="-120"/>
              </a:rPr>
              <a:t>The paper's datasets contain no APT campaigns</a:t>
            </a:r>
            <a:endParaRPr lang="en-US" sz="3000" dirty="0"/>
          </a:p>
        </p:txBody>
      </p:sp>
      <p:sp>
        <p:nvSpPr>
          <p:cNvPr id="20" name="Shape 18"/>
          <p:cNvSpPr/>
          <p:nvPr/>
        </p:nvSpPr>
        <p:spPr>
          <a:xfrm>
            <a:off x="9566681" y="1783080"/>
            <a:ext cx="1939214" cy="4206240"/>
          </a:xfrm>
          <a:prstGeom prst="roundRect">
            <a:avLst>
              <a:gd name="adj" fmla="val 1886"/>
            </a:avLst>
          </a:prstGeom>
          <a:solidFill>
            <a:srgbClr val="EAF1FB"/>
          </a:solidFill>
          <a:ln w="12700">
            <a:solidFill>
              <a:srgbClr val="EAF1FB"/>
            </a:solidFill>
            <a:prstDash val="solid"/>
          </a:ln>
        </p:spPr>
      </p:sp>
      <p:sp>
        <p:nvSpPr>
          <p:cNvPr id="21" name="Text 19"/>
          <p:cNvSpPr txBox="1"/>
          <p:nvPr/>
        </p:nvSpPr>
        <p:spPr>
          <a:xfrm>
            <a:off x="3749040" y="1892808"/>
            <a:ext cx="5817641" cy="228600"/>
          </a:xfrm>
          <a:prstGeom prst="rect">
            <a:avLst/>
          </a:prstGeom>
          <a:noFill/>
          <a:ln/>
        </p:spPr>
        <p:txBody>
          <a:bodyPr wrap="square" lIns="0" tIns="0" rIns="0" bIns="0" rtlCol="0" anchor="t"/>
          <a:lstStyle/>
          <a:p>
            <a:pPr algn="ctr" indent="0" marL="0">
              <a:buNone/>
            </a:pPr>
            <a:r>
              <a:rPr lang="en-US" sz="900" b="1" dirty="0">
                <a:solidFill>
                  <a:srgbClr val="8A94A3"/>
                </a:solidFill>
                <a:latin typeface="Arial" pitchFamily="34" charset="0"/>
                <a:ea typeface="Arial" pitchFamily="34" charset="-122"/>
                <a:cs typeface="Arial" pitchFamily="34" charset="-120"/>
              </a:rPr>
              <a:t>USED IN THE PAPER</a:t>
            </a:r>
            <a:endParaRPr lang="en-US" sz="900" dirty="0"/>
          </a:p>
        </p:txBody>
      </p:sp>
      <p:sp>
        <p:nvSpPr>
          <p:cNvPr id="22" name="Text 20"/>
          <p:cNvSpPr txBox="1"/>
          <p:nvPr/>
        </p:nvSpPr>
        <p:spPr>
          <a:xfrm>
            <a:off x="9566681" y="1892808"/>
            <a:ext cx="1939214" cy="228600"/>
          </a:xfrm>
          <a:prstGeom prst="rect">
            <a:avLst/>
          </a:prstGeom>
          <a:noFill/>
          <a:ln/>
        </p:spPr>
        <p:txBody>
          <a:bodyPr wrap="square" lIns="0" tIns="0" rIns="0" bIns="0" rtlCol="0" anchor="t"/>
          <a:lstStyle/>
          <a:p>
            <a:pPr algn="ctr" indent="0" marL="0">
              <a:buNone/>
            </a:pPr>
            <a:r>
              <a:rPr lang="en-US" sz="900" b="1" dirty="0">
                <a:solidFill>
                  <a:srgbClr val="2A78D6"/>
                </a:solidFill>
                <a:latin typeface="Arial" pitchFamily="34" charset="0"/>
                <a:ea typeface="Arial" pitchFamily="34" charset="-122"/>
                <a:cs typeface="Arial" pitchFamily="34" charset="-120"/>
              </a:rPr>
              <a:t>USED IN THIS WORK</a:t>
            </a:r>
            <a:endParaRPr lang="en-US" sz="900" dirty="0"/>
          </a:p>
        </p:txBody>
      </p:sp>
      <p:sp>
        <p:nvSpPr>
          <p:cNvPr id="23" name="Text 21"/>
          <p:cNvSpPr txBox="1"/>
          <p:nvPr/>
        </p:nvSpPr>
        <p:spPr>
          <a:xfrm>
            <a:off x="3794760" y="2148840"/>
            <a:ext cx="1847774" cy="320040"/>
          </a:xfrm>
          <a:prstGeom prst="rect">
            <a:avLst/>
          </a:prstGeom>
          <a:noFill/>
          <a:ln/>
        </p:spPr>
        <p:txBody>
          <a:bodyPr wrap="square" lIns="0" tIns="0" rIns="0" bIns="0" rtlCol="0" anchor="t"/>
          <a:lstStyle/>
          <a:p>
            <a:pPr algn="ctr" indent="0" marL="0">
              <a:buNone/>
            </a:pPr>
            <a:r>
              <a:rPr lang="en-US" sz="1350" b="1" dirty="0">
                <a:solidFill>
                  <a:srgbClr val="0F1B2D"/>
                </a:solidFill>
                <a:latin typeface="Arial" pitchFamily="34" charset="0"/>
                <a:ea typeface="Arial" pitchFamily="34" charset="-122"/>
                <a:cs typeface="Arial" pitchFamily="34" charset="-120"/>
              </a:rPr>
              <a:t>CIC-IDS2017 / 2018</a:t>
            </a:r>
            <a:endParaRPr lang="en-US" sz="1350" dirty="0"/>
          </a:p>
        </p:txBody>
      </p:sp>
      <p:sp>
        <p:nvSpPr>
          <p:cNvPr id="24" name="Text 22"/>
          <p:cNvSpPr txBox="1"/>
          <p:nvPr/>
        </p:nvSpPr>
        <p:spPr>
          <a:xfrm>
            <a:off x="5733974" y="2148840"/>
            <a:ext cx="1847774" cy="320040"/>
          </a:xfrm>
          <a:prstGeom prst="rect">
            <a:avLst/>
          </a:prstGeom>
          <a:noFill/>
          <a:ln/>
        </p:spPr>
        <p:txBody>
          <a:bodyPr wrap="square" lIns="0" tIns="0" rIns="0" bIns="0" rtlCol="0" anchor="t"/>
          <a:lstStyle/>
          <a:p>
            <a:pPr algn="ctr" indent="0" marL="0">
              <a:buNone/>
            </a:pPr>
            <a:r>
              <a:rPr lang="en-US" sz="1350" b="1" dirty="0">
                <a:solidFill>
                  <a:srgbClr val="0F1B2D"/>
                </a:solidFill>
                <a:latin typeface="Arial" pitchFamily="34" charset="0"/>
                <a:ea typeface="Arial" pitchFamily="34" charset="-122"/>
                <a:cs typeface="Arial" pitchFamily="34" charset="-120"/>
              </a:rPr>
              <a:t>NSL-KDD</a:t>
            </a:r>
            <a:endParaRPr lang="en-US" sz="1350" dirty="0"/>
          </a:p>
        </p:txBody>
      </p:sp>
      <p:sp>
        <p:nvSpPr>
          <p:cNvPr id="25" name="Text 23"/>
          <p:cNvSpPr txBox="1"/>
          <p:nvPr/>
        </p:nvSpPr>
        <p:spPr>
          <a:xfrm>
            <a:off x="7673188" y="2148840"/>
            <a:ext cx="1847774" cy="320040"/>
          </a:xfrm>
          <a:prstGeom prst="rect">
            <a:avLst/>
          </a:prstGeom>
          <a:noFill/>
          <a:ln/>
        </p:spPr>
        <p:txBody>
          <a:bodyPr wrap="square" lIns="0" tIns="0" rIns="0" bIns="0" rtlCol="0" anchor="t"/>
          <a:lstStyle/>
          <a:p>
            <a:pPr algn="ctr" indent="0" marL="0">
              <a:buNone/>
            </a:pPr>
            <a:r>
              <a:rPr lang="en-US" sz="1350" b="1" dirty="0">
                <a:solidFill>
                  <a:srgbClr val="0F1B2D"/>
                </a:solidFill>
                <a:latin typeface="Arial" pitchFamily="34" charset="0"/>
                <a:ea typeface="Arial" pitchFamily="34" charset="-122"/>
                <a:cs typeface="Arial" pitchFamily="34" charset="-120"/>
              </a:rPr>
              <a:t>UNSW-NB15</a:t>
            </a:r>
            <a:endParaRPr lang="en-US" sz="1350" dirty="0"/>
          </a:p>
        </p:txBody>
      </p:sp>
      <p:sp>
        <p:nvSpPr>
          <p:cNvPr id="26" name="Text 24"/>
          <p:cNvSpPr txBox="1"/>
          <p:nvPr/>
        </p:nvSpPr>
        <p:spPr>
          <a:xfrm>
            <a:off x="9612401" y="2148840"/>
            <a:ext cx="1847774" cy="320040"/>
          </a:xfrm>
          <a:prstGeom prst="rect">
            <a:avLst/>
          </a:prstGeom>
          <a:noFill/>
          <a:ln/>
        </p:spPr>
        <p:txBody>
          <a:bodyPr wrap="square" lIns="0" tIns="0" rIns="0" bIns="0" rtlCol="0" anchor="t"/>
          <a:lstStyle/>
          <a:p>
            <a:pPr algn="ctr" indent="0" marL="0">
              <a:buNone/>
            </a:pPr>
            <a:r>
              <a:rPr lang="en-US" sz="1350" b="1" dirty="0">
                <a:solidFill>
                  <a:srgbClr val="0F1B2D"/>
                </a:solidFill>
                <a:latin typeface="Arial" pitchFamily="34" charset="0"/>
                <a:ea typeface="Arial" pitchFamily="34" charset="-122"/>
                <a:cs typeface="Arial" pitchFamily="34" charset="-120"/>
              </a:rPr>
              <a:t>DAPT2020</a:t>
            </a:r>
            <a:endParaRPr lang="en-US" sz="1350" dirty="0"/>
          </a:p>
        </p:txBody>
      </p:sp>
      <p:sp>
        <p:nvSpPr>
          <p:cNvPr id="27" name="Shape 25"/>
          <p:cNvSpPr/>
          <p:nvPr/>
        </p:nvSpPr>
        <p:spPr>
          <a:xfrm>
            <a:off x="685800" y="2560320"/>
            <a:ext cx="10820095" cy="914"/>
          </a:xfrm>
          <a:prstGeom prst="line">
            <a:avLst/>
          </a:prstGeom>
          <a:noFill/>
          <a:ln w="9525">
            <a:solidFill>
              <a:srgbClr val="E2E6EC"/>
            </a:solidFill>
            <a:prstDash val="solid"/>
          </a:ln>
        </p:spPr>
      </p:sp>
      <p:sp>
        <p:nvSpPr>
          <p:cNvPr id="28" name="Text 26"/>
          <p:cNvSpPr txBox="1"/>
          <p:nvPr/>
        </p:nvSpPr>
        <p:spPr>
          <a:xfrm>
            <a:off x="685800" y="2560320"/>
            <a:ext cx="2880360" cy="676656"/>
          </a:xfrm>
          <a:prstGeom prst="rect">
            <a:avLst/>
          </a:prstGeom>
          <a:noFill/>
          <a:ln/>
        </p:spPr>
        <p:txBody>
          <a:bodyPr wrap="square" lIns="0" tIns="0" rIns="0" bIns="0" rtlCol="0" anchor="ctr"/>
          <a:lstStyle/>
          <a:p>
            <a:pPr indent="0" marL="0">
              <a:buNone/>
            </a:pPr>
            <a:r>
              <a:rPr lang="en-US" sz="1350" dirty="0">
                <a:solidFill>
                  <a:srgbClr val="0F1B2D"/>
                </a:solidFill>
                <a:latin typeface="Arial" pitchFamily="34" charset="0"/>
                <a:ea typeface="Arial" pitchFamily="34" charset="-122"/>
                <a:cs typeface="Arial" pitchFamily="34" charset="-120"/>
              </a:rPr>
              <a:t>Built around an APT campaign</a:t>
            </a:r>
            <a:endParaRPr lang="en-US" sz="1350" dirty="0"/>
          </a:p>
        </p:txBody>
      </p:sp>
      <p:pic>
        <p:nvPicPr>
          <p:cNvPr id="29" name="Image 0" descr="preencoded.png">    </p:cNvPr>
          <p:cNvPicPr>
            <a:picLocks noChangeAspect="1"/>
          </p:cNvPicPr>
          <p:nvPr/>
        </p:nvPicPr>
        <p:blipFill>
          <a:blip r:embed="rId1"/>
          <a:stretch>
            <a:fillRect/>
          </a:stretch>
        </p:blipFill>
        <p:spPr>
          <a:xfrm>
            <a:off x="4572343" y="2752344"/>
            <a:ext cx="292608" cy="292608"/>
          </a:xfrm>
          <a:prstGeom prst="rect">
            <a:avLst/>
          </a:prstGeom>
        </p:spPr>
      </p:pic>
      <p:pic>
        <p:nvPicPr>
          <p:cNvPr id="30" name="Image 1" descr="preencoded.png">    </p:cNvPr>
          <p:cNvPicPr>
            <a:picLocks noChangeAspect="1"/>
          </p:cNvPicPr>
          <p:nvPr/>
        </p:nvPicPr>
        <p:blipFill>
          <a:blip r:embed="rId2"/>
          <a:stretch>
            <a:fillRect/>
          </a:stretch>
        </p:blipFill>
        <p:spPr>
          <a:xfrm>
            <a:off x="6511557" y="2752344"/>
            <a:ext cx="292608" cy="292608"/>
          </a:xfrm>
          <a:prstGeom prst="rect">
            <a:avLst/>
          </a:prstGeom>
        </p:spPr>
      </p:pic>
      <p:pic>
        <p:nvPicPr>
          <p:cNvPr id="31" name="Image 2" descr="preencoded.png">    </p:cNvPr>
          <p:cNvPicPr>
            <a:picLocks noChangeAspect="1"/>
          </p:cNvPicPr>
          <p:nvPr/>
        </p:nvPicPr>
        <p:blipFill>
          <a:blip r:embed="rId3"/>
          <a:stretch>
            <a:fillRect/>
          </a:stretch>
        </p:blipFill>
        <p:spPr>
          <a:xfrm>
            <a:off x="8450771" y="2752344"/>
            <a:ext cx="292608" cy="292608"/>
          </a:xfrm>
          <a:prstGeom prst="rect">
            <a:avLst/>
          </a:prstGeom>
        </p:spPr>
      </p:pic>
      <p:pic>
        <p:nvPicPr>
          <p:cNvPr id="32" name="Image 3" descr="preencoded.png">    </p:cNvPr>
          <p:cNvPicPr>
            <a:picLocks noChangeAspect="1"/>
          </p:cNvPicPr>
          <p:nvPr/>
        </p:nvPicPr>
        <p:blipFill>
          <a:blip r:embed="rId4"/>
          <a:stretch>
            <a:fillRect/>
          </a:stretch>
        </p:blipFill>
        <p:spPr>
          <a:xfrm>
            <a:off x="10389984" y="2752344"/>
            <a:ext cx="292608" cy="292608"/>
          </a:xfrm>
          <a:prstGeom prst="rect">
            <a:avLst/>
          </a:prstGeom>
        </p:spPr>
      </p:pic>
      <p:sp>
        <p:nvSpPr>
          <p:cNvPr id="33" name="Shape 27"/>
          <p:cNvSpPr/>
          <p:nvPr/>
        </p:nvSpPr>
        <p:spPr>
          <a:xfrm>
            <a:off x="685800" y="3236976"/>
            <a:ext cx="10820095" cy="914"/>
          </a:xfrm>
          <a:prstGeom prst="line">
            <a:avLst/>
          </a:prstGeom>
          <a:noFill/>
          <a:ln w="9525">
            <a:solidFill>
              <a:srgbClr val="E2E6EC"/>
            </a:solidFill>
            <a:prstDash val="solid"/>
          </a:ln>
        </p:spPr>
      </p:sp>
      <p:sp>
        <p:nvSpPr>
          <p:cNvPr id="34" name="Text 28"/>
          <p:cNvSpPr txBox="1"/>
          <p:nvPr/>
        </p:nvSpPr>
        <p:spPr>
          <a:xfrm>
            <a:off x="685800" y="3236976"/>
            <a:ext cx="2880360" cy="676656"/>
          </a:xfrm>
          <a:prstGeom prst="rect">
            <a:avLst/>
          </a:prstGeom>
          <a:noFill/>
          <a:ln/>
        </p:spPr>
        <p:txBody>
          <a:bodyPr wrap="square" lIns="0" tIns="0" rIns="0" bIns="0" rtlCol="0" anchor="ctr"/>
          <a:lstStyle/>
          <a:p>
            <a:pPr indent="0" marL="0">
              <a:buNone/>
            </a:pPr>
            <a:r>
              <a:rPr lang="en-US" sz="1350" dirty="0">
                <a:solidFill>
                  <a:srgbClr val="0F1B2D"/>
                </a:solidFill>
                <a:latin typeface="Arial" pitchFamily="34" charset="0"/>
                <a:ea typeface="Arial" pitchFamily="34" charset="-122"/>
                <a:cs typeface="Arial" pitchFamily="34" charset="-120"/>
              </a:rPr>
              <a:t>Flows labelled with the APT stage</a:t>
            </a:r>
            <a:endParaRPr lang="en-US" sz="1350" dirty="0"/>
          </a:p>
        </p:txBody>
      </p:sp>
      <p:pic>
        <p:nvPicPr>
          <p:cNvPr id="35" name="Image 4" descr="preencoded.png">    </p:cNvPr>
          <p:cNvPicPr>
            <a:picLocks noChangeAspect="1"/>
          </p:cNvPicPr>
          <p:nvPr/>
        </p:nvPicPr>
        <p:blipFill>
          <a:blip r:embed="rId5"/>
          <a:stretch>
            <a:fillRect/>
          </a:stretch>
        </p:blipFill>
        <p:spPr>
          <a:xfrm>
            <a:off x="4572343" y="3429000"/>
            <a:ext cx="292608" cy="292608"/>
          </a:xfrm>
          <a:prstGeom prst="rect">
            <a:avLst/>
          </a:prstGeom>
        </p:spPr>
      </p:pic>
      <p:pic>
        <p:nvPicPr>
          <p:cNvPr id="36" name="Image 5" descr="preencoded.png">    </p:cNvPr>
          <p:cNvPicPr>
            <a:picLocks noChangeAspect="1"/>
          </p:cNvPicPr>
          <p:nvPr/>
        </p:nvPicPr>
        <p:blipFill>
          <a:blip r:embed="rId6"/>
          <a:stretch>
            <a:fillRect/>
          </a:stretch>
        </p:blipFill>
        <p:spPr>
          <a:xfrm>
            <a:off x="6511557" y="3429000"/>
            <a:ext cx="292608" cy="292608"/>
          </a:xfrm>
          <a:prstGeom prst="rect">
            <a:avLst/>
          </a:prstGeom>
        </p:spPr>
      </p:pic>
      <p:pic>
        <p:nvPicPr>
          <p:cNvPr id="37" name="Image 6" descr="preencoded.png">    </p:cNvPr>
          <p:cNvPicPr>
            <a:picLocks noChangeAspect="1"/>
          </p:cNvPicPr>
          <p:nvPr/>
        </p:nvPicPr>
        <p:blipFill>
          <a:blip r:embed="rId7"/>
          <a:stretch>
            <a:fillRect/>
          </a:stretch>
        </p:blipFill>
        <p:spPr>
          <a:xfrm>
            <a:off x="8450771" y="3429000"/>
            <a:ext cx="292608" cy="292608"/>
          </a:xfrm>
          <a:prstGeom prst="rect">
            <a:avLst/>
          </a:prstGeom>
        </p:spPr>
      </p:pic>
      <p:pic>
        <p:nvPicPr>
          <p:cNvPr id="38" name="Image 7" descr="preencoded.png">    </p:cNvPr>
          <p:cNvPicPr>
            <a:picLocks noChangeAspect="1"/>
          </p:cNvPicPr>
          <p:nvPr/>
        </p:nvPicPr>
        <p:blipFill>
          <a:blip r:embed="rId8"/>
          <a:stretch>
            <a:fillRect/>
          </a:stretch>
        </p:blipFill>
        <p:spPr>
          <a:xfrm>
            <a:off x="10389984" y="3429000"/>
            <a:ext cx="292608" cy="292608"/>
          </a:xfrm>
          <a:prstGeom prst="rect">
            <a:avLst/>
          </a:prstGeom>
        </p:spPr>
      </p:pic>
      <p:sp>
        <p:nvSpPr>
          <p:cNvPr id="39" name="Shape 29"/>
          <p:cNvSpPr/>
          <p:nvPr/>
        </p:nvSpPr>
        <p:spPr>
          <a:xfrm>
            <a:off x="685800" y="3913632"/>
            <a:ext cx="10820095" cy="914"/>
          </a:xfrm>
          <a:prstGeom prst="line">
            <a:avLst/>
          </a:prstGeom>
          <a:noFill/>
          <a:ln w="9525">
            <a:solidFill>
              <a:srgbClr val="E2E6EC"/>
            </a:solidFill>
            <a:prstDash val="solid"/>
          </a:ln>
        </p:spPr>
      </p:sp>
      <p:sp>
        <p:nvSpPr>
          <p:cNvPr id="40" name="Text 30"/>
          <p:cNvSpPr txBox="1"/>
          <p:nvPr/>
        </p:nvSpPr>
        <p:spPr>
          <a:xfrm>
            <a:off x="685800" y="3913632"/>
            <a:ext cx="2880360" cy="676656"/>
          </a:xfrm>
          <a:prstGeom prst="rect">
            <a:avLst/>
          </a:prstGeom>
          <a:noFill/>
          <a:ln/>
        </p:spPr>
        <p:txBody>
          <a:bodyPr wrap="square" lIns="0" tIns="0" rIns="0" bIns="0" rtlCol="0" anchor="ctr"/>
          <a:lstStyle/>
          <a:p>
            <a:pPr indent="0" marL="0">
              <a:buNone/>
            </a:pPr>
            <a:r>
              <a:rPr lang="en-US" sz="1350" dirty="0">
                <a:solidFill>
                  <a:srgbClr val="0F1B2D"/>
                </a:solidFill>
                <a:latin typeface="Arial" pitchFamily="34" charset="0"/>
                <a:ea typeface="Arial" pitchFamily="34" charset="-122"/>
                <a:cs typeface="Arial" pitchFamily="34" charset="-120"/>
              </a:rPr>
              <a:t>Attack types</a:t>
            </a:r>
            <a:endParaRPr lang="en-US" sz="1350" dirty="0"/>
          </a:p>
        </p:txBody>
      </p:sp>
      <p:sp>
        <p:nvSpPr>
          <p:cNvPr id="41" name="Text 31"/>
          <p:cNvSpPr txBox="1"/>
          <p:nvPr/>
        </p:nvSpPr>
        <p:spPr>
          <a:xfrm>
            <a:off x="3840480" y="3913632"/>
            <a:ext cx="1756334" cy="676656"/>
          </a:xfrm>
          <a:prstGeom prst="rect">
            <a:avLst/>
          </a:prstGeom>
          <a:noFill/>
          <a:ln/>
        </p:spPr>
        <p:txBody>
          <a:bodyPr wrap="square" lIns="0" tIns="0" rIns="0" bIns="0" rtlCol="0" anchor="ctr"/>
          <a:lstStyle/>
          <a:p>
            <a:pPr algn="ctr" indent="0" marL="0">
              <a:buNone/>
            </a:pPr>
            <a:r>
              <a:rPr lang="en-US" sz="1100" dirty="0">
                <a:solidFill>
                  <a:srgbClr val="55606E"/>
                </a:solidFill>
                <a:latin typeface="Arial" pitchFamily="34" charset="0"/>
                <a:ea typeface="Arial" pitchFamily="34" charset="-122"/>
                <a:cs typeface="Arial" pitchFamily="34" charset="-120"/>
              </a:rPr>
              <a:t>DoS, brute force, botnet, web</a:t>
            </a:r>
            <a:endParaRPr lang="en-US" sz="1100" dirty="0"/>
          </a:p>
        </p:txBody>
      </p:sp>
      <p:sp>
        <p:nvSpPr>
          <p:cNvPr id="42" name="Text 32"/>
          <p:cNvSpPr txBox="1"/>
          <p:nvPr/>
        </p:nvSpPr>
        <p:spPr>
          <a:xfrm>
            <a:off x="5779694" y="3913632"/>
            <a:ext cx="1756334" cy="676656"/>
          </a:xfrm>
          <a:prstGeom prst="rect">
            <a:avLst/>
          </a:prstGeom>
          <a:noFill/>
          <a:ln/>
        </p:spPr>
        <p:txBody>
          <a:bodyPr wrap="square" lIns="0" tIns="0" rIns="0" bIns="0" rtlCol="0" anchor="ctr"/>
          <a:lstStyle/>
          <a:p>
            <a:pPr algn="ctr" indent="0" marL="0">
              <a:buNone/>
            </a:pPr>
            <a:r>
              <a:rPr lang="en-US" sz="1100" dirty="0">
                <a:solidFill>
                  <a:srgbClr val="55606E"/>
                </a:solidFill>
                <a:latin typeface="Arial" pitchFamily="34" charset="0"/>
                <a:ea typeface="Arial" pitchFamily="34" charset="-122"/>
                <a:cs typeface="Arial" pitchFamily="34" charset="-120"/>
              </a:rPr>
              <a:t>DoS, probe, R2L, U2R</a:t>
            </a:r>
            <a:endParaRPr lang="en-US" sz="1100" dirty="0"/>
          </a:p>
        </p:txBody>
      </p:sp>
      <p:sp>
        <p:nvSpPr>
          <p:cNvPr id="43" name="Text 33"/>
          <p:cNvSpPr txBox="1"/>
          <p:nvPr/>
        </p:nvSpPr>
        <p:spPr>
          <a:xfrm>
            <a:off x="7718908" y="3913632"/>
            <a:ext cx="1756334" cy="676656"/>
          </a:xfrm>
          <a:prstGeom prst="rect">
            <a:avLst/>
          </a:prstGeom>
          <a:noFill/>
          <a:ln/>
        </p:spPr>
        <p:txBody>
          <a:bodyPr wrap="square" lIns="0" tIns="0" rIns="0" bIns="0" rtlCol="0" anchor="ctr"/>
          <a:lstStyle/>
          <a:p>
            <a:pPr algn="ctr" indent="0" marL="0">
              <a:buNone/>
            </a:pPr>
            <a:r>
              <a:rPr lang="en-US" sz="1100" dirty="0">
                <a:solidFill>
                  <a:srgbClr val="55606E"/>
                </a:solidFill>
                <a:latin typeface="Arial" pitchFamily="34" charset="0"/>
                <a:ea typeface="Arial" pitchFamily="34" charset="-122"/>
                <a:cs typeface="Arial" pitchFamily="34" charset="-120"/>
              </a:rPr>
              <a:t>Fuzzers, exploits, DoS</a:t>
            </a:r>
            <a:endParaRPr lang="en-US" sz="1100" dirty="0"/>
          </a:p>
        </p:txBody>
      </p:sp>
      <p:sp>
        <p:nvSpPr>
          <p:cNvPr id="44" name="Text 34"/>
          <p:cNvSpPr txBox="1"/>
          <p:nvPr/>
        </p:nvSpPr>
        <p:spPr>
          <a:xfrm>
            <a:off x="9658121" y="3913632"/>
            <a:ext cx="1756334" cy="676656"/>
          </a:xfrm>
          <a:prstGeom prst="rect">
            <a:avLst/>
          </a:prstGeom>
          <a:noFill/>
          <a:ln/>
        </p:spPr>
        <p:txBody>
          <a:bodyPr wrap="square" lIns="0" tIns="0" rIns="0" bIns="0" rtlCol="0" anchor="ctr"/>
          <a:lstStyle/>
          <a:p>
            <a:pPr algn="ctr" indent="0" marL="0">
              <a:buNone/>
            </a:pPr>
            <a:r>
              <a:rPr lang="en-US" sz="1100" b="1" dirty="0">
                <a:solidFill>
                  <a:srgbClr val="0F1B2D"/>
                </a:solidFill>
                <a:latin typeface="Arial" pitchFamily="34" charset="0"/>
                <a:ea typeface="Arial" pitchFamily="34" charset="-122"/>
                <a:cs typeface="Arial" pitchFamily="34" charset="-120"/>
              </a:rPr>
              <a:t>Recon → foothold → lateral → exfiltration</a:t>
            </a:r>
            <a:endParaRPr lang="en-US" sz="1100" dirty="0"/>
          </a:p>
        </p:txBody>
      </p:sp>
      <p:sp>
        <p:nvSpPr>
          <p:cNvPr id="45" name="Shape 35"/>
          <p:cNvSpPr/>
          <p:nvPr/>
        </p:nvSpPr>
        <p:spPr>
          <a:xfrm>
            <a:off x="685800" y="4590288"/>
            <a:ext cx="10820095" cy="914"/>
          </a:xfrm>
          <a:prstGeom prst="line">
            <a:avLst/>
          </a:prstGeom>
          <a:noFill/>
          <a:ln w="9525">
            <a:solidFill>
              <a:srgbClr val="E2E6EC"/>
            </a:solidFill>
            <a:prstDash val="solid"/>
          </a:ln>
        </p:spPr>
      </p:sp>
      <p:sp>
        <p:nvSpPr>
          <p:cNvPr id="46" name="Text 36"/>
          <p:cNvSpPr txBox="1"/>
          <p:nvPr/>
        </p:nvSpPr>
        <p:spPr>
          <a:xfrm>
            <a:off x="685800" y="4590288"/>
            <a:ext cx="2880360" cy="676656"/>
          </a:xfrm>
          <a:prstGeom prst="rect">
            <a:avLst/>
          </a:prstGeom>
          <a:noFill/>
          <a:ln/>
        </p:spPr>
        <p:txBody>
          <a:bodyPr wrap="square" lIns="0" tIns="0" rIns="0" bIns="0" rtlCol="0" anchor="ctr"/>
          <a:lstStyle/>
          <a:p>
            <a:pPr indent="0" marL="0">
              <a:buNone/>
            </a:pPr>
            <a:r>
              <a:rPr lang="en-US" sz="1350" dirty="0">
                <a:solidFill>
                  <a:srgbClr val="0F1B2D"/>
                </a:solidFill>
                <a:latin typeface="Arial" pitchFamily="34" charset="0"/>
                <a:ea typeface="Arial" pitchFamily="34" charset="-122"/>
                <a:cs typeface="Arial" pitchFamily="34" charset="-120"/>
              </a:rPr>
              <a:t>Same flow features as CIC-IDS (CICFlowMeter)</a:t>
            </a:r>
            <a:endParaRPr lang="en-US" sz="1350" dirty="0"/>
          </a:p>
        </p:txBody>
      </p:sp>
      <p:pic>
        <p:nvPicPr>
          <p:cNvPr id="47" name="Image 8" descr="preencoded.png">    </p:cNvPr>
          <p:cNvPicPr>
            <a:picLocks noChangeAspect="1"/>
          </p:cNvPicPr>
          <p:nvPr/>
        </p:nvPicPr>
        <p:blipFill>
          <a:blip r:embed="rId9"/>
          <a:stretch>
            <a:fillRect/>
          </a:stretch>
        </p:blipFill>
        <p:spPr>
          <a:xfrm>
            <a:off x="4572343" y="4782312"/>
            <a:ext cx="292608" cy="292608"/>
          </a:xfrm>
          <a:prstGeom prst="rect">
            <a:avLst/>
          </a:prstGeom>
        </p:spPr>
      </p:pic>
      <p:pic>
        <p:nvPicPr>
          <p:cNvPr id="48" name="Image 9" descr="preencoded.png">    </p:cNvPr>
          <p:cNvPicPr>
            <a:picLocks noChangeAspect="1"/>
          </p:cNvPicPr>
          <p:nvPr/>
        </p:nvPicPr>
        <p:blipFill>
          <a:blip r:embed="rId10"/>
          <a:stretch>
            <a:fillRect/>
          </a:stretch>
        </p:blipFill>
        <p:spPr>
          <a:xfrm>
            <a:off x="6511557" y="4782312"/>
            <a:ext cx="292608" cy="292608"/>
          </a:xfrm>
          <a:prstGeom prst="rect">
            <a:avLst/>
          </a:prstGeom>
        </p:spPr>
      </p:pic>
      <p:pic>
        <p:nvPicPr>
          <p:cNvPr id="49" name="Image 10" descr="preencoded.png">    </p:cNvPr>
          <p:cNvPicPr>
            <a:picLocks noChangeAspect="1"/>
          </p:cNvPicPr>
          <p:nvPr/>
        </p:nvPicPr>
        <p:blipFill>
          <a:blip r:embed="rId11"/>
          <a:stretch>
            <a:fillRect/>
          </a:stretch>
        </p:blipFill>
        <p:spPr>
          <a:xfrm>
            <a:off x="8450771" y="4782312"/>
            <a:ext cx="292608" cy="292608"/>
          </a:xfrm>
          <a:prstGeom prst="rect">
            <a:avLst/>
          </a:prstGeom>
        </p:spPr>
      </p:pic>
      <p:pic>
        <p:nvPicPr>
          <p:cNvPr id="50" name="Image 11" descr="preencoded.png">    </p:cNvPr>
          <p:cNvPicPr>
            <a:picLocks noChangeAspect="1"/>
          </p:cNvPicPr>
          <p:nvPr/>
        </p:nvPicPr>
        <p:blipFill>
          <a:blip r:embed="rId12"/>
          <a:stretch>
            <a:fillRect/>
          </a:stretch>
        </p:blipFill>
        <p:spPr>
          <a:xfrm>
            <a:off x="10389984" y="4782312"/>
            <a:ext cx="292608" cy="292608"/>
          </a:xfrm>
          <a:prstGeom prst="rect">
            <a:avLst/>
          </a:prstGeom>
        </p:spPr>
      </p:pic>
      <p:sp>
        <p:nvSpPr>
          <p:cNvPr id="51" name="Shape 37"/>
          <p:cNvSpPr/>
          <p:nvPr/>
        </p:nvSpPr>
        <p:spPr>
          <a:xfrm>
            <a:off x="685800" y="5266944"/>
            <a:ext cx="10820095" cy="914"/>
          </a:xfrm>
          <a:prstGeom prst="line">
            <a:avLst/>
          </a:prstGeom>
          <a:noFill/>
          <a:ln w="9525">
            <a:solidFill>
              <a:srgbClr val="E2E6EC"/>
            </a:solidFill>
            <a:prstDash val="solid"/>
          </a:ln>
        </p:spPr>
      </p:sp>
      <p:sp>
        <p:nvSpPr>
          <p:cNvPr id="52" name="Text 38"/>
          <p:cNvSpPr txBox="1"/>
          <p:nvPr/>
        </p:nvSpPr>
        <p:spPr>
          <a:xfrm>
            <a:off x="685800" y="5266944"/>
            <a:ext cx="2880360" cy="676656"/>
          </a:xfrm>
          <a:prstGeom prst="rect">
            <a:avLst/>
          </a:prstGeom>
          <a:noFill/>
          <a:ln/>
        </p:spPr>
        <p:txBody>
          <a:bodyPr wrap="square" lIns="0" tIns="0" rIns="0" bIns="0" rtlCol="0" anchor="ctr"/>
          <a:lstStyle/>
          <a:p>
            <a:pPr indent="0" marL="0">
              <a:buNone/>
            </a:pPr>
            <a:r>
              <a:rPr lang="en-US" sz="1350" dirty="0">
                <a:solidFill>
                  <a:srgbClr val="0F1B2D"/>
                </a:solidFill>
                <a:latin typeface="Arial" pitchFamily="34" charset="0"/>
                <a:ea typeface="Arial" pitchFamily="34" charset="-122"/>
                <a:cs typeface="Arial" pitchFamily="34" charset="-120"/>
              </a:rPr>
              <a:t>Traffic recorded</a:t>
            </a:r>
            <a:endParaRPr lang="en-US" sz="1350" dirty="0"/>
          </a:p>
        </p:txBody>
      </p:sp>
      <p:sp>
        <p:nvSpPr>
          <p:cNvPr id="53" name="Text 39"/>
          <p:cNvSpPr txBox="1"/>
          <p:nvPr/>
        </p:nvSpPr>
        <p:spPr>
          <a:xfrm>
            <a:off x="3840480" y="5266944"/>
            <a:ext cx="1756334" cy="676656"/>
          </a:xfrm>
          <a:prstGeom prst="rect">
            <a:avLst/>
          </a:prstGeom>
          <a:noFill/>
          <a:ln/>
        </p:spPr>
        <p:txBody>
          <a:bodyPr wrap="square" lIns="0" tIns="0" rIns="0" bIns="0" rtlCol="0" anchor="ctr"/>
          <a:lstStyle/>
          <a:p>
            <a:pPr algn="ctr" indent="0" marL="0">
              <a:buNone/>
            </a:pPr>
            <a:r>
              <a:rPr lang="en-US" sz="1100" dirty="0">
                <a:solidFill>
                  <a:srgbClr val="55606E"/>
                </a:solidFill>
                <a:latin typeface="Arial" pitchFamily="34" charset="0"/>
                <a:ea typeface="Arial" pitchFamily="34" charset="-122"/>
                <a:cs typeface="Arial" pitchFamily="34" charset="-120"/>
              </a:rPr>
              <a:t>2017–2018</a:t>
            </a:r>
            <a:endParaRPr lang="en-US" sz="1100" dirty="0"/>
          </a:p>
        </p:txBody>
      </p:sp>
      <p:sp>
        <p:nvSpPr>
          <p:cNvPr id="54" name="Text 40"/>
          <p:cNvSpPr txBox="1"/>
          <p:nvPr/>
        </p:nvSpPr>
        <p:spPr>
          <a:xfrm>
            <a:off x="5779694" y="5266944"/>
            <a:ext cx="1756334" cy="676656"/>
          </a:xfrm>
          <a:prstGeom prst="rect">
            <a:avLst/>
          </a:prstGeom>
          <a:noFill/>
          <a:ln/>
        </p:spPr>
        <p:txBody>
          <a:bodyPr wrap="square" lIns="0" tIns="0" rIns="0" bIns="0" rtlCol="0" anchor="ctr"/>
          <a:lstStyle/>
          <a:p>
            <a:pPr algn="ctr" indent="0" marL="0">
              <a:buNone/>
            </a:pPr>
            <a:r>
              <a:rPr lang="en-US" sz="1100" dirty="0">
                <a:solidFill>
                  <a:srgbClr val="55606E"/>
                </a:solidFill>
                <a:latin typeface="Arial" pitchFamily="34" charset="0"/>
                <a:ea typeface="Arial" pitchFamily="34" charset="-122"/>
                <a:cs typeface="Arial" pitchFamily="34" charset="-120"/>
              </a:rPr>
              <a:t>1998 (via KDD'99)</a:t>
            </a:r>
            <a:endParaRPr lang="en-US" sz="1100" dirty="0"/>
          </a:p>
        </p:txBody>
      </p:sp>
      <p:sp>
        <p:nvSpPr>
          <p:cNvPr id="55" name="Text 41"/>
          <p:cNvSpPr txBox="1"/>
          <p:nvPr/>
        </p:nvSpPr>
        <p:spPr>
          <a:xfrm>
            <a:off x="7718908" y="5266944"/>
            <a:ext cx="1756334" cy="676656"/>
          </a:xfrm>
          <a:prstGeom prst="rect">
            <a:avLst/>
          </a:prstGeom>
          <a:noFill/>
          <a:ln/>
        </p:spPr>
        <p:txBody>
          <a:bodyPr wrap="square" lIns="0" tIns="0" rIns="0" bIns="0" rtlCol="0" anchor="ctr"/>
          <a:lstStyle/>
          <a:p>
            <a:pPr algn="ctr" indent="0" marL="0">
              <a:buNone/>
            </a:pPr>
            <a:r>
              <a:rPr lang="en-US" sz="1100" dirty="0">
                <a:solidFill>
                  <a:srgbClr val="55606E"/>
                </a:solidFill>
                <a:latin typeface="Arial" pitchFamily="34" charset="0"/>
                <a:ea typeface="Arial" pitchFamily="34" charset="-122"/>
                <a:cs typeface="Arial" pitchFamily="34" charset="-120"/>
              </a:rPr>
              <a:t>2015</a:t>
            </a:r>
            <a:endParaRPr lang="en-US" sz="1100" dirty="0"/>
          </a:p>
        </p:txBody>
      </p:sp>
      <p:sp>
        <p:nvSpPr>
          <p:cNvPr id="56" name="Text 42"/>
          <p:cNvSpPr txBox="1"/>
          <p:nvPr/>
        </p:nvSpPr>
        <p:spPr>
          <a:xfrm>
            <a:off x="9658121" y="5266944"/>
            <a:ext cx="1756334" cy="676656"/>
          </a:xfrm>
          <a:prstGeom prst="rect">
            <a:avLst/>
          </a:prstGeom>
          <a:noFill/>
          <a:ln/>
        </p:spPr>
        <p:txBody>
          <a:bodyPr wrap="square" lIns="0" tIns="0" rIns="0" bIns="0" rtlCol="0" anchor="ctr"/>
          <a:lstStyle/>
          <a:p>
            <a:pPr algn="ctr" indent="0" marL="0">
              <a:buNone/>
            </a:pPr>
            <a:r>
              <a:rPr lang="en-US" sz="1100" b="1" dirty="0">
                <a:solidFill>
                  <a:srgbClr val="0F1B2D"/>
                </a:solidFill>
                <a:latin typeface="Arial" pitchFamily="34" charset="0"/>
                <a:ea typeface="Arial" pitchFamily="34" charset="-122"/>
                <a:cs typeface="Arial" pitchFamily="34" charset="-120"/>
              </a:rPr>
              <a:t>2019</a:t>
            </a:r>
            <a:endParaRPr lang="en-US" sz="1100" dirty="0"/>
          </a:p>
        </p:txBody>
      </p:sp>
      <p:sp>
        <p:nvSpPr>
          <p:cNvPr id="57" name="Text 43"/>
          <p:cNvSpPr txBox="1"/>
          <p:nvPr/>
        </p:nvSpPr>
        <p:spPr>
          <a:xfrm>
            <a:off x="685800" y="6035040"/>
            <a:ext cx="10820095" cy="256032"/>
          </a:xfrm>
          <a:prstGeom prst="rect">
            <a:avLst/>
          </a:prstGeom>
          <a:noFill/>
          <a:ln/>
        </p:spPr>
        <p:txBody>
          <a:bodyPr wrap="square" lIns="0" tIns="0" rIns="0" bIns="0" rtlCol="0" anchor="t"/>
          <a:lstStyle/>
          <a:p>
            <a:pPr indent="0" marL="0">
              <a:buNone/>
            </a:pPr>
            <a:r>
              <a:rPr lang="en-US" sz="1000" dirty="0">
                <a:solidFill>
                  <a:srgbClr val="8A94A3"/>
                </a:solidFill>
                <a:latin typeface="Arial" pitchFamily="34" charset="0"/>
                <a:ea typeface="Arial" pitchFamily="34" charset="-122"/>
                <a:cs typeface="Arial" pitchFamily="34" charset="-120"/>
              </a:rPr>
              <a:t>DAPT2020: Myneni et al., 2020  ·  kaggle.com/datasets/sowmyamyneni/dapt2020</a:t>
            </a:r>
            <a:endParaRPr lang="en-US" sz="1000" dirty="0"/>
          </a:p>
        </p:txBody>
      </p:sp>
      <p:sp>
        <p:nvSpPr>
          <p:cNvPr id="58" name="Text 44"/>
          <p:cNvSpPr txBox="1"/>
          <p:nvPr/>
        </p:nvSpPr>
        <p:spPr>
          <a:xfrm>
            <a:off x="685800" y="6400800"/>
            <a:ext cx="7315200" cy="228600"/>
          </a:xfrm>
          <a:prstGeom prst="rect">
            <a:avLst/>
          </a:prstGeom>
          <a:noFill/>
          <a:ln/>
        </p:spPr>
        <p:txBody>
          <a:bodyPr wrap="square" lIns="0" tIns="0" rIns="0" bIns="0" rtlCol="0" anchor="t"/>
          <a:lstStyle/>
          <a:p>
            <a:pPr indent="0" marL="0">
              <a:buNone/>
            </a:pPr>
            <a:r>
              <a:rPr lang="en-US" sz="900" dirty="0">
                <a:solidFill>
                  <a:srgbClr val="8A94A3"/>
                </a:solidFill>
                <a:latin typeface="Arial" pitchFamily="34" charset="0"/>
                <a:ea typeface="Arial" pitchFamily="34" charset="-122"/>
                <a:cs typeface="Arial" pitchFamily="34" charset="-120"/>
              </a:rPr>
              <a:t>Anomaly detection for Advanced Persistent Threats   |   Mid-term evaluation</a:t>
            </a:r>
            <a:endParaRPr lang="en-US" sz="900" dirty="0"/>
          </a:p>
        </p:txBody>
      </p:sp>
      <p:sp>
        <p:nvSpPr>
          <p:cNvPr id="59" name="Text 45"/>
          <p:cNvSpPr txBox="1"/>
          <p:nvPr/>
        </p:nvSpPr>
        <p:spPr>
          <a:xfrm>
            <a:off x="10591495" y="6400800"/>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123352" y="515842"/>
            <a:ext cx="327072" cy="387592"/>
          </a:xfrm>
          <a:prstGeom prst="line">
            <a:avLst/>
          </a:prstGeom>
          <a:noFill/>
          <a:ln w="9525">
            <a:solidFill>
              <a:srgbClr val="2C3E5C"/>
            </a:solidFill>
            <a:prstDash val="solid"/>
          </a:ln>
        </p:spPr>
      </p:sp>
      <p:sp>
        <p:nvSpPr>
          <p:cNvPr id="3" name="Shape 1"/>
          <p:cNvSpPr/>
          <p:nvPr/>
        </p:nvSpPr>
        <p:spPr>
          <a:xfrm>
            <a:off x="7123352" y="515842"/>
            <a:ext cx="262447" cy="1171260"/>
          </a:xfrm>
          <a:prstGeom prst="line">
            <a:avLst/>
          </a:prstGeom>
          <a:noFill/>
          <a:ln w="9525">
            <a:solidFill>
              <a:srgbClr val="2C3E5C"/>
            </a:solidFill>
            <a:prstDash val="solid"/>
          </a:ln>
        </p:spPr>
      </p:sp>
      <p:sp>
        <p:nvSpPr>
          <p:cNvPr id="4" name="Shape 2"/>
          <p:cNvSpPr/>
          <p:nvPr/>
        </p:nvSpPr>
        <p:spPr>
          <a:xfrm flipH="1">
            <a:off x="7385800" y="903434"/>
            <a:ext cx="64625" cy="783667"/>
          </a:xfrm>
          <a:prstGeom prst="line">
            <a:avLst/>
          </a:prstGeom>
          <a:noFill/>
          <a:ln w="9525">
            <a:solidFill>
              <a:srgbClr val="2C3E5C"/>
            </a:solidFill>
            <a:prstDash val="solid"/>
          </a:ln>
        </p:spPr>
      </p:sp>
      <p:sp>
        <p:nvSpPr>
          <p:cNvPr id="5" name="Shape 3"/>
          <p:cNvSpPr/>
          <p:nvPr/>
        </p:nvSpPr>
        <p:spPr>
          <a:xfrm flipV="1">
            <a:off x="9583967" y="651325"/>
            <a:ext cx="1019866" cy="188688"/>
          </a:xfrm>
          <a:prstGeom prst="line">
            <a:avLst/>
          </a:prstGeom>
          <a:noFill/>
          <a:ln w="9525">
            <a:solidFill>
              <a:srgbClr val="2C3E5C"/>
            </a:solidFill>
            <a:prstDash val="solid"/>
          </a:ln>
        </p:spPr>
      </p:sp>
      <p:sp>
        <p:nvSpPr>
          <p:cNvPr id="6" name="Shape 4"/>
          <p:cNvSpPr/>
          <p:nvPr/>
        </p:nvSpPr>
        <p:spPr>
          <a:xfrm flipH="1">
            <a:off x="9341837" y="840013"/>
            <a:ext cx="242130" cy="1039700"/>
          </a:xfrm>
          <a:prstGeom prst="line">
            <a:avLst/>
          </a:prstGeom>
          <a:noFill/>
          <a:ln w="9525">
            <a:solidFill>
              <a:srgbClr val="2C3E5C"/>
            </a:solidFill>
            <a:prstDash val="solid"/>
          </a:ln>
        </p:spPr>
      </p:sp>
      <p:sp>
        <p:nvSpPr>
          <p:cNvPr id="7" name="Shape 5"/>
          <p:cNvSpPr/>
          <p:nvPr/>
        </p:nvSpPr>
        <p:spPr>
          <a:xfrm flipH="1">
            <a:off x="10510093" y="651325"/>
            <a:ext cx="93740" cy="1035437"/>
          </a:xfrm>
          <a:prstGeom prst="line">
            <a:avLst/>
          </a:prstGeom>
          <a:noFill/>
          <a:ln w="9525">
            <a:solidFill>
              <a:srgbClr val="2C3E5C"/>
            </a:solidFill>
            <a:prstDash val="solid"/>
          </a:ln>
        </p:spPr>
      </p:sp>
      <p:sp>
        <p:nvSpPr>
          <p:cNvPr id="8" name="Shape 6"/>
          <p:cNvSpPr/>
          <p:nvPr/>
        </p:nvSpPr>
        <p:spPr>
          <a:xfrm>
            <a:off x="11605810" y="1106481"/>
            <a:ext cx="32257" cy="501082"/>
          </a:xfrm>
          <a:prstGeom prst="line">
            <a:avLst/>
          </a:prstGeom>
          <a:noFill/>
          <a:ln w="12700">
            <a:solidFill>
              <a:srgbClr val="E0533A">
                <a:alpha val="55000"/>
              </a:srgbClr>
            </a:solidFill>
            <a:prstDash val="solid"/>
          </a:ln>
        </p:spPr>
      </p:sp>
      <p:sp>
        <p:nvSpPr>
          <p:cNvPr id="9" name="Shape 7"/>
          <p:cNvSpPr/>
          <p:nvPr/>
        </p:nvSpPr>
        <p:spPr>
          <a:xfrm>
            <a:off x="10603833" y="651325"/>
            <a:ext cx="1001977" cy="455156"/>
          </a:xfrm>
          <a:prstGeom prst="line">
            <a:avLst/>
          </a:prstGeom>
          <a:noFill/>
          <a:ln w="9525">
            <a:solidFill>
              <a:srgbClr val="2C3E5C"/>
            </a:solidFill>
            <a:prstDash val="solid"/>
          </a:ln>
        </p:spPr>
      </p:sp>
      <p:sp>
        <p:nvSpPr>
          <p:cNvPr id="10" name="Shape 8"/>
          <p:cNvSpPr/>
          <p:nvPr/>
        </p:nvSpPr>
        <p:spPr>
          <a:xfrm>
            <a:off x="6564806" y="1774045"/>
            <a:ext cx="215263" cy="537180"/>
          </a:xfrm>
          <a:prstGeom prst="line">
            <a:avLst/>
          </a:prstGeom>
          <a:noFill/>
          <a:ln w="9525">
            <a:solidFill>
              <a:srgbClr val="2C3E5C"/>
            </a:solidFill>
            <a:prstDash val="solid"/>
          </a:ln>
        </p:spPr>
      </p:sp>
      <p:sp>
        <p:nvSpPr>
          <p:cNvPr id="11" name="Shape 9"/>
          <p:cNvSpPr/>
          <p:nvPr/>
        </p:nvSpPr>
        <p:spPr>
          <a:xfrm flipV="1">
            <a:off x="6564806" y="1687102"/>
            <a:ext cx="820994" cy="86944"/>
          </a:xfrm>
          <a:prstGeom prst="line">
            <a:avLst/>
          </a:prstGeom>
          <a:noFill/>
          <a:ln w="9525">
            <a:solidFill>
              <a:srgbClr val="2C3E5C"/>
            </a:solidFill>
            <a:prstDash val="solid"/>
          </a:ln>
        </p:spPr>
      </p:sp>
      <p:sp>
        <p:nvSpPr>
          <p:cNvPr id="12" name="Shape 10"/>
          <p:cNvSpPr/>
          <p:nvPr/>
        </p:nvSpPr>
        <p:spPr>
          <a:xfrm>
            <a:off x="9341837" y="1879713"/>
            <a:ext cx="398628" cy="464499"/>
          </a:xfrm>
          <a:prstGeom prst="line">
            <a:avLst/>
          </a:prstGeom>
          <a:noFill/>
          <a:ln w="9525">
            <a:solidFill>
              <a:srgbClr val="2C3E5C"/>
            </a:solidFill>
            <a:prstDash val="solid"/>
          </a:ln>
        </p:spPr>
      </p:sp>
      <p:sp>
        <p:nvSpPr>
          <p:cNvPr id="13" name="Shape 11"/>
          <p:cNvSpPr/>
          <p:nvPr/>
        </p:nvSpPr>
        <p:spPr>
          <a:xfrm>
            <a:off x="10510093" y="1686762"/>
            <a:ext cx="2370" cy="550623"/>
          </a:xfrm>
          <a:prstGeom prst="line">
            <a:avLst/>
          </a:prstGeom>
          <a:noFill/>
          <a:ln w="9525">
            <a:solidFill>
              <a:srgbClr val="2C3E5C"/>
            </a:solidFill>
            <a:prstDash val="solid"/>
          </a:ln>
        </p:spPr>
      </p:sp>
      <p:sp>
        <p:nvSpPr>
          <p:cNvPr id="14" name="Shape 12"/>
          <p:cNvSpPr/>
          <p:nvPr/>
        </p:nvSpPr>
        <p:spPr>
          <a:xfrm flipH="1">
            <a:off x="9740465" y="1686762"/>
            <a:ext cx="769628" cy="657450"/>
          </a:xfrm>
          <a:prstGeom prst="line">
            <a:avLst/>
          </a:prstGeom>
          <a:noFill/>
          <a:ln w="9525">
            <a:solidFill>
              <a:srgbClr val="2C3E5C"/>
            </a:solidFill>
            <a:prstDash val="solid"/>
          </a:ln>
        </p:spPr>
      </p:sp>
      <p:sp>
        <p:nvSpPr>
          <p:cNvPr id="15" name="Shape 13"/>
          <p:cNvSpPr/>
          <p:nvPr/>
        </p:nvSpPr>
        <p:spPr>
          <a:xfrm flipV="1">
            <a:off x="10510093" y="1607563"/>
            <a:ext cx="1127974" cy="79199"/>
          </a:xfrm>
          <a:prstGeom prst="line">
            <a:avLst/>
          </a:prstGeom>
          <a:noFill/>
          <a:ln w="12700">
            <a:solidFill>
              <a:srgbClr val="E0533A">
                <a:alpha val="55000"/>
              </a:srgbClr>
            </a:solidFill>
            <a:prstDash val="solid"/>
          </a:ln>
        </p:spPr>
      </p:sp>
      <p:sp>
        <p:nvSpPr>
          <p:cNvPr id="16" name="Shape 14"/>
          <p:cNvSpPr/>
          <p:nvPr/>
        </p:nvSpPr>
        <p:spPr>
          <a:xfrm flipH="1">
            <a:off x="6780069" y="1687102"/>
            <a:ext cx="605731" cy="624123"/>
          </a:xfrm>
          <a:prstGeom prst="line">
            <a:avLst/>
          </a:prstGeom>
          <a:noFill/>
          <a:ln w="9525">
            <a:solidFill>
              <a:srgbClr val="2C3E5C"/>
            </a:solidFill>
            <a:prstDash val="solid"/>
          </a:ln>
        </p:spPr>
      </p:sp>
      <p:sp>
        <p:nvSpPr>
          <p:cNvPr id="17" name="Shape 15"/>
          <p:cNvSpPr/>
          <p:nvPr/>
        </p:nvSpPr>
        <p:spPr>
          <a:xfrm>
            <a:off x="7969961" y="2310336"/>
            <a:ext cx="657919" cy="392232"/>
          </a:xfrm>
          <a:prstGeom prst="line">
            <a:avLst/>
          </a:prstGeom>
          <a:noFill/>
          <a:ln w="9525">
            <a:solidFill>
              <a:srgbClr val="2C3E5C"/>
            </a:solidFill>
            <a:prstDash val="solid"/>
          </a:ln>
        </p:spPr>
      </p:sp>
      <p:sp>
        <p:nvSpPr>
          <p:cNvPr id="18" name="Shape 16"/>
          <p:cNvSpPr/>
          <p:nvPr/>
        </p:nvSpPr>
        <p:spPr>
          <a:xfrm>
            <a:off x="7385800" y="1687102"/>
            <a:ext cx="584161" cy="623234"/>
          </a:xfrm>
          <a:prstGeom prst="line">
            <a:avLst/>
          </a:prstGeom>
          <a:noFill/>
          <a:ln w="9525">
            <a:solidFill>
              <a:srgbClr val="2C3E5C"/>
            </a:solidFill>
            <a:prstDash val="solid"/>
          </a:ln>
        </p:spPr>
      </p:sp>
      <p:sp>
        <p:nvSpPr>
          <p:cNvPr id="19" name="Shape 17"/>
          <p:cNvSpPr/>
          <p:nvPr/>
        </p:nvSpPr>
        <p:spPr>
          <a:xfrm flipH="1">
            <a:off x="8511809" y="2702567"/>
            <a:ext cx="116071" cy="924295"/>
          </a:xfrm>
          <a:prstGeom prst="line">
            <a:avLst/>
          </a:prstGeom>
          <a:noFill/>
          <a:ln w="9525">
            <a:solidFill>
              <a:srgbClr val="2C3E5C"/>
            </a:solidFill>
            <a:prstDash val="solid"/>
          </a:ln>
        </p:spPr>
      </p:sp>
      <p:sp>
        <p:nvSpPr>
          <p:cNvPr id="20" name="Shape 18"/>
          <p:cNvSpPr/>
          <p:nvPr/>
        </p:nvSpPr>
        <p:spPr>
          <a:xfrm flipV="1">
            <a:off x="9740465" y="2237385"/>
            <a:ext cx="771999" cy="106826"/>
          </a:xfrm>
          <a:prstGeom prst="line">
            <a:avLst/>
          </a:prstGeom>
          <a:noFill/>
          <a:ln w="9525">
            <a:solidFill>
              <a:srgbClr val="2C3E5C"/>
            </a:solidFill>
            <a:prstDash val="solid"/>
          </a:ln>
        </p:spPr>
      </p:sp>
      <p:sp>
        <p:nvSpPr>
          <p:cNvPr id="21" name="Shape 19"/>
          <p:cNvSpPr/>
          <p:nvPr/>
        </p:nvSpPr>
        <p:spPr>
          <a:xfrm flipH="1">
            <a:off x="11018189" y="2845553"/>
            <a:ext cx="634448" cy="294938"/>
          </a:xfrm>
          <a:prstGeom prst="line">
            <a:avLst/>
          </a:prstGeom>
          <a:noFill/>
          <a:ln w="12700">
            <a:solidFill>
              <a:srgbClr val="E0533A">
                <a:alpha val="55000"/>
              </a:srgbClr>
            </a:solidFill>
            <a:prstDash val="solid"/>
          </a:ln>
        </p:spPr>
      </p:sp>
      <p:sp>
        <p:nvSpPr>
          <p:cNvPr id="22" name="Shape 20"/>
          <p:cNvSpPr/>
          <p:nvPr/>
        </p:nvSpPr>
        <p:spPr>
          <a:xfrm flipH="1">
            <a:off x="10742268" y="2845553"/>
            <a:ext cx="910369" cy="664608"/>
          </a:xfrm>
          <a:prstGeom prst="line">
            <a:avLst/>
          </a:prstGeom>
          <a:noFill/>
          <a:ln w="9525">
            <a:solidFill>
              <a:srgbClr val="2C3E5C"/>
            </a:solidFill>
            <a:prstDash val="solid"/>
          </a:ln>
        </p:spPr>
      </p:sp>
      <p:sp>
        <p:nvSpPr>
          <p:cNvPr id="23" name="Shape 21"/>
          <p:cNvSpPr/>
          <p:nvPr/>
        </p:nvSpPr>
        <p:spPr>
          <a:xfrm flipH="1">
            <a:off x="6747982" y="3698591"/>
            <a:ext cx="782610" cy="480778"/>
          </a:xfrm>
          <a:prstGeom prst="line">
            <a:avLst/>
          </a:prstGeom>
          <a:noFill/>
          <a:ln w="9525">
            <a:solidFill>
              <a:srgbClr val="2C3E5C"/>
            </a:solidFill>
            <a:prstDash val="solid"/>
          </a:ln>
        </p:spPr>
      </p:sp>
      <p:sp>
        <p:nvSpPr>
          <p:cNvPr id="24" name="Shape 22"/>
          <p:cNvSpPr/>
          <p:nvPr/>
        </p:nvSpPr>
        <p:spPr>
          <a:xfrm>
            <a:off x="7530592" y="3698591"/>
            <a:ext cx="355095" cy="874524"/>
          </a:xfrm>
          <a:prstGeom prst="line">
            <a:avLst/>
          </a:prstGeom>
          <a:noFill/>
          <a:ln w="9525">
            <a:solidFill>
              <a:srgbClr val="2C3E5C"/>
            </a:solidFill>
            <a:prstDash val="solid"/>
          </a:ln>
        </p:spPr>
      </p:sp>
      <p:sp>
        <p:nvSpPr>
          <p:cNvPr id="25" name="Shape 23"/>
          <p:cNvSpPr/>
          <p:nvPr/>
        </p:nvSpPr>
        <p:spPr>
          <a:xfrm>
            <a:off x="8511809" y="3626862"/>
            <a:ext cx="58420" cy="398997"/>
          </a:xfrm>
          <a:prstGeom prst="line">
            <a:avLst/>
          </a:prstGeom>
          <a:noFill/>
          <a:ln w="9525">
            <a:solidFill>
              <a:srgbClr val="2C3E5C"/>
            </a:solidFill>
            <a:prstDash val="solid"/>
          </a:ln>
        </p:spPr>
      </p:sp>
      <p:sp>
        <p:nvSpPr>
          <p:cNvPr id="26" name="Shape 24"/>
          <p:cNvSpPr/>
          <p:nvPr/>
        </p:nvSpPr>
        <p:spPr>
          <a:xfrm flipH="1">
            <a:off x="9477150" y="2344212"/>
            <a:ext cx="263315" cy="953652"/>
          </a:xfrm>
          <a:prstGeom prst="line">
            <a:avLst/>
          </a:prstGeom>
          <a:noFill/>
          <a:ln w="9525">
            <a:solidFill>
              <a:srgbClr val="2C3E5C"/>
            </a:solidFill>
            <a:prstDash val="solid"/>
          </a:ln>
        </p:spPr>
      </p:sp>
      <p:sp>
        <p:nvSpPr>
          <p:cNvPr id="27" name="Shape 25"/>
          <p:cNvSpPr/>
          <p:nvPr/>
        </p:nvSpPr>
        <p:spPr>
          <a:xfrm flipV="1">
            <a:off x="8511809" y="3297864"/>
            <a:ext cx="965341" cy="328998"/>
          </a:xfrm>
          <a:prstGeom prst="line">
            <a:avLst/>
          </a:prstGeom>
          <a:noFill/>
          <a:ln w="9525">
            <a:solidFill>
              <a:srgbClr val="2C3E5C"/>
            </a:solidFill>
            <a:prstDash val="solid"/>
          </a:ln>
        </p:spPr>
      </p:sp>
      <p:sp>
        <p:nvSpPr>
          <p:cNvPr id="28" name="Shape 26"/>
          <p:cNvSpPr/>
          <p:nvPr/>
        </p:nvSpPr>
        <p:spPr>
          <a:xfrm flipV="1">
            <a:off x="10742268" y="3140491"/>
            <a:ext cx="275922" cy="369669"/>
          </a:xfrm>
          <a:prstGeom prst="line">
            <a:avLst/>
          </a:prstGeom>
          <a:noFill/>
          <a:ln w="12700">
            <a:solidFill>
              <a:srgbClr val="E0533A">
                <a:alpha val="55000"/>
              </a:srgbClr>
            </a:solidFill>
            <a:prstDash val="solid"/>
          </a:ln>
        </p:spPr>
      </p:sp>
      <p:sp>
        <p:nvSpPr>
          <p:cNvPr id="29" name="Shape 27"/>
          <p:cNvSpPr/>
          <p:nvPr/>
        </p:nvSpPr>
        <p:spPr>
          <a:xfrm flipH="1">
            <a:off x="10224491" y="3510160"/>
            <a:ext cx="517777" cy="701066"/>
          </a:xfrm>
          <a:prstGeom prst="line">
            <a:avLst/>
          </a:prstGeom>
          <a:noFill/>
          <a:ln w="9525">
            <a:solidFill>
              <a:srgbClr val="2C3E5C"/>
            </a:solidFill>
            <a:prstDash val="solid"/>
          </a:ln>
        </p:spPr>
      </p:sp>
      <p:sp>
        <p:nvSpPr>
          <p:cNvPr id="30" name="Shape 28"/>
          <p:cNvSpPr/>
          <p:nvPr/>
        </p:nvSpPr>
        <p:spPr>
          <a:xfrm>
            <a:off x="6747982" y="4179369"/>
            <a:ext cx="169431" cy="636999"/>
          </a:xfrm>
          <a:prstGeom prst="line">
            <a:avLst/>
          </a:prstGeom>
          <a:noFill/>
          <a:ln w="9525">
            <a:solidFill>
              <a:srgbClr val="2C3E5C"/>
            </a:solidFill>
            <a:prstDash val="solid"/>
          </a:ln>
        </p:spPr>
      </p:sp>
      <p:sp>
        <p:nvSpPr>
          <p:cNvPr id="31" name="Shape 29"/>
          <p:cNvSpPr/>
          <p:nvPr/>
        </p:nvSpPr>
        <p:spPr>
          <a:xfrm>
            <a:off x="7885687" y="4573115"/>
            <a:ext cx="603858" cy="376402"/>
          </a:xfrm>
          <a:prstGeom prst="line">
            <a:avLst/>
          </a:prstGeom>
          <a:noFill/>
          <a:ln w="9525">
            <a:solidFill>
              <a:srgbClr val="2C3E5C"/>
            </a:solidFill>
            <a:prstDash val="solid"/>
          </a:ln>
        </p:spPr>
      </p:sp>
      <p:sp>
        <p:nvSpPr>
          <p:cNvPr id="32" name="Shape 30"/>
          <p:cNvSpPr/>
          <p:nvPr/>
        </p:nvSpPr>
        <p:spPr>
          <a:xfrm flipV="1">
            <a:off x="7885687" y="4025860"/>
            <a:ext cx="684542" cy="547255"/>
          </a:xfrm>
          <a:prstGeom prst="line">
            <a:avLst/>
          </a:prstGeom>
          <a:noFill/>
          <a:ln w="9525">
            <a:solidFill>
              <a:srgbClr val="2C3E5C"/>
            </a:solidFill>
            <a:prstDash val="solid"/>
          </a:ln>
        </p:spPr>
      </p:sp>
      <p:sp>
        <p:nvSpPr>
          <p:cNvPr id="33" name="Shape 31"/>
          <p:cNvSpPr/>
          <p:nvPr/>
        </p:nvSpPr>
        <p:spPr>
          <a:xfrm flipH="1">
            <a:off x="9211888" y="4533158"/>
            <a:ext cx="145742" cy="587047"/>
          </a:xfrm>
          <a:prstGeom prst="line">
            <a:avLst/>
          </a:prstGeom>
          <a:noFill/>
          <a:ln w="9525">
            <a:solidFill>
              <a:srgbClr val="2C3E5C"/>
            </a:solidFill>
            <a:prstDash val="solid"/>
          </a:ln>
        </p:spPr>
      </p:sp>
      <p:sp>
        <p:nvSpPr>
          <p:cNvPr id="34" name="Shape 32"/>
          <p:cNvSpPr/>
          <p:nvPr/>
        </p:nvSpPr>
        <p:spPr>
          <a:xfrm flipV="1">
            <a:off x="9357630" y="4211226"/>
            <a:ext cx="866861" cy="321932"/>
          </a:xfrm>
          <a:prstGeom prst="line">
            <a:avLst/>
          </a:prstGeom>
          <a:noFill/>
          <a:ln w="9525">
            <a:solidFill>
              <a:srgbClr val="2C3E5C"/>
            </a:solidFill>
            <a:prstDash val="solid"/>
          </a:ln>
        </p:spPr>
      </p:sp>
      <p:sp>
        <p:nvSpPr>
          <p:cNvPr id="35" name="Shape 33"/>
          <p:cNvSpPr/>
          <p:nvPr/>
        </p:nvSpPr>
        <p:spPr>
          <a:xfrm flipH="1">
            <a:off x="6917413" y="4573115"/>
            <a:ext cx="968273" cy="243253"/>
          </a:xfrm>
          <a:prstGeom prst="line">
            <a:avLst/>
          </a:prstGeom>
          <a:noFill/>
          <a:ln w="9525">
            <a:solidFill>
              <a:srgbClr val="2C3E5C"/>
            </a:solidFill>
            <a:prstDash val="solid"/>
          </a:ln>
        </p:spPr>
      </p:sp>
      <p:sp>
        <p:nvSpPr>
          <p:cNvPr id="36" name="Shape 34"/>
          <p:cNvSpPr/>
          <p:nvPr/>
        </p:nvSpPr>
        <p:spPr>
          <a:xfrm>
            <a:off x="8489545" y="4949516"/>
            <a:ext cx="722343" cy="170689"/>
          </a:xfrm>
          <a:prstGeom prst="line">
            <a:avLst/>
          </a:prstGeom>
          <a:noFill/>
          <a:ln w="9525">
            <a:solidFill>
              <a:srgbClr val="2C3E5C"/>
            </a:solidFill>
            <a:prstDash val="solid"/>
          </a:ln>
        </p:spPr>
      </p:sp>
      <p:sp>
        <p:nvSpPr>
          <p:cNvPr id="37" name="Shape 35"/>
          <p:cNvSpPr/>
          <p:nvPr/>
        </p:nvSpPr>
        <p:spPr>
          <a:xfrm flipV="1">
            <a:off x="10607855" y="4907024"/>
            <a:ext cx="512090" cy="184652"/>
          </a:xfrm>
          <a:prstGeom prst="line">
            <a:avLst/>
          </a:prstGeom>
          <a:noFill/>
          <a:ln w="9525">
            <a:solidFill>
              <a:srgbClr val="2C3E5C"/>
            </a:solidFill>
            <a:prstDash val="solid"/>
          </a:ln>
        </p:spPr>
      </p:sp>
      <p:sp>
        <p:nvSpPr>
          <p:cNvPr id="38" name="Shape 36"/>
          <p:cNvSpPr/>
          <p:nvPr/>
        </p:nvSpPr>
        <p:spPr>
          <a:xfrm flipH="1">
            <a:off x="10329936" y="5091676"/>
            <a:ext cx="277919" cy="843266"/>
          </a:xfrm>
          <a:prstGeom prst="line">
            <a:avLst/>
          </a:prstGeom>
          <a:noFill/>
          <a:ln w="9525">
            <a:solidFill>
              <a:srgbClr val="2C3E5C"/>
            </a:solidFill>
            <a:prstDash val="solid"/>
          </a:ln>
        </p:spPr>
      </p:sp>
      <p:sp>
        <p:nvSpPr>
          <p:cNvPr id="39" name="Shape 37"/>
          <p:cNvSpPr/>
          <p:nvPr/>
        </p:nvSpPr>
        <p:spPr>
          <a:xfrm>
            <a:off x="10224491" y="4211226"/>
            <a:ext cx="895454" cy="695798"/>
          </a:xfrm>
          <a:prstGeom prst="line">
            <a:avLst/>
          </a:prstGeom>
          <a:noFill/>
          <a:ln w="9525">
            <a:solidFill>
              <a:srgbClr val="2C3E5C"/>
            </a:solidFill>
            <a:prstDash val="solid"/>
          </a:ln>
        </p:spPr>
      </p:sp>
      <p:sp>
        <p:nvSpPr>
          <p:cNvPr id="40" name="Shape 38"/>
          <p:cNvSpPr/>
          <p:nvPr/>
        </p:nvSpPr>
        <p:spPr>
          <a:xfrm flipH="1">
            <a:off x="7692444" y="4949516"/>
            <a:ext cx="797100" cy="1290718"/>
          </a:xfrm>
          <a:prstGeom prst="line">
            <a:avLst/>
          </a:prstGeom>
          <a:noFill/>
          <a:ln w="9525">
            <a:solidFill>
              <a:srgbClr val="2C3E5C"/>
            </a:solidFill>
            <a:prstDash val="solid"/>
          </a:ln>
        </p:spPr>
      </p:sp>
      <p:sp>
        <p:nvSpPr>
          <p:cNvPr id="41" name="Shape 39"/>
          <p:cNvSpPr/>
          <p:nvPr/>
        </p:nvSpPr>
        <p:spPr>
          <a:xfrm>
            <a:off x="6917413" y="4816368"/>
            <a:ext cx="775031" cy="1423867"/>
          </a:xfrm>
          <a:prstGeom prst="line">
            <a:avLst/>
          </a:prstGeom>
          <a:noFill/>
          <a:ln w="9525">
            <a:solidFill>
              <a:srgbClr val="2C3E5C"/>
            </a:solidFill>
            <a:prstDash val="solid"/>
          </a:ln>
        </p:spPr>
      </p:sp>
      <p:sp>
        <p:nvSpPr>
          <p:cNvPr id="42" name="Shape 40"/>
          <p:cNvSpPr/>
          <p:nvPr/>
        </p:nvSpPr>
        <p:spPr>
          <a:xfrm flipV="1">
            <a:off x="9659764" y="5934942"/>
            <a:ext cx="670172" cy="199086"/>
          </a:xfrm>
          <a:prstGeom prst="line">
            <a:avLst/>
          </a:prstGeom>
          <a:noFill/>
          <a:ln w="9525">
            <a:solidFill>
              <a:srgbClr val="2C3E5C"/>
            </a:solidFill>
            <a:prstDash val="solid"/>
          </a:ln>
        </p:spPr>
      </p:sp>
      <p:sp>
        <p:nvSpPr>
          <p:cNvPr id="43" name="Shape 41"/>
          <p:cNvSpPr/>
          <p:nvPr/>
        </p:nvSpPr>
        <p:spPr>
          <a:xfrm>
            <a:off x="9211888" y="5120205"/>
            <a:ext cx="447876" cy="1013823"/>
          </a:xfrm>
          <a:prstGeom prst="line">
            <a:avLst/>
          </a:prstGeom>
          <a:noFill/>
          <a:ln w="9525">
            <a:solidFill>
              <a:srgbClr val="2C3E5C"/>
            </a:solidFill>
            <a:prstDash val="solid"/>
          </a:ln>
        </p:spPr>
      </p:sp>
      <p:sp>
        <p:nvSpPr>
          <p:cNvPr id="44" name="Shape 42"/>
          <p:cNvSpPr/>
          <p:nvPr/>
        </p:nvSpPr>
        <p:spPr>
          <a:xfrm>
            <a:off x="10329936" y="5934942"/>
            <a:ext cx="949000" cy="177556"/>
          </a:xfrm>
          <a:prstGeom prst="line">
            <a:avLst/>
          </a:prstGeom>
          <a:noFill/>
          <a:ln w="9525">
            <a:solidFill>
              <a:srgbClr val="2C3E5C"/>
            </a:solidFill>
            <a:prstDash val="solid"/>
          </a:ln>
        </p:spPr>
      </p:sp>
      <p:sp>
        <p:nvSpPr>
          <p:cNvPr id="45" name="Shape 43"/>
          <p:cNvSpPr/>
          <p:nvPr/>
        </p:nvSpPr>
        <p:spPr>
          <a:xfrm>
            <a:off x="11119945" y="4907024"/>
            <a:ext cx="158990" cy="1205474"/>
          </a:xfrm>
          <a:prstGeom prst="line">
            <a:avLst/>
          </a:prstGeom>
          <a:noFill/>
          <a:ln w="9525">
            <a:solidFill>
              <a:srgbClr val="2C3E5C"/>
            </a:solidFill>
            <a:prstDash val="solid"/>
          </a:ln>
        </p:spPr>
      </p:sp>
      <p:sp>
        <p:nvSpPr>
          <p:cNvPr id="46" name="Shape 44"/>
          <p:cNvSpPr/>
          <p:nvPr/>
        </p:nvSpPr>
        <p:spPr>
          <a:xfrm>
            <a:off x="7076555" y="469045"/>
            <a:ext cx="93594" cy="93594"/>
          </a:xfrm>
          <a:prstGeom prst="ellipse">
            <a:avLst/>
          </a:prstGeom>
          <a:solidFill>
            <a:srgbClr val="4B6388"/>
          </a:solidFill>
          <a:ln w="12700">
            <a:solidFill>
              <a:srgbClr val="4B6388"/>
            </a:solidFill>
            <a:prstDash val="solid"/>
          </a:ln>
        </p:spPr>
      </p:sp>
      <p:sp>
        <p:nvSpPr>
          <p:cNvPr id="47" name="Shape 45"/>
          <p:cNvSpPr/>
          <p:nvPr/>
        </p:nvSpPr>
        <p:spPr>
          <a:xfrm>
            <a:off x="7411467" y="864477"/>
            <a:ext cx="77914" cy="77914"/>
          </a:xfrm>
          <a:prstGeom prst="ellipse">
            <a:avLst/>
          </a:prstGeom>
          <a:solidFill>
            <a:srgbClr val="4B6388"/>
          </a:solidFill>
          <a:ln w="12700">
            <a:solidFill>
              <a:srgbClr val="4B6388"/>
            </a:solidFill>
            <a:prstDash val="solid"/>
          </a:ln>
        </p:spPr>
      </p:sp>
      <p:sp>
        <p:nvSpPr>
          <p:cNvPr id="48" name="Shape 46"/>
          <p:cNvSpPr/>
          <p:nvPr/>
        </p:nvSpPr>
        <p:spPr>
          <a:xfrm>
            <a:off x="9542380" y="798426"/>
            <a:ext cx="83174" cy="83174"/>
          </a:xfrm>
          <a:prstGeom prst="ellipse">
            <a:avLst/>
          </a:prstGeom>
          <a:solidFill>
            <a:srgbClr val="4B6388"/>
          </a:solidFill>
          <a:ln w="12700">
            <a:solidFill>
              <a:srgbClr val="4B6388"/>
            </a:solidFill>
            <a:prstDash val="solid"/>
          </a:ln>
        </p:spPr>
      </p:sp>
      <p:sp>
        <p:nvSpPr>
          <p:cNvPr id="49" name="Shape 47"/>
          <p:cNvSpPr/>
          <p:nvPr/>
        </p:nvSpPr>
        <p:spPr>
          <a:xfrm>
            <a:off x="10543806" y="591297"/>
            <a:ext cx="120055" cy="120055"/>
          </a:xfrm>
          <a:prstGeom prst="ellipse">
            <a:avLst/>
          </a:prstGeom>
          <a:solidFill>
            <a:srgbClr val="4B6388"/>
          </a:solidFill>
          <a:ln w="12700">
            <a:solidFill>
              <a:srgbClr val="4B6388"/>
            </a:solidFill>
            <a:prstDash val="solid"/>
          </a:ln>
        </p:spPr>
      </p:sp>
      <p:sp>
        <p:nvSpPr>
          <p:cNvPr id="50" name="Shape 48"/>
          <p:cNvSpPr/>
          <p:nvPr/>
        </p:nvSpPr>
        <p:spPr>
          <a:xfrm>
            <a:off x="11573161" y="1073832"/>
            <a:ext cx="65299" cy="65299"/>
          </a:xfrm>
          <a:prstGeom prst="ellipse">
            <a:avLst/>
          </a:prstGeom>
          <a:solidFill>
            <a:srgbClr val="4B6388"/>
          </a:solidFill>
          <a:ln w="12700">
            <a:solidFill>
              <a:srgbClr val="4B6388"/>
            </a:solidFill>
            <a:prstDash val="solid"/>
          </a:ln>
        </p:spPr>
      </p:sp>
      <p:sp>
        <p:nvSpPr>
          <p:cNvPr id="51" name="Shape 49"/>
          <p:cNvSpPr/>
          <p:nvPr/>
        </p:nvSpPr>
        <p:spPr>
          <a:xfrm>
            <a:off x="6522696" y="1731935"/>
            <a:ext cx="84220" cy="84220"/>
          </a:xfrm>
          <a:prstGeom prst="ellipse">
            <a:avLst/>
          </a:prstGeom>
          <a:solidFill>
            <a:srgbClr val="4B6388"/>
          </a:solidFill>
          <a:ln w="12700">
            <a:solidFill>
              <a:srgbClr val="4B6388"/>
            </a:solidFill>
            <a:prstDash val="solid"/>
          </a:ln>
        </p:spPr>
      </p:sp>
      <p:sp>
        <p:nvSpPr>
          <p:cNvPr id="52" name="Shape 50"/>
          <p:cNvSpPr/>
          <p:nvPr/>
        </p:nvSpPr>
        <p:spPr>
          <a:xfrm>
            <a:off x="7351310" y="1652612"/>
            <a:ext cx="68980" cy="68980"/>
          </a:xfrm>
          <a:prstGeom prst="ellipse">
            <a:avLst/>
          </a:prstGeom>
          <a:solidFill>
            <a:srgbClr val="4B6388"/>
          </a:solidFill>
          <a:ln w="12700">
            <a:solidFill>
              <a:srgbClr val="4B6388"/>
            </a:solidFill>
            <a:prstDash val="solid"/>
          </a:ln>
        </p:spPr>
      </p:sp>
      <p:sp>
        <p:nvSpPr>
          <p:cNvPr id="53" name="Shape 51"/>
          <p:cNvSpPr/>
          <p:nvPr/>
        </p:nvSpPr>
        <p:spPr>
          <a:xfrm>
            <a:off x="9306142" y="1844017"/>
            <a:ext cx="71392" cy="71392"/>
          </a:xfrm>
          <a:prstGeom prst="ellipse">
            <a:avLst/>
          </a:prstGeom>
          <a:solidFill>
            <a:srgbClr val="4B6388"/>
          </a:solidFill>
          <a:ln w="12700">
            <a:solidFill>
              <a:srgbClr val="4B6388"/>
            </a:solidFill>
            <a:prstDash val="solid"/>
          </a:ln>
        </p:spPr>
      </p:sp>
      <p:sp>
        <p:nvSpPr>
          <p:cNvPr id="54" name="Shape 52"/>
          <p:cNvSpPr/>
          <p:nvPr/>
        </p:nvSpPr>
        <p:spPr>
          <a:xfrm>
            <a:off x="10471387" y="1648056"/>
            <a:ext cx="77412" cy="77412"/>
          </a:xfrm>
          <a:prstGeom prst="ellipse">
            <a:avLst/>
          </a:prstGeom>
          <a:solidFill>
            <a:srgbClr val="4B6388"/>
          </a:solidFill>
          <a:ln w="12700">
            <a:solidFill>
              <a:srgbClr val="4B6388"/>
            </a:solidFill>
            <a:prstDash val="solid"/>
          </a:ln>
        </p:spPr>
      </p:sp>
      <p:sp>
        <p:nvSpPr>
          <p:cNvPr id="55" name="Shape 53"/>
          <p:cNvSpPr/>
          <p:nvPr/>
        </p:nvSpPr>
        <p:spPr>
          <a:xfrm>
            <a:off x="11418611" y="1388107"/>
            <a:ext cx="438912" cy="438912"/>
          </a:xfrm>
          <a:prstGeom prst="ellipse">
            <a:avLst/>
          </a:prstGeom>
          <a:solidFill>
            <a:srgbClr val="E0533A">
              <a:alpha val="20000"/>
            </a:srgbClr>
          </a:solidFill>
          <a:ln w="12700">
            <a:solidFill>
              <a:srgbClr val="E0533A">
                <a:alpha val="20000"/>
              </a:srgbClr>
            </a:solidFill>
            <a:prstDash val="solid"/>
          </a:ln>
        </p:spPr>
      </p:sp>
      <p:sp>
        <p:nvSpPr>
          <p:cNvPr id="56" name="Shape 54"/>
          <p:cNvSpPr/>
          <p:nvPr/>
        </p:nvSpPr>
        <p:spPr>
          <a:xfrm>
            <a:off x="11555771" y="1525267"/>
            <a:ext cx="164592" cy="164592"/>
          </a:xfrm>
          <a:prstGeom prst="ellipse">
            <a:avLst/>
          </a:prstGeom>
          <a:solidFill>
            <a:srgbClr val="E0533A"/>
          </a:solidFill>
          <a:ln w="12700">
            <a:solidFill>
              <a:srgbClr val="E0533A"/>
            </a:solidFill>
            <a:prstDash val="solid"/>
          </a:ln>
        </p:spPr>
      </p:sp>
      <p:sp>
        <p:nvSpPr>
          <p:cNvPr id="57" name="Shape 55"/>
          <p:cNvSpPr/>
          <p:nvPr/>
        </p:nvSpPr>
        <p:spPr>
          <a:xfrm>
            <a:off x="6731020" y="2262176"/>
            <a:ext cx="98098" cy="98098"/>
          </a:xfrm>
          <a:prstGeom prst="ellipse">
            <a:avLst/>
          </a:prstGeom>
          <a:solidFill>
            <a:srgbClr val="4B6388"/>
          </a:solidFill>
          <a:ln w="12700">
            <a:solidFill>
              <a:srgbClr val="4B6388"/>
            </a:solidFill>
            <a:prstDash val="solid"/>
          </a:ln>
        </p:spPr>
      </p:sp>
      <p:sp>
        <p:nvSpPr>
          <p:cNvPr id="58" name="Shape 56"/>
          <p:cNvSpPr/>
          <p:nvPr/>
        </p:nvSpPr>
        <p:spPr>
          <a:xfrm>
            <a:off x="7923238" y="2263612"/>
            <a:ext cx="93446" cy="93446"/>
          </a:xfrm>
          <a:prstGeom prst="ellipse">
            <a:avLst/>
          </a:prstGeom>
          <a:solidFill>
            <a:srgbClr val="4B6388"/>
          </a:solidFill>
          <a:ln w="12700">
            <a:solidFill>
              <a:srgbClr val="4B6388"/>
            </a:solidFill>
            <a:prstDash val="solid"/>
          </a:ln>
        </p:spPr>
      </p:sp>
      <p:sp>
        <p:nvSpPr>
          <p:cNvPr id="59" name="Shape 57"/>
          <p:cNvSpPr/>
          <p:nvPr/>
        </p:nvSpPr>
        <p:spPr>
          <a:xfrm>
            <a:off x="8595515" y="2670203"/>
            <a:ext cx="64730" cy="64730"/>
          </a:xfrm>
          <a:prstGeom prst="ellipse">
            <a:avLst/>
          </a:prstGeom>
          <a:solidFill>
            <a:srgbClr val="4B6388"/>
          </a:solidFill>
          <a:ln w="12700">
            <a:solidFill>
              <a:srgbClr val="4B6388"/>
            </a:solidFill>
            <a:prstDash val="solid"/>
          </a:ln>
        </p:spPr>
      </p:sp>
      <p:sp>
        <p:nvSpPr>
          <p:cNvPr id="60" name="Shape 58"/>
          <p:cNvSpPr/>
          <p:nvPr/>
        </p:nvSpPr>
        <p:spPr>
          <a:xfrm>
            <a:off x="9700642" y="2304388"/>
            <a:ext cx="79647" cy="79647"/>
          </a:xfrm>
          <a:prstGeom prst="ellipse">
            <a:avLst/>
          </a:prstGeom>
          <a:solidFill>
            <a:srgbClr val="4B6388"/>
          </a:solidFill>
          <a:ln w="12700">
            <a:solidFill>
              <a:srgbClr val="4B6388"/>
            </a:solidFill>
            <a:prstDash val="solid"/>
          </a:ln>
        </p:spPr>
      </p:sp>
      <p:sp>
        <p:nvSpPr>
          <p:cNvPr id="61" name="Shape 59"/>
          <p:cNvSpPr/>
          <p:nvPr/>
        </p:nvSpPr>
        <p:spPr>
          <a:xfrm>
            <a:off x="10470815" y="2195737"/>
            <a:ext cx="83297" cy="83297"/>
          </a:xfrm>
          <a:prstGeom prst="ellipse">
            <a:avLst/>
          </a:prstGeom>
          <a:solidFill>
            <a:srgbClr val="4B6388"/>
          </a:solidFill>
          <a:ln w="12700">
            <a:solidFill>
              <a:srgbClr val="4B6388"/>
            </a:solidFill>
            <a:prstDash val="solid"/>
          </a:ln>
        </p:spPr>
      </p:sp>
      <p:sp>
        <p:nvSpPr>
          <p:cNvPr id="62" name="Shape 60"/>
          <p:cNvSpPr/>
          <p:nvPr/>
        </p:nvSpPr>
        <p:spPr>
          <a:xfrm>
            <a:off x="11609655" y="2802571"/>
            <a:ext cx="85963" cy="85963"/>
          </a:xfrm>
          <a:prstGeom prst="ellipse">
            <a:avLst/>
          </a:prstGeom>
          <a:solidFill>
            <a:srgbClr val="4B6388"/>
          </a:solidFill>
          <a:ln w="12700">
            <a:solidFill>
              <a:srgbClr val="4B6388"/>
            </a:solidFill>
            <a:prstDash val="solid"/>
          </a:ln>
        </p:spPr>
      </p:sp>
      <p:sp>
        <p:nvSpPr>
          <p:cNvPr id="63" name="Shape 61"/>
          <p:cNvSpPr/>
          <p:nvPr/>
        </p:nvSpPr>
        <p:spPr>
          <a:xfrm>
            <a:off x="7477392" y="3645391"/>
            <a:ext cx="106400" cy="106400"/>
          </a:xfrm>
          <a:prstGeom prst="ellipse">
            <a:avLst/>
          </a:prstGeom>
          <a:solidFill>
            <a:srgbClr val="4B6388"/>
          </a:solidFill>
          <a:ln w="12700">
            <a:solidFill>
              <a:srgbClr val="4B6388"/>
            </a:solidFill>
            <a:prstDash val="solid"/>
          </a:ln>
        </p:spPr>
      </p:sp>
      <p:sp>
        <p:nvSpPr>
          <p:cNvPr id="64" name="Shape 62"/>
          <p:cNvSpPr/>
          <p:nvPr/>
        </p:nvSpPr>
        <p:spPr>
          <a:xfrm>
            <a:off x="8477400" y="3592454"/>
            <a:ext cx="68817" cy="68817"/>
          </a:xfrm>
          <a:prstGeom prst="ellipse">
            <a:avLst/>
          </a:prstGeom>
          <a:solidFill>
            <a:srgbClr val="4B6388"/>
          </a:solidFill>
          <a:ln w="12700">
            <a:solidFill>
              <a:srgbClr val="4B6388"/>
            </a:solidFill>
            <a:prstDash val="solid"/>
          </a:ln>
        </p:spPr>
      </p:sp>
      <p:sp>
        <p:nvSpPr>
          <p:cNvPr id="65" name="Shape 63"/>
          <p:cNvSpPr/>
          <p:nvPr/>
        </p:nvSpPr>
        <p:spPr>
          <a:xfrm>
            <a:off x="9436243" y="3256957"/>
            <a:ext cx="81814" cy="81814"/>
          </a:xfrm>
          <a:prstGeom prst="ellipse">
            <a:avLst/>
          </a:prstGeom>
          <a:solidFill>
            <a:srgbClr val="4B6388"/>
          </a:solidFill>
          <a:ln w="12700">
            <a:solidFill>
              <a:srgbClr val="4B6388"/>
            </a:solidFill>
            <a:prstDash val="solid"/>
          </a:ln>
        </p:spPr>
      </p:sp>
      <p:sp>
        <p:nvSpPr>
          <p:cNvPr id="66" name="Shape 64"/>
          <p:cNvSpPr/>
          <p:nvPr/>
        </p:nvSpPr>
        <p:spPr>
          <a:xfrm>
            <a:off x="10686970" y="3454863"/>
            <a:ext cx="110595" cy="110595"/>
          </a:xfrm>
          <a:prstGeom prst="ellipse">
            <a:avLst/>
          </a:prstGeom>
          <a:solidFill>
            <a:srgbClr val="4B6388"/>
          </a:solidFill>
          <a:ln w="12700">
            <a:solidFill>
              <a:srgbClr val="4B6388"/>
            </a:solidFill>
            <a:prstDash val="solid"/>
          </a:ln>
        </p:spPr>
      </p:sp>
      <p:sp>
        <p:nvSpPr>
          <p:cNvPr id="67" name="Shape 65"/>
          <p:cNvSpPr/>
          <p:nvPr/>
        </p:nvSpPr>
        <p:spPr>
          <a:xfrm>
            <a:off x="10798733" y="2921035"/>
            <a:ext cx="438912" cy="438912"/>
          </a:xfrm>
          <a:prstGeom prst="ellipse">
            <a:avLst/>
          </a:prstGeom>
          <a:solidFill>
            <a:srgbClr val="E0533A">
              <a:alpha val="20000"/>
            </a:srgbClr>
          </a:solidFill>
          <a:ln w="12700">
            <a:solidFill>
              <a:srgbClr val="E0533A">
                <a:alpha val="20000"/>
              </a:srgbClr>
            </a:solidFill>
            <a:prstDash val="solid"/>
          </a:ln>
        </p:spPr>
      </p:sp>
      <p:sp>
        <p:nvSpPr>
          <p:cNvPr id="68" name="Shape 66"/>
          <p:cNvSpPr/>
          <p:nvPr/>
        </p:nvSpPr>
        <p:spPr>
          <a:xfrm>
            <a:off x="10935893" y="3058195"/>
            <a:ext cx="164592" cy="164592"/>
          </a:xfrm>
          <a:prstGeom prst="ellipse">
            <a:avLst/>
          </a:prstGeom>
          <a:solidFill>
            <a:srgbClr val="E0533A"/>
          </a:solidFill>
          <a:ln w="12700">
            <a:solidFill>
              <a:srgbClr val="E0533A"/>
            </a:solidFill>
            <a:prstDash val="solid"/>
          </a:ln>
        </p:spPr>
      </p:sp>
      <p:sp>
        <p:nvSpPr>
          <p:cNvPr id="69" name="Shape 67"/>
          <p:cNvSpPr/>
          <p:nvPr/>
        </p:nvSpPr>
        <p:spPr>
          <a:xfrm>
            <a:off x="6706261" y="4137647"/>
            <a:ext cx="83443" cy="83443"/>
          </a:xfrm>
          <a:prstGeom prst="ellipse">
            <a:avLst/>
          </a:prstGeom>
          <a:solidFill>
            <a:srgbClr val="4B6388"/>
          </a:solidFill>
          <a:ln w="12700">
            <a:solidFill>
              <a:srgbClr val="4B6388"/>
            </a:solidFill>
            <a:prstDash val="solid"/>
          </a:ln>
        </p:spPr>
      </p:sp>
      <p:sp>
        <p:nvSpPr>
          <p:cNvPr id="70" name="Shape 68"/>
          <p:cNvSpPr/>
          <p:nvPr/>
        </p:nvSpPr>
        <p:spPr>
          <a:xfrm>
            <a:off x="7850410" y="4537839"/>
            <a:ext cx="70552" cy="70552"/>
          </a:xfrm>
          <a:prstGeom prst="ellipse">
            <a:avLst/>
          </a:prstGeom>
          <a:solidFill>
            <a:srgbClr val="4B6388"/>
          </a:solidFill>
          <a:ln w="12700">
            <a:solidFill>
              <a:srgbClr val="4B6388"/>
            </a:solidFill>
            <a:prstDash val="solid"/>
          </a:ln>
        </p:spPr>
      </p:sp>
      <p:sp>
        <p:nvSpPr>
          <p:cNvPr id="71" name="Shape 69"/>
          <p:cNvSpPr/>
          <p:nvPr/>
        </p:nvSpPr>
        <p:spPr>
          <a:xfrm>
            <a:off x="8524277" y="3979908"/>
            <a:ext cx="91904" cy="91904"/>
          </a:xfrm>
          <a:prstGeom prst="ellipse">
            <a:avLst/>
          </a:prstGeom>
          <a:solidFill>
            <a:srgbClr val="4B6388"/>
          </a:solidFill>
          <a:ln w="12700">
            <a:solidFill>
              <a:srgbClr val="4B6388"/>
            </a:solidFill>
            <a:prstDash val="solid"/>
          </a:ln>
        </p:spPr>
      </p:sp>
      <p:sp>
        <p:nvSpPr>
          <p:cNvPr id="72" name="Shape 70"/>
          <p:cNvSpPr/>
          <p:nvPr/>
        </p:nvSpPr>
        <p:spPr>
          <a:xfrm>
            <a:off x="9320427" y="4495956"/>
            <a:ext cx="74405" cy="74405"/>
          </a:xfrm>
          <a:prstGeom prst="ellipse">
            <a:avLst/>
          </a:prstGeom>
          <a:solidFill>
            <a:srgbClr val="4B6388"/>
          </a:solidFill>
          <a:ln w="12700">
            <a:solidFill>
              <a:srgbClr val="4B6388"/>
            </a:solidFill>
            <a:prstDash val="solid"/>
          </a:ln>
        </p:spPr>
      </p:sp>
      <p:sp>
        <p:nvSpPr>
          <p:cNvPr id="73" name="Shape 71"/>
          <p:cNvSpPr/>
          <p:nvPr/>
        </p:nvSpPr>
        <p:spPr>
          <a:xfrm>
            <a:off x="10169456" y="4156192"/>
            <a:ext cx="110069" cy="110069"/>
          </a:xfrm>
          <a:prstGeom prst="ellipse">
            <a:avLst/>
          </a:prstGeom>
          <a:solidFill>
            <a:srgbClr val="4B6388"/>
          </a:solidFill>
          <a:ln w="12700">
            <a:solidFill>
              <a:srgbClr val="4B6388"/>
            </a:solidFill>
            <a:prstDash val="solid"/>
          </a:ln>
        </p:spPr>
      </p:sp>
      <p:sp>
        <p:nvSpPr>
          <p:cNvPr id="74" name="Shape 72"/>
          <p:cNvSpPr/>
          <p:nvPr/>
        </p:nvSpPr>
        <p:spPr>
          <a:xfrm>
            <a:off x="6884619" y="4783573"/>
            <a:ext cx="65589" cy="65589"/>
          </a:xfrm>
          <a:prstGeom prst="ellipse">
            <a:avLst/>
          </a:prstGeom>
          <a:solidFill>
            <a:srgbClr val="4B6388"/>
          </a:solidFill>
          <a:ln w="12700">
            <a:solidFill>
              <a:srgbClr val="4B6388"/>
            </a:solidFill>
            <a:prstDash val="solid"/>
          </a:ln>
        </p:spPr>
      </p:sp>
      <p:sp>
        <p:nvSpPr>
          <p:cNvPr id="75" name="Shape 73"/>
          <p:cNvSpPr/>
          <p:nvPr/>
        </p:nvSpPr>
        <p:spPr>
          <a:xfrm>
            <a:off x="8440969" y="4900941"/>
            <a:ext cx="97152" cy="97152"/>
          </a:xfrm>
          <a:prstGeom prst="ellipse">
            <a:avLst/>
          </a:prstGeom>
          <a:solidFill>
            <a:srgbClr val="4B6388"/>
          </a:solidFill>
          <a:ln w="12700">
            <a:solidFill>
              <a:srgbClr val="4B6388"/>
            </a:solidFill>
            <a:prstDash val="solid"/>
          </a:ln>
        </p:spPr>
      </p:sp>
      <p:sp>
        <p:nvSpPr>
          <p:cNvPr id="76" name="Shape 74"/>
          <p:cNvSpPr/>
          <p:nvPr/>
        </p:nvSpPr>
        <p:spPr>
          <a:xfrm>
            <a:off x="9153731" y="5062048"/>
            <a:ext cx="116315" cy="116315"/>
          </a:xfrm>
          <a:prstGeom prst="ellipse">
            <a:avLst/>
          </a:prstGeom>
          <a:solidFill>
            <a:srgbClr val="4B6388"/>
          </a:solidFill>
          <a:ln w="12700">
            <a:solidFill>
              <a:srgbClr val="4B6388"/>
            </a:solidFill>
            <a:prstDash val="solid"/>
          </a:ln>
        </p:spPr>
      </p:sp>
      <p:sp>
        <p:nvSpPr>
          <p:cNvPr id="77" name="Shape 75"/>
          <p:cNvSpPr/>
          <p:nvPr/>
        </p:nvSpPr>
        <p:spPr>
          <a:xfrm>
            <a:off x="10544977" y="5028797"/>
            <a:ext cx="125757" cy="125757"/>
          </a:xfrm>
          <a:prstGeom prst="ellipse">
            <a:avLst/>
          </a:prstGeom>
          <a:solidFill>
            <a:srgbClr val="4B6388"/>
          </a:solidFill>
          <a:ln w="12700">
            <a:solidFill>
              <a:srgbClr val="4B6388"/>
            </a:solidFill>
            <a:prstDash val="solid"/>
          </a:ln>
        </p:spPr>
      </p:sp>
      <p:sp>
        <p:nvSpPr>
          <p:cNvPr id="78" name="Shape 76"/>
          <p:cNvSpPr/>
          <p:nvPr/>
        </p:nvSpPr>
        <p:spPr>
          <a:xfrm>
            <a:off x="11078302" y="4865381"/>
            <a:ext cx="83286" cy="83286"/>
          </a:xfrm>
          <a:prstGeom prst="ellipse">
            <a:avLst/>
          </a:prstGeom>
          <a:solidFill>
            <a:srgbClr val="4B6388"/>
          </a:solidFill>
          <a:ln w="12700">
            <a:solidFill>
              <a:srgbClr val="4B6388"/>
            </a:solidFill>
            <a:prstDash val="solid"/>
          </a:ln>
        </p:spPr>
      </p:sp>
      <p:sp>
        <p:nvSpPr>
          <p:cNvPr id="79" name="Shape 77"/>
          <p:cNvSpPr/>
          <p:nvPr/>
        </p:nvSpPr>
        <p:spPr>
          <a:xfrm>
            <a:off x="7645165" y="6192955"/>
            <a:ext cx="94559" cy="94559"/>
          </a:xfrm>
          <a:prstGeom prst="ellipse">
            <a:avLst/>
          </a:prstGeom>
          <a:solidFill>
            <a:srgbClr val="4B6388"/>
          </a:solidFill>
          <a:ln w="12700">
            <a:solidFill>
              <a:srgbClr val="4B6388"/>
            </a:solidFill>
            <a:prstDash val="solid"/>
          </a:ln>
        </p:spPr>
      </p:sp>
      <p:sp>
        <p:nvSpPr>
          <p:cNvPr id="80" name="Shape 78"/>
          <p:cNvSpPr/>
          <p:nvPr/>
        </p:nvSpPr>
        <p:spPr>
          <a:xfrm>
            <a:off x="9604663" y="6078927"/>
            <a:ext cx="110202" cy="110202"/>
          </a:xfrm>
          <a:prstGeom prst="ellipse">
            <a:avLst/>
          </a:prstGeom>
          <a:solidFill>
            <a:srgbClr val="4B6388"/>
          </a:solidFill>
          <a:ln w="12700">
            <a:solidFill>
              <a:srgbClr val="4B6388"/>
            </a:solidFill>
            <a:prstDash val="solid"/>
          </a:ln>
        </p:spPr>
      </p:sp>
      <p:sp>
        <p:nvSpPr>
          <p:cNvPr id="81" name="Shape 79"/>
          <p:cNvSpPr/>
          <p:nvPr/>
        </p:nvSpPr>
        <p:spPr>
          <a:xfrm>
            <a:off x="10274996" y="5880002"/>
            <a:ext cx="109880" cy="109880"/>
          </a:xfrm>
          <a:prstGeom prst="ellipse">
            <a:avLst/>
          </a:prstGeom>
          <a:solidFill>
            <a:srgbClr val="4B6388"/>
          </a:solidFill>
          <a:ln w="12700">
            <a:solidFill>
              <a:srgbClr val="4B6388"/>
            </a:solidFill>
            <a:prstDash val="solid"/>
          </a:ln>
        </p:spPr>
      </p:sp>
      <p:sp>
        <p:nvSpPr>
          <p:cNvPr id="82" name="Shape 80"/>
          <p:cNvSpPr/>
          <p:nvPr/>
        </p:nvSpPr>
        <p:spPr>
          <a:xfrm>
            <a:off x="11217191" y="6050753"/>
            <a:ext cx="123490" cy="123490"/>
          </a:xfrm>
          <a:prstGeom prst="ellipse">
            <a:avLst/>
          </a:prstGeom>
          <a:solidFill>
            <a:srgbClr val="4B6388"/>
          </a:solidFill>
          <a:ln w="12700">
            <a:solidFill>
              <a:srgbClr val="4B6388"/>
            </a:solidFill>
            <a:prstDash val="solid"/>
          </a:ln>
        </p:spPr>
      </p:sp>
      <p:sp>
        <p:nvSpPr>
          <p:cNvPr id="83" name="Text 81"/>
          <p:cNvSpPr txBox="1"/>
          <p:nvPr/>
        </p:nvSpPr>
        <p:spPr>
          <a:xfrm>
            <a:off x="685800" y="1600200"/>
            <a:ext cx="2743200" cy="1371600"/>
          </a:xfrm>
          <a:prstGeom prst="rect">
            <a:avLst/>
          </a:prstGeom>
          <a:noFill/>
          <a:ln/>
        </p:spPr>
        <p:txBody>
          <a:bodyPr wrap="square" lIns="0" tIns="0" rIns="0" bIns="0" rtlCol="0" anchor="t"/>
          <a:lstStyle/>
          <a:p>
            <a:pPr indent="0" marL="0">
              <a:buNone/>
            </a:pPr>
            <a:r>
              <a:rPr lang="en-US" sz="9600" dirty="0">
                <a:solidFill>
                  <a:srgbClr val="F08A6E"/>
                </a:solidFill>
                <a:latin typeface="Georgia" pitchFamily="34" charset="0"/>
                <a:ea typeface="Georgia" pitchFamily="34" charset="-122"/>
                <a:cs typeface="Georgia" pitchFamily="34" charset="-120"/>
              </a:rPr>
              <a:t>02</a:t>
            </a:r>
            <a:endParaRPr lang="en-US" sz="9600" dirty="0"/>
          </a:p>
        </p:txBody>
      </p:sp>
      <p:sp>
        <p:nvSpPr>
          <p:cNvPr id="84" name="Text 82"/>
          <p:cNvSpPr txBox="1"/>
          <p:nvPr/>
        </p:nvSpPr>
        <p:spPr>
          <a:xfrm>
            <a:off x="685800" y="3063240"/>
            <a:ext cx="5486400" cy="868680"/>
          </a:xfrm>
          <a:prstGeom prst="rect">
            <a:avLst/>
          </a:prstGeom>
          <a:noFill/>
          <a:ln/>
        </p:spPr>
        <p:txBody>
          <a:bodyPr wrap="square" lIns="0" tIns="0" rIns="0" bIns="0" rtlCol="0" anchor="t"/>
          <a:lstStyle/>
          <a:p>
            <a:pPr indent="0" marL="0">
              <a:buNone/>
            </a:pPr>
            <a:r>
              <a:rPr lang="en-US" sz="4400" dirty="0">
                <a:solidFill>
                  <a:srgbClr val="FFFFFF"/>
                </a:solidFill>
                <a:latin typeface="Georgia" pitchFamily="34" charset="0"/>
                <a:ea typeface="Georgia" pitchFamily="34" charset="-122"/>
                <a:cs typeface="Georgia" pitchFamily="34" charset="-120"/>
              </a:rPr>
              <a:t>Data &amp; method</a:t>
            </a:r>
            <a:endParaRPr lang="en-US" sz="4400" dirty="0"/>
          </a:p>
        </p:txBody>
      </p:sp>
      <p:sp>
        <p:nvSpPr>
          <p:cNvPr id="85" name="Text 83"/>
          <p:cNvSpPr txBox="1"/>
          <p:nvPr/>
        </p:nvSpPr>
        <p:spPr>
          <a:xfrm>
            <a:off x="685800" y="4023360"/>
            <a:ext cx="5212080" cy="1005840"/>
          </a:xfrm>
          <a:prstGeom prst="rect">
            <a:avLst/>
          </a:prstGeom>
          <a:noFill/>
          <a:ln/>
        </p:spPr>
        <p:txBody>
          <a:bodyPr wrap="square" lIns="0" tIns="0" rIns="0" bIns="0" rtlCol="0" anchor="t"/>
          <a:lstStyle/>
          <a:p>
            <a:pPr indent="0" marL="0">
              <a:buNone/>
            </a:pPr>
            <a:r>
              <a:rPr lang="en-US" sz="1600" dirty="0">
                <a:solidFill>
                  <a:srgbClr val="A9B6C8"/>
                </a:solidFill>
                <a:latin typeface="Arial" pitchFamily="34" charset="0"/>
                <a:ea typeface="Arial" pitchFamily="34" charset="-122"/>
                <a:cs typeface="Arial" pitchFamily="34" charset="-120"/>
              </a:rPr>
              <a:t>DAPT2020, the paper's pipeline and hybrid model, and a flaw in its evaluation protocol</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V="1">
            <a:off x="10087295" y="470002"/>
            <a:ext cx="288950" cy="416966"/>
          </a:xfrm>
          <a:prstGeom prst="line">
            <a:avLst/>
          </a:prstGeom>
          <a:noFill/>
          <a:ln w="9525">
            <a:solidFill>
              <a:srgbClr val="DCE2EA"/>
            </a:solidFill>
            <a:prstDash val="solid"/>
          </a:ln>
        </p:spPr>
      </p:sp>
      <p:sp>
        <p:nvSpPr>
          <p:cNvPr id="3" name="Shape 1"/>
          <p:cNvSpPr/>
          <p:nvPr/>
        </p:nvSpPr>
        <p:spPr>
          <a:xfrm>
            <a:off x="10087295" y="886968"/>
            <a:ext cx="549006" cy="69494"/>
          </a:xfrm>
          <a:prstGeom prst="line">
            <a:avLst/>
          </a:prstGeom>
          <a:noFill/>
          <a:ln w="9525">
            <a:solidFill>
              <a:srgbClr val="DCE2EA"/>
            </a:solidFill>
            <a:prstDash val="solid"/>
          </a:ln>
        </p:spPr>
      </p:sp>
      <p:sp>
        <p:nvSpPr>
          <p:cNvPr id="4" name="Shape 2"/>
          <p:cNvSpPr/>
          <p:nvPr/>
        </p:nvSpPr>
        <p:spPr>
          <a:xfrm>
            <a:off x="10376245" y="470002"/>
            <a:ext cx="549006" cy="156362"/>
          </a:xfrm>
          <a:prstGeom prst="line">
            <a:avLst/>
          </a:prstGeom>
          <a:noFill/>
          <a:ln w="9525">
            <a:solidFill>
              <a:srgbClr val="F2B7A8"/>
            </a:solidFill>
            <a:prstDash val="solid"/>
          </a:ln>
        </p:spPr>
      </p:sp>
      <p:sp>
        <p:nvSpPr>
          <p:cNvPr id="5" name="Shape 3"/>
          <p:cNvSpPr/>
          <p:nvPr/>
        </p:nvSpPr>
        <p:spPr>
          <a:xfrm flipV="1">
            <a:off x="10636301" y="626364"/>
            <a:ext cx="288950" cy="330098"/>
          </a:xfrm>
          <a:prstGeom prst="line">
            <a:avLst/>
          </a:prstGeom>
          <a:noFill/>
          <a:ln w="9525">
            <a:solidFill>
              <a:srgbClr val="F2B7A8"/>
            </a:solidFill>
            <a:prstDash val="solid"/>
          </a:ln>
        </p:spPr>
      </p:sp>
      <p:sp>
        <p:nvSpPr>
          <p:cNvPr id="6" name="Shape 4"/>
          <p:cNvSpPr/>
          <p:nvPr/>
        </p:nvSpPr>
        <p:spPr>
          <a:xfrm flipV="1">
            <a:off x="10925251" y="522122"/>
            <a:ext cx="534558" cy="104242"/>
          </a:xfrm>
          <a:prstGeom prst="line">
            <a:avLst/>
          </a:prstGeom>
          <a:noFill/>
          <a:ln w="9525">
            <a:solidFill>
              <a:srgbClr val="F2B7A8"/>
            </a:solidFill>
            <a:prstDash val="solid"/>
          </a:ln>
        </p:spPr>
      </p:sp>
      <p:sp>
        <p:nvSpPr>
          <p:cNvPr id="7" name="Shape 5"/>
          <p:cNvSpPr/>
          <p:nvPr/>
        </p:nvSpPr>
        <p:spPr>
          <a:xfrm>
            <a:off x="10636301" y="956462"/>
            <a:ext cx="549006" cy="121615"/>
          </a:xfrm>
          <a:prstGeom prst="line">
            <a:avLst/>
          </a:prstGeom>
          <a:noFill/>
          <a:ln w="9525">
            <a:solidFill>
              <a:srgbClr val="DCE2EA"/>
            </a:solidFill>
            <a:prstDash val="solid"/>
          </a:ln>
        </p:spPr>
      </p:sp>
      <p:sp>
        <p:nvSpPr>
          <p:cNvPr id="8" name="Shape 6"/>
          <p:cNvSpPr/>
          <p:nvPr/>
        </p:nvSpPr>
        <p:spPr>
          <a:xfrm flipV="1">
            <a:off x="11185307" y="843534"/>
            <a:ext cx="173370" cy="234544"/>
          </a:xfrm>
          <a:prstGeom prst="line">
            <a:avLst/>
          </a:prstGeom>
          <a:noFill/>
          <a:ln w="9525">
            <a:solidFill>
              <a:srgbClr val="DCE2EA"/>
            </a:solidFill>
            <a:prstDash val="solid"/>
          </a:ln>
        </p:spPr>
      </p:sp>
      <p:sp>
        <p:nvSpPr>
          <p:cNvPr id="9" name="Shape 7"/>
          <p:cNvSpPr/>
          <p:nvPr/>
        </p:nvSpPr>
        <p:spPr>
          <a:xfrm flipH="1">
            <a:off x="11358677" y="522122"/>
            <a:ext cx="101133" cy="321412"/>
          </a:xfrm>
          <a:prstGeom prst="line">
            <a:avLst/>
          </a:prstGeom>
          <a:noFill/>
          <a:ln w="9525">
            <a:solidFill>
              <a:srgbClr val="DCE2EA"/>
            </a:solidFill>
            <a:prstDash val="solid"/>
          </a:ln>
        </p:spPr>
      </p:sp>
      <p:sp>
        <p:nvSpPr>
          <p:cNvPr id="10" name="Shape 8"/>
          <p:cNvSpPr/>
          <p:nvPr/>
        </p:nvSpPr>
        <p:spPr>
          <a:xfrm>
            <a:off x="10055291" y="854964"/>
            <a:ext cx="64008" cy="64008"/>
          </a:xfrm>
          <a:prstGeom prst="ellipse">
            <a:avLst/>
          </a:prstGeom>
          <a:solidFill>
            <a:srgbClr val="C3CCD9"/>
          </a:solidFill>
          <a:ln w="12700">
            <a:solidFill>
              <a:srgbClr val="C3CCD9"/>
            </a:solidFill>
            <a:prstDash val="solid"/>
          </a:ln>
        </p:spPr>
      </p:sp>
      <p:sp>
        <p:nvSpPr>
          <p:cNvPr id="11" name="Shape 9"/>
          <p:cNvSpPr/>
          <p:nvPr/>
        </p:nvSpPr>
        <p:spPr>
          <a:xfrm>
            <a:off x="10335097" y="428854"/>
            <a:ext cx="82296" cy="82296"/>
          </a:xfrm>
          <a:prstGeom prst="ellipse">
            <a:avLst/>
          </a:prstGeom>
          <a:solidFill>
            <a:srgbClr val="C3CCD9"/>
          </a:solidFill>
          <a:ln w="12700">
            <a:solidFill>
              <a:srgbClr val="C3CCD9"/>
            </a:solidFill>
            <a:prstDash val="solid"/>
          </a:ln>
        </p:spPr>
      </p:sp>
      <p:sp>
        <p:nvSpPr>
          <p:cNvPr id="12" name="Shape 10"/>
          <p:cNvSpPr/>
          <p:nvPr/>
        </p:nvSpPr>
        <p:spPr>
          <a:xfrm>
            <a:off x="10599725" y="919886"/>
            <a:ext cx="73152" cy="73152"/>
          </a:xfrm>
          <a:prstGeom prst="ellipse">
            <a:avLst/>
          </a:prstGeom>
          <a:solidFill>
            <a:srgbClr val="C3CCD9"/>
          </a:solidFill>
          <a:ln w="12700">
            <a:solidFill>
              <a:srgbClr val="C3CCD9"/>
            </a:solidFill>
            <a:prstDash val="solid"/>
          </a:ln>
        </p:spPr>
      </p:sp>
      <p:sp>
        <p:nvSpPr>
          <p:cNvPr id="13" name="Shape 11"/>
          <p:cNvSpPr/>
          <p:nvPr/>
        </p:nvSpPr>
        <p:spPr>
          <a:xfrm>
            <a:off x="10806379" y="507492"/>
            <a:ext cx="237744" cy="237744"/>
          </a:xfrm>
          <a:prstGeom prst="ellipse">
            <a:avLst/>
          </a:prstGeom>
          <a:solidFill>
            <a:srgbClr val="E0533A">
              <a:alpha val="18000"/>
            </a:srgbClr>
          </a:solidFill>
          <a:ln w="12700">
            <a:solidFill>
              <a:srgbClr val="E0533A">
                <a:alpha val="18000"/>
              </a:srgbClr>
            </a:solidFill>
            <a:prstDash val="solid"/>
          </a:ln>
        </p:spPr>
      </p:sp>
      <p:sp>
        <p:nvSpPr>
          <p:cNvPr id="14" name="Shape 12"/>
          <p:cNvSpPr/>
          <p:nvPr/>
        </p:nvSpPr>
        <p:spPr>
          <a:xfrm>
            <a:off x="10874959" y="576072"/>
            <a:ext cx="100584" cy="100584"/>
          </a:xfrm>
          <a:prstGeom prst="ellipse">
            <a:avLst/>
          </a:prstGeom>
          <a:solidFill>
            <a:srgbClr val="E0533A"/>
          </a:solidFill>
          <a:ln w="12700">
            <a:solidFill>
              <a:srgbClr val="E0533A"/>
            </a:solidFill>
            <a:prstDash val="solid"/>
          </a:ln>
        </p:spPr>
      </p:sp>
      <p:sp>
        <p:nvSpPr>
          <p:cNvPr id="15" name="Shape 13"/>
          <p:cNvSpPr/>
          <p:nvPr/>
        </p:nvSpPr>
        <p:spPr>
          <a:xfrm>
            <a:off x="11144159" y="1036930"/>
            <a:ext cx="82296" cy="82296"/>
          </a:xfrm>
          <a:prstGeom prst="ellipse">
            <a:avLst/>
          </a:prstGeom>
          <a:solidFill>
            <a:srgbClr val="C3CCD9"/>
          </a:solidFill>
          <a:ln w="12700">
            <a:solidFill>
              <a:srgbClr val="C3CCD9"/>
            </a:solidFill>
            <a:prstDash val="solid"/>
          </a:ln>
        </p:spPr>
      </p:sp>
      <p:sp>
        <p:nvSpPr>
          <p:cNvPr id="16" name="Shape 14"/>
          <p:cNvSpPr/>
          <p:nvPr/>
        </p:nvSpPr>
        <p:spPr>
          <a:xfrm>
            <a:off x="11427805" y="490118"/>
            <a:ext cx="64008" cy="64008"/>
          </a:xfrm>
          <a:prstGeom prst="ellipse">
            <a:avLst/>
          </a:prstGeom>
          <a:solidFill>
            <a:srgbClr val="C3CCD9"/>
          </a:solidFill>
          <a:ln w="12700">
            <a:solidFill>
              <a:srgbClr val="C3CCD9"/>
            </a:solidFill>
            <a:prstDash val="solid"/>
          </a:ln>
        </p:spPr>
      </p:sp>
      <p:sp>
        <p:nvSpPr>
          <p:cNvPr id="17" name="Shape 15"/>
          <p:cNvSpPr/>
          <p:nvPr/>
        </p:nvSpPr>
        <p:spPr>
          <a:xfrm>
            <a:off x="11331245" y="816102"/>
            <a:ext cx="54864" cy="54864"/>
          </a:xfrm>
          <a:prstGeom prst="ellipse">
            <a:avLst/>
          </a:prstGeom>
          <a:solidFill>
            <a:srgbClr val="C3CCD9"/>
          </a:solidFill>
          <a:ln w="12700">
            <a:solidFill>
              <a:srgbClr val="C3CCD9"/>
            </a:solidFill>
            <a:prstDash val="solid"/>
          </a:ln>
        </p:spPr>
      </p:sp>
      <p:sp>
        <p:nvSpPr>
          <p:cNvPr id="18" name="Text 16"/>
          <p:cNvSpPr txBox="1"/>
          <p:nvPr/>
        </p:nvSpPr>
        <p:spPr>
          <a:xfrm>
            <a:off x="685800" y="475488"/>
            <a:ext cx="10820095" cy="256032"/>
          </a:xfrm>
          <a:prstGeom prst="rect">
            <a:avLst/>
          </a:prstGeom>
          <a:noFill/>
          <a:ln/>
        </p:spPr>
        <p:txBody>
          <a:bodyPr wrap="square" lIns="0" tIns="0" rIns="0" bIns="0" rtlCol="0" anchor="t"/>
          <a:lstStyle/>
          <a:p>
            <a:pPr indent="0" marL="0">
              <a:buNone/>
            </a:pPr>
            <a:r>
              <a:rPr lang="en-US" sz="1100" b="1" dirty="0">
                <a:solidFill>
                  <a:srgbClr val="E0533A"/>
                </a:solidFill>
                <a:latin typeface="Arial" pitchFamily="34" charset="0"/>
                <a:ea typeface="Arial" pitchFamily="34" charset="-122"/>
                <a:cs typeface="Arial" pitchFamily="34" charset="-120"/>
              </a:rPr>
              <a:t>02 · DATA &amp; METHOD</a:t>
            </a:r>
            <a:endParaRPr lang="en-US" sz="1100" dirty="0"/>
          </a:p>
        </p:txBody>
      </p:sp>
      <p:sp>
        <p:nvSpPr>
          <p:cNvPr id="19" name="Text 17"/>
          <p:cNvSpPr txBox="1"/>
          <p:nvPr/>
        </p:nvSpPr>
        <p:spPr>
          <a:xfrm>
            <a:off x="685800" y="768096"/>
            <a:ext cx="10820095" cy="822960"/>
          </a:xfrm>
          <a:prstGeom prst="rect">
            <a:avLst/>
          </a:prstGeom>
          <a:noFill/>
          <a:ln/>
        </p:spPr>
        <p:txBody>
          <a:bodyPr wrap="square" lIns="0" tIns="0" rIns="0" bIns="0" rtlCol="0" anchor="t"/>
          <a:lstStyle/>
          <a:p>
            <a:pPr indent="0" marL="0">
              <a:buNone/>
            </a:pPr>
            <a:r>
              <a:rPr lang="en-US" sz="3000" dirty="0">
                <a:solidFill>
                  <a:srgbClr val="0F1B2D"/>
                </a:solidFill>
                <a:latin typeface="Georgia" pitchFamily="34" charset="0"/>
                <a:ea typeface="Georgia" pitchFamily="34" charset="-122"/>
                <a:cs typeface="Georgia" pitchFamily="34" charset="-120"/>
              </a:rPr>
              <a:t>DAPT2020: five days of a staged APT attack</a:t>
            </a:r>
            <a:endParaRPr lang="en-US" sz="3000" dirty="0"/>
          </a:p>
        </p:txBody>
      </p:sp>
      <p:sp>
        <p:nvSpPr>
          <p:cNvPr id="20" name="Text 18"/>
          <p:cNvSpPr txBox="1"/>
          <p:nvPr/>
        </p:nvSpPr>
        <p:spPr>
          <a:xfrm>
            <a:off x="685800" y="1874520"/>
            <a:ext cx="2926080" cy="685800"/>
          </a:xfrm>
          <a:prstGeom prst="rect">
            <a:avLst/>
          </a:prstGeom>
          <a:noFill/>
          <a:ln/>
        </p:spPr>
        <p:txBody>
          <a:bodyPr wrap="square" lIns="0" tIns="0" rIns="0" bIns="0" rtlCol="0" anchor="t"/>
          <a:lstStyle/>
          <a:p>
            <a:pPr indent="0" marL="0">
              <a:buNone/>
            </a:pPr>
            <a:r>
              <a:rPr lang="en-US" sz="3600" dirty="0">
                <a:solidFill>
                  <a:srgbClr val="0F1B2D"/>
                </a:solidFill>
                <a:latin typeface="Georgia" pitchFamily="34" charset="0"/>
                <a:ea typeface="Georgia" pitchFamily="34" charset="-122"/>
                <a:cs typeface="Georgia" pitchFamily="34" charset="-120"/>
              </a:rPr>
              <a:t>86,691</a:t>
            </a:r>
            <a:endParaRPr lang="en-US" sz="3600" dirty="0"/>
          </a:p>
        </p:txBody>
      </p:sp>
      <p:sp>
        <p:nvSpPr>
          <p:cNvPr id="21" name="Text 19"/>
          <p:cNvSpPr txBox="1"/>
          <p:nvPr/>
        </p:nvSpPr>
        <p:spPr>
          <a:xfrm>
            <a:off x="685800" y="2560320"/>
            <a:ext cx="2926080" cy="502920"/>
          </a:xfrm>
          <a:prstGeom prst="rect">
            <a:avLst/>
          </a:prstGeom>
          <a:noFill/>
          <a:ln/>
        </p:spPr>
        <p:txBody>
          <a:bodyPr wrap="square" lIns="0" tIns="0" rIns="0" bIns="0" rtlCol="0" anchor="t"/>
          <a:lstStyle/>
          <a:p>
            <a:pPr indent="0" marL="0">
              <a:buNone/>
            </a:pPr>
            <a:r>
              <a:rPr lang="en-US" sz="1300" dirty="0">
                <a:solidFill>
                  <a:srgbClr val="55606E"/>
                </a:solidFill>
                <a:latin typeface="Arial" pitchFamily="34" charset="0"/>
                <a:ea typeface="Arial" pitchFamily="34" charset="-122"/>
                <a:cs typeface="Arial" pitchFamily="34" charset="-120"/>
              </a:rPr>
              <a:t>labelled network flows</a:t>
            </a:r>
            <a:endParaRPr lang="en-US" sz="1300" dirty="0"/>
          </a:p>
        </p:txBody>
      </p:sp>
      <p:sp>
        <p:nvSpPr>
          <p:cNvPr id="22" name="Shape 20"/>
          <p:cNvSpPr/>
          <p:nvPr/>
        </p:nvSpPr>
        <p:spPr>
          <a:xfrm>
            <a:off x="685800" y="3044952"/>
            <a:ext cx="2834640" cy="914"/>
          </a:xfrm>
          <a:prstGeom prst="line">
            <a:avLst/>
          </a:prstGeom>
          <a:noFill/>
          <a:ln w="9525">
            <a:solidFill>
              <a:srgbClr val="E2E6EC"/>
            </a:solidFill>
            <a:prstDash val="solid"/>
          </a:ln>
        </p:spPr>
      </p:sp>
      <p:sp>
        <p:nvSpPr>
          <p:cNvPr id="23" name="Text 21"/>
          <p:cNvSpPr txBox="1"/>
          <p:nvPr/>
        </p:nvSpPr>
        <p:spPr>
          <a:xfrm>
            <a:off x="685800" y="3246120"/>
            <a:ext cx="2926080" cy="685800"/>
          </a:xfrm>
          <a:prstGeom prst="rect">
            <a:avLst/>
          </a:prstGeom>
          <a:noFill/>
          <a:ln/>
        </p:spPr>
        <p:txBody>
          <a:bodyPr wrap="square" lIns="0" tIns="0" rIns="0" bIns="0" rtlCol="0" anchor="t"/>
          <a:lstStyle/>
          <a:p>
            <a:pPr indent="0" marL="0">
              <a:buNone/>
            </a:pPr>
            <a:r>
              <a:rPr lang="en-US" sz="3600" dirty="0">
                <a:solidFill>
                  <a:srgbClr val="0F1B2D"/>
                </a:solidFill>
                <a:latin typeface="Georgia" pitchFamily="34" charset="0"/>
                <a:ea typeface="Georgia" pitchFamily="34" charset="-122"/>
                <a:cs typeface="Georgia" pitchFamily="34" charset="-120"/>
              </a:rPr>
              <a:t>76</a:t>
            </a:r>
            <a:endParaRPr lang="en-US" sz="3600" dirty="0"/>
          </a:p>
        </p:txBody>
      </p:sp>
      <p:sp>
        <p:nvSpPr>
          <p:cNvPr id="24" name="Text 22"/>
          <p:cNvSpPr txBox="1"/>
          <p:nvPr/>
        </p:nvSpPr>
        <p:spPr>
          <a:xfrm>
            <a:off x="685800" y="3931920"/>
            <a:ext cx="2926080" cy="502920"/>
          </a:xfrm>
          <a:prstGeom prst="rect">
            <a:avLst/>
          </a:prstGeom>
          <a:noFill/>
          <a:ln/>
        </p:spPr>
        <p:txBody>
          <a:bodyPr wrap="square" lIns="0" tIns="0" rIns="0" bIns="0" rtlCol="0" anchor="t"/>
          <a:lstStyle/>
          <a:p>
            <a:pPr indent="0" marL="0">
              <a:buNone/>
            </a:pPr>
            <a:r>
              <a:rPr lang="en-US" sz="1300" dirty="0">
                <a:solidFill>
                  <a:srgbClr val="55606E"/>
                </a:solidFill>
                <a:latin typeface="Arial" pitchFamily="34" charset="0"/>
                <a:ea typeface="Arial" pitchFamily="34" charset="-122"/>
                <a:cs typeface="Arial" pitchFamily="34" charset="-120"/>
              </a:rPr>
              <a:t>CICFlowMeter flow features</a:t>
            </a:r>
            <a:endParaRPr lang="en-US" sz="1300" dirty="0"/>
          </a:p>
        </p:txBody>
      </p:sp>
      <p:sp>
        <p:nvSpPr>
          <p:cNvPr id="25" name="Shape 23"/>
          <p:cNvSpPr/>
          <p:nvPr/>
        </p:nvSpPr>
        <p:spPr>
          <a:xfrm>
            <a:off x="685800" y="4416552"/>
            <a:ext cx="2834640" cy="914"/>
          </a:xfrm>
          <a:prstGeom prst="line">
            <a:avLst/>
          </a:prstGeom>
          <a:noFill/>
          <a:ln w="9525">
            <a:solidFill>
              <a:srgbClr val="E2E6EC"/>
            </a:solidFill>
            <a:prstDash val="solid"/>
          </a:ln>
        </p:spPr>
      </p:sp>
      <p:sp>
        <p:nvSpPr>
          <p:cNvPr id="26" name="Text 24"/>
          <p:cNvSpPr txBox="1"/>
          <p:nvPr/>
        </p:nvSpPr>
        <p:spPr>
          <a:xfrm>
            <a:off x="685800" y="4617720"/>
            <a:ext cx="2926080" cy="685800"/>
          </a:xfrm>
          <a:prstGeom prst="rect">
            <a:avLst/>
          </a:prstGeom>
          <a:noFill/>
          <a:ln/>
        </p:spPr>
        <p:txBody>
          <a:bodyPr wrap="square" lIns="0" tIns="0" rIns="0" bIns="0" rtlCol="0" anchor="t"/>
          <a:lstStyle/>
          <a:p>
            <a:pPr indent="0" marL="0">
              <a:buNone/>
            </a:pPr>
            <a:r>
              <a:rPr lang="en-US" sz="3600" dirty="0">
                <a:solidFill>
                  <a:srgbClr val="0F1B2D"/>
                </a:solidFill>
                <a:latin typeface="Georgia" pitchFamily="34" charset="0"/>
                <a:ea typeface="Georgia" pitchFamily="34" charset="-122"/>
                <a:cs typeface="Georgia" pitchFamily="34" charset="-120"/>
              </a:rPr>
              <a:t>5 days</a:t>
            </a:r>
            <a:endParaRPr lang="en-US" sz="3600" dirty="0"/>
          </a:p>
        </p:txBody>
      </p:sp>
      <p:sp>
        <p:nvSpPr>
          <p:cNvPr id="27" name="Text 25"/>
          <p:cNvSpPr txBox="1"/>
          <p:nvPr/>
        </p:nvSpPr>
        <p:spPr>
          <a:xfrm>
            <a:off x="685800" y="5303520"/>
            <a:ext cx="2926080" cy="502920"/>
          </a:xfrm>
          <a:prstGeom prst="rect">
            <a:avLst/>
          </a:prstGeom>
          <a:noFill/>
          <a:ln/>
        </p:spPr>
        <p:txBody>
          <a:bodyPr wrap="square" lIns="0" tIns="0" rIns="0" bIns="0" rtlCol="0" anchor="t"/>
          <a:lstStyle/>
          <a:p>
            <a:pPr indent="0" marL="0">
              <a:buNone/>
            </a:pPr>
            <a:r>
              <a:rPr lang="en-US" sz="1300" dirty="0">
                <a:solidFill>
                  <a:srgbClr val="55606E"/>
                </a:solidFill>
                <a:latin typeface="Arial" pitchFamily="34" charset="0"/>
                <a:ea typeface="Arial" pitchFamily="34" charset="-122"/>
                <a:cs typeface="Arial" pitchFamily="34" charset="-120"/>
              </a:rPr>
              <a:t>public web server +</a:t>
            </a:r>
            <a:endParaRPr lang="en-US" sz="1300" dirty="0"/>
          </a:p>
          <a:p>
            <a:pPr indent="0" marL="0">
              <a:buNone/>
            </a:pPr>
            <a:r>
              <a:rPr lang="en-US" sz="1300" dirty="0">
                <a:solidFill>
                  <a:srgbClr val="55606E"/>
                </a:solidFill>
                <a:latin typeface="Arial" pitchFamily="34" charset="0"/>
                <a:ea typeface="Arial" pitchFamily="34" charset="-122"/>
                <a:cs typeface="Arial" pitchFamily="34" charset="-120"/>
              </a:rPr>
              <a:t>private network</a:t>
            </a:r>
            <a:endParaRPr lang="en-US" sz="1300" dirty="0"/>
          </a:p>
        </p:txBody>
      </p:sp>
      <p:pic>
        <p:nvPicPr>
          <p:cNvPr id="28" name="Image 0" descr="Bar chart of DAPT2020 flows per APT stage after cleaning, log scale">    </p:cNvPr>
          <p:cNvPicPr>
            <a:picLocks noChangeAspect="1"/>
          </p:cNvPicPr>
          <p:nvPr/>
        </p:nvPicPr>
        <p:blipFill>
          <a:blip r:embed="rId1"/>
          <a:stretch>
            <a:fillRect/>
          </a:stretch>
        </p:blipFill>
        <p:spPr>
          <a:xfrm>
            <a:off x="4005072" y="1783080"/>
            <a:ext cx="7498080" cy="4023360"/>
          </a:xfrm>
          <a:prstGeom prst="rect">
            <a:avLst/>
          </a:prstGeom>
        </p:spPr>
      </p:pic>
      <p:sp>
        <p:nvSpPr>
          <p:cNvPr id="29" name="Text 26"/>
          <p:cNvSpPr txBox="1"/>
          <p:nvPr/>
        </p:nvSpPr>
        <p:spPr>
          <a:xfrm>
            <a:off x="4206240" y="5897880"/>
            <a:ext cx="7223760" cy="274320"/>
          </a:xfrm>
          <a:prstGeom prst="rect">
            <a:avLst/>
          </a:prstGeom>
          <a:noFill/>
          <a:ln/>
        </p:spPr>
        <p:txBody>
          <a:bodyPr wrap="square" lIns="0" tIns="0" rIns="0" bIns="0" rtlCol="0" anchor="t"/>
          <a:lstStyle/>
          <a:p>
            <a:pPr indent="0" marL="0">
              <a:buNone/>
            </a:pPr>
            <a:r>
              <a:rPr lang="en-US" sz="1050" dirty="0">
                <a:solidFill>
                  <a:srgbClr val="8A94A3"/>
                </a:solidFill>
                <a:latin typeface="Arial" pitchFamily="34" charset="0"/>
                <a:ea typeface="Arial" pitchFamily="34" charset="-122"/>
                <a:cs typeface="Arial" pitchFamily="34" charset="-120"/>
              </a:rPr>
              <a:t>Grey: benign   ·   Blue: APT stages   ·   Red: data exfiltration, only 15 flows in the whole dataset</a:t>
            </a:r>
            <a:endParaRPr lang="en-US" sz="1050" dirty="0"/>
          </a:p>
        </p:txBody>
      </p:sp>
      <p:sp>
        <p:nvSpPr>
          <p:cNvPr id="30" name="Text 27"/>
          <p:cNvSpPr txBox="1"/>
          <p:nvPr/>
        </p:nvSpPr>
        <p:spPr>
          <a:xfrm>
            <a:off x="685800" y="6400800"/>
            <a:ext cx="7315200" cy="228600"/>
          </a:xfrm>
          <a:prstGeom prst="rect">
            <a:avLst/>
          </a:prstGeom>
          <a:noFill/>
          <a:ln/>
        </p:spPr>
        <p:txBody>
          <a:bodyPr wrap="square" lIns="0" tIns="0" rIns="0" bIns="0" rtlCol="0" anchor="t"/>
          <a:lstStyle/>
          <a:p>
            <a:pPr indent="0" marL="0">
              <a:buNone/>
            </a:pPr>
            <a:r>
              <a:rPr lang="en-US" sz="900" dirty="0">
                <a:solidFill>
                  <a:srgbClr val="8A94A3"/>
                </a:solidFill>
                <a:latin typeface="Arial" pitchFamily="34" charset="0"/>
                <a:ea typeface="Arial" pitchFamily="34" charset="-122"/>
                <a:cs typeface="Arial" pitchFamily="34" charset="-120"/>
              </a:rPr>
              <a:t>Anomaly detection for Advanced Persistent Threats   |   Mid-term evaluation</a:t>
            </a:r>
            <a:endParaRPr lang="en-US" sz="900" dirty="0"/>
          </a:p>
        </p:txBody>
      </p:sp>
      <p:sp>
        <p:nvSpPr>
          <p:cNvPr id="31" name="Text 28"/>
          <p:cNvSpPr txBox="1"/>
          <p:nvPr/>
        </p:nvSpPr>
        <p:spPr>
          <a:xfrm>
            <a:off x="10591495" y="6400800"/>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V="1">
            <a:off x="10087295" y="470002"/>
            <a:ext cx="288950" cy="416966"/>
          </a:xfrm>
          <a:prstGeom prst="line">
            <a:avLst/>
          </a:prstGeom>
          <a:noFill/>
          <a:ln w="9525">
            <a:solidFill>
              <a:srgbClr val="DCE2EA"/>
            </a:solidFill>
            <a:prstDash val="solid"/>
          </a:ln>
        </p:spPr>
      </p:sp>
      <p:sp>
        <p:nvSpPr>
          <p:cNvPr id="3" name="Shape 1"/>
          <p:cNvSpPr/>
          <p:nvPr/>
        </p:nvSpPr>
        <p:spPr>
          <a:xfrm>
            <a:off x="10087295" y="886968"/>
            <a:ext cx="549006" cy="69494"/>
          </a:xfrm>
          <a:prstGeom prst="line">
            <a:avLst/>
          </a:prstGeom>
          <a:noFill/>
          <a:ln w="9525">
            <a:solidFill>
              <a:srgbClr val="DCE2EA"/>
            </a:solidFill>
            <a:prstDash val="solid"/>
          </a:ln>
        </p:spPr>
      </p:sp>
      <p:sp>
        <p:nvSpPr>
          <p:cNvPr id="4" name="Shape 2"/>
          <p:cNvSpPr/>
          <p:nvPr/>
        </p:nvSpPr>
        <p:spPr>
          <a:xfrm>
            <a:off x="10376245" y="470002"/>
            <a:ext cx="549006" cy="156362"/>
          </a:xfrm>
          <a:prstGeom prst="line">
            <a:avLst/>
          </a:prstGeom>
          <a:noFill/>
          <a:ln w="9525">
            <a:solidFill>
              <a:srgbClr val="F2B7A8"/>
            </a:solidFill>
            <a:prstDash val="solid"/>
          </a:ln>
        </p:spPr>
      </p:sp>
      <p:sp>
        <p:nvSpPr>
          <p:cNvPr id="5" name="Shape 3"/>
          <p:cNvSpPr/>
          <p:nvPr/>
        </p:nvSpPr>
        <p:spPr>
          <a:xfrm flipV="1">
            <a:off x="10636301" y="626364"/>
            <a:ext cx="288950" cy="330098"/>
          </a:xfrm>
          <a:prstGeom prst="line">
            <a:avLst/>
          </a:prstGeom>
          <a:noFill/>
          <a:ln w="9525">
            <a:solidFill>
              <a:srgbClr val="F2B7A8"/>
            </a:solidFill>
            <a:prstDash val="solid"/>
          </a:ln>
        </p:spPr>
      </p:sp>
      <p:sp>
        <p:nvSpPr>
          <p:cNvPr id="6" name="Shape 4"/>
          <p:cNvSpPr/>
          <p:nvPr/>
        </p:nvSpPr>
        <p:spPr>
          <a:xfrm flipV="1">
            <a:off x="10925251" y="522122"/>
            <a:ext cx="534558" cy="104242"/>
          </a:xfrm>
          <a:prstGeom prst="line">
            <a:avLst/>
          </a:prstGeom>
          <a:noFill/>
          <a:ln w="9525">
            <a:solidFill>
              <a:srgbClr val="F2B7A8"/>
            </a:solidFill>
            <a:prstDash val="solid"/>
          </a:ln>
        </p:spPr>
      </p:sp>
      <p:sp>
        <p:nvSpPr>
          <p:cNvPr id="7" name="Shape 5"/>
          <p:cNvSpPr/>
          <p:nvPr/>
        </p:nvSpPr>
        <p:spPr>
          <a:xfrm>
            <a:off x="10636301" y="956462"/>
            <a:ext cx="549006" cy="121615"/>
          </a:xfrm>
          <a:prstGeom prst="line">
            <a:avLst/>
          </a:prstGeom>
          <a:noFill/>
          <a:ln w="9525">
            <a:solidFill>
              <a:srgbClr val="DCE2EA"/>
            </a:solidFill>
            <a:prstDash val="solid"/>
          </a:ln>
        </p:spPr>
      </p:sp>
      <p:sp>
        <p:nvSpPr>
          <p:cNvPr id="8" name="Shape 6"/>
          <p:cNvSpPr/>
          <p:nvPr/>
        </p:nvSpPr>
        <p:spPr>
          <a:xfrm flipV="1">
            <a:off x="11185307" y="843534"/>
            <a:ext cx="173370" cy="234544"/>
          </a:xfrm>
          <a:prstGeom prst="line">
            <a:avLst/>
          </a:prstGeom>
          <a:noFill/>
          <a:ln w="9525">
            <a:solidFill>
              <a:srgbClr val="DCE2EA"/>
            </a:solidFill>
            <a:prstDash val="solid"/>
          </a:ln>
        </p:spPr>
      </p:sp>
      <p:sp>
        <p:nvSpPr>
          <p:cNvPr id="9" name="Shape 7"/>
          <p:cNvSpPr/>
          <p:nvPr/>
        </p:nvSpPr>
        <p:spPr>
          <a:xfrm flipH="1">
            <a:off x="11358677" y="522122"/>
            <a:ext cx="101133" cy="321412"/>
          </a:xfrm>
          <a:prstGeom prst="line">
            <a:avLst/>
          </a:prstGeom>
          <a:noFill/>
          <a:ln w="9525">
            <a:solidFill>
              <a:srgbClr val="DCE2EA"/>
            </a:solidFill>
            <a:prstDash val="solid"/>
          </a:ln>
        </p:spPr>
      </p:sp>
      <p:sp>
        <p:nvSpPr>
          <p:cNvPr id="10" name="Shape 8"/>
          <p:cNvSpPr/>
          <p:nvPr/>
        </p:nvSpPr>
        <p:spPr>
          <a:xfrm>
            <a:off x="10055291" y="854964"/>
            <a:ext cx="64008" cy="64008"/>
          </a:xfrm>
          <a:prstGeom prst="ellipse">
            <a:avLst/>
          </a:prstGeom>
          <a:solidFill>
            <a:srgbClr val="C3CCD9"/>
          </a:solidFill>
          <a:ln w="12700">
            <a:solidFill>
              <a:srgbClr val="C3CCD9"/>
            </a:solidFill>
            <a:prstDash val="solid"/>
          </a:ln>
        </p:spPr>
      </p:sp>
      <p:sp>
        <p:nvSpPr>
          <p:cNvPr id="11" name="Shape 9"/>
          <p:cNvSpPr/>
          <p:nvPr/>
        </p:nvSpPr>
        <p:spPr>
          <a:xfrm>
            <a:off x="10335097" y="428854"/>
            <a:ext cx="82296" cy="82296"/>
          </a:xfrm>
          <a:prstGeom prst="ellipse">
            <a:avLst/>
          </a:prstGeom>
          <a:solidFill>
            <a:srgbClr val="C3CCD9"/>
          </a:solidFill>
          <a:ln w="12700">
            <a:solidFill>
              <a:srgbClr val="C3CCD9"/>
            </a:solidFill>
            <a:prstDash val="solid"/>
          </a:ln>
        </p:spPr>
      </p:sp>
      <p:sp>
        <p:nvSpPr>
          <p:cNvPr id="12" name="Shape 10"/>
          <p:cNvSpPr/>
          <p:nvPr/>
        </p:nvSpPr>
        <p:spPr>
          <a:xfrm>
            <a:off x="10599725" y="919886"/>
            <a:ext cx="73152" cy="73152"/>
          </a:xfrm>
          <a:prstGeom prst="ellipse">
            <a:avLst/>
          </a:prstGeom>
          <a:solidFill>
            <a:srgbClr val="C3CCD9"/>
          </a:solidFill>
          <a:ln w="12700">
            <a:solidFill>
              <a:srgbClr val="C3CCD9"/>
            </a:solidFill>
            <a:prstDash val="solid"/>
          </a:ln>
        </p:spPr>
      </p:sp>
      <p:sp>
        <p:nvSpPr>
          <p:cNvPr id="13" name="Shape 11"/>
          <p:cNvSpPr/>
          <p:nvPr/>
        </p:nvSpPr>
        <p:spPr>
          <a:xfrm>
            <a:off x="10806379" y="507492"/>
            <a:ext cx="237744" cy="237744"/>
          </a:xfrm>
          <a:prstGeom prst="ellipse">
            <a:avLst/>
          </a:prstGeom>
          <a:solidFill>
            <a:srgbClr val="E0533A">
              <a:alpha val="18000"/>
            </a:srgbClr>
          </a:solidFill>
          <a:ln w="12700">
            <a:solidFill>
              <a:srgbClr val="E0533A">
                <a:alpha val="18000"/>
              </a:srgbClr>
            </a:solidFill>
            <a:prstDash val="solid"/>
          </a:ln>
        </p:spPr>
      </p:sp>
      <p:sp>
        <p:nvSpPr>
          <p:cNvPr id="14" name="Shape 12"/>
          <p:cNvSpPr/>
          <p:nvPr/>
        </p:nvSpPr>
        <p:spPr>
          <a:xfrm>
            <a:off x="10874959" y="576072"/>
            <a:ext cx="100584" cy="100584"/>
          </a:xfrm>
          <a:prstGeom prst="ellipse">
            <a:avLst/>
          </a:prstGeom>
          <a:solidFill>
            <a:srgbClr val="E0533A"/>
          </a:solidFill>
          <a:ln w="12700">
            <a:solidFill>
              <a:srgbClr val="E0533A"/>
            </a:solidFill>
            <a:prstDash val="solid"/>
          </a:ln>
        </p:spPr>
      </p:sp>
      <p:sp>
        <p:nvSpPr>
          <p:cNvPr id="15" name="Shape 13"/>
          <p:cNvSpPr/>
          <p:nvPr/>
        </p:nvSpPr>
        <p:spPr>
          <a:xfrm>
            <a:off x="11144159" y="1036930"/>
            <a:ext cx="82296" cy="82296"/>
          </a:xfrm>
          <a:prstGeom prst="ellipse">
            <a:avLst/>
          </a:prstGeom>
          <a:solidFill>
            <a:srgbClr val="C3CCD9"/>
          </a:solidFill>
          <a:ln w="12700">
            <a:solidFill>
              <a:srgbClr val="C3CCD9"/>
            </a:solidFill>
            <a:prstDash val="solid"/>
          </a:ln>
        </p:spPr>
      </p:sp>
      <p:sp>
        <p:nvSpPr>
          <p:cNvPr id="16" name="Shape 14"/>
          <p:cNvSpPr/>
          <p:nvPr/>
        </p:nvSpPr>
        <p:spPr>
          <a:xfrm>
            <a:off x="11427805" y="490118"/>
            <a:ext cx="64008" cy="64008"/>
          </a:xfrm>
          <a:prstGeom prst="ellipse">
            <a:avLst/>
          </a:prstGeom>
          <a:solidFill>
            <a:srgbClr val="C3CCD9"/>
          </a:solidFill>
          <a:ln w="12700">
            <a:solidFill>
              <a:srgbClr val="C3CCD9"/>
            </a:solidFill>
            <a:prstDash val="solid"/>
          </a:ln>
        </p:spPr>
      </p:sp>
      <p:sp>
        <p:nvSpPr>
          <p:cNvPr id="17" name="Shape 15"/>
          <p:cNvSpPr/>
          <p:nvPr/>
        </p:nvSpPr>
        <p:spPr>
          <a:xfrm>
            <a:off x="11331245" y="816102"/>
            <a:ext cx="54864" cy="54864"/>
          </a:xfrm>
          <a:prstGeom prst="ellipse">
            <a:avLst/>
          </a:prstGeom>
          <a:solidFill>
            <a:srgbClr val="C3CCD9"/>
          </a:solidFill>
          <a:ln w="12700">
            <a:solidFill>
              <a:srgbClr val="C3CCD9"/>
            </a:solidFill>
            <a:prstDash val="solid"/>
          </a:ln>
        </p:spPr>
      </p:sp>
      <p:sp>
        <p:nvSpPr>
          <p:cNvPr id="18" name="Text 16"/>
          <p:cNvSpPr txBox="1"/>
          <p:nvPr/>
        </p:nvSpPr>
        <p:spPr>
          <a:xfrm>
            <a:off x="685800" y="475488"/>
            <a:ext cx="10820095" cy="256032"/>
          </a:xfrm>
          <a:prstGeom prst="rect">
            <a:avLst/>
          </a:prstGeom>
          <a:noFill/>
          <a:ln/>
        </p:spPr>
        <p:txBody>
          <a:bodyPr wrap="square" lIns="0" tIns="0" rIns="0" bIns="0" rtlCol="0" anchor="t"/>
          <a:lstStyle/>
          <a:p>
            <a:pPr indent="0" marL="0">
              <a:buNone/>
            </a:pPr>
            <a:r>
              <a:rPr lang="en-US" sz="1100" b="1" dirty="0">
                <a:solidFill>
                  <a:srgbClr val="E0533A"/>
                </a:solidFill>
                <a:latin typeface="Arial" pitchFamily="34" charset="0"/>
                <a:ea typeface="Arial" pitchFamily="34" charset="-122"/>
                <a:cs typeface="Arial" pitchFamily="34" charset="-120"/>
              </a:rPr>
              <a:t>02 · DATA &amp; METHOD</a:t>
            </a:r>
            <a:endParaRPr lang="en-US" sz="1100" dirty="0"/>
          </a:p>
        </p:txBody>
      </p:sp>
      <p:sp>
        <p:nvSpPr>
          <p:cNvPr id="19" name="Text 17"/>
          <p:cNvSpPr txBox="1"/>
          <p:nvPr/>
        </p:nvSpPr>
        <p:spPr>
          <a:xfrm>
            <a:off x="685800" y="768096"/>
            <a:ext cx="10820095" cy="822960"/>
          </a:xfrm>
          <a:prstGeom prst="rect">
            <a:avLst/>
          </a:prstGeom>
          <a:noFill/>
          <a:ln/>
        </p:spPr>
        <p:txBody>
          <a:bodyPr wrap="square" lIns="0" tIns="0" rIns="0" bIns="0" rtlCol="0" anchor="t"/>
          <a:lstStyle/>
          <a:p>
            <a:pPr indent="0" marL="0">
              <a:buNone/>
            </a:pPr>
            <a:r>
              <a:rPr lang="en-US" sz="3000" dirty="0">
                <a:solidFill>
                  <a:srgbClr val="0F1B2D"/>
                </a:solidFill>
                <a:latin typeface="Georgia" pitchFamily="34" charset="0"/>
                <a:ea typeface="Georgia" pitchFamily="34" charset="-122"/>
                <a:cs typeface="Georgia" pitchFamily="34" charset="-120"/>
              </a:rPr>
              <a:t>Four data problems we found and fixed</a:t>
            </a:r>
            <a:endParaRPr lang="en-US" sz="3000" dirty="0"/>
          </a:p>
        </p:txBody>
      </p:sp>
      <p:sp>
        <p:nvSpPr>
          <p:cNvPr id="20" name="Shape 18"/>
          <p:cNvSpPr/>
          <p:nvPr/>
        </p:nvSpPr>
        <p:spPr>
          <a:xfrm>
            <a:off x="685800" y="1828800"/>
            <a:ext cx="2499284" cy="2926080"/>
          </a:xfrm>
          <a:prstGeom prst="roundRect">
            <a:avLst>
              <a:gd name="adj" fmla="val 2195"/>
            </a:avLst>
          </a:prstGeom>
          <a:solidFill>
            <a:srgbClr val="F4F6F9"/>
          </a:solidFill>
          <a:ln w="12700">
            <a:solidFill>
              <a:srgbClr val="F4F6F9"/>
            </a:solidFill>
            <a:prstDash val="solid"/>
          </a:ln>
        </p:spPr>
      </p:sp>
      <p:sp>
        <p:nvSpPr>
          <p:cNvPr id="21" name="Shape 19"/>
          <p:cNvSpPr/>
          <p:nvPr/>
        </p:nvSpPr>
        <p:spPr>
          <a:xfrm>
            <a:off x="1005840" y="2103120"/>
            <a:ext cx="502920" cy="502920"/>
          </a:xfrm>
          <a:prstGeom prst="ellipse">
            <a:avLst/>
          </a:prstGeom>
          <a:solidFill>
            <a:srgbClr val="E0533A"/>
          </a:solidFill>
          <a:ln w="12700">
            <a:solidFill>
              <a:srgbClr val="E0533A"/>
            </a:solidFill>
            <a:prstDash val="solid"/>
          </a:ln>
        </p:spPr>
      </p:sp>
      <p:pic>
        <p:nvPicPr>
          <p:cNvPr id="22" name="Image 0" descr="preencoded.png">    </p:cNvPr>
          <p:cNvPicPr>
            <a:picLocks noChangeAspect="1"/>
          </p:cNvPicPr>
          <p:nvPr/>
        </p:nvPicPr>
        <p:blipFill>
          <a:blip r:embed="rId1"/>
          <a:stretch>
            <a:fillRect/>
          </a:stretch>
        </p:blipFill>
        <p:spPr>
          <a:xfrm>
            <a:off x="1141628" y="2238908"/>
            <a:ext cx="231343" cy="231343"/>
          </a:xfrm>
          <a:prstGeom prst="rect">
            <a:avLst/>
          </a:prstGeom>
        </p:spPr>
      </p:pic>
      <p:sp>
        <p:nvSpPr>
          <p:cNvPr id="23" name="Text 20"/>
          <p:cNvSpPr txBox="1"/>
          <p:nvPr/>
        </p:nvSpPr>
        <p:spPr>
          <a:xfrm>
            <a:off x="1005840" y="2788920"/>
            <a:ext cx="1950644" cy="685800"/>
          </a:xfrm>
          <a:prstGeom prst="rect">
            <a:avLst/>
          </a:prstGeom>
          <a:noFill/>
          <a:ln/>
        </p:spPr>
        <p:txBody>
          <a:bodyPr wrap="square" lIns="0" tIns="0" rIns="0" bIns="0" rtlCol="0" anchor="t"/>
          <a:lstStyle/>
          <a:p>
            <a:pPr indent="0" marL="0">
              <a:buNone/>
            </a:pPr>
            <a:r>
              <a:rPr lang="en-US" sz="3400" dirty="0">
                <a:solidFill>
                  <a:srgbClr val="0F1B2D"/>
                </a:solidFill>
                <a:latin typeface="Georgia" pitchFamily="34" charset="0"/>
                <a:ea typeface="Georgia" pitchFamily="34" charset="-122"/>
                <a:cs typeface="Georgia" pitchFamily="34" charset="-120"/>
              </a:rPr>
              <a:t>2,314</a:t>
            </a:r>
            <a:endParaRPr lang="en-US" sz="3400" dirty="0"/>
          </a:p>
        </p:txBody>
      </p:sp>
      <p:sp>
        <p:nvSpPr>
          <p:cNvPr id="24" name="Text 21"/>
          <p:cNvSpPr txBox="1"/>
          <p:nvPr/>
        </p:nvSpPr>
        <p:spPr>
          <a:xfrm>
            <a:off x="1005840" y="3474720"/>
            <a:ext cx="1950644" cy="320040"/>
          </a:xfrm>
          <a:prstGeom prst="rect">
            <a:avLst/>
          </a:prstGeom>
          <a:noFill/>
          <a:ln/>
        </p:spPr>
        <p:txBody>
          <a:bodyPr wrap="square" lIns="0" tIns="0" rIns="0" bIns="0" rtlCol="0" anchor="t"/>
          <a:lstStyle/>
          <a:p>
            <a:pPr indent="0" marL="0">
              <a:buNone/>
            </a:pPr>
            <a:r>
              <a:rPr lang="en-US" sz="1350" b="1" dirty="0">
                <a:solidFill>
                  <a:srgbClr val="0F1B2D"/>
                </a:solidFill>
                <a:latin typeface="Arial" pitchFamily="34" charset="0"/>
                <a:ea typeface="Arial" pitchFamily="34" charset="-122"/>
                <a:cs typeface="Arial" pitchFamily="34" charset="-120"/>
              </a:rPr>
              <a:t>flows recovered</a:t>
            </a:r>
            <a:endParaRPr lang="en-US" sz="1350" dirty="0"/>
          </a:p>
        </p:txBody>
      </p:sp>
      <p:sp>
        <p:nvSpPr>
          <p:cNvPr id="25" name="Text 22"/>
          <p:cNvSpPr txBox="1"/>
          <p:nvPr/>
        </p:nvSpPr>
        <p:spPr>
          <a:xfrm>
            <a:off x="1005840" y="3840480"/>
            <a:ext cx="1950644" cy="1097280"/>
          </a:xfrm>
          <a:prstGeom prst="rect">
            <a:avLst/>
          </a:prstGeom>
          <a:noFill/>
          <a:ln/>
        </p:spPr>
        <p:txBody>
          <a:bodyPr wrap="square" lIns="0" tIns="0" rIns="0" bIns="0" rtlCol="0" anchor="t"/>
          <a:lstStyle/>
          <a:p>
            <a:pPr indent="0" marL="0">
              <a:buNone/>
            </a:pPr>
            <a:r>
              <a:rPr lang="en-US" sz="1200" dirty="0">
                <a:solidFill>
                  <a:srgbClr val="55606E"/>
                </a:solidFill>
                <a:latin typeface="Arial" pitchFamily="34" charset="0"/>
                <a:ea typeface="Arial" pitchFamily="34" charset="-122"/>
                <a:cs typeface="Arial" pitchFamily="34" charset="-120"/>
              </a:rPr>
              <a:t>One CSV file has no header row; a naive loader drops 94% of Lateral Movement</a:t>
            </a:r>
            <a:endParaRPr lang="en-US" sz="1200" dirty="0"/>
          </a:p>
        </p:txBody>
      </p:sp>
      <p:sp>
        <p:nvSpPr>
          <p:cNvPr id="26" name="Shape 23"/>
          <p:cNvSpPr/>
          <p:nvPr/>
        </p:nvSpPr>
        <p:spPr>
          <a:xfrm>
            <a:off x="3459404" y="1828800"/>
            <a:ext cx="2499284" cy="2926080"/>
          </a:xfrm>
          <a:prstGeom prst="roundRect">
            <a:avLst>
              <a:gd name="adj" fmla="val 2195"/>
            </a:avLst>
          </a:prstGeom>
          <a:solidFill>
            <a:srgbClr val="F4F6F9"/>
          </a:solidFill>
          <a:ln w="12700">
            <a:solidFill>
              <a:srgbClr val="F4F6F9"/>
            </a:solidFill>
            <a:prstDash val="solid"/>
          </a:ln>
        </p:spPr>
      </p:sp>
      <p:sp>
        <p:nvSpPr>
          <p:cNvPr id="27" name="Shape 24"/>
          <p:cNvSpPr/>
          <p:nvPr/>
        </p:nvSpPr>
        <p:spPr>
          <a:xfrm>
            <a:off x="3779444" y="2103120"/>
            <a:ext cx="502920" cy="502920"/>
          </a:xfrm>
          <a:prstGeom prst="ellipse">
            <a:avLst/>
          </a:prstGeom>
          <a:solidFill>
            <a:srgbClr val="2A78D6"/>
          </a:solidFill>
          <a:ln w="12700">
            <a:solidFill>
              <a:srgbClr val="2A78D6"/>
            </a:solidFill>
            <a:prstDash val="solid"/>
          </a:ln>
        </p:spPr>
      </p:sp>
      <p:pic>
        <p:nvPicPr>
          <p:cNvPr id="28" name="Image 1" descr="preencoded.png">    </p:cNvPr>
          <p:cNvPicPr>
            <a:picLocks noChangeAspect="1"/>
          </p:cNvPicPr>
          <p:nvPr/>
        </p:nvPicPr>
        <p:blipFill>
          <a:blip r:embed="rId2"/>
          <a:stretch>
            <a:fillRect/>
          </a:stretch>
        </p:blipFill>
        <p:spPr>
          <a:xfrm>
            <a:off x="3915232" y="2238908"/>
            <a:ext cx="231343" cy="231343"/>
          </a:xfrm>
          <a:prstGeom prst="rect">
            <a:avLst/>
          </a:prstGeom>
        </p:spPr>
      </p:pic>
      <p:sp>
        <p:nvSpPr>
          <p:cNvPr id="29" name="Text 25"/>
          <p:cNvSpPr txBox="1"/>
          <p:nvPr/>
        </p:nvSpPr>
        <p:spPr>
          <a:xfrm>
            <a:off x="3779444" y="2788920"/>
            <a:ext cx="1950644" cy="685800"/>
          </a:xfrm>
          <a:prstGeom prst="rect">
            <a:avLst/>
          </a:prstGeom>
          <a:noFill/>
          <a:ln/>
        </p:spPr>
        <p:txBody>
          <a:bodyPr wrap="square" lIns="0" tIns="0" rIns="0" bIns="0" rtlCol="0" anchor="t"/>
          <a:lstStyle/>
          <a:p>
            <a:pPr indent="0" marL="0">
              <a:buNone/>
            </a:pPr>
            <a:r>
              <a:rPr lang="en-US" sz="3400" dirty="0">
                <a:solidFill>
                  <a:srgbClr val="0F1B2D"/>
                </a:solidFill>
                <a:latin typeface="Georgia" pitchFamily="34" charset="0"/>
                <a:ea typeface="Georgia" pitchFamily="34" charset="-122"/>
                <a:cs typeface="Georgia" pitchFamily="34" charset="-120"/>
              </a:rPr>
              <a:t>3 → 1</a:t>
            </a:r>
            <a:endParaRPr lang="en-US" sz="3400" dirty="0"/>
          </a:p>
        </p:txBody>
      </p:sp>
      <p:sp>
        <p:nvSpPr>
          <p:cNvPr id="30" name="Text 26"/>
          <p:cNvSpPr txBox="1"/>
          <p:nvPr/>
        </p:nvSpPr>
        <p:spPr>
          <a:xfrm>
            <a:off x="3779444" y="3474720"/>
            <a:ext cx="1950644" cy="320040"/>
          </a:xfrm>
          <a:prstGeom prst="rect">
            <a:avLst/>
          </a:prstGeom>
          <a:noFill/>
          <a:ln/>
        </p:spPr>
        <p:txBody>
          <a:bodyPr wrap="square" lIns="0" tIns="0" rIns="0" bIns="0" rtlCol="0" anchor="t"/>
          <a:lstStyle/>
          <a:p>
            <a:pPr indent="0" marL="0">
              <a:buNone/>
            </a:pPr>
            <a:r>
              <a:rPr lang="en-US" sz="1350" b="1" dirty="0">
                <a:solidFill>
                  <a:srgbClr val="0F1B2D"/>
                </a:solidFill>
                <a:latin typeface="Arial" pitchFamily="34" charset="0"/>
                <a:ea typeface="Arial" pitchFamily="34" charset="-122"/>
                <a:cs typeface="Arial" pitchFamily="34" charset="-120"/>
              </a:rPr>
              <a:t>benign labels unified</a:t>
            </a:r>
            <a:endParaRPr lang="en-US" sz="1350" dirty="0"/>
          </a:p>
        </p:txBody>
      </p:sp>
      <p:sp>
        <p:nvSpPr>
          <p:cNvPr id="31" name="Text 27"/>
          <p:cNvSpPr txBox="1"/>
          <p:nvPr/>
        </p:nvSpPr>
        <p:spPr>
          <a:xfrm>
            <a:off x="3779444" y="3840480"/>
            <a:ext cx="1950644" cy="1097280"/>
          </a:xfrm>
          <a:prstGeom prst="rect">
            <a:avLst/>
          </a:prstGeom>
          <a:noFill/>
          <a:ln/>
        </p:spPr>
        <p:txBody>
          <a:bodyPr wrap="square" lIns="0" tIns="0" rIns="0" bIns="0" rtlCol="0" anchor="t"/>
          <a:lstStyle/>
          <a:p>
            <a:pPr indent="0" marL="0">
              <a:buNone/>
            </a:pPr>
            <a:r>
              <a:rPr lang="en-US" sz="1200" dirty="0">
                <a:solidFill>
                  <a:srgbClr val="55606E"/>
                </a:solidFill>
                <a:latin typeface="Arial" pitchFamily="34" charset="0"/>
                <a:ea typeface="Arial" pitchFamily="34" charset="-122"/>
                <a:cs typeface="Arial" pitchFamily="34" charset="-120"/>
              </a:rPr>
              <a:t>BENIGN, Benign and Normal all mean normal traffic</a:t>
            </a:r>
            <a:endParaRPr lang="en-US" sz="1200" dirty="0"/>
          </a:p>
        </p:txBody>
      </p:sp>
      <p:sp>
        <p:nvSpPr>
          <p:cNvPr id="32" name="Shape 28"/>
          <p:cNvSpPr/>
          <p:nvPr/>
        </p:nvSpPr>
        <p:spPr>
          <a:xfrm>
            <a:off x="6233008" y="1828800"/>
            <a:ext cx="2499284" cy="2926080"/>
          </a:xfrm>
          <a:prstGeom prst="roundRect">
            <a:avLst>
              <a:gd name="adj" fmla="val 2195"/>
            </a:avLst>
          </a:prstGeom>
          <a:solidFill>
            <a:srgbClr val="F4F6F9"/>
          </a:solidFill>
          <a:ln w="12700">
            <a:solidFill>
              <a:srgbClr val="F4F6F9"/>
            </a:solidFill>
            <a:prstDash val="solid"/>
          </a:ln>
        </p:spPr>
      </p:sp>
      <p:sp>
        <p:nvSpPr>
          <p:cNvPr id="33" name="Shape 29"/>
          <p:cNvSpPr/>
          <p:nvPr/>
        </p:nvSpPr>
        <p:spPr>
          <a:xfrm>
            <a:off x="6553048" y="2103120"/>
            <a:ext cx="502920" cy="502920"/>
          </a:xfrm>
          <a:prstGeom prst="ellipse">
            <a:avLst/>
          </a:prstGeom>
          <a:solidFill>
            <a:srgbClr val="2A78D6"/>
          </a:solidFill>
          <a:ln w="12700">
            <a:solidFill>
              <a:srgbClr val="2A78D6"/>
            </a:solidFill>
            <a:prstDash val="solid"/>
          </a:ln>
        </p:spPr>
      </p:sp>
      <p:pic>
        <p:nvPicPr>
          <p:cNvPr id="34" name="Image 2" descr="preencoded.png">    </p:cNvPr>
          <p:cNvPicPr>
            <a:picLocks noChangeAspect="1"/>
          </p:cNvPicPr>
          <p:nvPr/>
        </p:nvPicPr>
        <p:blipFill>
          <a:blip r:embed="rId3"/>
          <a:stretch>
            <a:fillRect/>
          </a:stretch>
        </p:blipFill>
        <p:spPr>
          <a:xfrm>
            <a:off x="6688836" y="2238908"/>
            <a:ext cx="231343" cy="231343"/>
          </a:xfrm>
          <a:prstGeom prst="rect">
            <a:avLst/>
          </a:prstGeom>
        </p:spPr>
      </p:pic>
      <p:sp>
        <p:nvSpPr>
          <p:cNvPr id="35" name="Text 30"/>
          <p:cNvSpPr txBox="1"/>
          <p:nvPr/>
        </p:nvSpPr>
        <p:spPr>
          <a:xfrm>
            <a:off x="6553048" y="2788920"/>
            <a:ext cx="1950644" cy="685800"/>
          </a:xfrm>
          <a:prstGeom prst="rect">
            <a:avLst/>
          </a:prstGeom>
          <a:noFill/>
          <a:ln/>
        </p:spPr>
        <p:txBody>
          <a:bodyPr wrap="square" lIns="0" tIns="0" rIns="0" bIns="0" rtlCol="0" anchor="t"/>
          <a:lstStyle/>
          <a:p>
            <a:pPr indent="0" marL="0">
              <a:buNone/>
            </a:pPr>
            <a:r>
              <a:rPr lang="en-US" sz="3400" dirty="0">
                <a:solidFill>
                  <a:srgbClr val="0F1B2D"/>
                </a:solidFill>
                <a:latin typeface="Georgia" pitchFamily="34" charset="0"/>
                <a:ea typeface="Georgia" pitchFamily="34" charset="-122"/>
                <a:cs typeface="Georgia" pitchFamily="34" charset="-120"/>
              </a:rPr>
              <a:t>5,248</a:t>
            </a:r>
            <a:endParaRPr lang="en-US" sz="3400" dirty="0"/>
          </a:p>
        </p:txBody>
      </p:sp>
      <p:sp>
        <p:nvSpPr>
          <p:cNvPr id="36" name="Text 31"/>
          <p:cNvSpPr txBox="1"/>
          <p:nvPr/>
        </p:nvSpPr>
        <p:spPr>
          <a:xfrm>
            <a:off x="6553048" y="3474720"/>
            <a:ext cx="1950644" cy="320040"/>
          </a:xfrm>
          <a:prstGeom prst="rect">
            <a:avLst/>
          </a:prstGeom>
          <a:noFill/>
          <a:ln/>
        </p:spPr>
        <p:txBody>
          <a:bodyPr wrap="square" lIns="0" tIns="0" rIns="0" bIns="0" rtlCol="0" anchor="t"/>
          <a:lstStyle/>
          <a:p>
            <a:pPr indent="0" marL="0">
              <a:buNone/>
            </a:pPr>
            <a:r>
              <a:rPr lang="en-US" sz="1350" b="1" dirty="0">
                <a:solidFill>
                  <a:srgbClr val="0F1B2D"/>
                </a:solidFill>
                <a:latin typeface="Arial" pitchFamily="34" charset="0"/>
                <a:ea typeface="Arial" pitchFamily="34" charset="-122"/>
                <a:cs typeface="Arial" pitchFamily="34" charset="-120"/>
              </a:rPr>
              <a:t>duplicate flows removed</a:t>
            </a:r>
            <a:endParaRPr lang="en-US" sz="1350" dirty="0"/>
          </a:p>
        </p:txBody>
      </p:sp>
      <p:sp>
        <p:nvSpPr>
          <p:cNvPr id="37" name="Text 32"/>
          <p:cNvSpPr txBox="1"/>
          <p:nvPr/>
        </p:nvSpPr>
        <p:spPr>
          <a:xfrm>
            <a:off x="6553048" y="3840480"/>
            <a:ext cx="1950644" cy="1097280"/>
          </a:xfrm>
          <a:prstGeom prst="rect">
            <a:avLst/>
          </a:prstGeom>
          <a:noFill/>
          <a:ln/>
        </p:spPr>
        <p:txBody>
          <a:bodyPr wrap="square" lIns="0" tIns="0" rIns="0" bIns="0" rtlCol="0" anchor="t"/>
          <a:lstStyle/>
          <a:p>
            <a:pPr indent="0" marL="0">
              <a:buNone/>
            </a:pPr>
            <a:r>
              <a:rPr lang="en-US" sz="1200" dirty="0">
                <a:solidFill>
                  <a:srgbClr val="55606E"/>
                </a:solidFill>
                <a:latin typeface="Arial" pitchFamily="34" charset="0"/>
                <a:ea typeface="Arial" pitchFamily="34" charset="-122"/>
                <a:cs typeface="Arial" pitchFamily="34" charset="-120"/>
              </a:rPr>
              <a:t>Plus 12 constant columns, as the paper prescribes</a:t>
            </a:r>
            <a:endParaRPr lang="en-US" sz="1200" dirty="0"/>
          </a:p>
        </p:txBody>
      </p:sp>
      <p:sp>
        <p:nvSpPr>
          <p:cNvPr id="38" name="Shape 33"/>
          <p:cNvSpPr/>
          <p:nvPr/>
        </p:nvSpPr>
        <p:spPr>
          <a:xfrm>
            <a:off x="9006611" y="1828800"/>
            <a:ext cx="2499284" cy="2926080"/>
          </a:xfrm>
          <a:prstGeom prst="roundRect">
            <a:avLst>
              <a:gd name="adj" fmla="val 2195"/>
            </a:avLst>
          </a:prstGeom>
          <a:solidFill>
            <a:srgbClr val="F4F6F9"/>
          </a:solidFill>
          <a:ln w="12700">
            <a:solidFill>
              <a:srgbClr val="F4F6F9"/>
            </a:solidFill>
            <a:prstDash val="solid"/>
          </a:ln>
        </p:spPr>
      </p:sp>
      <p:sp>
        <p:nvSpPr>
          <p:cNvPr id="39" name="Shape 34"/>
          <p:cNvSpPr/>
          <p:nvPr/>
        </p:nvSpPr>
        <p:spPr>
          <a:xfrm>
            <a:off x="9326651" y="2103120"/>
            <a:ext cx="502920" cy="502920"/>
          </a:xfrm>
          <a:prstGeom prst="ellipse">
            <a:avLst/>
          </a:prstGeom>
          <a:solidFill>
            <a:srgbClr val="E0533A"/>
          </a:solidFill>
          <a:ln w="12700">
            <a:solidFill>
              <a:srgbClr val="E0533A"/>
            </a:solidFill>
            <a:prstDash val="solid"/>
          </a:ln>
        </p:spPr>
      </p:sp>
      <p:pic>
        <p:nvPicPr>
          <p:cNvPr id="40" name="Image 3" descr="preencoded.png">    </p:cNvPr>
          <p:cNvPicPr>
            <a:picLocks noChangeAspect="1"/>
          </p:cNvPicPr>
          <p:nvPr/>
        </p:nvPicPr>
        <p:blipFill>
          <a:blip r:embed="rId4"/>
          <a:stretch>
            <a:fillRect/>
          </a:stretch>
        </p:blipFill>
        <p:spPr>
          <a:xfrm>
            <a:off x="9462440" y="2238908"/>
            <a:ext cx="231343" cy="231343"/>
          </a:xfrm>
          <a:prstGeom prst="rect">
            <a:avLst/>
          </a:prstGeom>
        </p:spPr>
      </p:pic>
      <p:sp>
        <p:nvSpPr>
          <p:cNvPr id="41" name="Text 35"/>
          <p:cNvSpPr txBox="1"/>
          <p:nvPr/>
        </p:nvSpPr>
        <p:spPr>
          <a:xfrm>
            <a:off x="9326651" y="2788920"/>
            <a:ext cx="1950644" cy="685800"/>
          </a:xfrm>
          <a:prstGeom prst="rect">
            <a:avLst/>
          </a:prstGeom>
          <a:noFill/>
          <a:ln/>
        </p:spPr>
        <p:txBody>
          <a:bodyPr wrap="square" lIns="0" tIns="0" rIns="0" bIns="0" rtlCol="0" anchor="t"/>
          <a:lstStyle/>
          <a:p>
            <a:pPr indent="0" marL="0">
              <a:buNone/>
            </a:pPr>
            <a:r>
              <a:rPr lang="en-US" sz="3400" dirty="0">
                <a:solidFill>
                  <a:srgbClr val="0F1B2D"/>
                </a:solidFill>
                <a:latin typeface="Georgia" pitchFamily="34" charset="0"/>
                <a:ea typeface="Georgia" pitchFamily="34" charset="-122"/>
                <a:cs typeface="Georgia" pitchFamily="34" charset="-120"/>
              </a:rPr>
              <a:t>15</a:t>
            </a:r>
            <a:endParaRPr lang="en-US" sz="3400" dirty="0"/>
          </a:p>
        </p:txBody>
      </p:sp>
      <p:sp>
        <p:nvSpPr>
          <p:cNvPr id="42" name="Text 36"/>
          <p:cNvSpPr txBox="1"/>
          <p:nvPr/>
        </p:nvSpPr>
        <p:spPr>
          <a:xfrm>
            <a:off x="9326651" y="3474720"/>
            <a:ext cx="1950644" cy="320040"/>
          </a:xfrm>
          <a:prstGeom prst="rect">
            <a:avLst/>
          </a:prstGeom>
          <a:noFill/>
          <a:ln/>
        </p:spPr>
        <p:txBody>
          <a:bodyPr wrap="square" lIns="0" tIns="0" rIns="0" bIns="0" rtlCol="0" anchor="t"/>
          <a:lstStyle/>
          <a:p>
            <a:pPr indent="0" marL="0">
              <a:buNone/>
            </a:pPr>
            <a:r>
              <a:rPr lang="en-US" sz="1350" b="1" dirty="0">
                <a:solidFill>
                  <a:srgbClr val="0F1B2D"/>
                </a:solidFill>
                <a:latin typeface="Arial" pitchFamily="34" charset="0"/>
                <a:ea typeface="Arial" pitchFamily="34" charset="-122"/>
                <a:cs typeface="Arial" pitchFamily="34" charset="-120"/>
              </a:rPr>
              <a:t>exfiltration flows</a:t>
            </a:r>
            <a:endParaRPr lang="en-US" sz="1350" dirty="0"/>
          </a:p>
        </p:txBody>
      </p:sp>
      <p:sp>
        <p:nvSpPr>
          <p:cNvPr id="43" name="Text 37"/>
          <p:cNvSpPr txBox="1"/>
          <p:nvPr/>
        </p:nvSpPr>
        <p:spPr>
          <a:xfrm>
            <a:off x="9326651" y="3840480"/>
            <a:ext cx="1950644" cy="1097280"/>
          </a:xfrm>
          <a:prstGeom prst="rect">
            <a:avLst/>
          </a:prstGeom>
          <a:noFill/>
          <a:ln/>
        </p:spPr>
        <p:txBody>
          <a:bodyPr wrap="square" lIns="0" tIns="0" rIns="0" bIns="0" rtlCol="0" anchor="t"/>
          <a:lstStyle/>
          <a:p>
            <a:pPr indent="0" marL="0">
              <a:buNone/>
            </a:pPr>
            <a:r>
              <a:rPr lang="en-US" sz="1200" dirty="0">
                <a:solidFill>
                  <a:srgbClr val="55606E"/>
                </a:solidFill>
                <a:latin typeface="Arial" pitchFamily="34" charset="0"/>
                <a:ea typeface="Arial" pitchFamily="34" charset="-122"/>
                <a:cs typeface="Arial" pitchFamily="34" charset="-120"/>
              </a:rPr>
              <a:t>The most critical APT stage is barely represented</a:t>
            </a:r>
            <a:endParaRPr lang="en-US" sz="1200" dirty="0"/>
          </a:p>
        </p:txBody>
      </p:sp>
      <p:sp>
        <p:nvSpPr>
          <p:cNvPr id="44" name="Shape 38"/>
          <p:cNvSpPr/>
          <p:nvPr/>
        </p:nvSpPr>
        <p:spPr>
          <a:xfrm>
            <a:off x="685800" y="5074920"/>
            <a:ext cx="10820095" cy="685800"/>
          </a:xfrm>
          <a:prstGeom prst="roundRect">
            <a:avLst>
              <a:gd name="adj" fmla="val 8000"/>
            </a:avLst>
          </a:prstGeom>
          <a:solidFill>
            <a:srgbClr val="E7F4ED"/>
          </a:solidFill>
          <a:ln w="12700">
            <a:solidFill>
              <a:srgbClr val="E7F4ED"/>
            </a:solidFill>
            <a:prstDash val="solid"/>
          </a:ln>
        </p:spPr>
      </p:sp>
      <p:pic>
        <p:nvPicPr>
          <p:cNvPr id="45" name="Image 4" descr="preencoded.png">    </p:cNvPr>
          <p:cNvPicPr>
            <a:picLocks noChangeAspect="1"/>
          </p:cNvPicPr>
          <p:nvPr/>
        </p:nvPicPr>
        <p:blipFill>
          <a:blip r:embed="rId5"/>
          <a:stretch>
            <a:fillRect/>
          </a:stretch>
        </p:blipFill>
        <p:spPr>
          <a:xfrm>
            <a:off x="960120" y="5248656"/>
            <a:ext cx="338328" cy="338328"/>
          </a:xfrm>
          <a:prstGeom prst="rect">
            <a:avLst/>
          </a:prstGeom>
        </p:spPr>
      </p:pic>
      <p:sp>
        <p:nvSpPr>
          <p:cNvPr id="46" name="Text 39"/>
          <p:cNvSpPr txBox="1"/>
          <p:nvPr/>
        </p:nvSpPr>
        <p:spPr>
          <a:xfrm>
            <a:off x="1463040" y="5074920"/>
            <a:ext cx="9814255" cy="685800"/>
          </a:xfrm>
          <a:prstGeom prst="rect">
            <a:avLst/>
          </a:prstGeom>
          <a:noFill/>
          <a:ln/>
        </p:spPr>
        <p:txBody>
          <a:bodyPr wrap="square" lIns="0" tIns="0" rIns="0" bIns="0" rtlCol="0" anchor="ctr"/>
          <a:lstStyle/>
          <a:p>
            <a:pPr indent="0" marL="0">
              <a:buNone/>
            </a:pPr>
            <a:r>
              <a:rPr lang="en-US" sz="1350" b="1" dirty="0">
                <a:solidFill>
                  <a:srgbClr val="1E8A5F"/>
                </a:solidFill>
                <a:latin typeface="Arial" pitchFamily="34" charset="0"/>
                <a:ea typeface="Arial" pitchFamily="34" charset="-122"/>
                <a:cs typeface="Arial" pitchFamily="34" charset="-120"/>
              </a:rPr>
              <a:t>Sanity check: </a:t>
            </a:r>
            <a:pPr indent="0" marL="0">
              <a:buNone/>
            </a:pPr>
            <a:r>
              <a:rPr lang="en-US" sz="1350" dirty="0">
                <a:solidFill>
                  <a:srgbClr val="0F1B2D"/>
                </a:solidFill>
                <a:latin typeface="Arial" pitchFamily="34" charset="0"/>
                <a:ea typeface="Arial" pitchFamily="34" charset="-122"/>
                <a:cs typeface="Arial" pitchFamily="34" charset="-120"/>
              </a:rPr>
              <a:t>after the fix, benign = 63,712 flows, matching the count reported for DAPT2020 in later work (ISeCure, 2025).</a:t>
            </a:r>
            <a:endParaRPr lang="en-US" sz="1350" dirty="0"/>
          </a:p>
        </p:txBody>
      </p:sp>
      <p:sp>
        <p:nvSpPr>
          <p:cNvPr id="47" name="Text 40"/>
          <p:cNvSpPr txBox="1"/>
          <p:nvPr/>
        </p:nvSpPr>
        <p:spPr>
          <a:xfrm>
            <a:off x="685800" y="6400800"/>
            <a:ext cx="7315200" cy="228600"/>
          </a:xfrm>
          <a:prstGeom prst="rect">
            <a:avLst/>
          </a:prstGeom>
          <a:noFill/>
          <a:ln/>
        </p:spPr>
        <p:txBody>
          <a:bodyPr wrap="square" lIns="0" tIns="0" rIns="0" bIns="0" rtlCol="0" anchor="t"/>
          <a:lstStyle/>
          <a:p>
            <a:pPr indent="0" marL="0">
              <a:buNone/>
            </a:pPr>
            <a:r>
              <a:rPr lang="en-US" sz="900" dirty="0">
                <a:solidFill>
                  <a:srgbClr val="8A94A3"/>
                </a:solidFill>
                <a:latin typeface="Arial" pitchFamily="34" charset="0"/>
                <a:ea typeface="Arial" pitchFamily="34" charset="-122"/>
                <a:cs typeface="Arial" pitchFamily="34" charset="-120"/>
              </a:rPr>
              <a:t>Anomaly detection for Advanced Persistent Threats   |   Mid-term evaluation</a:t>
            </a:r>
            <a:endParaRPr lang="en-US" sz="900" dirty="0"/>
          </a:p>
        </p:txBody>
      </p:sp>
      <p:sp>
        <p:nvSpPr>
          <p:cNvPr id="48" name="Text 41"/>
          <p:cNvSpPr txBox="1"/>
          <p:nvPr/>
        </p:nvSpPr>
        <p:spPr>
          <a:xfrm>
            <a:off x="10591495" y="6400800"/>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V="1">
            <a:off x="10087295" y="470002"/>
            <a:ext cx="288950" cy="416966"/>
          </a:xfrm>
          <a:prstGeom prst="line">
            <a:avLst/>
          </a:prstGeom>
          <a:noFill/>
          <a:ln w="9525">
            <a:solidFill>
              <a:srgbClr val="DCE2EA"/>
            </a:solidFill>
            <a:prstDash val="solid"/>
          </a:ln>
        </p:spPr>
      </p:sp>
      <p:sp>
        <p:nvSpPr>
          <p:cNvPr id="3" name="Shape 1"/>
          <p:cNvSpPr/>
          <p:nvPr/>
        </p:nvSpPr>
        <p:spPr>
          <a:xfrm>
            <a:off x="10087295" y="886968"/>
            <a:ext cx="549006" cy="69494"/>
          </a:xfrm>
          <a:prstGeom prst="line">
            <a:avLst/>
          </a:prstGeom>
          <a:noFill/>
          <a:ln w="9525">
            <a:solidFill>
              <a:srgbClr val="DCE2EA"/>
            </a:solidFill>
            <a:prstDash val="solid"/>
          </a:ln>
        </p:spPr>
      </p:sp>
      <p:sp>
        <p:nvSpPr>
          <p:cNvPr id="4" name="Shape 2"/>
          <p:cNvSpPr/>
          <p:nvPr/>
        </p:nvSpPr>
        <p:spPr>
          <a:xfrm>
            <a:off x="10376245" y="470002"/>
            <a:ext cx="549006" cy="156362"/>
          </a:xfrm>
          <a:prstGeom prst="line">
            <a:avLst/>
          </a:prstGeom>
          <a:noFill/>
          <a:ln w="9525">
            <a:solidFill>
              <a:srgbClr val="F2B7A8"/>
            </a:solidFill>
            <a:prstDash val="solid"/>
          </a:ln>
        </p:spPr>
      </p:sp>
      <p:sp>
        <p:nvSpPr>
          <p:cNvPr id="5" name="Shape 3"/>
          <p:cNvSpPr/>
          <p:nvPr/>
        </p:nvSpPr>
        <p:spPr>
          <a:xfrm flipV="1">
            <a:off x="10636301" y="626364"/>
            <a:ext cx="288950" cy="330098"/>
          </a:xfrm>
          <a:prstGeom prst="line">
            <a:avLst/>
          </a:prstGeom>
          <a:noFill/>
          <a:ln w="9525">
            <a:solidFill>
              <a:srgbClr val="F2B7A8"/>
            </a:solidFill>
            <a:prstDash val="solid"/>
          </a:ln>
        </p:spPr>
      </p:sp>
      <p:sp>
        <p:nvSpPr>
          <p:cNvPr id="6" name="Shape 4"/>
          <p:cNvSpPr/>
          <p:nvPr/>
        </p:nvSpPr>
        <p:spPr>
          <a:xfrm flipV="1">
            <a:off x="10925251" y="522122"/>
            <a:ext cx="534558" cy="104242"/>
          </a:xfrm>
          <a:prstGeom prst="line">
            <a:avLst/>
          </a:prstGeom>
          <a:noFill/>
          <a:ln w="9525">
            <a:solidFill>
              <a:srgbClr val="F2B7A8"/>
            </a:solidFill>
            <a:prstDash val="solid"/>
          </a:ln>
        </p:spPr>
      </p:sp>
      <p:sp>
        <p:nvSpPr>
          <p:cNvPr id="7" name="Shape 5"/>
          <p:cNvSpPr/>
          <p:nvPr/>
        </p:nvSpPr>
        <p:spPr>
          <a:xfrm>
            <a:off x="10636301" y="956462"/>
            <a:ext cx="549006" cy="121615"/>
          </a:xfrm>
          <a:prstGeom prst="line">
            <a:avLst/>
          </a:prstGeom>
          <a:noFill/>
          <a:ln w="9525">
            <a:solidFill>
              <a:srgbClr val="DCE2EA"/>
            </a:solidFill>
            <a:prstDash val="solid"/>
          </a:ln>
        </p:spPr>
      </p:sp>
      <p:sp>
        <p:nvSpPr>
          <p:cNvPr id="8" name="Shape 6"/>
          <p:cNvSpPr/>
          <p:nvPr/>
        </p:nvSpPr>
        <p:spPr>
          <a:xfrm flipV="1">
            <a:off x="11185307" y="843534"/>
            <a:ext cx="173370" cy="234544"/>
          </a:xfrm>
          <a:prstGeom prst="line">
            <a:avLst/>
          </a:prstGeom>
          <a:noFill/>
          <a:ln w="9525">
            <a:solidFill>
              <a:srgbClr val="DCE2EA"/>
            </a:solidFill>
            <a:prstDash val="solid"/>
          </a:ln>
        </p:spPr>
      </p:sp>
      <p:sp>
        <p:nvSpPr>
          <p:cNvPr id="9" name="Shape 7"/>
          <p:cNvSpPr/>
          <p:nvPr/>
        </p:nvSpPr>
        <p:spPr>
          <a:xfrm flipH="1">
            <a:off x="11358677" y="522122"/>
            <a:ext cx="101133" cy="321412"/>
          </a:xfrm>
          <a:prstGeom prst="line">
            <a:avLst/>
          </a:prstGeom>
          <a:noFill/>
          <a:ln w="9525">
            <a:solidFill>
              <a:srgbClr val="DCE2EA"/>
            </a:solidFill>
            <a:prstDash val="solid"/>
          </a:ln>
        </p:spPr>
      </p:sp>
      <p:sp>
        <p:nvSpPr>
          <p:cNvPr id="10" name="Shape 8"/>
          <p:cNvSpPr/>
          <p:nvPr/>
        </p:nvSpPr>
        <p:spPr>
          <a:xfrm>
            <a:off x="10055291" y="854964"/>
            <a:ext cx="64008" cy="64008"/>
          </a:xfrm>
          <a:prstGeom prst="ellipse">
            <a:avLst/>
          </a:prstGeom>
          <a:solidFill>
            <a:srgbClr val="C3CCD9"/>
          </a:solidFill>
          <a:ln w="12700">
            <a:solidFill>
              <a:srgbClr val="C3CCD9"/>
            </a:solidFill>
            <a:prstDash val="solid"/>
          </a:ln>
        </p:spPr>
      </p:sp>
      <p:sp>
        <p:nvSpPr>
          <p:cNvPr id="11" name="Shape 9"/>
          <p:cNvSpPr/>
          <p:nvPr/>
        </p:nvSpPr>
        <p:spPr>
          <a:xfrm>
            <a:off x="10335097" y="428854"/>
            <a:ext cx="82296" cy="82296"/>
          </a:xfrm>
          <a:prstGeom prst="ellipse">
            <a:avLst/>
          </a:prstGeom>
          <a:solidFill>
            <a:srgbClr val="C3CCD9"/>
          </a:solidFill>
          <a:ln w="12700">
            <a:solidFill>
              <a:srgbClr val="C3CCD9"/>
            </a:solidFill>
            <a:prstDash val="solid"/>
          </a:ln>
        </p:spPr>
      </p:sp>
      <p:sp>
        <p:nvSpPr>
          <p:cNvPr id="12" name="Shape 10"/>
          <p:cNvSpPr/>
          <p:nvPr/>
        </p:nvSpPr>
        <p:spPr>
          <a:xfrm>
            <a:off x="10599725" y="919886"/>
            <a:ext cx="73152" cy="73152"/>
          </a:xfrm>
          <a:prstGeom prst="ellipse">
            <a:avLst/>
          </a:prstGeom>
          <a:solidFill>
            <a:srgbClr val="C3CCD9"/>
          </a:solidFill>
          <a:ln w="12700">
            <a:solidFill>
              <a:srgbClr val="C3CCD9"/>
            </a:solidFill>
            <a:prstDash val="solid"/>
          </a:ln>
        </p:spPr>
      </p:sp>
      <p:sp>
        <p:nvSpPr>
          <p:cNvPr id="13" name="Shape 11"/>
          <p:cNvSpPr/>
          <p:nvPr/>
        </p:nvSpPr>
        <p:spPr>
          <a:xfrm>
            <a:off x="10806379" y="507492"/>
            <a:ext cx="237744" cy="237744"/>
          </a:xfrm>
          <a:prstGeom prst="ellipse">
            <a:avLst/>
          </a:prstGeom>
          <a:solidFill>
            <a:srgbClr val="E0533A">
              <a:alpha val="18000"/>
            </a:srgbClr>
          </a:solidFill>
          <a:ln w="12700">
            <a:solidFill>
              <a:srgbClr val="E0533A">
                <a:alpha val="18000"/>
              </a:srgbClr>
            </a:solidFill>
            <a:prstDash val="solid"/>
          </a:ln>
        </p:spPr>
      </p:sp>
      <p:sp>
        <p:nvSpPr>
          <p:cNvPr id="14" name="Shape 12"/>
          <p:cNvSpPr/>
          <p:nvPr/>
        </p:nvSpPr>
        <p:spPr>
          <a:xfrm>
            <a:off x="10874959" y="576072"/>
            <a:ext cx="100584" cy="100584"/>
          </a:xfrm>
          <a:prstGeom prst="ellipse">
            <a:avLst/>
          </a:prstGeom>
          <a:solidFill>
            <a:srgbClr val="E0533A"/>
          </a:solidFill>
          <a:ln w="12700">
            <a:solidFill>
              <a:srgbClr val="E0533A"/>
            </a:solidFill>
            <a:prstDash val="solid"/>
          </a:ln>
        </p:spPr>
      </p:sp>
      <p:sp>
        <p:nvSpPr>
          <p:cNvPr id="15" name="Shape 13"/>
          <p:cNvSpPr/>
          <p:nvPr/>
        </p:nvSpPr>
        <p:spPr>
          <a:xfrm>
            <a:off x="11144159" y="1036930"/>
            <a:ext cx="82296" cy="82296"/>
          </a:xfrm>
          <a:prstGeom prst="ellipse">
            <a:avLst/>
          </a:prstGeom>
          <a:solidFill>
            <a:srgbClr val="C3CCD9"/>
          </a:solidFill>
          <a:ln w="12700">
            <a:solidFill>
              <a:srgbClr val="C3CCD9"/>
            </a:solidFill>
            <a:prstDash val="solid"/>
          </a:ln>
        </p:spPr>
      </p:sp>
      <p:sp>
        <p:nvSpPr>
          <p:cNvPr id="16" name="Shape 14"/>
          <p:cNvSpPr/>
          <p:nvPr/>
        </p:nvSpPr>
        <p:spPr>
          <a:xfrm>
            <a:off x="11427805" y="490118"/>
            <a:ext cx="64008" cy="64008"/>
          </a:xfrm>
          <a:prstGeom prst="ellipse">
            <a:avLst/>
          </a:prstGeom>
          <a:solidFill>
            <a:srgbClr val="C3CCD9"/>
          </a:solidFill>
          <a:ln w="12700">
            <a:solidFill>
              <a:srgbClr val="C3CCD9"/>
            </a:solidFill>
            <a:prstDash val="solid"/>
          </a:ln>
        </p:spPr>
      </p:sp>
      <p:sp>
        <p:nvSpPr>
          <p:cNvPr id="17" name="Shape 15"/>
          <p:cNvSpPr/>
          <p:nvPr/>
        </p:nvSpPr>
        <p:spPr>
          <a:xfrm>
            <a:off x="11331245" y="816102"/>
            <a:ext cx="54864" cy="54864"/>
          </a:xfrm>
          <a:prstGeom prst="ellipse">
            <a:avLst/>
          </a:prstGeom>
          <a:solidFill>
            <a:srgbClr val="C3CCD9"/>
          </a:solidFill>
          <a:ln w="12700">
            <a:solidFill>
              <a:srgbClr val="C3CCD9"/>
            </a:solidFill>
            <a:prstDash val="solid"/>
          </a:ln>
        </p:spPr>
      </p:sp>
      <p:sp>
        <p:nvSpPr>
          <p:cNvPr id="18" name="Text 16"/>
          <p:cNvSpPr txBox="1"/>
          <p:nvPr/>
        </p:nvSpPr>
        <p:spPr>
          <a:xfrm>
            <a:off x="685800" y="475488"/>
            <a:ext cx="10820095" cy="256032"/>
          </a:xfrm>
          <a:prstGeom prst="rect">
            <a:avLst/>
          </a:prstGeom>
          <a:noFill/>
          <a:ln/>
        </p:spPr>
        <p:txBody>
          <a:bodyPr wrap="square" lIns="0" tIns="0" rIns="0" bIns="0" rtlCol="0" anchor="t"/>
          <a:lstStyle/>
          <a:p>
            <a:pPr indent="0" marL="0">
              <a:buNone/>
            </a:pPr>
            <a:r>
              <a:rPr lang="en-US" sz="1100" b="1" dirty="0">
                <a:solidFill>
                  <a:srgbClr val="E0533A"/>
                </a:solidFill>
                <a:latin typeface="Arial" pitchFamily="34" charset="0"/>
                <a:ea typeface="Arial" pitchFamily="34" charset="-122"/>
                <a:cs typeface="Arial" pitchFamily="34" charset="-120"/>
              </a:rPr>
              <a:t>02 · DATA &amp; METHOD</a:t>
            </a:r>
            <a:endParaRPr lang="en-US" sz="1100" dirty="0"/>
          </a:p>
        </p:txBody>
      </p:sp>
      <p:sp>
        <p:nvSpPr>
          <p:cNvPr id="19" name="Text 17"/>
          <p:cNvSpPr txBox="1"/>
          <p:nvPr/>
        </p:nvSpPr>
        <p:spPr>
          <a:xfrm>
            <a:off x="685800" y="768096"/>
            <a:ext cx="10820095" cy="822960"/>
          </a:xfrm>
          <a:prstGeom prst="rect">
            <a:avLst/>
          </a:prstGeom>
          <a:noFill/>
          <a:ln/>
        </p:spPr>
        <p:txBody>
          <a:bodyPr wrap="square" lIns="0" tIns="0" rIns="0" bIns="0" rtlCol="0" anchor="t"/>
          <a:lstStyle/>
          <a:p>
            <a:pPr indent="0" marL="0">
              <a:buNone/>
            </a:pPr>
            <a:r>
              <a:rPr lang="en-US" sz="3000" dirty="0">
                <a:solidFill>
                  <a:srgbClr val="0F1B2D"/>
                </a:solidFill>
                <a:latin typeface="Georgia" pitchFamily="34" charset="0"/>
                <a:ea typeface="Georgia" pitchFamily="34" charset="-122"/>
                <a:cs typeface="Georgia" pitchFamily="34" charset="-120"/>
              </a:rPr>
              <a:t>We implemented the paper's pipeline step by step</a:t>
            </a:r>
            <a:endParaRPr lang="en-US" sz="3000" dirty="0"/>
          </a:p>
        </p:txBody>
      </p:sp>
      <p:sp>
        <p:nvSpPr>
          <p:cNvPr id="20" name="Shape 18"/>
          <p:cNvSpPr/>
          <p:nvPr/>
        </p:nvSpPr>
        <p:spPr>
          <a:xfrm>
            <a:off x="1587475" y="2514600"/>
            <a:ext cx="9016746" cy="914"/>
          </a:xfrm>
          <a:prstGeom prst="line">
            <a:avLst/>
          </a:prstGeom>
          <a:noFill/>
          <a:ln w="19050">
            <a:solidFill>
              <a:srgbClr val="E2E6EC"/>
            </a:solidFill>
            <a:prstDash val="solid"/>
          </a:ln>
        </p:spPr>
      </p:sp>
      <p:sp>
        <p:nvSpPr>
          <p:cNvPr id="21" name="Shape 19"/>
          <p:cNvSpPr/>
          <p:nvPr/>
        </p:nvSpPr>
        <p:spPr>
          <a:xfrm>
            <a:off x="1153135" y="2080260"/>
            <a:ext cx="868680" cy="868680"/>
          </a:xfrm>
          <a:prstGeom prst="ellipse">
            <a:avLst/>
          </a:prstGeom>
          <a:solidFill>
            <a:srgbClr val="0B1526"/>
          </a:solidFill>
          <a:ln w="12700">
            <a:solidFill>
              <a:srgbClr val="0B1526"/>
            </a:solidFill>
            <a:prstDash val="solid"/>
          </a:ln>
        </p:spPr>
      </p:sp>
      <p:pic>
        <p:nvPicPr>
          <p:cNvPr id="22" name="Image 0" descr="preencoded.png">    </p:cNvPr>
          <p:cNvPicPr>
            <a:picLocks noChangeAspect="1"/>
          </p:cNvPicPr>
          <p:nvPr/>
        </p:nvPicPr>
        <p:blipFill>
          <a:blip r:embed="rId1"/>
          <a:stretch>
            <a:fillRect/>
          </a:stretch>
        </p:blipFill>
        <p:spPr>
          <a:xfrm>
            <a:off x="1387678" y="2314804"/>
            <a:ext cx="399593" cy="399593"/>
          </a:xfrm>
          <a:prstGeom prst="rect">
            <a:avLst/>
          </a:prstGeom>
        </p:spPr>
      </p:pic>
      <p:sp>
        <p:nvSpPr>
          <p:cNvPr id="23" name="Text 20"/>
          <p:cNvSpPr txBox="1"/>
          <p:nvPr/>
        </p:nvSpPr>
        <p:spPr>
          <a:xfrm>
            <a:off x="764515" y="3127248"/>
            <a:ext cx="1645920" cy="256032"/>
          </a:xfrm>
          <a:prstGeom prst="rect">
            <a:avLst/>
          </a:prstGeom>
          <a:noFill/>
          <a:ln/>
        </p:spPr>
        <p:txBody>
          <a:bodyPr wrap="square" lIns="0" tIns="0" rIns="0" bIns="0" rtlCol="0" anchor="t"/>
          <a:lstStyle/>
          <a:p>
            <a:pPr algn="ctr" indent="0" marL="0">
              <a:buNone/>
            </a:pPr>
            <a:r>
              <a:rPr lang="en-US" sz="1050" b="1" dirty="0">
                <a:solidFill>
                  <a:srgbClr val="E0533A"/>
                </a:solidFill>
                <a:latin typeface="Arial" pitchFamily="34" charset="0"/>
                <a:ea typeface="Arial" pitchFamily="34" charset="-122"/>
                <a:cs typeface="Arial" pitchFamily="34" charset="-120"/>
              </a:rPr>
              <a:t>01</a:t>
            </a:r>
            <a:endParaRPr lang="en-US" sz="1050" dirty="0"/>
          </a:p>
        </p:txBody>
      </p:sp>
      <p:sp>
        <p:nvSpPr>
          <p:cNvPr id="24" name="Text 21"/>
          <p:cNvSpPr txBox="1"/>
          <p:nvPr/>
        </p:nvSpPr>
        <p:spPr>
          <a:xfrm>
            <a:off x="764515" y="3383280"/>
            <a:ext cx="1645920" cy="365760"/>
          </a:xfrm>
          <a:prstGeom prst="rect">
            <a:avLst/>
          </a:prstGeom>
          <a:noFill/>
          <a:ln/>
        </p:spPr>
        <p:txBody>
          <a:bodyPr wrap="square" lIns="0" tIns="0" rIns="0" bIns="0" rtlCol="0" anchor="t"/>
          <a:lstStyle/>
          <a:p>
            <a:pPr algn="ctr" indent="0" marL="0">
              <a:buNone/>
            </a:pPr>
            <a:r>
              <a:rPr lang="en-US" sz="1600" b="1" dirty="0">
                <a:solidFill>
                  <a:srgbClr val="0F1B2D"/>
                </a:solidFill>
                <a:latin typeface="Arial" pitchFamily="34" charset="0"/>
                <a:ea typeface="Arial" pitchFamily="34" charset="-122"/>
                <a:cs typeface="Arial" pitchFamily="34" charset="-120"/>
              </a:rPr>
              <a:t>Clean</a:t>
            </a:r>
            <a:endParaRPr lang="en-US" sz="1600" dirty="0"/>
          </a:p>
        </p:txBody>
      </p:sp>
      <p:sp>
        <p:nvSpPr>
          <p:cNvPr id="25" name="Text 22"/>
          <p:cNvSpPr txBox="1"/>
          <p:nvPr/>
        </p:nvSpPr>
        <p:spPr>
          <a:xfrm>
            <a:off x="764515" y="3794760"/>
            <a:ext cx="1645920" cy="1051560"/>
          </a:xfrm>
          <a:prstGeom prst="rect">
            <a:avLst/>
          </a:prstGeom>
          <a:noFill/>
          <a:ln/>
        </p:spPr>
        <p:txBody>
          <a:bodyPr wrap="square" lIns="0" tIns="0" rIns="0" bIns="0" rtlCol="0" anchor="t"/>
          <a:lstStyle/>
          <a:p>
            <a:pPr algn="ctr" indent="0" marL="0">
              <a:buNone/>
            </a:pPr>
            <a:r>
              <a:rPr lang="en-US" sz="1200" dirty="0">
                <a:solidFill>
                  <a:srgbClr val="55606E"/>
                </a:solidFill>
                <a:latin typeface="Arial" pitchFamily="34" charset="0"/>
                <a:ea typeface="Arial" pitchFamily="34" charset="-122"/>
                <a:cs typeface="Arial" pitchFamily="34" charset="-120"/>
              </a:rPr>
              <a:t>Drop IP, port and time identifiers; remove NaN, duplicates, constants</a:t>
            </a:r>
            <a:endParaRPr lang="en-US" sz="1200" dirty="0"/>
          </a:p>
        </p:txBody>
      </p:sp>
      <p:sp>
        <p:nvSpPr>
          <p:cNvPr id="26" name="Shape 23"/>
          <p:cNvSpPr/>
          <p:nvPr/>
        </p:nvSpPr>
        <p:spPr>
          <a:xfrm>
            <a:off x="2956484" y="2080260"/>
            <a:ext cx="868680" cy="868680"/>
          </a:xfrm>
          <a:prstGeom prst="ellipse">
            <a:avLst/>
          </a:prstGeom>
          <a:solidFill>
            <a:srgbClr val="E0533A"/>
          </a:solidFill>
          <a:ln w="12700">
            <a:solidFill>
              <a:srgbClr val="E0533A"/>
            </a:solidFill>
            <a:prstDash val="solid"/>
          </a:ln>
        </p:spPr>
      </p:sp>
      <p:pic>
        <p:nvPicPr>
          <p:cNvPr id="27" name="Image 1" descr="preencoded.png">    </p:cNvPr>
          <p:cNvPicPr>
            <a:picLocks noChangeAspect="1"/>
          </p:cNvPicPr>
          <p:nvPr/>
        </p:nvPicPr>
        <p:blipFill>
          <a:blip r:embed="rId2"/>
          <a:stretch>
            <a:fillRect/>
          </a:stretch>
        </p:blipFill>
        <p:spPr>
          <a:xfrm>
            <a:off x="3191027" y="2314804"/>
            <a:ext cx="399593" cy="399593"/>
          </a:xfrm>
          <a:prstGeom prst="rect">
            <a:avLst/>
          </a:prstGeom>
        </p:spPr>
      </p:pic>
      <p:sp>
        <p:nvSpPr>
          <p:cNvPr id="28" name="Text 24"/>
          <p:cNvSpPr txBox="1"/>
          <p:nvPr/>
        </p:nvSpPr>
        <p:spPr>
          <a:xfrm>
            <a:off x="2567864" y="3127248"/>
            <a:ext cx="1645920" cy="256032"/>
          </a:xfrm>
          <a:prstGeom prst="rect">
            <a:avLst/>
          </a:prstGeom>
          <a:noFill/>
          <a:ln/>
        </p:spPr>
        <p:txBody>
          <a:bodyPr wrap="square" lIns="0" tIns="0" rIns="0" bIns="0" rtlCol="0" anchor="t"/>
          <a:lstStyle/>
          <a:p>
            <a:pPr algn="ctr" indent="0" marL="0">
              <a:buNone/>
            </a:pPr>
            <a:r>
              <a:rPr lang="en-US" sz="1050" b="1" dirty="0">
                <a:solidFill>
                  <a:srgbClr val="E0533A"/>
                </a:solidFill>
                <a:latin typeface="Arial" pitchFamily="34" charset="0"/>
                <a:ea typeface="Arial" pitchFamily="34" charset="-122"/>
                <a:cs typeface="Arial" pitchFamily="34" charset="-120"/>
              </a:rPr>
              <a:t>02</a:t>
            </a:r>
            <a:endParaRPr lang="en-US" sz="1050" dirty="0"/>
          </a:p>
        </p:txBody>
      </p:sp>
      <p:sp>
        <p:nvSpPr>
          <p:cNvPr id="29" name="Text 25"/>
          <p:cNvSpPr txBox="1"/>
          <p:nvPr/>
        </p:nvSpPr>
        <p:spPr>
          <a:xfrm>
            <a:off x="2567864" y="3383280"/>
            <a:ext cx="1645920" cy="365760"/>
          </a:xfrm>
          <a:prstGeom prst="rect">
            <a:avLst/>
          </a:prstGeom>
          <a:noFill/>
          <a:ln/>
        </p:spPr>
        <p:txBody>
          <a:bodyPr wrap="square" lIns="0" tIns="0" rIns="0" bIns="0" rtlCol="0" anchor="t"/>
          <a:lstStyle/>
          <a:p>
            <a:pPr algn="ctr" indent="0" marL="0">
              <a:buNone/>
            </a:pPr>
            <a:r>
              <a:rPr lang="en-US" sz="1600" b="1" dirty="0">
                <a:solidFill>
                  <a:srgbClr val="0F1B2D"/>
                </a:solidFill>
                <a:latin typeface="Arial" pitchFamily="34" charset="0"/>
                <a:ea typeface="Arial" pitchFamily="34" charset="-122"/>
                <a:cs typeface="Arial" pitchFamily="34" charset="-120"/>
              </a:rPr>
              <a:t>Balance</a:t>
            </a:r>
            <a:endParaRPr lang="en-US" sz="1600" dirty="0"/>
          </a:p>
        </p:txBody>
      </p:sp>
      <p:sp>
        <p:nvSpPr>
          <p:cNvPr id="30" name="Text 26"/>
          <p:cNvSpPr txBox="1"/>
          <p:nvPr/>
        </p:nvSpPr>
        <p:spPr>
          <a:xfrm>
            <a:off x="2567864" y="3794760"/>
            <a:ext cx="1645920" cy="1051560"/>
          </a:xfrm>
          <a:prstGeom prst="rect">
            <a:avLst/>
          </a:prstGeom>
          <a:noFill/>
          <a:ln/>
        </p:spPr>
        <p:txBody>
          <a:bodyPr wrap="square" lIns="0" tIns="0" rIns="0" bIns="0" rtlCol="0" anchor="t"/>
          <a:lstStyle/>
          <a:p>
            <a:pPr algn="ctr" indent="0" marL="0">
              <a:buNone/>
            </a:pPr>
            <a:r>
              <a:rPr lang="en-US" sz="1200" dirty="0">
                <a:solidFill>
                  <a:srgbClr val="55606E"/>
                </a:solidFill>
                <a:latin typeface="Arial" pitchFamily="34" charset="0"/>
                <a:ea typeface="Arial" pitchFamily="34" charset="-122"/>
                <a:cs typeface="Arial" pitchFamily="34" charset="-120"/>
              </a:rPr>
              <a:t>SMOTETomek: synthetic minority flows + Tomek-link cleaning</a:t>
            </a:r>
            <a:endParaRPr lang="en-US" sz="1200" dirty="0"/>
          </a:p>
        </p:txBody>
      </p:sp>
      <p:sp>
        <p:nvSpPr>
          <p:cNvPr id="31" name="Shape 27"/>
          <p:cNvSpPr/>
          <p:nvPr/>
        </p:nvSpPr>
        <p:spPr>
          <a:xfrm>
            <a:off x="4759833" y="2080260"/>
            <a:ext cx="868680" cy="868680"/>
          </a:xfrm>
          <a:prstGeom prst="ellipse">
            <a:avLst/>
          </a:prstGeom>
          <a:solidFill>
            <a:srgbClr val="0B1526"/>
          </a:solidFill>
          <a:ln w="12700">
            <a:solidFill>
              <a:srgbClr val="0B1526"/>
            </a:solidFill>
            <a:prstDash val="solid"/>
          </a:ln>
        </p:spPr>
      </p:sp>
      <p:pic>
        <p:nvPicPr>
          <p:cNvPr id="32" name="Image 2" descr="preencoded.png">    </p:cNvPr>
          <p:cNvPicPr>
            <a:picLocks noChangeAspect="1"/>
          </p:cNvPicPr>
          <p:nvPr/>
        </p:nvPicPr>
        <p:blipFill>
          <a:blip r:embed="rId3"/>
          <a:stretch>
            <a:fillRect/>
          </a:stretch>
        </p:blipFill>
        <p:spPr>
          <a:xfrm>
            <a:off x="4994377" y="2314804"/>
            <a:ext cx="399593" cy="399593"/>
          </a:xfrm>
          <a:prstGeom prst="rect">
            <a:avLst/>
          </a:prstGeom>
        </p:spPr>
      </p:pic>
      <p:sp>
        <p:nvSpPr>
          <p:cNvPr id="33" name="Text 28"/>
          <p:cNvSpPr txBox="1"/>
          <p:nvPr/>
        </p:nvSpPr>
        <p:spPr>
          <a:xfrm>
            <a:off x="4371213" y="3127248"/>
            <a:ext cx="1645920" cy="256032"/>
          </a:xfrm>
          <a:prstGeom prst="rect">
            <a:avLst/>
          </a:prstGeom>
          <a:noFill/>
          <a:ln/>
        </p:spPr>
        <p:txBody>
          <a:bodyPr wrap="square" lIns="0" tIns="0" rIns="0" bIns="0" rtlCol="0" anchor="t"/>
          <a:lstStyle/>
          <a:p>
            <a:pPr algn="ctr" indent="0" marL="0">
              <a:buNone/>
            </a:pPr>
            <a:r>
              <a:rPr lang="en-US" sz="1050" b="1" dirty="0">
                <a:solidFill>
                  <a:srgbClr val="E0533A"/>
                </a:solidFill>
                <a:latin typeface="Arial" pitchFamily="34" charset="0"/>
                <a:ea typeface="Arial" pitchFamily="34" charset="-122"/>
                <a:cs typeface="Arial" pitchFamily="34" charset="-120"/>
              </a:rPr>
              <a:t>03</a:t>
            </a:r>
            <a:endParaRPr lang="en-US" sz="1050" dirty="0"/>
          </a:p>
        </p:txBody>
      </p:sp>
      <p:sp>
        <p:nvSpPr>
          <p:cNvPr id="34" name="Text 29"/>
          <p:cNvSpPr txBox="1"/>
          <p:nvPr/>
        </p:nvSpPr>
        <p:spPr>
          <a:xfrm>
            <a:off x="4371213" y="3383280"/>
            <a:ext cx="1645920" cy="365760"/>
          </a:xfrm>
          <a:prstGeom prst="rect">
            <a:avLst/>
          </a:prstGeom>
          <a:noFill/>
          <a:ln/>
        </p:spPr>
        <p:txBody>
          <a:bodyPr wrap="square" lIns="0" tIns="0" rIns="0" bIns="0" rtlCol="0" anchor="t"/>
          <a:lstStyle/>
          <a:p>
            <a:pPr algn="ctr" indent="0" marL="0">
              <a:buNone/>
            </a:pPr>
            <a:r>
              <a:rPr lang="en-US" sz="1600" b="1" dirty="0">
                <a:solidFill>
                  <a:srgbClr val="0F1B2D"/>
                </a:solidFill>
                <a:latin typeface="Arial" pitchFamily="34" charset="0"/>
                <a:ea typeface="Arial" pitchFamily="34" charset="-122"/>
                <a:cs typeface="Arial" pitchFamily="34" charset="-120"/>
              </a:rPr>
              <a:t>Split</a:t>
            </a:r>
            <a:endParaRPr lang="en-US" sz="1600" dirty="0"/>
          </a:p>
        </p:txBody>
      </p:sp>
      <p:sp>
        <p:nvSpPr>
          <p:cNvPr id="35" name="Text 30"/>
          <p:cNvSpPr txBox="1"/>
          <p:nvPr/>
        </p:nvSpPr>
        <p:spPr>
          <a:xfrm>
            <a:off x="4371213" y="3794760"/>
            <a:ext cx="1645920" cy="1051560"/>
          </a:xfrm>
          <a:prstGeom prst="rect">
            <a:avLst/>
          </a:prstGeom>
          <a:noFill/>
          <a:ln/>
        </p:spPr>
        <p:txBody>
          <a:bodyPr wrap="square" lIns="0" tIns="0" rIns="0" bIns="0" rtlCol="0" anchor="t"/>
          <a:lstStyle/>
          <a:p>
            <a:pPr algn="ctr" indent="0" marL="0">
              <a:buNone/>
            </a:pPr>
            <a:r>
              <a:rPr lang="en-US" sz="1200" dirty="0">
                <a:solidFill>
                  <a:srgbClr val="55606E"/>
                </a:solidFill>
                <a:latin typeface="Arial" pitchFamily="34" charset="0"/>
                <a:ea typeface="Arial" pitchFamily="34" charset="-122"/>
                <a:cs typeface="Arial" pitchFamily="34" charset="-120"/>
              </a:rPr>
              <a:t>70% training / 30% test, stratified by class</a:t>
            </a:r>
            <a:endParaRPr lang="en-US" sz="1200" dirty="0"/>
          </a:p>
        </p:txBody>
      </p:sp>
      <p:sp>
        <p:nvSpPr>
          <p:cNvPr id="36" name="Shape 31"/>
          <p:cNvSpPr/>
          <p:nvPr/>
        </p:nvSpPr>
        <p:spPr>
          <a:xfrm>
            <a:off x="6563182" y="2080260"/>
            <a:ext cx="868680" cy="868680"/>
          </a:xfrm>
          <a:prstGeom prst="ellipse">
            <a:avLst/>
          </a:prstGeom>
          <a:solidFill>
            <a:srgbClr val="0B1526"/>
          </a:solidFill>
          <a:ln w="12700">
            <a:solidFill>
              <a:srgbClr val="0B1526"/>
            </a:solidFill>
            <a:prstDash val="solid"/>
          </a:ln>
        </p:spPr>
      </p:sp>
      <p:pic>
        <p:nvPicPr>
          <p:cNvPr id="37" name="Image 3" descr="preencoded.png">    </p:cNvPr>
          <p:cNvPicPr>
            <a:picLocks noChangeAspect="1"/>
          </p:cNvPicPr>
          <p:nvPr/>
        </p:nvPicPr>
        <p:blipFill>
          <a:blip r:embed="rId4"/>
          <a:stretch>
            <a:fillRect/>
          </a:stretch>
        </p:blipFill>
        <p:spPr>
          <a:xfrm>
            <a:off x="6797726" y="2314804"/>
            <a:ext cx="399593" cy="399593"/>
          </a:xfrm>
          <a:prstGeom prst="rect">
            <a:avLst/>
          </a:prstGeom>
        </p:spPr>
      </p:pic>
      <p:sp>
        <p:nvSpPr>
          <p:cNvPr id="38" name="Text 32"/>
          <p:cNvSpPr txBox="1"/>
          <p:nvPr/>
        </p:nvSpPr>
        <p:spPr>
          <a:xfrm>
            <a:off x="6174562" y="3127248"/>
            <a:ext cx="1645920" cy="256032"/>
          </a:xfrm>
          <a:prstGeom prst="rect">
            <a:avLst/>
          </a:prstGeom>
          <a:noFill/>
          <a:ln/>
        </p:spPr>
        <p:txBody>
          <a:bodyPr wrap="square" lIns="0" tIns="0" rIns="0" bIns="0" rtlCol="0" anchor="t"/>
          <a:lstStyle/>
          <a:p>
            <a:pPr algn="ctr" indent="0" marL="0">
              <a:buNone/>
            </a:pPr>
            <a:r>
              <a:rPr lang="en-US" sz="1050" b="1" dirty="0">
                <a:solidFill>
                  <a:srgbClr val="E0533A"/>
                </a:solidFill>
                <a:latin typeface="Arial" pitchFamily="34" charset="0"/>
                <a:ea typeface="Arial" pitchFamily="34" charset="-122"/>
                <a:cs typeface="Arial" pitchFamily="34" charset="-120"/>
              </a:rPr>
              <a:t>04</a:t>
            </a:r>
            <a:endParaRPr lang="en-US" sz="1050" dirty="0"/>
          </a:p>
        </p:txBody>
      </p:sp>
      <p:sp>
        <p:nvSpPr>
          <p:cNvPr id="39" name="Text 33"/>
          <p:cNvSpPr txBox="1"/>
          <p:nvPr/>
        </p:nvSpPr>
        <p:spPr>
          <a:xfrm>
            <a:off x="6174562" y="3383280"/>
            <a:ext cx="1645920" cy="365760"/>
          </a:xfrm>
          <a:prstGeom prst="rect">
            <a:avLst/>
          </a:prstGeom>
          <a:noFill/>
          <a:ln/>
        </p:spPr>
        <p:txBody>
          <a:bodyPr wrap="square" lIns="0" tIns="0" rIns="0" bIns="0" rtlCol="0" anchor="t"/>
          <a:lstStyle/>
          <a:p>
            <a:pPr algn="ctr" indent="0" marL="0">
              <a:buNone/>
            </a:pPr>
            <a:r>
              <a:rPr lang="en-US" sz="1600" b="1" dirty="0">
                <a:solidFill>
                  <a:srgbClr val="0F1B2D"/>
                </a:solidFill>
                <a:latin typeface="Arial" pitchFamily="34" charset="0"/>
                <a:ea typeface="Arial" pitchFamily="34" charset="-122"/>
                <a:cs typeface="Arial" pitchFamily="34" charset="-120"/>
              </a:rPr>
              <a:t>Select</a:t>
            </a:r>
            <a:endParaRPr lang="en-US" sz="1600" dirty="0"/>
          </a:p>
        </p:txBody>
      </p:sp>
      <p:sp>
        <p:nvSpPr>
          <p:cNvPr id="40" name="Text 34"/>
          <p:cNvSpPr txBox="1"/>
          <p:nvPr/>
        </p:nvSpPr>
        <p:spPr>
          <a:xfrm>
            <a:off x="6174562" y="3794760"/>
            <a:ext cx="1645920" cy="1051560"/>
          </a:xfrm>
          <a:prstGeom prst="rect">
            <a:avLst/>
          </a:prstGeom>
          <a:noFill/>
          <a:ln/>
        </p:spPr>
        <p:txBody>
          <a:bodyPr wrap="square" lIns="0" tIns="0" rIns="0" bIns="0" rtlCol="0" anchor="t"/>
          <a:lstStyle/>
          <a:p>
            <a:pPr algn="ctr" indent="0" marL="0">
              <a:buNone/>
            </a:pPr>
            <a:r>
              <a:rPr lang="en-US" sz="1200" dirty="0">
                <a:solidFill>
                  <a:srgbClr val="55606E"/>
                </a:solidFill>
                <a:latin typeface="Arial" pitchFamily="34" charset="0"/>
                <a:ea typeface="Arial" pitchFamily="34" charset="-122"/>
                <a:cs typeface="Arial" pitchFamily="34" charset="-120"/>
              </a:rPr>
              <a:t>Pearson filter (|r| &gt; 0.9), then top 30 by mutual information</a:t>
            </a:r>
            <a:endParaRPr lang="en-US" sz="1200" dirty="0"/>
          </a:p>
        </p:txBody>
      </p:sp>
      <p:sp>
        <p:nvSpPr>
          <p:cNvPr id="41" name="Shape 35"/>
          <p:cNvSpPr/>
          <p:nvPr/>
        </p:nvSpPr>
        <p:spPr>
          <a:xfrm>
            <a:off x="8366531" y="2080260"/>
            <a:ext cx="868680" cy="868680"/>
          </a:xfrm>
          <a:prstGeom prst="ellipse">
            <a:avLst/>
          </a:prstGeom>
          <a:solidFill>
            <a:srgbClr val="0B1526"/>
          </a:solidFill>
          <a:ln w="12700">
            <a:solidFill>
              <a:srgbClr val="0B1526"/>
            </a:solidFill>
            <a:prstDash val="solid"/>
          </a:ln>
        </p:spPr>
      </p:sp>
      <p:pic>
        <p:nvPicPr>
          <p:cNvPr id="42" name="Image 4" descr="preencoded.png">    </p:cNvPr>
          <p:cNvPicPr>
            <a:picLocks noChangeAspect="1"/>
          </p:cNvPicPr>
          <p:nvPr/>
        </p:nvPicPr>
        <p:blipFill>
          <a:blip r:embed="rId5"/>
          <a:stretch>
            <a:fillRect/>
          </a:stretch>
        </p:blipFill>
        <p:spPr>
          <a:xfrm>
            <a:off x="8601075" y="2314804"/>
            <a:ext cx="399593" cy="399593"/>
          </a:xfrm>
          <a:prstGeom prst="rect">
            <a:avLst/>
          </a:prstGeom>
        </p:spPr>
      </p:pic>
      <p:sp>
        <p:nvSpPr>
          <p:cNvPr id="43" name="Text 36"/>
          <p:cNvSpPr txBox="1"/>
          <p:nvPr/>
        </p:nvSpPr>
        <p:spPr>
          <a:xfrm>
            <a:off x="7977911" y="3127248"/>
            <a:ext cx="1645920" cy="256032"/>
          </a:xfrm>
          <a:prstGeom prst="rect">
            <a:avLst/>
          </a:prstGeom>
          <a:noFill/>
          <a:ln/>
        </p:spPr>
        <p:txBody>
          <a:bodyPr wrap="square" lIns="0" tIns="0" rIns="0" bIns="0" rtlCol="0" anchor="t"/>
          <a:lstStyle/>
          <a:p>
            <a:pPr algn="ctr" indent="0" marL="0">
              <a:buNone/>
            </a:pPr>
            <a:r>
              <a:rPr lang="en-US" sz="1050" b="1" dirty="0">
                <a:solidFill>
                  <a:srgbClr val="E0533A"/>
                </a:solidFill>
                <a:latin typeface="Arial" pitchFamily="34" charset="0"/>
                <a:ea typeface="Arial" pitchFamily="34" charset="-122"/>
                <a:cs typeface="Arial" pitchFamily="34" charset="-120"/>
              </a:rPr>
              <a:t>05</a:t>
            </a:r>
            <a:endParaRPr lang="en-US" sz="1050" dirty="0"/>
          </a:p>
        </p:txBody>
      </p:sp>
      <p:sp>
        <p:nvSpPr>
          <p:cNvPr id="44" name="Text 37"/>
          <p:cNvSpPr txBox="1"/>
          <p:nvPr/>
        </p:nvSpPr>
        <p:spPr>
          <a:xfrm>
            <a:off x="7977911" y="3383280"/>
            <a:ext cx="1645920" cy="365760"/>
          </a:xfrm>
          <a:prstGeom prst="rect">
            <a:avLst/>
          </a:prstGeom>
          <a:noFill/>
          <a:ln/>
        </p:spPr>
        <p:txBody>
          <a:bodyPr wrap="square" lIns="0" tIns="0" rIns="0" bIns="0" rtlCol="0" anchor="t"/>
          <a:lstStyle/>
          <a:p>
            <a:pPr algn="ctr" indent="0" marL="0">
              <a:buNone/>
            </a:pPr>
            <a:r>
              <a:rPr lang="en-US" sz="1600" b="1" dirty="0">
                <a:solidFill>
                  <a:srgbClr val="0F1B2D"/>
                </a:solidFill>
                <a:latin typeface="Arial" pitchFamily="34" charset="0"/>
                <a:ea typeface="Arial" pitchFamily="34" charset="-122"/>
                <a:cs typeface="Arial" pitchFamily="34" charset="-120"/>
              </a:rPr>
              <a:t>Train</a:t>
            </a:r>
            <a:endParaRPr lang="en-US" sz="1600" dirty="0"/>
          </a:p>
        </p:txBody>
      </p:sp>
      <p:sp>
        <p:nvSpPr>
          <p:cNvPr id="45" name="Text 38"/>
          <p:cNvSpPr txBox="1"/>
          <p:nvPr/>
        </p:nvSpPr>
        <p:spPr>
          <a:xfrm>
            <a:off x="7977911" y="3794760"/>
            <a:ext cx="1645920" cy="1051560"/>
          </a:xfrm>
          <a:prstGeom prst="rect">
            <a:avLst/>
          </a:prstGeom>
          <a:noFill/>
          <a:ln/>
        </p:spPr>
        <p:txBody>
          <a:bodyPr wrap="square" lIns="0" tIns="0" rIns="0" bIns="0" rtlCol="0" anchor="t"/>
          <a:lstStyle/>
          <a:p>
            <a:pPr algn="ctr" indent="0" marL="0">
              <a:buNone/>
            </a:pPr>
            <a:r>
              <a:rPr lang="en-US" sz="1200" dirty="0">
                <a:solidFill>
                  <a:srgbClr val="55606E"/>
                </a:solidFill>
                <a:latin typeface="Arial" pitchFamily="34" charset="0"/>
                <a:ea typeface="Arial" pitchFamily="34" charset="-122"/>
                <a:cs typeface="Arial" pitchFamily="34" charset="-120"/>
              </a:rPr>
              <a:t>Hybrid RF + XGBoost and 13 baseline models</a:t>
            </a:r>
            <a:endParaRPr lang="en-US" sz="1200" dirty="0"/>
          </a:p>
        </p:txBody>
      </p:sp>
      <p:sp>
        <p:nvSpPr>
          <p:cNvPr id="46" name="Shape 39"/>
          <p:cNvSpPr/>
          <p:nvPr/>
        </p:nvSpPr>
        <p:spPr>
          <a:xfrm>
            <a:off x="10169881" y="2080260"/>
            <a:ext cx="868680" cy="868680"/>
          </a:xfrm>
          <a:prstGeom prst="ellipse">
            <a:avLst/>
          </a:prstGeom>
          <a:solidFill>
            <a:srgbClr val="0B1526"/>
          </a:solidFill>
          <a:ln w="12700">
            <a:solidFill>
              <a:srgbClr val="0B1526"/>
            </a:solidFill>
            <a:prstDash val="solid"/>
          </a:ln>
        </p:spPr>
      </p:sp>
      <p:pic>
        <p:nvPicPr>
          <p:cNvPr id="47" name="Image 5" descr="preencoded.png">    </p:cNvPr>
          <p:cNvPicPr>
            <a:picLocks noChangeAspect="1"/>
          </p:cNvPicPr>
          <p:nvPr/>
        </p:nvPicPr>
        <p:blipFill>
          <a:blip r:embed="rId6"/>
          <a:stretch>
            <a:fillRect/>
          </a:stretch>
        </p:blipFill>
        <p:spPr>
          <a:xfrm>
            <a:off x="10404424" y="2314804"/>
            <a:ext cx="399593" cy="399593"/>
          </a:xfrm>
          <a:prstGeom prst="rect">
            <a:avLst/>
          </a:prstGeom>
        </p:spPr>
      </p:pic>
      <p:sp>
        <p:nvSpPr>
          <p:cNvPr id="48" name="Text 40"/>
          <p:cNvSpPr txBox="1"/>
          <p:nvPr/>
        </p:nvSpPr>
        <p:spPr>
          <a:xfrm>
            <a:off x="9781261" y="3127248"/>
            <a:ext cx="1645920" cy="256032"/>
          </a:xfrm>
          <a:prstGeom prst="rect">
            <a:avLst/>
          </a:prstGeom>
          <a:noFill/>
          <a:ln/>
        </p:spPr>
        <p:txBody>
          <a:bodyPr wrap="square" lIns="0" tIns="0" rIns="0" bIns="0" rtlCol="0" anchor="t"/>
          <a:lstStyle/>
          <a:p>
            <a:pPr algn="ctr" indent="0" marL="0">
              <a:buNone/>
            </a:pPr>
            <a:r>
              <a:rPr lang="en-US" sz="1050" b="1" dirty="0">
                <a:solidFill>
                  <a:srgbClr val="E0533A"/>
                </a:solidFill>
                <a:latin typeface="Arial" pitchFamily="34" charset="0"/>
                <a:ea typeface="Arial" pitchFamily="34" charset="-122"/>
                <a:cs typeface="Arial" pitchFamily="34" charset="-120"/>
              </a:rPr>
              <a:t>06</a:t>
            </a:r>
            <a:endParaRPr lang="en-US" sz="1050" dirty="0"/>
          </a:p>
        </p:txBody>
      </p:sp>
      <p:sp>
        <p:nvSpPr>
          <p:cNvPr id="49" name="Text 41"/>
          <p:cNvSpPr txBox="1"/>
          <p:nvPr/>
        </p:nvSpPr>
        <p:spPr>
          <a:xfrm>
            <a:off x="9781261" y="3383280"/>
            <a:ext cx="1645920" cy="365760"/>
          </a:xfrm>
          <a:prstGeom prst="rect">
            <a:avLst/>
          </a:prstGeom>
          <a:noFill/>
          <a:ln/>
        </p:spPr>
        <p:txBody>
          <a:bodyPr wrap="square" lIns="0" tIns="0" rIns="0" bIns="0" rtlCol="0" anchor="t"/>
          <a:lstStyle/>
          <a:p>
            <a:pPr algn="ctr" indent="0" marL="0">
              <a:buNone/>
            </a:pPr>
            <a:r>
              <a:rPr lang="en-US" sz="1600" b="1" dirty="0">
                <a:solidFill>
                  <a:srgbClr val="0F1B2D"/>
                </a:solidFill>
                <a:latin typeface="Arial" pitchFamily="34" charset="0"/>
                <a:ea typeface="Arial" pitchFamily="34" charset="-122"/>
                <a:cs typeface="Arial" pitchFamily="34" charset="-120"/>
              </a:rPr>
              <a:t>Evaluate</a:t>
            </a:r>
            <a:endParaRPr lang="en-US" sz="1600" dirty="0"/>
          </a:p>
        </p:txBody>
      </p:sp>
      <p:sp>
        <p:nvSpPr>
          <p:cNvPr id="50" name="Text 42"/>
          <p:cNvSpPr txBox="1"/>
          <p:nvPr/>
        </p:nvSpPr>
        <p:spPr>
          <a:xfrm>
            <a:off x="9781261" y="3794760"/>
            <a:ext cx="1645920" cy="1051560"/>
          </a:xfrm>
          <a:prstGeom prst="rect">
            <a:avLst/>
          </a:prstGeom>
          <a:noFill/>
          <a:ln/>
        </p:spPr>
        <p:txBody>
          <a:bodyPr wrap="square" lIns="0" tIns="0" rIns="0" bIns="0" rtlCol="0" anchor="t"/>
          <a:lstStyle/>
          <a:p>
            <a:pPr algn="ctr" indent="0" marL="0">
              <a:buNone/>
            </a:pPr>
            <a:r>
              <a:rPr lang="en-US" sz="1200" dirty="0">
                <a:solidFill>
                  <a:srgbClr val="55606E"/>
                </a:solidFill>
                <a:latin typeface="Arial" pitchFamily="34" charset="0"/>
                <a:ea typeface="Arial" pitchFamily="34" charset="-122"/>
                <a:cs typeface="Arial" pitchFamily="34" charset="-120"/>
              </a:rPr>
              <a:t>Accuracy, precision, recall, F1, TNR, FPR, FNR, AUC</a:t>
            </a:r>
            <a:endParaRPr lang="en-US" sz="1200" dirty="0"/>
          </a:p>
        </p:txBody>
      </p:sp>
      <p:sp>
        <p:nvSpPr>
          <p:cNvPr id="51" name="Shape 43"/>
          <p:cNvSpPr/>
          <p:nvPr/>
        </p:nvSpPr>
        <p:spPr>
          <a:xfrm>
            <a:off x="685800" y="5074920"/>
            <a:ext cx="10820095" cy="1005840"/>
          </a:xfrm>
          <a:prstGeom prst="roundRect">
            <a:avLst>
              <a:gd name="adj" fmla="val 5455"/>
            </a:avLst>
          </a:prstGeom>
          <a:solidFill>
            <a:srgbClr val="F4F6F9"/>
          </a:solidFill>
          <a:ln w="12700">
            <a:solidFill>
              <a:srgbClr val="F4F6F9"/>
            </a:solidFill>
            <a:prstDash val="solid"/>
          </a:ln>
        </p:spPr>
      </p:sp>
      <p:sp>
        <p:nvSpPr>
          <p:cNvPr id="52" name="Text 44"/>
          <p:cNvSpPr txBox="1"/>
          <p:nvPr/>
        </p:nvSpPr>
        <p:spPr>
          <a:xfrm>
            <a:off x="1005840" y="5257800"/>
            <a:ext cx="3149498" cy="228600"/>
          </a:xfrm>
          <a:prstGeom prst="rect">
            <a:avLst/>
          </a:prstGeom>
          <a:noFill/>
          <a:ln/>
        </p:spPr>
        <p:txBody>
          <a:bodyPr wrap="square" lIns="0" tIns="0" rIns="0" bIns="0" rtlCol="0" anchor="t"/>
          <a:lstStyle/>
          <a:p>
            <a:pPr indent="0" marL="0">
              <a:buNone/>
            </a:pPr>
            <a:r>
              <a:rPr lang="en-US" sz="950" b="1" dirty="0">
                <a:solidFill>
                  <a:srgbClr val="8A94A3"/>
                </a:solidFill>
                <a:latin typeface="Arial" pitchFamily="34" charset="0"/>
                <a:ea typeface="Arial" pitchFamily="34" charset="-122"/>
                <a:cs typeface="Arial" pitchFamily="34" charset="-120"/>
              </a:rPr>
              <a:t>FEATURES</a:t>
            </a:r>
            <a:endParaRPr lang="en-US" sz="950" dirty="0"/>
          </a:p>
        </p:txBody>
      </p:sp>
      <p:sp>
        <p:nvSpPr>
          <p:cNvPr id="53" name="Text 45"/>
          <p:cNvSpPr txBox="1"/>
          <p:nvPr/>
        </p:nvSpPr>
        <p:spPr>
          <a:xfrm>
            <a:off x="1005840" y="5504688"/>
            <a:ext cx="3149498" cy="457200"/>
          </a:xfrm>
          <a:prstGeom prst="rect">
            <a:avLst/>
          </a:prstGeom>
          <a:noFill/>
          <a:ln/>
        </p:spPr>
        <p:txBody>
          <a:bodyPr wrap="square" lIns="0" tIns="0" rIns="0" bIns="0" rtlCol="0" anchor="t"/>
          <a:lstStyle/>
          <a:p>
            <a:pPr indent="0" marL="0">
              <a:buNone/>
            </a:pPr>
            <a:r>
              <a:rPr lang="en-US" sz="1300" dirty="0">
                <a:solidFill>
                  <a:srgbClr val="0F1B2D"/>
                </a:solidFill>
                <a:latin typeface="Arial" pitchFamily="34" charset="0"/>
                <a:ea typeface="Arial" pitchFamily="34" charset="-122"/>
                <a:cs typeface="Arial" pitchFamily="34" charset="-120"/>
              </a:rPr>
              <a:t>68 → 36 (Pearson) → 30 (mutual information)</a:t>
            </a:r>
            <a:endParaRPr lang="en-US" sz="1300" dirty="0"/>
          </a:p>
        </p:txBody>
      </p:sp>
      <p:sp>
        <p:nvSpPr>
          <p:cNvPr id="54" name="Text 46"/>
          <p:cNvSpPr txBox="1"/>
          <p:nvPr/>
        </p:nvSpPr>
        <p:spPr>
          <a:xfrm>
            <a:off x="4612538" y="5257800"/>
            <a:ext cx="3149498" cy="228600"/>
          </a:xfrm>
          <a:prstGeom prst="rect">
            <a:avLst/>
          </a:prstGeom>
          <a:noFill/>
          <a:ln/>
        </p:spPr>
        <p:txBody>
          <a:bodyPr wrap="square" lIns="0" tIns="0" rIns="0" bIns="0" rtlCol="0" anchor="t"/>
          <a:lstStyle/>
          <a:p>
            <a:pPr indent="0" marL="0">
              <a:buNone/>
            </a:pPr>
            <a:r>
              <a:rPr lang="en-US" sz="950" b="1" dirty="0">
                <a:solidFill>
                  <a:srgbClr val="8A94A3"/>
                </a:solidFill>
                <a:latin typeface="Arial" pitchFamily="34" charset="0"/>
                <a:ea typeface="Arial" pitchFamily="34" charset="-122"/>
                <a:cs typeface="Arial" pitchFamily="34" charset="-120"/>
              </a:rPr>
              <a:t>TARGET</a:t>
            </a:r>
            <a:endParaRPr lang="en-US" sz="950" dirty="0"/>
          </a:p>
        </p:txBody>
      </p:sp>
      <p:sp>
        <p:nvSpPr>
          <p:cNvPr id="55" name="Text 47"/>
          <p:cNvSpPr txBox="1"/>
          <p:nvPr/>
        </p:nvSpPr>
        <p:spPr>
          <a:xfrm>
            <a:off x="4612538" y="5504688"/>
            <a:ext cx="3149498" cy="457200"/>
          </a:xfrm>
          <a:prstGeom prst="rect">
            <a:avLst/>
          </a:prstGeom>
          <a:noFill/>
          <a:ln/>
        </p:spPr>
        <p:txBody>
          <a:bodyPr wrap="square" lIns="0" tIns="0" rIns="0" bIns="0" rtlCol="0" anchor="t"/>
          <a:lstStyle/>
          <a:p>
            <a:pPr indent="0" marL="0">
              <a:buNone/>
            </a:pPr>
            <a:r>
              <a:rPr lang="en-US" sz="1300" dirty="0">
                <a:solidFill>
                  <a:srgbClr val="0F1B2D"/>
                </a:solidFill>
                <a:latin typeface="Arial" pitchFamily="34" charset="0"/>
                <a:ea typeface="Arial" pitchFamily="34" charset="-122"/>
                <a:cs typeface="Arial" pitchFamily="34" charset="-120"/>
              </a:rPr>
              <a:t>Benign = 0, any APT stage = 1</a:t>
            </a:r>
            <a:endParaRPr lang="en-US" sz="1300" dirty="0"/>
          </a:p>
        </p:txBody>
      </p:sp>
      <p:sp>
        <p:nvSpPr>
          <p:cNvPr id="56" name="Text 48"/>
          <p:cNvSpPr txBox="1"/>
          <p:nvPr/>
        </p:nvSpPr>
        <p:spPr>
          <a:xfrm>
            <a:off x="8219237" y="5257800"/>
            <a:ext cx="3149498" cy="228600"/>
          </a:xfrm>
          <a:prstGeom prst="rect">
            <a:avLst/>
          </a:prstGeom>
          <a:noFill/>
          <a:ln/>
        </p:spPr>
        <p:txBody>
          <a:bodyPr wrap="square" lIns="0" tIns="0" rIns="0" bIns="0" rtlCol="0" anchor="t"/>
          <a:lstStyle/>
          <a:p>
            <a:pPr indent="0" marL="0">
              <a:buNone/>
            </a:pPr>
            <a:r>
              <a:rPr lang="en-US" sz="950" b="1" dirty="0">
                <a:solidFill>
                  <a:srgbClr val="8A94A3"/>
                </a:solidFill>
                <a:latin typeface="Arial" pitchFamily="34" charset="0"/>
                <a:ea typeface="Arial" pitchFamily="34" charset="-122"/>
                <a:cs typeface="Arial" pitchFamily="34" charset="-120"/>
              </a:rPr>
              <a:t>TOOLS</a:t>
            </a:r>
            <a:endParaRPr lang="en-US" sz="950" dirty="0"/>
          </a:p>
        </p:txBody>
      </p:sp>
      <p:sp>
        <p:nvSpPr>
          <p:cNvPr id="57" name="Text 49"/>
          <p:cNvSpPr txBox="1"/>
          <p:nvPr/>
        </p:nvSpPr>
        <p:spPr>
          <a:xfrm>
            <a:off x="8219237" y="5504688"/>
            <a:ext cx="3149498" cy="457200"/>
          </a:xfrm>
          <a:prstGeom prst="rect">
            <a:avLst/>
          </a:prstGeom>
          <a:noFill/>
          <a:ln/>
        </p:spPr>
        <p:txBody>
          <a:bodyPr wrap="square" lIns="0" tIns="0" rIns="0" bIns="0" rtlCol="0" anchor="t"/>
          <a:lstStyle/>
          <a:p>
            <a:pPr indent="0" marL="0">
              <a:buNone/>
            </a:pPr>
            <a:r>
              <a:rPr lang="en-US" sz="1300" dirty="0">
                <a:solidFill>
                  <a:srgbClr val="0F1B2D"/>
                </a:solidFill>
                <a:latin typeface="Arial" pitchFamily="34" charset="0"/>
                <a:ea typeface="Arial" pitchFamily="34" charset="-122"/>
                <a:cs typeface="Arial" pitchFamily="34" charset="-120"/>
              </a:rPr>
              <a:t>Python, scikit-learn, imbalanced-learn, XGBoost, PyTorch</a:t>
            </a:r>
            <a:endParaRPr lang="en-US" sz="1300" dirty="0"/>
          </a:p>
        </p:txBody>
      </p:sp>
      <p:sp>
        <p:nvSpPr>
          <p:cNvPr id="58" name="Text 50"/>
          <p:cNvSpPr txBox="1"/>
          <p:nvPr/>
        </p:nvSpPr>
        <p:spPr>
          <a:xfrm>
            <a:off x="685800" y="6400800"/>
            <a:ext cx="7315200" cy="228600"/>
          </a:xfrm>
          <a:prstGeom prst="rect">
            <a:avLst/>
          </a:prstGeom>
          <a:noFill/>
          <a:ln/>
        </p:spPr>
        <p:txBody>
          <a:bodyPr wrap="square" lIns="0" tIns="0" rIns="0" bIns="0" rtlCol="0" anchor="t"/>
          <a:lstStyle/>
          <a:p>
            <a:pPr indent="0" marL="0">
              <a:buNone/>
            </a:pPr>
            <a:r>
              <a:rPr lang="en-US" sz="900" dirty="0">
                <a:solidFill>
                  <a:srgbClr val="8A94A3"/>
                </a:solidFill>
                <a:latin typeface="Arial" pitchFamily="34" charset="0"/>
                <a:ea typeface="Arial" pitchFamily="34" charset="-122"/>
                <a:cs typeface="Arial" pitchFamily="34" charset="-120"/>
              </a:rPr>
              <a:t>Anomaly detection for Advanced Persistent Threats   |   Mid-term evaluation</a:t>
            </a:r>
            <a:endParaRPr lang="en-US" sz="900" dirty="0"/>
          </a:p>
        </p:txBody>
      </p:sp>
      <p:sp>
        <p:nvSpPr>
          <p:cNvPr id="59" name="Text 51"/>
          <p:cNvSpPr txBox="1"/>
          <p:nvPr/>
        </p:nvSpPr>
        <p:spPr>
          <a:xfrm>
            <a:off x="10591495" y="6400800"/>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V="1">
            <a:off x="10087295" y="470002"/>
            <a:ext cx="288950" cy="416966"/>
          </a:xfrm>
          <a:prstGeom prst="line">
            <a:avLst/>
          </a:prstGeom>
          <a:noFill/>
          <a:ln w="9525">
            <a:solidFill>
              <a:srgbClr val="DCE2EA"/>
            </a:solidFill>
            <a:prstDash val="solid"/>
          </a:ln>
        </p:spPr>
      </p:sp>
      <p:sp>
        <p:nvSpPr>
          <p:cNvPr id="3" name="Shape 1"/>
          <p:cNvSpPr/>
          <p:nvPr/>
        </p:nvSpPr>
        <p:spPr>
          <a:xfrm>
            <a:off x="10087295" y="886968"/>
            <a:ext cx="549006" cy="69494"/>
          </a:xfrm>
          <a:prstGeom prst="line">
            <a:avLst/>
          </a:prstGeom>
          <a:noFill/>
          <a:ln w="9525">
            <a:solidFill>
              <a:srgbClr val="DCE2EA"/>
            </a:solidFill>
            <a:prstDash val="solid"/>
          </a:ln>
        </p:spPr>
      </p:sp>
      <p:sp>
        <p:nvSpPr>
          <p:cNvPr id="4" name="Shape 2"/>
          <p:cNvSpPr/>
          <p:nvPr/>
        </p:nvSpPr>
        <p:spPr>
          <a:xfrm>
            <a:off x="10376245" y="470002"/>
            <a:ext cx="549006" cy="156362"/>
          </a:xfrm>
          <a:prstGeom prst="line">
            <a:avLst/>
          </a:prstGeom>
          <a:noFill/>
          <a:ln w="9525">
            <a:solidFill>
              <a:srgbClr val="F2B7A8"/>
            </a:solidFill>
            <a:prstDash val="solid"/>
          </a:ln>
        </p:spPr>
      </p:sp>
      <p:sp>
        <p:nvSpPr>
          <p:cNvPr id="5" name="Shape 3"/>
          <p:cNvSpPr/>
          <p:nvPr/>
        </p:nvSpPr>
        <p:spPr>
          <a:xfrm flipV="1">
            <a:off x="10636301" y="626364"/>
            <a:ext cx="288950" cy="330098"/>
          </a:xfrm>
          <a:prstGeom prst="line">
            <a:avLst/>
          </a:prstGeom>
          <a:noFill/>
          <a:ln w="9525">
            <a:solidFill>
              <a:srgbClr val="F2B7A8"/>
            </a:solidFill>
            <a:prstDash val="solid"/>
          </a:ln>
        </p:spPr>
      </p:sp>
      <p:sp>
        <p:nvSpPr>
          <p:cNvPr id="6" name="Shape 4"/>
          <p:cNvSpPr/>
          <p:nvPr/>
        </p:nvSpPr>
        <p:spPr>
          <a:xfrm flipV="1">
            <a:off x="10925251" y="522122"/>
            <a:ext cx="534558" cy="104242"/>
          </a:xfrm>
          <a:prstGeom prst="line">
            <a:avLst/>
          </a:prstGeom>
          <a:noFill/>
          <a:ln w="9525">
            <a:solidFill>
              <a:srgbClr val="F2B7A8"/>
            </a:solidFill>
            <a:prstDash val="solid"/>
          </a:ln>
        </p:spPr>
      </p:sp>
      <p:sp>
        <p:nvSpPr>
          <p:cNvPr id="7" name="Shape 5"/>
          <p:cNvSpPr/>
          <p:nvPr/>
        </p:nvSpPr>
        <p:spPr>
          <a:xfrm>
            <a:off x="10636301" y="956462"/>
            <a:ext cx="549006" cy="121615"/>
          </a:xfrm>
          <a:prstGeom prst="line">
            <a:avLst/>
          </a:prstGeom>
          <a:noFill/>
          <a:ln w="9525">
            <a:solidFill>
              <a:srgbClr val="DCE2EA"/>
            </a:solidFill>
            <a:prstDash val="solid"/>
          </a:ln>
        </p:spPr>
      </p:sp>
      <p:sp>
        <p:nvSpPr>
          <p:cNvPr id="8" name="Shape 6"/>
          <p:cNvSpPr/>
          <p:nvPr/>
        </p:nvSpPr>
        <p:spPr>
          <a:xfrm flipV="1">
            <a:off x="11185307" y="843534"/>
            <a:ext cx="173370" cy="234544"/>
          </a:xfrm>
          <a:prstGeom prst="line">
            <a:avLst/>
          </a:prstGeom>
          <a:noFill/>
          <a:ln w="9525">
            <a:solidFill>
              <a:srgbClr val="DCE2EA"/>
            </a:solidFill>
            <a:prstDash val="solid"/>
          </a:ln>
        </p:spPr>
      </p:sp>
      <p:sp>
        <p:nvSpPr>
          <p:cNvPr id="9" name="Shape 7"/>
          <p:cNvSpPr/>
          <p:nvPr/>
        </p:nvSpPr>
        <p:spPr>
          <a:xfrm flipH="1">
            <a:off x="11358677" y="522122"/>
            <a:ext cx="101133" cy="321412"/>
          </a:xfrm>
          <a:prstGeom prst="line">
            <a:avLst/>
          </a:prstGeom>
          <a:noFill/>
          <a:ln w="9525">
            <a:solidFill>
              <a:srgbClr val="DCE2EA"/>
            </a:solidFill>
            <a:prstDash val="solid"/>
          </a:ln>
        </p:spPr>
      </p:sp>
      <p:sp>
        <p:nvSpPr>
          <p:cNvPr id="10" name="Shape 8"/>
          <p:cNvSpPr/>
          <p:nvPr/>
        </p:nvSpPr>
        <p:spPr>
          <a:xfrm>
            <a:off x="10055291" y="854964"/>
            <a:ext cx="64008" cy="64008"/>
          </a:xfrm>
          <a:prstGeom prst="ellipse">
            <a:avLst/>
          </a:prstGeom>
          <a:solidFill>
            <a:srgbClr val="C3CCD9"/>
          </a:solidFill>
          <a:ln w="12700">
            <a:solidFill>
              <a:srgbClr val="C3CCD9"/>
            </a:solidFill>
            <a:prstDash val="solid"/>
          </a:ln>
        </p:spPr>
      </p:sp>
      <p:sp>
        <p:nvSpPr>
          <p:cNvPr id="11" name="Shape 9"/>
          <p:cNvSpPr/>
          <p:nvPr/>
        </p:nvSpPr>
        <p:spPr>
          <a:xfrm>
            <a:off x="10335097" y="428854"/>
            <a:ext cx="82296" cy="82296"/>
          </a:xfrm>
          <a:prstGeom prst="ellipse">
            <a:avLst/>
          </a:prstGeom>
          <a:solidFill>
            <a:srgbClr val="C3CCD9"/>
          </a:solidFill>
          <a:ln w="12700">
            <a:solidFill>
              <a:srgbClr val="C3CCD9"/>
            </a:solidFill>
            <a:prstDash val="solid"/>
          </a:ln>
        </p:spPr>
      </p:sp>
      <p:sp>
        <p:nvSpPr>
          <p:cNvPr id="12" name="Shape 10"/>
          <p:cNvSpPr/>
          <p:nvPr/>
        </p:nvSpPr>
        <p:spPr>
          <a:xfrm>
            <a:off x="10599725" y="919886"/>
            <a:ext cx="73152" cy="73152"/>
          </a:xfrm>
          <a:prstGeom prst="ellipse">
            <a:avLst/>
          </a:prstGeom>
          <a:solidFill>
            <a:srgbClr val="C3CCD9"/>
          </a:solidFill>
          <a:ln w="12700">
            <a:solidFill>
              <a:srgbClr val="C3CCD9"/>
            </a:solidFill>
            <a:prstDash val="solid"/>
          </a:ln>
        </p:spPr>
      </p:sp>
      <p:sp>
        <p:nvSpPr>
          <p:cNvPr id="13" name="Shape 11"/>
          <p:cNvSpPr/>
          <p:nvPr/>
        </p:nvSpPr>
        <p:spPr>
          <a:xfrm>
            <a:off x="10806379" y="507492"/>
            <a:ext cx="237744" cy="237744"/>
          </a:xfrm>
          <a:prstGeom prst="ellipse">
            <a:avLst/>
          </a:prstGeom>
          <a:solidFill>
            <a:srgbClr val="E0533A">
              <a:alpha val="18000"/>
            </a:srgbClr>
          </a:solidFill>
          <a:ln w="12700">
            <a:solidFill>
              <a:srgbClr val="E0533A">
                <a:alpha val="18000"/>
              </a:srgbClr>
            </a:solidFill>
            <a:prstDash val="solid"/>
          </a:ln>
        </p:spPr>
      </p:sp>
      <p:sp>
        <p:nvSpPr>
          <p:cNvPr id="14" name="Shape 12"/>
          <p:cNvSpPr/>
          <p:nvPr/>
        </p:nvSpPr>
        <p:spPr>
          <a:xfrm>
            <a:off x="10874959" y="576072"/>
            <a:ext cx="100584" cy="100584"/>
          </a:xfrm>
          <a:prstGeom prst="ellipse">
            <a:avLst/>
          </a:prstGeom>
          <a:solidFill>
            <a:srgbClr val="E0533A"/>
          </a:solidFill>
          <a:ln w="12700">
            <a:solidFill>
              <a:srgbClr val="E0533A"/>
            </a:solidFill>
            <a:prstDash val="solid"/>
          </a:ln>
        </p:spPr>
      </p:sp>
      <p:sp>
        <p:nvSpPr>
          <p:cNvPr id="15" name="Shape 13"/>
          <p:cNvSpPr/>
          <p:nvPr/>
        </p:nvSpPr>
        <p:spPr>
          <a:xfrm>
            <a:off x="11144159" y="1036930"/>
            <a:ext cx="82296" cy="82296"/>
          </a:xfrm>
          <a:prstGeom prst="ellipse">
            <a:avLst/>
          </a:prstGeom>
          <a:solidFill>
            <a:srgbClr val="C3CCD9"/>
          </a:solidFill>
          <a:ln w="12700">
            <a:solidFill>
              <a:srgbClr val="C3CCD9"/>
            </a:solidFill>
            <a:prstDash val="solid"/>
          </a:ln>
        </p:spPr>
      </p:sp>
      <p:sp>
        <p:nvSpPr>
          <p:cNvPr id="16" name="Shape 14"/>
          <p:cNvSpPr/>
          <p:nvPr/>
        </p:nvSpPr>
        <p:spPr>
          <a:xfrm>
            <a:off x="11427805" y="490118"/>
            <a:ext cx="64008" cy="64008"/>
          </a:xfrm>
          <a:prstGeom prst="ellipse">
            <a:avLst/>
          </a:prstGeom>
          <a:solidFill>
            <a:srgbClr val="C3CCD9"/>
          </a:solidFill>
          <a:ln w="12700">
            <a:solidFill>
              <a:srgbClr val="C3CCD9"/>
            </a:solidFill>
            <a:prstDash val="solid"/>
          </a:ln>
        </p:spPr>
      </p:sp>
      <p:sp>
        <p:nvSpPr>
          <p:cNvPr id="17" name="Shape 15"/>
          <p:cNvSpPr/>
          <p:nvPr/>
        </p:nvSpPr>
        <p:spPr>
          <a:xfrm>
            <a:off x="11331245" y="816102"/>
            <a:ext cx="54864" cy="54864"/>
          </a:xfrm>
          <a:prstGeom prst="ellipse">
            <a:avLst/>
          </a:prstGeom>
          <a:solidFill>
            <a:srgbClr val="C3CCD9"/>
          </a:solidFill>
          <a:ln w="12700">
            <a:solidFill>
              <a:srgbClr val="C3CCD9"/>
            </a:solidFill>
            <a:prstDash val="solid"/>
          </a:ln>
        </p:spPr>
      </p:sp>
      <p:sp>
        <p:nvSpPr>
          <p:cNvPr id="18" name="Text 16"/>
          <p:cNvSpPr txBox="1"/>
          <p:nvPr/>
        </p:nvSpPr>
        <p:spPr>
          <a:xfrm>
            <a:off x="685800" y="475488"/>
            <a:ext cx="10820095" cy="256032"/>
          </a:xfrm>
          <a:prstGeom prst="rect">
            <a:avLst/>
          </a:prstGeom>
          <a:noFill/>
          <a:ln/>
        </p:spPr>
        <p:txBody>
          <a:bodyPr wrap="square" lIns="0" tIns="0" rIns="0" bIns="0" rtlCol="0" anchor="t"/>
          <a:lstStyle/>
          <a:p>
            <a:pPr indent="0" marL="0">
              <a:buNone/>
            </a:pPr>
            <a:r>
              <a:rPr lang="en-US" sz="1100" b="1" dirty="0">
                <a:solidFill>
                  <a:srgbClr val="E0533A"/>
                </a:solidFill>
                <a:latin typeface="Arial" pitchFamily="34" charset="0"/>
                <a:ea typeface="Arial" pitchFamily="34" charset="-122"/>
                <a:cs typeface="Arial" pitchFamily="34" charset="-120"/>
              </a:rPr>
              <a:t>02 · DATA &amp; METHOD</a:t>
            </a:r>
            <a:endParaRPr lang="en-US" sz="1100" dirty="0"/>
          </a:p>
        </p:txBody>
      </p:sp>
      <p:sp>
        <p:nvSpPr>
          <p:cNvPr id="19" name="Text 17"/>
          <p:cNvSpPr txBox="1"/>
          <p:nvPr/>
        </p:nvSpPr>
        <p:spPr>
          <a:xfrm>
            <a:off x="685800" y="768096"/>
            <a:ext cx="10820095" cy="822960"/>
          </a:xfrm>
          <a:prstGeom prst="rect">
            <a:avLst/>
          </a:prstGeom>
          <a:noFill/>
          <a:ln/>
        </p:spPr>
        <p:txBody>
          <a:bodyPr wrap="square" lIns="0" tIns="0" rIns="0" bIns="0" rtlCol="0" anchor="t"/>
          <a:lstStyle/>
          <a:p>
            <a:pPr indent="0" marL="0">
              <a:buNone/>
            </a:pPr>
            <a:r>
              <a:rPr lang="en-US" sz="3000" dirty="0">
                <a:solidFill>
                  <a:srgbClr val="0F1B2D"/>
                </a:solidFill>
                <a:latin typeface="Georgia" pitchFamily="34" charset="0"/>
                <a:ea typeface="Georgia" pitchFamily="34" charset="-122"/>
                <a:cs typeface="Georgia" pitchFamily="34" charset="-120"/>
              </a:rPr>
              <a:t>The hybrid: Random Forest and XGBoost, combined</a:t>
            </a:r>
            <a:endParaRPr lang="en-US" sz="3000" dirty="0"/>
          </a:p>
        </p:txBody>
      </p:sp>
      <p:sp>
        <p:nvSpPr>
          <p:cNvPr id="20" name="Shape 18"/>
          <p:cNvSpPr/>
          <p:nvPr/>
        </p:nvSpPr>
        <p:spPr>
          <a:xfrm>
            <a:off x="685800" y="3291840"/>
            <a:ext cx="1691640" cy="914400"/>
          </a:xfrm>
          <a:prstGeom prst="roundRect">
            <a:avLst>
              <a:gd name="adj" fmla="val 6000"/>
            </a:avLst>
          </a:prstGeom>
          <a:solidFill>
            <a:srgbClr val="F4F6F9"/>
          </a:solidFill>
          <a:ln w="12700">
            <a:solidFill>
              <a:srgbClr val="F4F6F9"/>
            </a:solidFill>
            <a:prstDash val="solid"/>
          </a:ln>
        </p:spPr>
      </p:sp>
      <p:sp>
        <p:nvSpPr>
          <p:cNvPr id="21" name="Text 19"/>
          <p:cNvSpPr txBox="1"/>
          <p:nvPr/>
        </p:nvSpPr>
        <p:spPr>
          <a:xfrm>
            <a:off x="685800" y="3291840"/>
            <a:ext cx="1691640" cy="914400"/>
          </a:xfrm>
          <a:prstGeom prst="rect">
            <a:avLst/>
          </a:prstGeom>
          <a:noFill/>
          <a:ln/>
        </p:spPr>
        <p:txBody>
          <a:bodyPr wrap="square" lIns="0" tIns="0" rIns="0" bIns="0" rtlCol="0" anchor="ctr"/>
          <a:lstStyle/>
          <a:p>
            <a:pPr algn="ctr" indent="0" marL="0">
              <a:buNone/>
            </a:pPr>
            <a:r>
              <a:rPr lang="en-US" sz="1400" b="1" dirty="0">
                <a:solidFill>
                  <a:srgbClr val="0F1B2D"/>
                </a:solidFill>
                <a:latin typeface="Arial" pitchFamily="34" charset="0"/>
                <a:ea typeface="Arial" pitchFamily="34" charset="-122"/>
                <a:cs typeface="Arial" pitchFamily="34" charset="-120"/>
              </a:rPr>
              <a:t>30 flow</a:t>
            </a:r>
            <a:endParaRPr lang="en-US" sz="1400" dirty="0"/>
          </a:p>
          <a:p>
            <a:pPr algn="ctr" indent="0" marL="0">
              <a:buNone/>
            </a:pPr>
            <a:r>
              <a:rPr lang="en-US" sz="1400" b="1" dirty="0">
                <a:solidFill>
                  <a:srgbClr val="0F1B2D"/>
                </a:solidFill>
                <a:latin typeface="Arial" pitchFamily="34" charset="0"/>
                <a:ea typeface="Arial" pitchFamily="34" charset="-122"/>
                <a:cs typeface="Arial" pitchFamily="34" charset="-120"/>
              </a:rPr>
              <a:t>features</a:t>
            </a:r>
            <a:endParaRPr lang="en-US" sz="1400" dirty="0"/>
          </a:p>
        </p:txBody>
      </p:sp>
      <p:sp>
        <p:nvSpPr>
          <p:cNvPr id="22" name="Shape 20"/>
          <p:cNvSpPr/>
          <p:nvPr/>
        </p:nvSpPr>
        <p:spPr>
          <a:xfrm>
            <a:off x="2926080" y="1874520"/>
            <a:ext cx="2423160" cy="1325880"/>
          </a:xfrm>
          <a:prstGeom prst="roundRect">
            <a:avLst>
              <a:gd name="adj" fmla="val 4138"/>
            </a:avLst>
          </a:prstGeom>
          <a:solidFill>
            <a:srgbClr val="EAF1FB"/>
          </a:solidFill>
          <a:ln w="12700">
            <a:solidFill>
              <a:srgbClr val="EAF1FB"/>
            </a:solidFill>
            <a:prstDash val="solid"/>
          </a:ln>
        </p:spPr>
      </p:sp>
      <p:sp>
        <p:nvSpPr>
          <p:cNvPr id="23" name="Shape 21"/>
          <p:cNvSpPr/>
          <p:nvPr/>
        </p:nvSpPr>
        <p:spPr>
          <a:xfrm>
            <a:off x="3108960" y="2075688"/>
            <a:ext cx="457200" cy="457200"/>
          </a:xfrm>
          <a:prstGeom prst="ellipse">
            <a:avLst/>
          </a:prstGeom>
          <a:solidFill>
            <a:srgbClr val="2A78D6"/>
          </a:solidFill>
          <a:ln w="12700">
            <a:solidFill>
              <a:srgbClr val="2A78D6"/>
            </a:solidFill>
            <a:prstDash val="solid"/>
          </a:ln>
        </p:spPr>
      </p:sp>
      <p:pic>
        <p:nvPicPr>
          <p:cNvPr id="24" name="Image 0" descr="preencoded.png">    </p:cNvPr>
          <p:cNvPicPr>
            <a:picLocks noChangeAspect="1"/>
          </p:cNvPicPr>
          <p:nvPr/>
        </p:nvPicPr>
        <p:blipFill>
          <a:blip r:embed="rId1"/>
          <a:stretch>
            <a:fillRect/>
          </a:stretch>
        </p:blipFill>
        <p:spPr>
          <a:xfrm>
            <a:off x="3232404" y="2199132"/>
            <a:ext cx="210312" cy="210312"/>
          </a:xfrm>
          <a:prstGeom prst="rect">
            <a:avLst/>
          </a:prstGeom>
        </p:spPr>
      </p:pic>
      <p:sp>
        <p:nvSpPr>
          <p:cNvPr id="25" name="Text 22"/>
          <p:cNvSpPr txBox="1"/>
          <p:nvPr/>
        </p:nvSpPr>
        <p:spPr>
          <a:xfrm>
            <a:off x="3703320" y="2148840"/>
            <a:ext cx="1600200" cy="320040"/>
          </a:xfrm>
          <a:prstGeom prst="rect">
            <a:avLst/>
          </a:prstGeom>
          <a:noFill/>
          <a:ln/>
        </p:spPr>
        <p:txBody>
          <a:bodyPr wrap="square" lIns="0" tIns="0" rIns="0" bIns="0" rtlCol="0" anchor="t"/>
          <a:lstStyle/>
          <a:p>
            <a:pPr indent="0" marL="0">
              <a:buNone/>
            </a:pPr>
            <a:r>
              <a:rPr lang="en-US" sz="1500" b="1" dirty="0">
                <a:solidFill>
                  <a:srgbClr val="0F1B2D"/>
                </a:solidFill>
                <a:latin typeface="Arial" pitchFamily="34" charset="0"/>
                <a:ea typeface="Arial" pitchFamily="34" charset="-122"/>
                <a:cs typeface="Arial" pitchFamily="34" charset="-120"/>
              </a:rPr>
              <a:t>Random Forest</a:t>
            </a:r>
            <a:endParaRPr lang="en-US" sz="1500" dirty="0"/>
          </a:p>
        </p:txBody>
      </p:sp>
      <p:sp>
        <p:nvSpPr>
          <p:cNvPr id="26" name="Text 23"/>
          <p:cNvSpPr txBox="1"/>
          <p:nvPr/>
        </p:nvSpPr>
        <p:spPr>
          <a:xfrm>
            <a:off x="3108960" y="2651760"/>
            <a:ext cx="2103120" cy="457200"/>
          </a:xfrm>
          <a:prstGeom prst="rect">
            <a:avLst/>
          </a:prstGeom>
          <a:noFill/>
          <a:ln/>
        </p:spPr>
        <p:txBody>
          <a:bodyPr wrap="square" lIns="0" tIns="0" rIns="0" bIns="0" rtlCol="0" anchor="t"/>
          <a:lstStyle/>
          <a:p>
            <a:pPr indent="0" marL="0">
              <a:buNone/>
            </a:pPr>
            <a:r>
              <a:rPr lang="en-US" sz="1150" dirty="0">
                <a:solidFill>
                  <a:srgbClr val="55606E"/>
                </a:solidFill>
                <a:latin typeface="Arial" pitchFamily="34" charset="0"/>
                <a:ea typeface="Arial" pitchFamily="34" charset="-122"/>
                <a:cs typeface="Arial" pitchFamily="34" charset="-120"/>
              </a:rPr>
              <a:t>Bagging · 100 trees</a:t>
            </a:r>
            <a:endParaRPr lang="en-US" sz="1150" dirty="0"/>
          </a:p>
          <a:p>
            <a:pPr indent="0" marL="0">
              <a:buNone/>
            </a:pPr>
            <a:r>
              <a:rPr lang="en-US" sz="1150" dirty="0">
                <a:solidFill>
                  <a:srgbClr val="55606E"/>
                </a:solidFill>
                <a:latin typeface="Arial" pitchFamily="34" charset="0"/>
                <a:ea typeface="Arial" pitchFamily="34" charset="-122"/>
                <a:cs typeface="Arial" pitchFamily="34" charset="-120"/>
              </a:rPr>
              <a:t>majority vote</a:t>
            </a:r>
            <a:endParaRPr lang="en-US" sz="1150" dirty="0"/>
          </a:p>
        </p:txBody>
      </p:sp>
      <p:sp>
        <p:nvSpPr>
          <p:cNvPr id="27" name="Shape 24"/>
          <p:cNvSpPr/>
          <p:nvPr/>
        </p:nvSpPr>
        <p:spPr>
          <a:xfrm>
            <a:off x="2926080" y="4297680"/>
            <a:ext cx="2423160" cy="1325880"/>
          </a:xfrm>
          <a:prstGeom prst="roundRect">
            <a:avLst>
              <a:gd name="adj" fmla="val 4138"/>
            </a:avLst>
          </a:prstGeom>
          <a:solidFill>
            <a:srgbClr val="EAF1FB"/>
          </a:solidFill>
          <a:ln w="12700">
            <a:solidFill>
              <a:srgbClr val="EAF1FB"/>
            </a:solidFill>
            <a:prstDash val="solid"/>
          </a:ln>
        </p:spPr>
      </p:sp>
      <p:sp>
        <p:nvSpPr>
          <p:cNvPr id="28" name="Shape 25"/>
          <p:cNvSpPr/>
          <p:nvPr/>
        </p:nvSpPr>
        <p:spPr>
          <a:xfrm>
            <a:off x="3108960" y="4498848"/>
            <a:ext cx="457200" cy="457200"/>
          </a:xfrm>
          <a:prstGeom prst="ellipse">
            <a:avLst/>
          </a:prstGeom>
          <a:solidFill>
            <a:srgbClr val="2A78D6"/>
          </a:solidFill>
          <a:ln w="12700">
            <a:solidFill>
              <a:srgbClr val="2A78D6"/>
            </a:solidFill>
            <a:prstDash val="solid"/>
          </a:ln>
        </p:spPr>
      </p:sp>
      <p:pic>
        <p:nvPicPr>
          <p:cNvPr id="29" name="Image 1" descr="preencoded.png">    </p:cNvPr>
          <p:cNvPicPr>
            <a:picLocks noChangeAspect="1"/>
          </p:cNvPicPr>
          <p:nvPr/>
        </p:nvPicPr>
        <p:blipFill>
          <a:blip r:embed="rId2"/>
          <a:stretch>
            <a:fillRect/>
          </a:stretch>
        </p:blipFill>
        <p:spPr>
          <a:xfrm>
            <a:off x="3232404" y="4622292"/>
            <a:ext cx="210312" cy="210312"/>
          </a:xfrm>
          <a:prstGeom prst="rect">
            <a:avLst/>
          </a:prstGeom>
        </p:spPr>
      </p:pic>
      <p:sp>
        <p:nvSpPr>
          <p:cNvPr id="30" name="Text 26"/>
          <p:cNvSpPr txBox="1"/>
          <p:nvPr/>
        </p:nvSpPr>
        <p:spPr>
          <a:xfrm>
            <a:off x="3703320" y="4572000"/>
            <a:ext cx="1600200" cy="320040"/>
          </a:xfrm>
          <a:prstGeom prst="rect">
            <a:avLst/>
          </a:prstGeom>
          <a:noFill/>
          <a:ln/>
        </p:spPr>
        <p:txBody>
          <a:bodyPr wrap="square" lIns="0" tIns="0" rIns="0" bIns="0" rtlCol="0" anchor="t"/>
          <a:lstStyle/>
          <a:p>
            <a:pPr indent="0" marL="0">
              <a:buNone/>
            </a:pPr>
            <a:r>
              <a:rPr lang="en-US" sz="1500" b="1" dirty="0">
                <a:solidFill>
                  <a:srgbClr val="0F1B2D"/>
                </a:solidFill>
                <a:latin typeface="Arial" pitchFamily="34" charset="0"/>
                <a:ea typeface="Arial" pitchFamily="34" charset="-122"/>
                <a:cs typeface="Arial" pitchFamily="34" charset="-120"/>
              </a:rPr>
              <a:t>XGBoost</a:t>
            </a:r>
            <a:endParaRPr lang="en-US" sz="1500" dirty="0"/>
          </a:p>
        </p:txBody>
      </p:sp>
      <p:sp>
        <p:nvSpPr>
          <p:cNvPr id="31" name="Text 27"/>
          <p:cNvSpPr txBox="1"/>
          <p:nvPr/>
        </p:nvSpPr>
        <p:spPr>
          <a:xfrm>
            <a:off x="3108960" y="5074920"/>
            <a:ext cx="2103120" cy="457200"/>
          </a:xfrm>
          <a:prstGeom prst="rect">
            <a:avLst/>
          </a:prstGeom>
          <a:noFill/>
          <a:ln/>
        </p:spPr>
        <p:txBody>
          <a:bodyPr wrap="square" lIns="0" tIns="0" rIns="0" bIns="0" rtlCol="0" anchor="t"/>
          <a:lstStyle/>
          <a:p>
            <a:pPr indent="0" marL="0">
              <a:buNone/>
            </a:pPr>
            <a:r>
              <a:rPr lang="en-US" sz="1150" dirty="0">
                <a:solidFill>
                  <a:srgbClr val="55606E"/>
                </a:solidFill>
                <a:latin typeface="Arial" pitchFamily="34" charset="0"/>
                <a:ea typeface="Arial" pitchFamily="34" charset="-122"/>
                <a:cs typeface="Arial" pitchFamily="34" charset="-120"/>
              </a:rPr>
              <a:t>Boosting · 100 trees</a:t>
            </a:r>
            <a:endParaRPr lang="en-US" sz="1150" dirty="0"/>
          </a:p>
          <a:p>
            <a:pPr indent="0" marL="0">
              <a:buNone/>
            </a:pPr>
            <a:r>
              <a:rPr lang="en-US" sz="1150" dirty="0">
                <a:solidFill>
                  <a:srgbClr val="55606E"/>
                </a:solidFill>
                <a:latin typeface="Arial" pitchFamily="34" charset="0"/>
                <a:ea typeface="Arial" pitchFamily="34" charset="-122"/>
                <a:cs typeface="Arial" pitchFamily="34" charset="-120"/>
              </a:rPr>
              <a:t>learning rate 1.0 · depth 4</a:t>
            </a:r>
            <a:endParaRPr lang="en-US" sz="1150" dirty="0"/>
          </a:p>
        </p:txBody>
      </p:sp>
      <p:sp>
        <p:nvSpPr>
          <p:cNvPr id="32" name="Shape 28"/>
          <p:cNvSpPr/>
          <p:nvPr/>
        </p:nvSpPr>
        <p:spPr>
          <a:xfrm>
            <a:off x="5806440" y="3154680"/>
            <a:ext cx="1691640" cy="1188720"/>
          </a:xfrm>
          <a:prstGeom prst="roundRect">
            <a:avLst>
              <a:gd name="adj" fmla="val 4615"/>
            </a:avLst>
          </a:prstGeom>
          <a:solidFill>
            <a:srgbClr val="0B1526"/>
          </a:solidFill>
          <a:ln w="12700">
            <a:solidFill>
              <a:srgbClr val="0B1526"/>
            </a:solidFill>
            <a:prstDash val="solid"/>
          </a:ln>
        </p:spPr>
      </p:sp>
      <p:sp>
        <p:nvSpPr>
          <p:cNvPr id="33" name="Text 29"/>
          <p:cNvSpPr txBox="1"/>
          <p:nvPr/>
        </p:nvSpPr>
        <p:spPr>
          <a:xfrm>
            <a:off x="5806440" y="3154680"/>
            <a:ext cx="1691640" cy="11887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Aggregator</a:t>
            </a:r>
            <a:endParaRPr lang="en-US" sz="1400" dirty="0"/>
          </a:p>
          <a:p>
            <a:pPr algn="ctr" indent="0" marL="0">
              <a:buNone/>
            </a:pPr>
            <a:r>
              <a:rPr lang="en-US" sz="1100" dirty="0">
                <a:solidFill>
                  <a:srgbClr val="A9B6C8"/>
                </a:solidFill>
                <a:latin typeface="Arial" pitchFamily="34" charset="0"/>
                <a:ea typeface="Arial" pitchFamily="34" charset="-122"/>
                <a:cs typeface="Arial" pitchFamily="34" charset="-120"/>
              </a:rPr>
              <a:t>combo · 'average'</a:t>
            </a:r>
            <a:endParaRPr lang="en-US" sz="1400" dirty="0"/>
          </a:p>
        </p:txBody>
      </p:sp>
      <p:sp>
        <p:nvSpPr>
          <p:cNvPr id="34" name="Shape 30"/>
          <p:cNvSpPr/>
          <p:nvPr/>
        </p:nvSpPr>
        <p:spPr>
          <a:xfrm>
            <a:off x="5806440" y="4800600"/>
            <a:ext cx="1691640" cy="731520"/>
          </a:xfrm>
          <a:prstGeom prst="roundRect">
            <a:avLst>
              <a:gd name="adj" fmla="val 7500"/>
            </a:avLst>
          </a:prstGeom>
          <a:solidFill>
            <a:srgbClr val="F4F6F9"/>
          </a:solidFill>
          <a:ln w="12700">
            <a:solidFill>
              <a:srgbClr val="F4F6F9"/>
            </a:solidFill>
            <a:prstDash val="solid"/>
          </a:ln>
        </p:spPr>
      </p:sp>
      <p:sp>
        <p:nvSpPr>
          <p:cNvPr id="35" name="Text 31"/>
          <p:cNvSpPr txBox="1"/>
          <p:nvPr/>
        </p:nvSpPr>
        <p:spPr>
          <a:xfrm>
            <a:off x="5806440" y="4800600"/>
            <a:ext cx="1691640" cy="731520"/>
          </a:xfrm>
          <a:prstGeom prst="rect">
            <a:avLst/>
          </a:prstGeom>
          <a:noFill/>
          <a:ln/>
        </p:spPr>
        <p:txBody>
          <a:bodyPr wrap="square" lIns="0" tIns="0" rIns="0" bIns="0" rtlCol="0" anchor="ctr"/>
          <a:lstStyle/>
          <a:p>
            <a:pPr algn="ctr" indent="0" marL="0">
              <a:buNone/>
            </a:pPr>
            <a:r>
              <a:rPr lang="en-US" sz="1400" b="1" dirty="0">
                <a:solidFill>
                  <a:srgbClr val="0F1B2D"/>
                </a:solidFill>
                <a:latin typeface="Arial" pitchFamily="34" charset="0"/>
                <a:ea typeface="Arial" pitchFamily="34" charset="-122"/>
                <a:cs typeface="Arial" pitchFamily="34" charset="-120"/>
              </a:rPr>
              <a:t>Benign / APT</a:t>
            </a:r>
            <a:endParaRPr lang="en-US" sz="1400" dirty="0"/>
          </a:p>
        </p:txBody>
      </p:sp>
      <p:sp>
        <p:nvSpPr>
          <p:cNvPr id="36" name="Shape 32"/>
          <p:cNvSpPr/>
          <p:nvPr/>
        </p:nvSpPr>
        <p:spPr>
          <a:xfrm flipV="1">
            <a:off x="2377440" y="2542032"/>
            <a:ext cx="548640" cy="1207008"/>
          </a:xfrm>
          <a:prstGeom prst="line">
            <a:avLst/>
          </a:prstGeom>
          <a:noFill/>
          <a:ln w="15875">
            <a:solidFill>
              <a:srgbClr val="8A94A3"/>
            </a:solidFill>
            <a:prstDash val="solid"/>
            <a:tailEnd type="triangle"/>
          </a:ln>
        </p:spPr>
      </p:sp>
      <p:sp>
        <p:nvSpPr>
          <p:cNvPr id="37" name="Shape 33"/>
          <p:cNvSpPr/>
          <p:nvPr/>
        </p:nvSpPr>
        <p:spPr>
          <a:xfrm>
            <a:off x="2377440" y="3749040"/>
            <a:ext cx="548640" cy="1216152"/>
          </a:xfrm>
          <a:prstGeom prst="line">
            <a:avLst/>
          </a:prstGeom>
          <a:noFill/>
          <a:ln w="15875">
            <a:solidFill>
              <a:srgbClr val="8A94A3"/>
            </a:solidFill>
            <a:prstDash val="solid"/>
            <a:tailEnd type="triangle"/>
          </a:ln>
        </p:spPr>
      </p:sp>
      <p:sp>
        <p:nvSpPr>
          <p:cNvPr id="38" name="Shape 34"/>
          <p:cNvSpPr/>
          <p:nvPr/>
        </p:nvSpPr>
        <p:spPr>
          <a:xfrm>
            <a:off x="5349240" y="2542032"/>
            <a:ext cx="457200" cy="1207008"/>
          </a:xfrm>
          <a:prstGeom prst="line">
            <a:avLst/>
          </a:prstGeom>
          <a:noFill/>
          <a:ln w="15875">
            <a:solidFill>
              <a:srgbClr val="8A94A3"/>
            </a:solidFill>
            <a:prstDash val="solid"/>
            <a:tailEnd type="triangle"/>
          </a:ln>
        </p:spPr>
      </p:sp>
      <p:sp>
        <p:nvSpPr>
          <p:cNvPr id="39" name="Shape 35"/>
          <p:cNvSpPr/>
          <p:nvPr/>
        </p:nvSpPr>
        <p:spPr>
          <a:xfrm flipV="1">
            <a:off x="5349240" y="3749040"/>
            <a:ext cx="457200" cy="1216152"/>
          </a:xfrm>
          <a:prstGeom prst="line">
            <a:avLst/>
          </a:prstGeom>
          <a:noFill/>
          <a:ln w="15875">
            <a:solidFill>
              <a:srgbClr val="8A94A3"/>
            </a:solidFill>
            <a:prstDash val="solid"/>
            <a:tailEnd type="triangle"/>
          </a:ln>
        </p:spPr>
      </p:sp>
      <p:sp>
        <p:nvSpPr>
          <p:cNvPr id="40" name="Shape 36"/>
          <p:cNvSpPr/>
          <p:nvPr/>
        </p:nvSpPr>
        <p:spPr>
          <a:xfrm>
            <a:off x="6652260" y="4343400"/>
            <a:ext cx="914" cy="457200"/>
          </a:xfrm>
          <a:prstGeom prst="line">
            <a:avLst/>
          </a:prstGeom>
          <a:noFill/>
          <a:ln w="15875">
            <a:solidFill>
              <a:srgbClr val="8A94A3"/>
            </a:solidFill>
            <a:prstDash val="solid"/>
            <a:tailEnd type="triangle"/>
          </a:ln>
        </p:spPr>
      </p:sp>
      <p:sp>
        <p:nvSpPr>
          <p:cNvPr id="41" name="Shape 37"/>
          <p:cNvSpPr/>
          <p:nvPr/>
        </p:nvSpPr>
        <p:spPr>
          <a:xfrm>
            <a:off x="7909560" y="1828800"/>
            <a:ext cx="3596335" cy="4251960"/>
          </a:xfrm>
          <a:prstGeom prst="roundRect">
            <a:avLst>
              <a:gd name="adj" fmla="val 1526"/>
            </a:avLst>
          </a:prstGeom>
          <a:solidFill>
            <a:srgbClr val="FDEEEA"/>
          </a:solidFill>
          <a:ln w="12700">
            <a:solidFill>
              <a:srgbClr val="FDEEEA"/>
            </a:solidFill>
            <a:prstDash val="solid"/>
          </a:ln>
        </p:spPr>
      </p:sp>
      <p:sp>
        <p:nvSpPr>
          <p:cNvPr id="42" name="Text 38"/>
          <p:cNvSpPr txBox="1"/>
          <p:nvPr/>
        </p:nvSpPr>
        <p:spPr>
          <a:xfrm>
            <a:off x="8229600" y="2103120"/>
            <a:ext cx="2956255" cy="256032"/>
          </a:xfrm>
          <a:prstGeom prst="rect">
            <a:avLst/>
          </a:prstGeom>
          <a:noFill/>
          <a:ln/>
        </p:spPr>
        <p:txBody>
          <a:bodyPr wrap="square" lIns="0" tIns="0" rIns="0" bIns="0" rtlCol="0" anchor="t"/>
          <a:lstStyle/>
          <a:p>
            <a:pPr indent="0" marL="0">
              <a:buNone/>
            </a:pPr>
            <a:r>
              <a:rPr lang="en-US" sz="950" b="1" dirty="0">
                <a:solidFill>
                  <a:srgbClr val="E0533A"/>
                </a:solidFill>
                <a:latin typeface="Arial" pitchFamily="34" charset="0"/>
                <a:ea typeface="Arial" pitchFamily="34" charset="-122"/>
                <a:cs typeface="Arial" pitchFamily="34" charset="-120"/>
              </a:rPr>
              <a:t>WHAT WE FOUND IN THE CODE</a:t>
            </a:r>
            <a:endParaRPr lang="en-US" sz="950" dirty="0"/>
          </a:p>
        </p:txBody>
      </p:sp>
      <p:sp>
        <p:nvSpPr>
          <p:cNvPr id="43" name="Text 39"/>
          <p:cNvSpPr txBox="1"/>
          <p:nvPr/>
        </p:nvSpPr>
        <p:spPr>
          <a:xfrm>
            <a:off x="8229600" y="2423160"/>
            <a:ext cx="2956255" cy="777240"/>
          </a:xfrm>
          <a:prstGeom prst="rect">
            <a:avLst/>
          </a:prstGeom>
          <a:noFill/>
          <a:ln/>
        </p:spPr>
        <p:txBody>
          <a:bodyPr wrap="square" lIns="0" tIns="0" rIns="0" bIns="0" rtlCol="0" anchor="t"/>
          <a:lstStyle/>
          <a:p>
            <a:pPr indent="0" marL="0">
              <a:buNone/>
            </a:pPr>
            <a:r>
              <a:rPr lang="en-US" sz="2000" dirty="0">
                <a:solidFill>
                  <a:srgbClr val="0F1B2D"/>
                </a:solidFill>
                <a:latin typeface="Georgia" pitchFamily="34" charset="0"/>
                <a:ea typeface="Georgia" pitchFamily="34" charset="-122"/>
                <a:cs typeface="Georgia" pitchFamily="34" charset="-120"/>
              </a:rPr>
              <a:t>'Average' is really</a:t>
            </a:r>
            <a:endParaRPr lang="en-US" sz="2000" dirty="0"/>
          </a:p>
          <a:p>
            <a:pPr indent="0" marL="0">
              <a:buNone/>
            </a:pPr>
            <a:r>
              <a:rPr lang="en-US" sz="2000" dirty="0">
                <a:solidFill>
                  <a:srgbClr val="0F1B2D"/>
                </a:solidFill>
                <a:latin typeface="Georgia" pitchFamily="34" charset="0"/>
                <a:ea typeface="Georgia" pitchFamily="34" charset="-122"/>
                <a:cs typeface="Georgia" pitchFamily="34" charset="-120"/>
              </a:rPr>
              <a:t>an OR rule</a:t>
            </a:r>
            <a:endParaRPr lang="en-US" sz="2000" dirty="0"/>
          </a:p>
        </p:txBody>
      </p:sp>
      <p:sp>
        <p:nvSpPr>
          <p:cNvPr id="44" name="Text 40"/>
          <p:cNvSpPr txBox="1"/>
          <p:nvPr/>
        </p:nvSpPr>
        <p:spPr>
          <a:xfrm>
            <a:off x="8229600" y="3291840"/>
            <a:ext cx="2956255" cy="868680"/>
          </a:xfrm>
          <a:prstGeom prst="rect">
            <a:avLst/>
          </a:prstGeom>
          <a:noFill/>
          <a:ln/>
        </p:spPr>
        <p:txBody>
          <a:bodyPr wrap="square" lIns="0" tIns="0" rIns="0" bIns="0" rtlCol="0" anchor="t"/>
          <a:lstStyle/>
          <a:p>
            <a:pPr indent="0" marL="0">
              <a:buNone/>
            </a:pPr>
            <a:r>
              <a:rPr lang="en-US" sz="1300" dirty="0">
                <a:solidFill>
                  <a:srgbClr val="0F1B2D"/>
                </a:solidFill>
                <a:latin typeface="Arial" pitchFamily="34" charset="0"/>
                <a:ea typeface="Arial" pitchFamily="34" charset="-122"/>
                <a:cs typeface="Arial" pitchFamily="34" charset="-120"/>
              </a:rPr>
              <a:t>combo's predict() averages the two models' 0/1 labels and outputs APT when the average is ≥ 0.5.</a:t>
            </a:r>
            <a:endParaRPr lang="en-US" sz="1300" dirty="0"/>
          </a:p>
        </p:txBody>
      </p:sp>
      <p:sp>
        <p:nvSpPr>
          <p:cNvPr id="45" name="Text 41"/>
          <p:cNvSpPr txBox="1"/>
          <p:nvPr/>
        </p:nvSpPr>
        <p:spPr>
          <a:xfrm>
            <a:off x="8229600" y="4206240"/>
            <a:ext cx="2956255" cy="548640"/>
          </a:xfrm>
          <a:prstGeom prst="rect">
            <a:avLst/>
          </a:prstGeom>
          <a:noFill/>
          <a:ln/>
        </p:spPr>
        <p:txBody>
          <a:bodyPr wrap="square" lIns="0" tIns="0" rIns="0" bIns="0" rtlCol="0" anchor="t"/>
          <a:lstStyle/>
          <a:p>
            <a:pPr indent="0" marL="0">
              <a:buNone/>
            </a:pPr>
            <a:r>
              <a:rPr lang="en-US" sz="1300" b="1" dirty="0">
                <a:solidFill>
                  <a:srgbClr val="E0533A"/>
                </a:solidFill>
                <a:latin typeface="Arial" pitchFamily="34" charset="0"/>
                <a:ea typeface="Arial" pitchFamily="34" charset="-122"/>
                <a:cs typeface="Arial" pitchFamily="34" charset="-120"/>
              </a:rPr>
              <a:t>So a flow is flagged as APT if either model flags it.</a:t>
            </a:r>
            <a:endParaRPr lang="en-US" sz="1300" dirty="0"/>
          </a:p>
        </p:txBody>
      </p:sp>
      <p:sp>
        <p:nvSpPr>
          <p:cNvPr id="46" name="Text 42"/>
          <p:cNvSpPr txBox="1"/>
          <p:nvPr/>
        </p:nvSpPr>
        <p:spPr>
          <a:xfrm>
            <a:off x="8229600" y="4846320"/>
            <a:ext cx="2956255" cy="1005840"/>
          </a:xfrm>
          <a:prstGeom prst="rect">
            <a:avLst/>
          </a:prstGeom>
          <a:noFill/>
          <a:ln/>
        </p:spPr>
        <p:txBody>
          <a:bodyPr wrap="square" lIns="0" tIns="0" rIns="0" bIns="0" rtlCol="0" anchor="t"/>
          <a:lstStyle/>
          <a:p>
            <a:pPr indent="0" marL="0">
              <a:buNone/>
            </a:pPr>
            <a:r>
              <a:rPr lang="en-US" sz="1250" dirty="0">
                <a:solidFill>
                  <a:srgbClr val="55606E"/>
                </a:solidFill>
                <a:latin typeface="Arial" pitchFamily="34" charset="0"/>
                <a:ea typeface="Arial" pitchFamily="34" charset="-122"/>
                <a:cs typeface="Arial" pitchFamily="34" charset="-120"/>
              </a:rPr>
              <a:t>Effect: more attacks caught, more false alarms. We also test a soft-vote version (average of probabilities).</a:t>
            </a:r>
            <a:endParaRPr lang="en-US" sz="1250" dirty="0"/>
          </a:p>
        </p:txBody>
      </p:sp>
      <p:sp>
        <p:nvSpPr>
          <p:cNvPr id="47" name="Text 43"/>
          <p:cNvSpPr txBox="1"/>
          <p:nvPr/>
        </p:nvSpPr>
        <p:spPr>
          <a:xfrm>
            <a:off x="685800" y="6400800"/>
            <a:ext cx="7315200" cy="228600"/>
          </a:xfrm>
          <a:prstGeom prst="rect">
            <a:avLst/>
          </a:prstGeom>
          <a:noFill/>
          <a:ln/>
        </p:spPr>
        <p:txBody>
          <a:bodyPr wrap="square" lIns="0" tIns="0" rIns="0" bIns="0" rtlCol="0" anchor="t"/>
          <a:lstStyle/>
          <a:p>
            <a:pPr indent="0" marL="0">
              <a:buNone/>
            </a:pPr>
            <a:r>
              <a:rPr lang="en-US" sz="900" dirty="0">
                <a:solidFill>
                  <a:srgbClr val="8A94A3"/>
                </a:solidFill>
                <a:latin typeface="Arial" pitchFamily="34" charset="0"/>
                <a:ea typeface="Arial" pitchFamily="34" charset="-122"/>
                <a:cs typeface="Arial" pitchFamily="34" charset="-120"/>
              </a:rPr>
              <a:t>Anomaly detection for Advanced Persistent Threats   |   Mid-term evaluation</a:t>
            </a:r>
            <a:endParaRPr lang="en-US" sz="900" dirty="0"/>
          </a:p>
        </p:txBody>
      </p:sp>
      <p:sp>
        <p:nvSpPr>
          <p:cNvPr id="48" name="Text 44"/>
          <p:cNvSpPr txBox="1"/>
          <p:nvPr/>
        </p:nvSpPr>
        <p:spPr>
          <a:xfrm>
            <a:off x="10591495" y="6400800"/>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V="1">
            <a:off x="10087295" y="470002"/>
            <a:ext cx="288950" cy="416966"/>
          </a:xfrm>
          <a:prstGeom prst="line">
            <a:avLst/>
          </a:prstGeom>
          <a:noFill/>
          <a:ln w="9525">
            <a:solidFill>
              <a:srgbClr val="DCE2EA"/>
            </a:solidFill>
            <a:prstDash val="solid"/>
          </a:ln>
        </p:spPr>
      </p:sp>
      <p:sp>
        <p:nvSpPr>
          <p:cNvPr id="3" name="Shape 1"/>
          <p:cNvSpPr/>
          <p:nvPr/>
        </p:nvSpPr>
        <p:spPr>
          <a:xfrm>
            <a:off x="10087295" y="886968"/>
            <a:ext cx="549006" cy="69494"/>
          </a:xfrm>
          <a:prstGeom prst="line">
            <a:avLst/>
          </a:prstGeom>
          <a:noFill/>
          <a:ln w="9525">
            <a:solidFill>
              <a:srgbClr val="DCE2EA"/>
            </a:solidFill>
            <a:prstDash val="solid"/>
          </a:ln>
        </p:spPr>
      </p:sp>
      <p:sp>
        <p:nvSpPr>
          <p:cNvPr id="4" name="Shape 2"/>
          <p:cNvSpPr/>
          <p:nvPr/>
        </p:nvSpPr>
        <p:spPr>
          <a:xfrm>
            <a:off x="10376245" y="470002"/>
            <a:ext cx="549006" cy="156362"/>
          </a:xfrm>
          <a:prstGeom prst="line">
            <a:avLst/>
          </a:prstGeom>
          <a:noFill/>
          <a:ln w="9525">
            <a:solidFill>
              <a:srgbClr val="F2B7A8"/>
            </a:solidFill>
            <a:prstDash val="solid"/>
          </a:ln>
        </p:spPr>
      </p:sp>
      <p:sp>
        <p:nvSpPr>
          <p:cNvPr id="5" name="Shape 3"/>
          <p:cNvSpPr/>
          <p:nvPr/>
        </p:nvSpPr>
        <p:spPr>
          <a:xfrm flipV="1">
            <a:off x="10636301" y="626364"/>
            <a:ext cx="288950" cy="330098"/>
          </a:xfrm>
          <a:prstGeom prst="line">
            <a:avLst/>
          </a:prstGeom>
          <a:noFill/>
          <a:ln w="9525">
            <a:solidFill>
              <a:srgbClr val="F2B7A8"/>
            </a:solidFill>
            <a:prstDash val="solid"/>
          </a:ln>
        </p:spPr>
      </p:sp>
      <p:sp>
        <p:nvSpPr>
          <p:cNvPr id="6" name="Shape 4"/>
          <p:cNvSpPr/>
          <p:nvPr/>
        </p:nvSpPr>
        <p:spPr>
          <a:xfrm flipV="1">
            <a:off x="10925251" y="522122"/>
            <a:ext cx="534558" cy="104242"/>
          </a:xfrm>
          <a:prstGeom prst="line">
            <a:avLst/>
          </a:prstGeom>
          <a:noFill/>
          <a:ln w="9525">
            <a:solidFill>
              <a:srgbClr val="F2B7A8"/>
            </a:solidFill>
            <a:prstDash val="solid"/>
          </a:ln>
        </p:spPr>
      </p:sp>
      <p:sp>
        <p:nvSpPr>
          <p:cNvPr id="7" name="Shape 5"/>
          <p:cNvSpPr/>
          <p:nvPr/>
        </p:nvSpPr>
        <p:spPr>
          <a:xfrm>
            <a:off x="10636301" y="956462"/>
            <a:ext cx="549006" cy="121615"/>
          </a:xfrm>
          <a:prstGeom prst="line">
            <a:avLst/>
          </a:prstGeom>
          <a:noFill/>
          <a:ln w="9525">
            <a:solidFill>
              <a:srgbClr val="DCE2EA"/>
            </a:solidFill>
            <a:prstDash val="solid"/>
          </a:ln>
        </p:spPr>
      </p:sp>
      <p:sp>
        <p:nvSpPr>
          <p:cNvPr id="8" name="Shape 6"/>
          <p:cNvSpPr/>
          <p:nvPr/>
        </p:nvSpPr>
        <p:spPr>
          <a:xfrm flipV="1">
            <a:off x="11185307" y="843534"/>
            <a:ext cx="173370" cy="234544"/>
          </a:xfrm>
          <a:prstGeom prst="line">
            <a:avLst/>
          </a:prstGeom>
          <a:noFill/>
          <a:ln w="9525">
            <a:solidFill>
              <a:srgbClr val="DCE2EA"/>
            </a:solidFill>
            <a:prstDash val="solid"/>
          </a:ln>
        </p:spPr>
      </p:sp>
      <p:sp>
        <p:nvSpPr>
          <p:cNvPr id="9" name="Shape 7"/>
          <p:cNvSpPr/>
          <p:nvPr/>
        </p:nvSpPr>
        <p:spPr>
          <a:xfrm flipH="1">
            <a:off x="11358677" y="522122"/>
            <a:ext cx="101133" cy="321412"/>
          </a:xfrm>
          <a:prstGeom prst="line">
            <a:avLst/>
          </a:prstGeom>
          <a:noFill/>
          <a:ln w="9525">
            <a:solidFill>
              <a:srgbClr val="DCE2EA"/>
            </a:solidFill>
            <a:prstDash val="solid"/>
          </a:ln>
        </p:spPr>
      </p:sp>
      <p:sp>
        <p:nvSpPr>
          <p:cNvPr id="10" name="Shape 8"/>
          <p:cNvSpPr/>
          <p:nvPr/>
        </p:nvSpPr>
        <p:spPr>
          <a:xfrm>
            <a:off x="10055291" y="854964"/>
            <a:ext cx="64008" cy="64008"/>
          </a:xfrm>
          <a:prstGeom prst="ellipse">
            <a:avLst/>
          </a:prstGeom>
          <a:solidFill>
            <a:srgbClr val="C3CCD9"/>
          </a:solidFill>
          <a:ln w="12700">
            <a:solidFill>
              <a:srgbClr val="C3CCD9"/>
            </a:solidFill>
            <a:prstDash val="solid"/>
          </a:ln>
        </p:spPr>
      </p:sp>
      <p:sp>
        <p:nvSpPr>
          <p:cNvPr id="11" name="Shape 9"/>
          <p:cNvSpPr/>
          <p:nvPr/>
        </p:nvSpPr>
        <p:spPr>
          <a:xfrm>
            <a:off x="10335097" y="428854"/>
            <a:ext cx="82296" cy="82296"/>
          </a:xfrm>
          <a:prstGeom prst="ellipse">
            <a:avLst/>
          </a:prstGeom>
          <a:solidFill>
            <a:srgbClr val="C3CCD9"/>
          </a:solidFill>
          <a:ln w="12700">
            <a:solidFill>
              <a:srgbClr val="C3CCD9"/>
            </a:solidFill>
            <a:prstDash val="solid"/>
          </a:ln>
        </p:spPr>
      </p:sp>
      <p:sp>
        <p:nvSpPr>
          <p:cNvPr id="12" name="Shape 10"/>
          <p:cNvSpPr/>
          <p:nvPr/>
        </p:nvSpPr>
        <p:spPr>
          <a:xfrm>
            <a:off x="10599725" y="919886"/>
            <a:ext cx="73152" cy="73152"/>
          </a:xfrm>
          <a:prstGeom prst="ellipse">
            <a:avLst/>
          </a:prstGeom>
          <a:solidFill>
            <a:srgbClr val="C3CCD9"/>
          </a:solidFill>
          <a:ln w="12700">
            <a:solidFill>
              <a:srgbClr val="C3CCD9"/>
            </a:solidFill>
            <a:prstDash val="solid"/>
          </a:ln>
        </p:spPr>
      </p:sp>
      <p:sp>
        <p:nvSpPr>
          <p:cNvPr id="13" name="Shape 11"/>
          <p:cNvSpPr/>
          <p:nvPr/>
        </p:nvSpPr>
        <p:spPr>
          <a:xfrm>
            <a:off x="10806379" y="507492"/>
            <a:ext cx="237744" cy="237744"/>
          </a:xfrm>
          <a:prstGeom prst="ellipse">
            <a:avLst/>
          </a:prstGeom>
          <a:solidFill>
            <a:srgbClr val="E0533A">
              <a:alpha val="18000"/>
            </a:srgbClr>
          </a:solidFill>
          <a:ln w="12700">
            <a:solidFill>
              <a:srgbClr val="E0533A">
                <a:alpha val="18000"/>
              </a:srgbClr>
            </a:solidFill>
            <a:prstDash val="solid"/>
          </a:ln>
        </p:spPr>
      </p:sp>
      <p:sp>
        <p:nvSpPr>
          <p:cNvPr id="14" name="Shape 12"/>
          <p:cNvSpPr/>
          <p:nvPr/>
        </p:nvSpPr>
        <p:spPr>
          <a:xfrm>
            <a:off x="10874959" y="576072"/>
            <a:ext cx="100584" cy="100584"/>
          </a:xfrm>
          <a:prstGeom prst="ellipse">
            <a:avLst/>
          </a:prstGeom>
          <a:solidFill>
            <a:srgbClr val="E0533A"/>
          </a:solidFill>
          <a:ln w="12700">
            <a:solidFill>
              <a:srgbClr val="E0533A"/>
            </a:solidFill>
            <a:prstDash val="solid"/>
          </a:ln>
        </p:spPr>
      </p:sp>
      <p:sp>
        <p:nvSpPr>
          <p:cNvPr id="15" name="Shape 13"/>
          <p:cNvSpPr/>
          <p:nvPr/>
        </p:nvSpPr>
        <p:spPr>
          <a:xfrm>
            <a:off x="11144159" y="1036930"/>
            <a:ext cx="82296" cy="82296"/>
          </a:xfrm>
          <a:prstGeom prst="ellipse">
            <a:avLst/>
          </a:prstGeom>
          <a:solidFill>
            <a:srgbClr val="C3CCD9"/>
          </a:solidFill>
          <a:ln w="12700">
            <a:solidFill>
              <a:srgbClr val="C3CCD9"/>
            </a:solidFill>
            <a:prstDash val="solid"/>
          </a:ln>
        </p:spPr>
      </p:sp>
      <p:sp>
        <p:nvSpPr>
          <p:cNvPr id="16" name="Shape 14"/>
          <p:cNvSpPr/>
          <p:nvPr/>
        </p:nvSpPr>
        <p:spPr>
          <a:xfrm>
            <a:off x="11427805" y="490118"/>
            <a:ext cx="64008" cy="64008"/>
          </a:xfrm>
          <a:prstGeom prst="ellipse">
            <a:avLst/>
          </a:prstGeom>
          <a:solidFill>
            <a:srgbClr val="C3CCD9"/>
          </a:solidFill>
          <a:ln w="12700">
            <a:solidFill>
              <a:srgbClr val="C3CCD9"/>
            </a:solidFill>
            <a:prstDash val="solid"/>
          </a:ln>
        </p:spPr>
      </p:sp>
      <p:sp>
        <p:nvSpPr>
          <p:cNvPr id="17" name="Shape 15"/>
          <p:cNvSpPr/>
          <p:nvPr/>
        </p:nvSpPr>
        <p:spPr>
          <a:xfrm>
            <a:off x="11331245" y="816102"/>
            <a:ext cx="54864" cy="54864"/>
          </a:xfrm>
          <a:prstGeom prst="ellipse">
            <a:avLst/>
          </a:prstGeom>
          <a:solidFill>
            <a:srgbClr val="C3CCD9"/>
          </a:solidFill>
          <a:ln w="12700">
            <a:solidFill>
              <a:srgbClr val="C3CCD9"/>
            </a:solidFill>
            <a:prstDash val="solid"/>
          </a:ln>
        </p:spPr>
      </p:sp>
      <p:sp>
        <p:nvSpPr>
          <p:cNvPr id="18" name="Text 16"/>
          <p:cNvSpPr txBox="1"/>
          <p:nvPr/>
        </p:nvSpPr>
        <p:spPr>
          <a:xfrm>
            <a:off x="685800" y="475488"/>
            <a:ext cx="10820095" cy="256032"/>
          </a:xfrm>
          <a:prstGeom prst="rect">
            <a:avLst/>
          </a:prstGeom>
          <a:noFill/>
          <a:ln/>
        </p:spPr>
        <p:txBody>
          <a:bodyPr wrap="square" lIns="0" tIns="0" rIns="0" bIns="0" rtlCol="0" anchor="t"/>
          <a:lstStyle/>
          <a:p>
            <a:pPr indent="0" marL="0">
              <a:buNone/>
            </a:pPr>
            <a:r>
              <a:rPr lang="en-US" sz="1100" b="1" dirty="0">
                <a:solidFill>
                  <a:srgbClr val="E0533A"/>
                </a:solidFill>
                <a:latin typeface="Arial" pitchFamily="34" charset="0"/>
                <a:ea typeface="Arial" pitchFamily="34" charset="-122"/>
                <a:cs typeface="Arial" pitchFamily="34" charset="-120"/>
              </a:rPr>
              <a:t>02 · DATA &amp; METHOD</a:t>
            </a:r>
            <a:endParaRPr lang="en-US" sz="1100" dirty="0"/>
          </a:p>
        </p:txBody>
      </p:sp>
      <p:sp>
        <p:nvSpPr>
          <p:cNvPr id="19" name="Text 17"/>
          <p:cNvSpPr txBox="1"/>
          <p:nvPr/>
        </p:nvSpPr>
        <p:spPr>
          <a:xfrm>
            <a:off x="685800" y="768096"/>
            <a:ext cx="10820095" cy="822960"/>
          </a:xfrm>
          <a:prstGeom prst="rect">
            <a:avLst/>
          </a:prstGeom>
          <a:noFill/>
          <a:ln/>
        </p:spPr>
        <p:txBody>
          <a:bodyPr wrap="square" lIns="0" tIns="0" rIns="0" bIns="0" rtlCol="0" anchor="t"/>
          <a:lstStyle/>
          <a:p>
            <a:pPr indent="0" marL="0">
              <a:buNone/>
            </a:pPr>
            <a:r>
              <a:rPr lang="en-US" sz="3000" dirty="0">
                <a:solidFill>
                  <a:srgbClr val="0F1B2D"/>
                </a:solidFill>
                <a:latin typeface="Georgia" pitchFamily="34" charset="0"/>
                <a:ea typeface="Georgia" pitchFamily="34" charset="-122"/>
                <a:cs typeface="Georgia" pitchFamily="34" charset="-120"/>
              </a:rPr>
              <a:t>A flaw in the paper: it balances before it splits</a:t>
            </a:r>
            <a:endParaRPr lang="en-US" sz="3000" dirty="0"/>
          </a:p>
        </p:txBody>
      </p:sp>
      <p:sp>
        <p:nvSpPr>
          <p:cNvPr id="20" name="Text 18"/>
          <p:cNvSpPr txBox="1"/>
          <p:nvPr/>
        </p:nvSpPr>
        <p:spPr>
          <a:xfrm>
            <a:off x="685800" y="1874520"/>
            <a:ext cx="1737360" cy="868680"/>
          </a:xfrm>
          <a:prstGeom prst="rect">
            <a:avLst/>
          </a:prstGeom>
          <a:noFill/>
          <a:ln/>
        </p:spPr>
        <p:txBody>
          <a:bodyPr wrap="square" lIns="0" tIns="0" rIns="0" bIns="0" rtlCol="0" anchor="ctr"/>
          <a:lstStyle/>
          <a:p>
            <a:pPr indent="0" marL="0">
              <a:buNone/>
            </a:pPr>
            <a:r>
              <a:rPr lang="en-US" sz="1500" b="1" dirty="0">
                <a:solidFill>
                  <a:srgbClr val="E0533A"/>
                </a:solidFill>
                <a:latin typeface="Arial" pitchFamily="34" charset="0"/>
                <a:ea typeface="Arial" pitchFamily="34" charset="-122"/>
                <a:cs typeface="Arial" pitchFamily="34" charset="-120"/>
              </a:rPr>
              <a:t>The paper</a:t>
            </a:r>
            <a:endParaRPr lang="en-US" sz="1500" dirty="0"/>
          </a:p>
        </p:txBody>
      </p:sp>
      <p:sp>
        <p:nvSpPr>
          <p:cNvPr id="21" name="Shape 19"/>
          <p:cNvSpPr/>
          <p:nvPr/>
        </p:nvSpPr>
        <p:spPr>
          <a:xfrm>
            <a:off x="2606040" y="1874520"/>
            <a:ext cx="1828800" cy="868680"/>
          </a:xfrm>
          <a:prstGeom prst="roundRect">
            <a:avLst>
              <a:gd name="adj" fmla="val 6316"/>
            </a:avLst>
          </a:prstGeom>
          <a:solidFill>
            <a:srgbClr val="F4F6F9"/>
          </a:solidFill>
          <a:ln w="12700">
            <a:solidFill>
              <a:srgbClr val="F4F6F9"/>
            </a:solidFill>
            <a:prstDash val="solid"/>
          </a:ln>
        </p:spPr>
      </p:sp>
      <p:sp>
        <p:nvSpPr>
          <p:cNvPr id="22" name="Text 20"/>
          <p:cNvSpPr txBox="1"/>
          <p:nvPr/>
        </p:nvSpPr>
        <p:spPr>
          <a:xfrm>
            <a:off x="2715768" y="1874520"/>
            <a:ext cx="1609344" cy="868680"/>
          </a:xfrm>
          <a:prstGeom prst="rect">
            <a:avLst/>
          </a:prstGeom>
          <a:noFill/>
          <a:ln/>
        </p:spPr>
        <p:txBody>
          <a:bodyPr wrap="square" lIns="0" tIns="0" rIns="0" bIns="0" rtlCol="0" anchor="ctr"/>
          <a:lstStyle/>
          <a:p>
            <a:pPr algn="ctr" indent="0" marL="0">
              <a:buNone/>
            </a:pPr>
            <a:r>
              <a:rPr lang="en-US" sz="1250" dirty="0">
                <a:solidFill>
                  <a:srgbClr val="0F1B2D"/>
                </a:solidFill>
                <a:latin typeface="Arial" pitchFamily="34" charset="0"/>
                <a:ea typeface="Arial" pitchFamily="34" charset="-122"/>
                <a:cs typeface="Arial" pitchFamily="34" charset="-120"/>
              </a:rPr>
              <a:t>All flows</a:t>
            </a:r>
            <a:endParaRPr lang="en-US" sz="1250" dirty="0"/>
          </a:p>
        </p:txBody>
      </p:sp>
      <p:sp>
        <p:nvSpPr>
          <p:cNvPr id="23" name="Shape 21"/>
          <p:cNvSpPr/>
          <p:nvPr/>
        </p:nvSpPr>
        <p:spPr>
          <a:xfrm>
            <a:off x="4462272" y="2308860"/>
            <a:ext cx="265176" cy="914"/>
          </a:xfrm>
          <a:prstGeom prst="line">
            <a:avLst/>
          </a:prstGeom>
          <a:noFill/>
          <a:ln w="15875">
            <a:solidFill>
              <a:srgbClr val="8A94A3"/>
            </a:solidFill>
            <a:prstDash val="solid"/>
            <a:tailEnd type="triangle"/>
          </a:ln>
        </p:spPr>
      </p:sp>
      <p:sp>
        <p:nvSpPr>
          <p:cNvPr id="24" name="Shape 22"/>
          <p:cNvSpPr/>
          <p:nvPr/>
        </p:nvSpPr>
        <p:spPr>
          <a:xfrm>
            <a:off x="4754880" y="1874520"/>
            <a:ext cx="1828800" cy="868680"/>
          </a:xfrm>
          <a:prstGeom prst="roundRect">
            <a:avLst>
              <a:gd name="adj" fmla="val 6316"/>
            </a:avLst>
          </a:prstGeom>
          <a:solidFill>
            <a:srgbClr val="F4F6F9"/>
          </a:solidFill>
          <a:ln w="12700">
            <a:solidFill>
              <a:srgbClr val="F4F6F9"/>
            </a:solidFill>
            <a:prstDash val="solid"/>
          </a:ln>
        </p:spPr>
      </p:sp>
      <p:sp>
        <p:nvSpPr>
          <p:cNvPr id="25" name="Text 23"/>
          <p:cNvSpPr txBox="1"/>
          <p:nvPr/>
        </p:nvSpPr>
        <p:spPr>
          <a:xfrm>
            <a:off x="4864608" y="1874520"/>
            <a:ext cx="1609344" cy="868680"/>
          </a:xfrm>
          <a:prstGeom prst="rect">
            <a:avLst/>
          </a:prstGeom>
          <a:noFill/>
          <a:ln/>
        </p:spPr>
        <p:txBody>
          <a:bodyPr wrap="square" lIns="0" tIns="0" rIns="0" bIns="0" rtlCol="0" anchor="ctr"/>
          <a:lstStyle/>
          <a:p>
            <a:pPr algn="ctr" indent="0" marL="0">
              <a:buNone/>
            </a:pPr>
            <a:r>
              <a:rPr lang="en-US" sz="1250" dirty="0">
                <a:solidFill>
                  <a:srgbClr val="0F1B2D"/>
                </a:solidFill>
                <a:latin typeface="Arial" pitchFamily="34" charset="0"/>
                <a:ea typeface="Arial" pitchFamily="34" charset="-122"/>
                <a:cs typeface="Arial" pitchFamily="34" charset="-120"/>
              </a:rPr>
              <a:t>SMOTETomek adds synthetic APT flows</a:t>
            </a:r>
            <a:endParaRPr lang="en-US" sz="1250" dirty="0"/>
          </a:p>
        </p:txBody>
      </p:sp>
      <p:sp>
        <p:nvSpPr>
          <p:cNvPr id="26" name="Shape 24"/>
          <p:cNvSpPr/>
          <p:nvPr/>
        </p:nvSpPr>
        <p:spPr>
          <a:xfrm>
            <a:off x="6611112" y="2308860"/>
            <a:ext cx="265176" cy="914"/>
          </a:xfrm>
          <a:prstGeom prst="line">
            <a:avLst/>
          </a:prstGeom>
          <a:noFill/>
          <a:ln w="15875">
            <a:solidFill>
              <a:srgbClr val="8A94A3"/>
            </a:solidFill>
            <a:prstDash val="solid"/>
            <a:tailEnd type="triangle"/>
          </a:ln>
        </p:spPr>
      </p:sp>
      <p:sp>
        <p:nvSpPr>
          <p:cNvPr id="27" name="Shape 25"/>
          <p:cNvSpPr/>
          <p:nvPr/>
        </p:nvSpPr>
        <p:spPr>
          <a:xfrm>
            <a:off x="6903720" y="1874520"/>
            <a:ext cx="1828800" cy="868680"/>
          </a:xfrm>
          <a:prstGeom prst="roundRect">
            <a:avLst>
              <a:gd name="adj" fmla="val 6316"/>
            </a:avLst>
          </a:prstGeom>
          <a:solidFill>
            <a:srgbClr val="F4F6F9"/>
          </a:solidFill>
          <a:ln w="12700">
            <a:solidFill>
              <a:srgbClr val="F4F6F9"/>
            </a:solidFill>
            <a:prstDash val="solid"/>
          </a:ln>
        </p:spPr>
      </p:sp>
      <p:sp>
        <p:nvSpPr>
          <p:cNvPr id="28" name="Text 26"/>
          <p:cNvSpPr txBox="1"/>
          <p:nvPr/>
        </p:nvSpPr>
        <p:spPr>
          <a:xfrm>
            <a:off x="7013448" y="1874520"/>
            <a:ext cx="1609344" cy="868680"/>
          </a:xfrm>
          <a:prstGeom prst="rect">
            <a:avLst/>
          </a:prstGeom>
          <a:noFill/>
          <a:ln/>
        </p:spPr>
        <p:txBody>
          <a:bodyPr wrap="square" lIns="0" tIns="0" rIns="0" bIns="0" rtlCol="0" anchor="ctr"/>
          <a:lstStyle/>
          <a:p>
            <a:pPr algn="ctr" indent="0" marL="0">
              <a:buNone/>
            </a:pPr>
            <a:r>
              <a:rPr lang="en-US" sz="1250" dirty="0">
                <a:solidFill>
                  <a:srgbClr val="0F1B2D"/>
                </a:solidFill>
                <a:latin typeface="Arial" pitchFamily="34" charset="0"/>
                <a:ea typeface="Arial" pitchFamily="34" charset="-122"/>
                <a:cs typeface="Arial" pitchFamily="34" charset="-120"/>
              </a:rPr>
              <a:t>Split 70 / 30</a:t>
            </a:r>
            <a:endParaRPr lang="en-US" sz="1250" dirty="0"/>
          </a:p>
        </p:txBody>
      </p:sp>
      <p:sp>
        <p:nvSpPr>
          <p:cNvPr id="29" name="Shape 27"/>
          <p:cNvSpPr/>
          <p:nvPr/>
        </p:nvSpPr>
        <p:spPr>
          <a:xfrm>
            <a:off x="8759952" y="2308860"/>
            <a:ext cx="265176" cy="914"/>
          </a:xfrm>
          <a:prstGeom prst="line">
            <a:avLst/>
          </a:prstGeom>
          <a:noFill/>
          <a:ln w="15875">
            <a:solidFill>
              <a:srgbClr val="8A94A3"/>
            </a:solidFill>
            <a:prstDash val="solid"/>
            <a:tailEnd type="triangle"/>
          </a:ln>
        </p:spPr>
      </p:sp>
      <p:sp>
        <p:nvSpPr>
          <p:cNvPr id="30" name="Shape 28"/>
          <p:cNvSpPr/>
          <p:nvPr/>
        </p:nvSpPr>
        <p:spPr>
          <a:xfrm>
            <a:off x="9052560" y="1874520"/>
            <a:ext cx="2453335" cy="868680"/>
          </a:xfrm>
          <a:prstGeom prst="roundRect">
            <a:avLst>
              <a:gd name="adj" fmla="val 6316"/>
            </a:avLst>
          </a:prstGeom>
          <a:solidFill>
            <a:srgbClr val="FDEEEA"/>
          </a:solidFill>
          <a:ln w="12700">
            <a:solidFill>
              <a:srgbClr val="FDEEEA"/>
            </a:solidFill>
            <a:prstDash val="solid"/>
          </a:ln>
        </p:spPr>
      </p:sp>
      <p:sp>
        <p:nvSpPr>
          <p:cNvPr id="31" name="Shape 29"/>
          <p:cNvSpPr/>
          <p:nvPr/>
        </p:nvSpPr>
        <p:spPr>
          <a:xfrm>
            <a:off x="9253728" y="2057400"/>
            <a:ext cx="502920" cy="502920"/>
          </a:xfrm>
          <a:prstGeom prst="ellipse">
            <a:avLst/>
          </a:prstGeom>
          <a:solidFill>
            <a:srgbClr val="E0533A"/>
          </a:solidFill>
          <a:ln w="12700">
            <a:solidFill>
              <a:srgbClr val="E0533A"/>
            </a:solidFill>
            <a:prstDash val="solid"/>
          </a:ln>
        </p:spPr>
      </p:sp>
      <p:pic>
        <p:nvPicPr>
          <p:cNvPr id="32" name="Image 0" descr="preencoded.png">    </p:cNvPr>
          <p:cNvPicPr>
            <a:picLocks noChangeAspect="1"/>
          </p:cNvPicPr>
          <p:nvPr/>
        </p:nvPicPr>
        <p:blipFill>
          <a:blip r:embed="rId1"/>
          <a:stretch>
            <a:fillRect/>
          </a:stretch>
        </p:blipFill>
        <p:spPr>
          <a:xfrm>
            <a:off x="9389516" y="2193188"/>
            <a:ext cx="231343" cy="231343"/>
          </a:xfrm>
          <a:prstGeom prst="rect">
            <a:avLst/>
          </a:prstGeom>
        </p:spPr>
      </p:pic>
      <p:sp>
        <p:nvSpPr>
          <p:cNvPr id="33" name="Text 30"/>
          <p:cNvSpPr txBox="1"/>
          <p:nvPr/>
        </p:nvSpPr>
        <p:spPr>
          <a:xfrm>
            <a:off x="9921240" y="1874520"/>
            <a:ext cx="1447495" cy="868680"/>
          </a:xfrm>
          <a:prstGeom prst="rect">
            <a:avLst/>
          </a:prstGeom>
          <a:noFill/>
          <a:ln/>
        </p:spPr>
        <p:txBody>
          <a:bodyPr wrap="square" lIns="0" tIns="0" rIns="0" bIns="0" rtlCol="0" anchor="ctr"/>
          <a:lstStyle/>
          <a:p>
            <a:pPr indent="0" marL="0">
              <a:buNone/>
            </a:pPr>
            <a:r>
              <a:rPr lang="en-US" sz="1300" b="1" dirty="0">
                <a:solidFill>
                  <a:srgbClr val="E0533A"/>
                </a:solidFill>
                <a:latin typeface="Arial" pitchFamily="34" charset="0"/>
                <a:ea typeface="Arial" pitchFamily="34" charset="-122"/>
                <a:cs typeface="Arial" pitchFamily="34" charset="-120"/>
              </a:rPr>
              <a:t>Test set contains synthetic flows</a:t>
            </a:r>
            <a:endParaRPr lang="en-US" sz="1300" dirty="0"/>
          </a:p>
        </p:txBody>
      </p:sp>
      <p:sp>
        <p:nvSpPr>
          <p:cNvPr id="34" name="Text 31"/>
          <p:cNvSpPr txBox="1"/>
          <p:nvPr/>
        </p:nvSpPr>
        <p:spPr>
          <a:xfrm>
            <a:off x="685800" y="3063240"/>
            <a:ext cx="1737360" cy="868680"/>
          </a:xfrm>
          <a:prstGeom prst="rect">
            <a:avLst/>
          </a:prstGeom>
          <a:noFill/>
          <a:ln/>
        </p:spPr>
        <p:txBody>
          <a:bodyPr wrap="square" lIns="0" tIns="0" rIns="0" bIns="0" rtlCol="0" anchor="ctr"/>
          <a:lstStyle/>
          <a:p>
            <a:pPr indent="0" marL="0">
              <a:buNone/>
            </a:pPr>
            <a:r>
              <a:rPr lang="en-US" sz="1500" b="1" dirty="0">
                <a:solidFill>
                  <a:srgbClr val="1E8A5F"/>
                </a:solidFill>
                <a:latin typeface="Arial" pitchFamily="34" charset="0"/>
                <a:ea typeface="Arial" pitchFamily="34" charset="-122"/>
                <a:cs typeface="Arial" pitchFamily="34" charset="-120"/>
              </a:rPr>
              <a:t>Our fix</a:t>
            </a:r>
            <a:endParaRPr lang="en-US" sz="1500" dirty="0"/>
          </a:p>
          <a:p>
            <a:pPr indent="0" marL="0">
              <a:buNone/>
            </a:pPr>
            <a:r>
              <a:rPr lang="en-US" sz="1100" dirty="0">
                <a:solidFill>
                  <a:srgbClr val="55606E"/>
                </a:solidFill>
                <a:latin typeface="Arial" pitchFamily="34" charset="0"/>
                <a:ea typeface="Arial" pitchFamily="34" charset="-122"/>
                <a:cs typeface="Arial" pitchFamily="34" charset="-120"/>
              </a:rPr>
              <a:t>leakage-free</a:t>
            </a:r>
            <a:endParaRPr lang="en-US" sz="1500" dirty="0"/>
          </a:p>
        </p:txBody>
      </p:sp>
      <p:sp>
        <p:nvSpPr>
          <p:cNvPr id="35" name="Shape 32"/>
          <p:cNvSpPr/>
          <p:nvPr/>
        </p:nvSpPr>
        <p:spPr>
          <a:xfrm>
            <a:off x="2606040" y="3063240"/>
            <a:ext cx="1828800" cy="868680"/>
          </a:xfrm>
          <a:prstGeom prst="roundRect">
            <a:avLst>
              <a:gd name="adj" fmla="val 6316"/>
            </a:avLst>
          </a:prstGeom>
          <a:solidFill>
            <a:srgbClr val="F4F6F9"/>
          </a:solidFill>
          <a:ln w="12700">
            <a:solidFill>
              <a:srgbClr val="F4F6F9"/>
            </a:solidFill>
            <a:prstDash val="solid"/>
          </a:ln>
        </p:spPr>
      </p:sp>
      <p:sp>
        <p:nvSpPr>
          <p:cNvPr id="36" name="Text 33"/>
          <p:cNvSpPr txBox="1"/>
          <p:nvPr/>
        </p:nvSpPr>
        <p:spPr>
          <a:xfrm>
            <a:off x="2715768" y="3063240"/>
            <a:ext cx="1609344" cy="868680"/>
          </a:xfrm>
          <a:prstGeom prst="rect">
            <a:avLst/>
          </a:prstGeom>
          <a:noFill/>
          <a:ln/>
        </p:spPr>
        <p:txBody>
          <a:bodyPr wrap="square" lIns="0" tIns="0" rIns="0" bIns="0" rtlCol="0" anchor="ctr"/>
          <a:lstStyle/>
          <a:p>
            <a:pPr algn="ctr" indent="0" marL="0">
              <a:buNone/>
            </a:pPr>
            <a:r>
              <a:rPr lang="en-US" sz="1250" dirty="0">
                <a:solidFill>
                  <a:srgbClr val="0F1B2D"/>
                </a:solidFill>
                <a:latin typeface="Arial" pitchFamily="34" charset="0"/>
                <a:ea typeface="Arial" pitchFamily="34" charset="-122"/>
                <a:cs typeface="Arial" pitchFamily="34" charset="-120"/>
              </a:rPr>
              <a:t>All flows</a:t>
            </a:r>
            <a:endParaRPr lang="en-US" sz="1250" dirty="0"/>
          </a:p>
        </p:txBody>
      </p:sp>
      <p:sp>
        <p:nvSpPr>
          <p:cNvPr id="37" name="Shape 34"/>
          <p:cNvSpPr/>
          <p:nvPr/>
        </p:nvSpPr>
        <p:spPr>
          <a:xfrm>
            <a:off x="4462272" y="3497580"/>
            <a:ext cx="265176" cy="914"/>
          </a:xfrm>
          <a:prstGeom prst="line">
            <a:avLst/>
          </a:prstGeom>
          <a:noFill/>
          <a:ln w="15875">
            <a:solidFill>
              <a:srgbClr val="8A94A3"/>
            </a:solidFill>
            <a:prstDash val="solid"/>
            <a:tailEnd type="triangle"/>
          </a:ln>
        </p:spPr>
      </p:sp>
      <p:sp>
        <p:nvSpPr>
          <p:cNvPr id="38" name="Shape 35"/>
          <p:cNvSpPr/>
          <p:nvPr/>
        </p:nvSpPr>
        <p:spPr>
          <a:xfrm>
            <a:off x="4754880" y="3063240"/>
            <a:ext cx="1828800" cy="868680"/>
          </a:xfrm>
          <a:prstGeom prst="roundRect">
            <a:avLst>
              <a:gd name="adj" fmla="val 6316"/>
            </a:avLst>
          </a:prstGeom>
          <a:solidFill>
            <a:srgbClr val="F4F6F9"/>
          </a:solidFill>
          <a:ln w="12700">
            <a:solidFill>
              <a:srgbClr val="F4F6F9"/>
            </a:solidFill>
            <a:prstDash val="solid"/>
          </a:ln>
        </p:spPr>
      </p:sp>
      <p:sp>
        <p:nvSpPr>
          <p:cNvPr id="39" name="Text 36"/>
          <p:cNvSpPr txBox="1"/>
          <p:nvPr/>
        </p:nvSpPr>
        <p:spPr>
          <a:xfrm>
            <a:off x="4864608" y="3063240"/>
            <a:ext cx="1609344" cy="868680"/>
          </a:xfrm>
          <a:prstGeom prst="rect">
            <a:avLst/>
          </a:prstGeom>
          <a:noFill/>
          <a:ln/>
        </p:spPr>
        <p:txBody>
          <a:bodyPr wrap="square" lIns="0" tIns="0" rIns="0" bIns="0" rtlCol="0" anchor="ctr"/>
          <a:lstStyle/>
          <a:p>
            <a:pPr algn="ctr" indent="0" marL="0">
              <a:buNone/>
            </a:pPr>
            <a:r>
              <a:rPr lang="en-US" sz="1250" dirty="0">
                <a:solidFill>
                  <a:srgbClr val="0F1B2D"/>
                </a:solidFill>
                <a:latin typeface="Arial" pitchFamily="34" charset="0"/>
                <a:ea typeface="Arial" pitchFamily="34" charset="-122"/>
                <a:cs typeface="Arial" pitchFamily="34" charset="-120"/>
              </a:rPr>
              <a:t>Split 70 / 30</a:t>
            </a:r>
            <a:endParaRPr lang="en-US" sz="1250" dirty="0"/>
          </a:p>
        </p:txBody>
      </p:sp>
      <p:sp>
        <p:nvSpPr>
          <p:cNvPr id="40" name="Shape 37"/>
          <p:cNvSpPr/>
          <p:nvPr/>
        </p:nvSpPr>
        <p:spPr>
          <a:xfrm>
            <a:off x="6611112" y="3497580"/>
            <a:ext cx="265176" cy="914"/>
          </a:xfrm>
          <a:prstGeom prst="line">
            <a:avLst/>
          </a:prstGeom>
          <a:noFill/>
          <a:ln w="15875">
            <a:solidFill>
              <a:srgbClr val="8A94A3"/>
            </a:solidFill>
            <a:prstDash val="solid"/>
            <a:tailEnd type="triangle"/>
          </a:ln>
        </p:spPr>
      </p:sp>
      <p:sp>
        <p:nvSpPr>
          <p:cNvPr id="41" name="Shape 38"/>
          <p:cNvSpPr/>
          <p:nvPr/>
        </p:nvSpPr>
        <p:spPr>
          <a:xfrm>
            <a:off x="6903720" y="3063240"/>
            <a:ext cx="1828800" cy="868680"/>
          </a:xfrm>
          <a:prstGeom prst="roundRect">
            <a:avLst>
              <a:gd name="adj" fmla="val 6316"/>
            </a:avLst>
          </a:prstGeom>
          <a:solidFill>
            <a:srgbClr val="F4F6F9"/>
          </a:solidFill>
          <a:ln w="12700">
            <a:solidFill>
              <a:srgbClr val="F4F6F9"/>
            </a:solidFill>
            <a:prstDash val="solid"/>
          </a:ln>
        </p:spPr>
      </p:sp>
      <p:sp>
        <p:nvSpPr>
          <p:cNvPr id="42" name="Text 39"/>
          <p:cNvSpPr txBox="1"/>
          <p:nvPr/>
        </p:nvSpPr>
        <p:spPr>
          <a:xfrm>
            <a:off x="7013448" y="3063240"/>
            <a:ext cx="1609344" cy="868680"/>
          </a:xfrm>
          <a:prstGeom prst="rect">
            <a:avLst/>
          </a:prstGeom>
          <a:noFill/>
          <a:ln/>
        </p:spPr>
        <p:txBody>
          <a:bodyPr wrap="square" lIns="0" tIns="0" rIns="0" bIns="0" rtlCol="0" anchor="ctr"/>
          <a:lstStyle/>
          <a:p>
            <a:pPr algn="ctr" indent="0" marL="0">
              <a:buNone/>
            </a:pPr>
            <a:r>
              <a:rPr lang="en-US" sz="1250" dirty="0">
                <a:solidFill>
                  <a:srgbClr val="0F1B2D"/>
                </a:solidFill>
                <a:latin typeface="Arial" pitchFamily="34" charset="0"/>
                <a:ea typeface="Arial" pitchFamily="34" charset="-122"/>
                <a:cs typeface="Arial" pitchFamily="34" charset="-120"/>
              </a:rPr>
              <a:t>SMOTETomek on training data only</a:t>
            </a:r>
            <a:endParaRPr lang="en-US" sz="1250" dirty="0"/>
          </a:p>
        </p:txBody>
      </p:sp>
      <p:sp>
        <p:nvSpPr>
          <p:cNvPr id="43" name="Shape 40"/>
          <p:cNvSpPr/>
          <p:nvPr/>
        </p:nvSpPr>
        <p:spPr>
          <a:xfrm>
            <a:off x="8759952" y="3497580"/>
            <a:ext cx="265176" cy="914"/>
          </a:xfrm>
          <a:prstGeom prst="line">
            <a:avLst/>
          </a:prstGeom>
          <a:noFill/>
          <a:ln w="15875">
            <a:solidFill>
              <a:srgbClr val="8A94A3"/>
            </a:solidFill>
            <a:prstDash val="solid"/>
            <a:tailEnd type="triangle"/>
          </a:ln>
        </p:spPr>
      </p:sp>
      <p:sp>
        <p:nvSpPr>
          <p:cNvPr id="44" name="Shape 41"/>
          <p:cNvSpPr/>
          <p:nvPr/>
        </p:nvSpPr>
        <p:spPr>
          <a:xfrm>
            <a:off x="9052560" y="3063240"/>
            <a:ext cx="2453335" cy="868680"/>
          </a:xfrm>
          <a:prstGeom prst="roundRect">
            <a:avLst>
              <a:gd name="adj" fmla="val 6316"/>
            </a:avLst>
          </a:prstGeom>
          <a:solidFill>
            <a:srgbClr val="E7F4ED"/>
          </a:solidFill>
          <a:ln w="12700">
            <a:solidFill>
              <a:srgbClr val="E7F4ED"/>
            </a:solidFill>
            <a:prstDash val="solid"/>
          </a:ln>
        </p:spPr>
      </p:sp>
      <p:sp>
        <p:nvSpPr>
          <p:cNvPr id="45" name="Shape 42"/>
          <p:cNvSpPr/>
          <p:nvPr/>
        </p:nvSpPr>
        <p:spPr>
          <a:xfrm>
            <a:off x="9253728" y="3246120"/>
            <a:ext cx="502920" cy="502920"/>
          </a:xfrm>
          <a:prstGeom prst="ellipse">
            <a:avLst/>
          </a:prstGeom>
          <a:solidFill>
            <a:srgbClr val="1E8A5F"/>
          </a:solidFill>
          <a:ln w="12700">
            <a:solidFill>
              <a:srgbClr val="1E8A5F"/>
            </a:solidFill>
            <a:prstDash val="solid"/>
          </a:ln>
        </p:spPr>
      </p:sp>
      <p:pic>
        <p:nvPicPr>
          <p:cNvPr id="46" name="Image 1" descr="preencoded.png">    </p:cNvPr>
          <p:cNvPicPr>
            <a:picLocks noChangeAspect="1"/>
          </p:cNvPicPr>
          <p:nvPr/>
        </p:nvPicPr>
        <p:blipFill>
          <a:blip r:embed="rId2"/>
          <a:stretch>
            <a:fillRect/>
          </a:stretch>
        </p:blipFill>
        <p:spPr>
          <a:xfrm>
            <a:off x="9389516" y="3381908"/>
            <a:ext cx="231343" cy="231343"/>
          </a:xfrm>
          <a:prstGeom prst="rect">
            <a:avLst/>
          </a:prstGeom>
        </p:spPr>
      </p:pic>
      <p:sp>
        <p:nvSpPr>
          <p:cNvPr id="47" name="Text 43"/>
          <p:cNvSpPr txBox="1"/>
          <p:nvPr/>
        </p:nvSpPr>
        <p:spPr>
          <a:xfrm>
            <a:off x="9921240" y="3063240"/>
            <a:ext cx="1447495" cy="868680"/>
          </a:xfrm>
          <a:prstGeom prst="rect">
            <a:avLst/>
          </a:prstGeom>
          <a:noFill/>
          <a:ln/>
        </p:spPr>
        <p:txBody>
          <a:bodyPr wrap="square" lIns="0" tIns="0" rIns="0" bIns="0" rtlCol="0" anchor="ctr"/>
          <a:lstStyle/>
          <a:p>
            <a:pPr indent="0" marL="0">
              <a:buNone/>
            </a:pPr>
            <a:r>
              <a:rPr lang="en-US" sz="1300" b="1" dirty="0">
                <a:solidFill>
                  <a:srgbClr val="1E8A5F"/>
                </a:solidFill>
                <a:latin typeface="Arial" pitchFamily="34" charset="0"/>
                <a:ea typeface="Arial" pitchFamily="34" charset="-122"/>
                <a:cs typeface="Arial" pitchFamily="34" charset="-120"/>
              </a:rPr>
              <a:t>Test set is real traffic only</a:t>
            </a:r>
            <a:endParaRPr lang="en-US" sz="1300" dirty="0"/>
          </a:p>
        </p:txBody>
      </p:sp>
      <p:sp>
        <p:nvSpPr>
          <p:cNvPr id="48" name="Text 44"/>
          <p:cNvSpPr txBox="1"/>
          <p:nvPr/>
        </p:nvSpPr>
        <p:spPr>
          <a:xfrm>
            <a:off x="685800" y="4343400"/>
            <a:ext cx="10820095" cy="365760"/>
          </a:xfrm>
          <a:prstGeom prst="rect">
            <a:avLst/>
          </a:prstGeom>
          <a:noFill/>
          <a:ln/>
        </p:spPr>
        <p:txBody>
          <a:bodyPr wrap="square" lIns="0" tIns="0" rIns="0" bIns="0" rtlCol="0" anchor="t"/>
          <a:lstStyle/>
          <a:p>
            <a:pPr indent="0" marL="0">
              <a:buNone/>
            </a:pPr>
            <a:r>
              <a:rPr lang="en-US" sz="1600" b="1" dirty="0">
                <a:solidFill>
                  <a:srgbClr val="0F1B2D"/>
                </a:solidFill>
                <a:latin typeface="Arial" pitchFamily="34" charset="0"/>
                <a:ea typeface="Arial" pitchFamily="34" charset="-122"/>
                <a:cs typeface="Arial" pitchFamily="34" charset="-120"/>
              </a:rPr>
              <a:t>Why it matters</a:t>
            </a:r>
            <a:endParaRPr lang="en-US" sz="1600" dirty="0"/>
          </a:p>
        </p:txBody>
      </p:sp>
      <p:sp>
        <p:nvSpPr>
          <p:cNvPr id="49" name="Shape 45"/>
          <p:cNvSpPr/>
          <p:nvPr/>
        </p:nvSpPr>
        <p:spPr>
          <a:xfrm>
            <a:off x="685800" y="4846320"/>
            <a:ext cx="530352" cy="530352"/>
          </a:xfrm>
          <a:prstGeom prst="ellipse">
            <a:avLst/>
          </a:prstGeom>
          <a:solidFill>
            <a:srgbClr val="E0533A"/>
          </a:solidFill>
          <a:ln w="12700">
            <a:solidFill>
              <a:srgbClr val="E0533A"/>
            </a:solidFill>
            <a:prstDash val="solid"/>
          </a:ln>
        </p:spPr>
      </p:sp>
      <p:pic>
        <p:nvPicPr>
          <p:cNvPr id="50" name="Image 2" descr="preencoded.png">    </p:cNvPr>
          <p:cNvPicPr>
            <a:picLocks noChangeAspect="1"/>
          </p:cNvPicPr>
          <p:nvPr/>
        </p:nvPicPr>
        <p:blipFill>
          <a:blip r:embed="rId3"/>
          <a:stretch>
            <a:fillRect/>
          </a:stretch>
        </p:blipFill>
        <p:spPr>
          <a:xfrm>
            <a:off x="828995" y="4989515"/>
            <a:ext cx="243962" cy="243962"/>
          </a:xfrm>
          <a:prstGeom prst="rect">
            <a:avLst/>
          </a:prstGeom>
        </p:spPr>
      </p:pic>
      <p:sp>
        <p:nvSpPr>
          <p:cNvPr id="51" name="Text 46"/>
          <p:cNvSpPr txBox="1"/>
          <p:nvPr/>
        </p:nvSpPr>
        <p:spPr>
          <a:xfrm>
            <a:off x="1417320" y="4828032"/>
            <a:ext cx="4404208" cy="320040"/>
          </a:xfrm>
          <a:prstGeom prst="rect">
            <a:avLst/>
          </a:prstGeom>
          <a:noFill/>
          <a:ln/>
        </p:spPr>
        <p:txBody>
          <a:bodyPr wrap="square" lIns="0" tIns="0" rIns="0" bIns="0" rtlCol="0" anchor="t"/>
          <a:lstStyle/>
          <a:p>
            <a:pPr indent="0" marL="0">
              <a:buNone/>
            </a:pPr>
            <a:r>
              <a:rPr lang="en-US" sz="1450" b="1" dirty="0">
                <a:solidFill>
                  <a:srgbClr val="0F1B2D"/>
                </a:solidFill>
                <a:latin typeface="Arial" pitchFamily="34" charset="0"/>
                <a:ea typeface="Arial" pitchFamily="34" charset="-122"/>
                <a:cs typeface="Arial" pitchFamily="34" charset="-120"/>
              </a:rPr>
              <a:t>Synthetic flows leak into the test set</a:t>
            </a:r>
            <a:endParaRPr lang="en-US" sz="1450" dirty="0"/>
          </a:p>
        </p:txBody>
      </p:sp>
      <p:sp>
        <p:nvSpPr>
          <p:cNvPr id="52" name="Text 47"/>
          <p:cNvSpPr txBox="1"/>
          <p:nvPr/>
        </p:nvSpPr>
        <p:spPr>
          <a:xfrm>
            <a:off x="1417320" y="5184648"/>
            <a:ext cx="4404208" cy="822960"/>
          </a:xfrm>
          <a:prstGeom prst="rect">
            <a:avLst/>
          </a:prstGeom>
          <a:noFill/>
          <a:ln/>
        </p:spPr>
        <p:txBody>
          <a:bodyPr wrap="square" lIns="0" tIns="0" rIns="0" bIns="0" rtlCol="0" anchor="t"/>
          <a:lstStyle/>
          <a:p>
            <a:pPr indent="0" marL="0">
              <a:buNone/>
            </a:pPr>
            <a:r>
              <a:rPr lang="en-US" sz="1250" dirty="0">
                <a:solidFill>
                  <a:srgbClr val="55606E"/>
                </a:solidFill>
                <a:latin typeface="Arial" pitchFamily="34" charset="0"/>
                <a:ea typeface="Arial" pitchFamily="34" charset="-122"/>
                <a:cs typeface="Arial" pitchFamily="34" charset="-120"/>
              </a:rPr>
              <a:t>SMOTE creates them by interpolating real flows, some of which are in training, so testing partly repeats training.</a:t>
            </a:r>
            <a:endParaRPr lang="en-US" sz="1250" dirty="0"/>
          </a:p>
        </p:txBody>
      </p:sp>
      <p:sp>
        <p:nvSpPr>
          <p:cNvPr id="53" name="Shape 48"/>
          <p:cNvSpPr/>
          <p:nvPr/>
        </p:nvSpPr>
        <p:spPr>
          <a:xfrm>
            <a:off x="6233008" y="4846320"/>
            <a:ext cx="530352" cy="530352"/>
          </a:xfrm>
          <a:prstGeom prst="ellipse">
            <a:avLst/>
          </a:prstGeom>
          <a:solidFill>
            <a:srgbClr val="E0533A"/>
          </a:solidFill>
          <a:ln w="12700">
            <a:solidFill>
              <a:srgbClr val="E0533A"/>
            </a:solidFill>
            <a:prstDash val="solid"/>
          </a:ln>
        </p:spPr>
      </p:sp>
      <p:pic>
        <p:nvPicPr>
          <p:cNvPr id="54" name="Image 3" descr="preencoded.png">    </p:cNvPr>
          <p:cNvPicPr>
            <a:picLocks noChangeAspect="1"/>
          </p:cNvPicPr>
          <p:nvPr/>
        </p:nvPicPr>
        <p:blipFill>
          <a:blip r:embed="rId4"/>
          <a:stretch>
            <a:fillRect/>
          </a:stretch>
        </p:blipFill>
        <p:spPr>
          <a:xfrm>
            <a:off x="6376203" y="4989515"/>
            <a:ext cx="243962" cy="243962"/>
          </a:xfrm>
          <a:prstGeom prst="rect">
            <a:avLst/>
          </a:prstGeom>
        </p:spPr>
      </p:pic>
      <p:sp>
        <p:nvSpPr>
          <p:cNvPr id="55" name="Text 49"/>
          <p:cNvSpPr txBox="1"/>
          <p:nvPr/>
        </p:nvSpPr>
        <p:spPr>
          <a:xfrm>
            <a:off x="6964528" y="4828032"/>
            <a:ext cx="4404208" cy="320040"/>
          </a:xfrm>
          <a:prstGeom prst="rect">
            <a:avLst/>
          </a:prstGeom>
          <a:noFill/>
          <a:ln/>
        </p:spPr>
        <p:txBody>
          <a:bodyPr wrap="square" lIns="0" tIns="0" rIns="0" bIns="0" rtlCol="0" anchor="t"/>
          <a:lstStyle/>
          <a:p>
            <a:pPr indent="0" marL="0">
              <a:buNone/>
            </a:pPr>
            <a:r>
              <a:rPr lang="en-US" sz="1450" b="1" dirty="0">
                <a:solidFill>
                  <a:srgbClr val="0F1B2D"/>
                </a:solidFill>
                <a:latin typeface="Arial" pitchFamily="34" charset="0"/>
                <a:ea typeface="Arial" pitchFamily="34" charset="-122"/>
                <a:cs typeface="Arial" pitchFamily="34" charset="-120"/>
              </a:rPr>
              <a:t>An unrealistic 50/50 test set</a:t>
            </a:r>
            <a:endParaRPr lang="en-US" sz="1450" dirty="0"/>
          </a:p>
        </p:txBody>
      </p:sp>
      <p:sp>
        <p:nvSpPr>
          <p:cNvPr id="56" name="Text 50"/>
          <p:cNvSpPr txBox="1"/>
          <p:nvPr/>
        </p:nvSpPr>
        <p:spPr>
          <a:xfrm>
            <a:off x="6964528" y="5184648"/>
            <a:ext cx="4404208" cy="822960"/>
          </a:xfrm>
          <a:prstGeom prst="rect">
            <a:avLst/>
          </a:prstGeom>
          <a:noFill/>
          <a:ln/>
        </p:spPr>
        <p:txBody>
          <a:bodyPr wrap="square" lIns="0" tIns="0" rIns="0" bIns="0" rtlCol="0" anchor="t"/>
          <a:lstStyle/>
          <a:p>
            <a:pPr indent="0" marL="0">
              <a:buNone/>
            </a:pPr>
            <a:r>
              <a:rPr lang="en-US" sz="1250" dirty="0">
                <a:solidFill>
                  <a:srgbClr val="55606E"/>
                </a:solidFill>
                <a:latin typeface="Arial" pitchFamily="34" charset="0"/>
                <a:ea typeface="Arial" pitchFamily="34" charset="-122"/>
                <a:cs typeface="Arial" pitchFamily="34" charset="-120"/>
              </a:rPr>
              <a:t>Real traffic here is 77% benign; a balanced test set makes false alarms look rarer than they are.</a:t>
            </a:r>
            <a:endParaRPr lang="en-US" sz="1250" dirty="0"/>
          </a:p>
        </p:txBody>
      </p:sp>
      <p:sp>
        <p:nvSpPr>
          <p:cNvPr id="57" name="Text 51"/>
          <p:cNvSpPr txBox="1"/>
          <p:nvPr/>
        </p:nvSpPr>
        <p:spPr>
          <a:xfrm>
            <a:off x="685800" y="6400800"/>
            <a:ext cx="7315200" cy="228600"/>
          </a:xfrm>
          <a:prstGeom prst="rect">
            <a:avLst/>
          </a:prstGeom>
          <a:noFill/>
          <a:ln/>
        </p:spPr>
        <p:txBody>
          <a:bodyPr wrap="square" lIns="0" tIns="0" rIns="0" bIns="0" rtlCol="0" anchor="t"/>
          <a:lstStyle/>
          <a:p>
            <a:pPr indent="0" marL="0">
              <a:buNone/>
            </a:pPr>
            <a:r>
              <a:rPr lang="en-US" sz="900" dirty="0">
                <a:solidFill>
                  <a:srgbClr val="8A94A3"/>
                </a:solidFill>
                <a:latin typeface="Arial" pitchFamily="34" charset="0"/>
                <a:ea typeface="Arial" pitchFamily="34" charset="-122"/>
                <a:cs typeface="Arial" pitchFamily="34" charset="-120"/>
              </a:rPr>
              <a:t>Anomaly detection for Advanced Persistent Threats   |   Mid-term evaluation</a:t>
            </a:r>
            <a:endParaRPr lang="en-US" sz="900" dirty="0"/>
          </a:p>
        </p:txBody>
      </p:sp>
      <p:sp>
        <p:nvSpPr>
          <p:cNvPr id="58" name="Text 52"/>
          <p:cNvSpPr txBox="1"/>
          <p:nvPr/>
        </p:nvSpPr>
        <p:spPr>
          <a:xfrm>
            <a:off x="10591495" y="6400800"/>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V="1">
            <a:off x="10087295" y="470002"/>
            <a:ext cx="288950" cy="416966"/>
          </a:xfrm>
          <a:prstGeom prst="line">
            <a:avLst/>
          </a:prstGeom>
          <a:noFill/>
          <a:ln w="9525">
            <a:solidFill>
              <a:srgbClr val="DCE2EA"/>
            </a:solidFill>
            <a:prstDash val="solid"/>
          </a:ln>
        </p:spPr>
      </p:sp>
      <p:sp>
        <p:nvSpPr>
          <p:cNvPr id="3" name="Shape 1"/>
          <p:cNvSpPr/>
          <p:nvPr/>
        </p:nvSpPr>
        <p:spPr>
          <a:xfrm>
            <a:off x="10087295" y="886968"/>
            <a:ext cx="549006" cy="69494"/>
          </a:xfrm>
          <a:prstGeom prst="line">
            <a:avLst/>
          </a:prstGeom>
          <a:noFill/>
          <a:ln w="9525">
            <a:solidFill>
              <a:srgbClr val="DCE2EA"/>
            </a:solidFill>
            <a:prstDash val="solid"/>
          </a:ln>
        </p:spPr>
      </p:sp>
      <p:sp>
        <p:nvSpPr>
          <p:cNvPr id="4" name="Shape 2"/>
          <p:cNvSpPr/>
          <p:nvPr/>
        </p:nvSpPr>
        <p:spPr>
          <a:xfrm>
            <a:off x="10376245" y="470002"/>
            <a:ext cx="549006" cy="156362"/>
          </a:xfrm>
          <a:prstGeom prst="line">
            <a:avLst/>
          </a:prstGeom>
          <a:noFill/>
          <a:ln w="9525">
            <a:solidFill>
              <a:srgbClr val="F2B7A8"/>
            </a:solidFill>
            <a:prstDash val="solid"/>
          </a:ln>
        </p:spPr>
      </p:sp>
      <p:sp>
        <p:nvSpPr>
          <p:cNvPr id="5" name="Shape 3"/>
          <p:cNvSpPr/>
          <p:nvPr/>
        </p:nvSpPr>
        <p:spPr>
          <a:xfrm flipV="1">
            <a:off x="10636301" y="626364"/>
            <a:ext cx="288950" cy="330098"/>
          </a:xfrm>
          <a:prstGeom prst="line">
            <a:avLst/>
          </a:prstGeom>
          <a:noFill/>
          <a:ln w="9525">
            <a:solidFill>
              <a:srgbClr val="F2B7A8"/>
            </a:solidFill>
            <a:prstDash val="solid"/>
          </a:ln>
        </p:spPr>
      </p:sp>
      <p:sp>
        <p:nvSpPr>
          <p:cNvPr id="6" name="Shape 4"/>
          <p:cNvSpPr/>
          <p:nvPr/>
        </p:nvSpPr>
        <p:spPr>
          <a:xfrm flipV="1">
            <a:off x="10925251" y="522122"/>
            <a:ext cx="534558" cy="104242"/>
          </a:xfrm>
          <a:prstGeom prst="line">
            <a:avLst/>
          </a:prstGeom>
          <a:noFill/>
          <a:ln w="9525">
            <a:solidFill>
              <a:srgbClr val="F2B7A8"/>
            </a:solidFill>
            <a:prstDash val="solid"/>
          </a:ln>
        </p:spPr>
      </p:sp>
      <p:sp>
        <p:nvSpPr>
          <p:cNvPr id="7" name="Shape 5"/>
          <p:cNvSpPr/>
          <p:nvPr/>
        </p:nvSpPr>
        <p:spPr>
          <a:xfrm>
            <a:off x="10636301" y="956462"/>
            <a:ext cx="549006" cy="121615"/>
          </a:xfrm>
          <a:prstGeom prst="line">
            <a:avLst/>
          </a:prstGeom>
          <a:noFill/>
          <a:ln w="9525">
            <a:solidFill>
              <a:srgbClr val="DCE2EA"/>
            </a:solidFill>
            <a:prstDash val="solid"/>
          </a:ln>
        </p:spPr>
      </p:sp>
      <p:sp>
        <p:nvSpPr>
          <p:cNvPr id="8" name="Shape 6"/>
          <p:cNvSpPr/>
          <p:nvPr/>
        </p:nvSpPr>
        <p:spPr>
          <a:xfrm flipV="1">
            <a:off x="11185307" y="843534"/>
            <a:ext cx="173370" cy="234544"/>
          </a:xfrm>
          <a:prstGeom prst="line">
            <a:avLst/>
          </a:prstGeom>
          <a:noFill/>
          <a:ln w="9525">
            <a:solidFill>
              <a:srgbClr val="DCE2EA"/>
            </a:solidFill>
            <a:prstDash val="solid"/>
          </a:ln>
        </p:spPr>
      </p:sp>
      <p:sp>
        <p:nvSpPr>
          <p:cNvPr id="9" name="Shape 7"/>
          <p:cNvSpPr/>
          <p:nvPr/>
        </p:nvSpPr>
        <p:spPr>
          <a:xfrm flipH="1">
            <a:off x="11358677" y="522122"/>
            <a:ext cx="101133" cy="321412"/>
          </a:xfrm>
          <a:prstGeom prst="line">
            <a:avLst/>
          </a:prstGeom>
          <a:noFill/>
          <a:ln w="9525">
            <a:solidFill>
              <a:srgbClr val="DCE2EA"/>
            </a:solidFill>
            <a:prstDash val="solid"/>
          </a:ln>
        </p:spPr>
      </p:sp>
      <p:sp>
        <p:nvSpPr>
          <p:cNvPr id="10" name="Shape 8"/>
          <p:cNvSpPr/>
          <p:nvPr/>
        </p:nvSpPr>
        <p:spPr>
          <a:xfrm>
            <a:off x="10055291" y="854964"/>
            <a:ext cx="64008" cy="64008"/>
          </a:xfrm>
          <a:prstGeom prst="ellipse">
            <a:avLst/>
          </a:prstGeom>
          <a:solidFill>
            <a:srgbClr val="C3CCD9"/>
          </a:solidFill>
          <a:ln w="12700">
            <a:solidFill>
              <a:srgbClr val="C3CCD9"/>
            </a:solidFill>
            <a:prstDash val="solid"/>
          </a:ln>
        </p:spPr>
      </p:sp>
      <p:sp>
        <p:nvSpPr>
          <p:cNvPr id="11" name="Shape 9"/>
          <p:cNvSpPr/>
          <p:nvPr/>
        </p:nvSpPr>
        <p:spPr>
          <a:xfrm>
            <a:off x="10335097" y="428854"/>
            <a:ext cx="82296" cy="82296"/>
          </a:xfrm>
          <a:prstGeom prst="ellipse">
            <a:avLst/>
          </a:prstGeom>
          <a:solidFill>
            <a:srgbClr val="C3CCD9"/>
          </a:solidFill>
          <a:ln w="12700">
            <a:solidFill>
              <a:srgbClr val="C3CCD9"/>
            </a:solidFill>
            <a:prstDash val="solid"/>
          </a:ln>
        </p:spPr>
      </p:sp>
      <p:sp>
        <p:nvSpPr>
          <p:cNvPr id="12" name="Shape 10"/>
          <p:cNvSpPr/>
          <p:nvPr/>
        </p:nvSpPr>
        <p:spPr>
          <a:xfrm>
            <a:off x="10599725" y="919886"/>
            <a:ext cx="73152" cy="73152"/>
          </a:xfrm>
          <a:prstGeom prst="ellipse">
            <a:avLst/>
          </a:prstGeom>
          <a:solidFill>
            <a:srgbClr val="C3CCD9"/>
          </a:solidFill>
          <a:ln w="12700">
            <a:solidFill>
              <a:srgbClr val="C3CCD9"/>
            </a:solidFill>
            <a:prstDash val="solid"/>
          </a:ln>
        </p:spPr>
      </p:sp>
      <p:sp>
        <p:nvSpPr>
          <p:cNvPr id="13" name="Shape 11"/>
          <p:cNvSpPr/>
          <p:nvPr/>
        </p:nvSpPr>
        <p:spPr>
          <a:xfrm>
            <a:off x="10806379" y="507492"/>
            <a:ext cx="237744" cy="237744"/>
          </a:xfrm>
          <a:prstGeom prst="ellipse">
            <a:avLst/>
          </a:prstGeom>
          <a:solidFill>
            <a:srgbClr val="E0533A">
              <a:alpha val="18000"/>
            </a:srgbClr>
          </a:solidFill>
          <a:ln w="12700">
            <a:solidFill>
              <a:srgbClr val="E0533A">
                <a:alpha val="18000"/>
              </a:srgbClr>
            </a:solidFill>
            <a:prstDash val="solid"/>
          </a:ln>
        </p:spPr>
      </p:sp>
      <p:sp>
        <p:nvSpPr>
          <p:cNvPr id="14" name="Shape 12"/>
          <p:cNvSpPr/>
          <p:nvPr/>
        </p:nvSpPr>
        <p:spPr>
          <a:xfrm>
            <a:off x="10874959" y="576072"/>
            <a:ext cx="100584" cy="100584"/>
          </a:xfrm>
          <a:prstGeom prst="ellipse">
            <a:avLst/>
          </a:prstGeom>
          <a:solidFill>
            <a:srgbClr val="E0533A"/>
          </a:solidFill>
          <a:ln w="12700">
            <a:solidFill>
              <a:srgbClr val="E0533A"/>
            </a:solidFill>
            <a:prstDash val="solid"/>
          </a:ln>
        </p:spPr>
      </p:sp>
      <p:sp>
        <p:nvSpPr>
          <p:cNvPr id="15" name="Shape 13"/>
          <p:cNvSpPr/>
          <p:nvPr/>
        </p:nvSpPr>
        <p:spPr>
          <a:xfrm>
            <a:off x="11144159" y="1036930"/>
            <a:ext cx="82296" cy="82296"/>
          </a:xfrm>
          <a:prstGeom prst="ellipse">
            <a:avLst/>
          </a:prstGeom>
          <a:solidFill>
            <a:srgbClr val="C3CCD9"/>
          </a:solidFill>
          <a:ln w="12700">
            <a:solidFill>
              <a:srgbClr val="C3CCD9"/>
            </a:solidFill>
            <a:prstDash val="solid"/>
          </a:ln>
        </p:spPr>
      </p:sp>
      <p:sp>
        <p:nvSpPr>
          <p:cNvPr id="16" name="Shape 14"/>
          <p:cNvSpPr/>
          <p:nvPr/>
        </p:nvSpPr>
        <p:spPr>
          <a:xfrm>
            <a:off x="11427805" y="490118"/>
            <a:ext cx="64008" cy="64008"/>
          </a:xfrm>
          <a:prstGeom prst="ellipse">
            <a:avLst/>
          </a:prstGeom>
          <a:solidFill>
            <a:srgbClr val="C3CCD9"/>
          </a:solidFill>
          <a:ln w="12700">
            <a:solidFill>
              <a:srgbClr val="C3CCD9"/>
            </a:solidFill>
            <a:prstDash val="solid"/>
          </a:ln>
        </p:spPr>
      </p:sp>
      <p:sp>
        <p:nvSpPr>
          <p:cNvPr id="17" name="Shape 15"/>
          <p:cNvSpPr/>
          <p:nvPr/>
        </p:nvSpPr>
        <p:spPr>
          <a:xfrm>
            <a:off x="11331245" y="816102"/>
            <a:ext cx="54864" cy="54864"/>
          </a:xfrm>
          <a:prstGeom prst="ellipse">
            <a:avLst/>
          </a:prstGeom>
          <a:solidFill>
            <a:srgbClr val="C3CCD9"/>
          </a:solidFill>
          <a:ln w="12700">
            <a:solidFill>
              <a:srgbClr val="C3CCD9"/>
            </a:solidFill>
            <a:prstDash val="solid"/>
          </a:ln>
        </p:spPr>
      </p:sp>
      <p:sp>
        <p:nvSpPr>
          <p:cNvPr id="18" name="Text 16"/>
          <p:cNvSpPr txBox="1"/>
          <p:nvPr/>
        </p:nvSpPr>
        <p:spPr>
          <a:xfrm>
            <a:off x="685800" y="475488"/>
            <a:ext cx="10820095" cy="256032"/>
          </a:xfrm>
          <a:prstGeom prst="rect">
            <a:avLst/>
          </a:prstGeom>
          <a:noFill/>
          <a:ln/>
        </p:spPr>
        <p:txBody>
          <a:bodyPr wrap="square" lIns="0" tIns="0" rIns="0" bIns="0" rtlCol="0" anchor="t"/>
          <a:lstStyle/>
          <a:p>
            <a:pPr indent="0" marL="0">
              <a:buNone/>
            </a:pPr>
            <a:r>
              <a:rPr lang="en-US" sz="1100" b="1" dirty="0">
                <a:solidFill>
                  <a:srgbClr val="E0533A"/>
                </a:solidFill>
                <a:latin typeface="Arial" pitchFamily="34" charset="0"/>
                <a:ea typeface="Arial" pitchFamily="34" charset="-122"/>
                <a:cs typeface="Arial" pitchFamily="34" charset="-120"/>
              </a:rPr>
              <a:t>02 · DATA &amp; METHOD</a:t>
            </a:r>
            <a:endParaRPr lang="en-US" sz="1100" dirty="0"/>
          </a:p>
        </p:txBody>
      </p:sp>
      <p:sp>
        <p:nvSpPr>
          <p:cNvPr id="19" name="Text 17"/>
          <p:cNvSpPr txBox="1"/>
          <p:nvPr/>
        </p:nvSpPr>
        <p:spPr>
          <a:xfrm>
            <a:off x="685800" y="768096"/>
            <a:ext cx="10820095" cy="822960"/>
          </a:xfrm>
          <a:prstGeom prst="rect">
            <a:avLst/>
          </a:prstGeom>
          <a:noFill/>
          <a:ln/>
        </p:spPr>
        <p:txBody>
          <a:bodyPr wrap="square" lIns="0" tIns="0" rIns="0" bIns="0" rtlCol="0" anchor="t"/>
          <a:lstStyle/>
          <a:p>
            <a:pPr indent="0" marL="0">
              <a:buNone/>
            </a:pPr>
            <a:r>
              <a:rPr lang="en-US" sz="3000" dirty="0">
                <a:solidFill>
                  <a:srgbClr val="0F1B2D"/>
                </a:solidFill>
                <a:latin typeface="Georgia" pitchFamily="34" charset="0"/>
                <a:ea typeface="Georgia" pitchFamily="34" charset="-122"/>
                <a:cs typeface="Georgia" pitchFamily="34" charset="-120"/>
              </a:rPr>
              <a:t>Three experiments, fifteen models, five seeds</a:t>
            </a:r>
            <a:endParaRPr lang="en-US" sz="3000" dirty="0"/>
          </a:p>
        </p:txBody>
      </p:sp>
      <p:sp>
        <p:nvSpPr>
          <p:cNvPr id="20" name="Shape 18"/>
          <p:cNvSpPr/>
          <p:nvPr/>
        </p:nvSpPr>
        <p:spPr>
          <a:xfrm>
            <a:off x="685800" y="1828800"/>
            <a:ext cx="3423818" cy="2194560"/>
          </a:xfrm>
          <a:prstGeom prst="roundRect">
            <a:avLst>
              <a:gd name="adj" fmla="val 2500"/>
            </a:avLst>
          </a:prstGeom>
          <a:solidFill>
            <a:srgbClr val="F4F6F9"/>
          </a:solidFill>
          <a:ln w="12700">
            <a:solidFill>
              <a:srgbClr val="F4F6F9"/>
            </a:solidFill>
            <a:prstDash val="solid"/>
          </a:ln>
        </p:spPr>
      </p:sp>
      <p:sp>
        <p:nvSpPr>
          <p:cNvPr id="21" name="Text 19"/>
          <p:cNvSpPr txBox="1"/>
          <p:nvPr/>
        </p:nvSpPr>
        <p:spPr>
          <a:xfrm>
            <a:off x="1005840" y="2084832"/>
            <a:ext cx="2783738" cy="256032"/>
          </a:xfrm>
          <a:prstGeom prst="rect">
            <a:avLst/>
          </a:prstGeom>
          <a:noFill/>
          <a:ln/>
        </p:spPr>
        <p:txBody>
          <a:bodyPr wrap="square" lIns="0" tIns="0" rIns="0" bIns="0" rtlCol="0" anchor="t"/>
          <a:lstStyle/>
          <a:p>
            <a:pPr indent="0" marL="0">
              <a:buNone/>
            </a:pPr>
            <a:r>
              <a:rPr lang="en-US" sz="1000" b="1" dirty="0">
                <a:solidFill>
                  <a:srgbClr val="E0533A"/>
                </a:solidFill>
                <a:latin typeface="Arial" pitchFamily="34" charset="0"/>
                <a:ea typeface="Arial" pitchFamily="34" charset="-122"/>
                <a:cs typeface="Arial" pitchFamily="34" charset="-120"/>
              </a:rPr>
              <a:t>REPLICATION</a:t>
            </a:r>
            <a:endParaRPr lang="en-US" sz="1000" dirty="0"/>
          </a:p>
        </p:txBody>
      </p:sp>
      <p:sp>
        <p:nvSpPr>
          <p:cNvPr id="22" name="Text 20"/>
          <p:cNvSpPr txBox="1"/>
          <p:nvPr/>
        </p:nvSpPr>
        <p:spPr>
          <a:xfrm>
            <a:off x="1005840" y="2377440"/>
            <a:ext cx="2783738" cy="411480"/>
          </a:xfrm>
          <a:prstGeom prst="rect">
            <a:avLst/>
          </a:prstGeom>
          <a:noFill/>
          <a:ln/>
        </p:spPr>
        <p:txBody>
          <a:bodyPr wrap="square" lIns="0" tIns="0" rIns="0" bIns="0" rtlCol="0" anchor="t"/>
          <a:lstStyle/>
          <a:p>
            <a:pPr indent="0" marL="0">
              <a:buNone/>
            </a:pPr>
            <a:r>
              <a:rPr lang="en-US" sz="2000" dirty="0">
                <a:solidFill>
                  <a:srgbClr val="0F1B2D"/>
                </a:solidFill>
                <a:latin typeface="Georgia" pitchFamily="34" charset="0"/>
                <a:ea typeface="Georgia" pitchFamily="34" charset="-122"/>
                <a:cs typeface="Georgia" pitchFamily="34" charset="-120"/>
              </a:rPr>
              <a:t>Paper protocol</a:t>
            </a:r>
            <a:endParaRPr lang="en-US" sz="2000" dirty="0"/>
          </a:p>
        </p:txBody>
      </p:sp>
      <p:sp>
        <p:nvSpPr>
          <p:cNvPr id="23" name="Text 21"/>
          <p:cNvSpPr txBox="1"/>
          <p:nvPr/>
        </p:nvSpPr>
        <p:spPr>
          <a:xfrm>
            <a:off x="1005840" y="2834640"/>
            <a:ext cx="2783738" cy="731520"/>
          </a:xfrm>
          <a:prstGeom prst="rect">
            <a:avLst/>
          </a:prstGeom>
          <a:noFill/>
          <a:ln/>
        </p:spPr>
        <p:txBody>
          <a:bodyPr wrap="square" lIns="0" tIns="0" rIns="0" bIns="0" rtlCol="0" anchor="t"/>
          <a:lstStyle/>
          <a:p>
            <a:pPr indent="0" marL="0">
              <a:buNone/>
            </a:pPr>
            <a:r>
              <a:rPr lang="en-US" sz="1250" dirty="0">
                <a:solidFill>
                  <a:srgbClr val="55606E"/>
                </a:solidFill>
                <a:latin typeface="Arial" pitchFamily="34" charset="0"/>
                <a:ea typeface="Arial" pitchFamily="34" charset="-122"/>
                <a:cs typeface="Arial" pitchFamily="34" charset="-120"/>
              </a:rPr>
              <a:t>Exactly the published pipeline: balance the data, then split</a:t>
            </a:r>
            <a:endParaRPr lang="en-US" sz="1250" dirty="0"/>
          </a:p>
        </p:txBody>
      </p:sp>
      <p:sp>
        <p:nvSpPr>
          <p:cNvPr id="24" name="Shape 22"/>
          <p:cNvSpPr/>
          <p:nvPr/>
        </p:nvSpPr>
        <p:spPr>
          <a:xfrm>
            <a:off x="1005840" y="3547872"/>
            <a:ext cx="1325880" cy="310896"/>
          </a:xfrm>
          <a:prstGeom prst="roundRect">
            <a:avLst>
              <a:gd name="adj" fmla="val 23529"/>
            </a:avLst>
          </a:prstGeom>
          <a:solidFill>
            <a:srgbClr val="FFFFFF"/>
          </a:solidFill>
          <a:ln w="12700">
            <a:solidFill>
              <a:srgbClr val="FFFFFF"/>
            </a:solidFill>
            <a:prstDash val="solid"/>
          </a:ln>
        </p:spPr>
      </p:sp>
      <p:sp>
        <p:nvSpPr>
          <p:cNvPr id="25" name="Text 23"/>
          <p:cNvSpPr txBox="1"/>
          <p:nvPr/>
        </p:nvSpPr>
        <p:spPr>
          <a:xfrm>
            <a:off x="1005840" y="3547872"/>
            <a:ext cx="1325880" cy="310896"/>
          </a:xfrm>
          <a:prstGeom prst="rect">
            <a:avLst/>
          </a:prstGeom>
          <a:noFill/>
          <a:ln/>
        </p:spPr>
        <p:txBody>
          <a:bodyPr wrap="square" lIns="0" tIns="0" rIns="0" bIns="0" rtlCol="0" anchor="ctr"/>
          <a:lstStyle/>
          <a:p>
            <a:pPr algn="ctr" indent="0" marL="0">
              <a:buNone/>
            </a:pPr>
            <a:r>
              <a:rPr lang="en-US" sz="1050" b="1" dirty="0">
                <a:solidFill>
                  <a:srgbClr val="0F1B2D"/>
                </a:solidFill>
                <a:latin typeface="Arial" pitchFamily="34" charset="0"/>
                <a:ea typeface="Arial" pitchFamily="34" charset="-122"/>
                <a:cs typeface="Arial" pitchFamily="34" charset="-120"/>
              </a:rPr>
              <a:t>Benign vs APT</a:t>
            </a:r>
            <a:endParaRPr lang="en-US" sz="1050" dirty="0"/>
          </a:p>
        </p:txBody>
      </p:sp>
      <p:sp>
        <p:nvSpPr>
          <p:cNvPr id="26" name="Shape 24"/>
          <p:cNvSpPr/>
          <p:nvPr/>
        </p:nvSpPr>
        <p:spPr>
          <a:xfrm>
            <a:off x="4383938" y="1828800"/>
            <a:ext cx="3423818" cy="2194560"/>
          </a:xfrm>
          <a:prstGeom prst="roundRect">
            <a:avLst>
              <a:gd name="adj" fmla="val 2500"/>
            </a:avLst>
          </a:prstGeom>
          <a:solidFill>
            <a:srgbClr val="F4F6F9"/>
          </a:solidFill>
          <a:ln w="12700">
            <a:solidFill>
              <a:srgbClr val="F4F6F9"/>
            </a:solidFill>
            <a:prstDash val="solid"/>
          </a:ln>
        </p:spPr>
      </p:sp>
      <p:sp>
        <p:nvSpPr>
          <p:cNvPr id="27" name="Text 25"/>
          <p:cNvSpPr txBox="1"/>
          <p:nvPr/>
        </p:nvSpPr>
        <p:spPr>
          <a:xfrm>
            <a:off x="4703978" y="2084832"/>
            <a:ext cx="2783738" cy="256032"/>
          </a:xfrm>
          <a:prstGeom prst="rect">
            <a:avLst/>
          </a:prstGeom>
          <a:noFill/>
          <a:ln/>
        </p:spPr>
        <p:txBody>
          <a:bodyPr wrap="square" lIns="0" tIns="0" rIns="0" bIns="0" rtlCol="0" anchor="t"/>
          <a:lstStyle/>
          <a:p>
            <a:pPr indent="0" marL="0">
              <a:buNone/>
            </a:pPr>
            <a:r>
              <a:rPr lang="en-US" sz="1000" b="1" dirty="0">
                <a:solidFill>
                  <a:srgbClr val="1E8A5F"/>
                </a:solidFill>
                <a:latin typeface="Arial" pitchFamily="34" charset="0"/>
                <a:ea typeface="Arial" pitchFamily="34" charset="-122"/>
                <a:cs typeface="Arial" pitchFamily="34" charset="-120"/>
              </a:rPr>
              <a:t>CORRECTION</a:t>
            </a:r>
            <a:endParaRPr lang="en-US" sz="1000" dirty="0"/>
          </a:p>
        </p:txBody>
      </p:sp>
      <p:sp>
        <p:nvSpPr>
          <p:cNvPr id="28" name="Text 26"/>
          <p:cNvSpPr txBox="1"/>
          <p:nvPr/>
        </p:nvSpPr>
        <p:spPr>
          <a:xfrm>
            <a:off x="4703978" y="2377440"/>
            <a:ext cx="2783738" cy="411480"/>
          </a:xfrm>
          <a:prstGeom prst="rect">
            <a:avLst/>
          </a:prstGeom>
          <a:noFill/>
          <a:ln/>
        </p:spPr>
        <p:txBody>
          <a:bodyPr wrap="square" lIns="0" tIns="0" rIns="0" bIns="0" rtlCol="0" anchor="t"/>
          <a:lstStyle/>
          <a:p>
            <a:pPr indent="0" marL="0">
              <a:buNone/>
            </a:pPr>
            <a:r>
              <a:rPr lang="en-US" sz="2000" dirty="0">
                <a:solidFill>
                  <a:srgbClr val="0F1B2D"/>
                </a:solidFill>
                <a:latin typeface="Georgia" pitchFamily="34" charset="0"/>
                <a:ea typeface="Georgia" pitchFamily="34" charset="-122"/>
                <a:cs typeface="Georgia" pitchFamily="34" charset="-120"/>
              </a:rPr>
              <a:t>Leakage-free protocol</a:t>
            </a:r>
            <a:endParaRPr lang="en-US" sz="2000" dirty="0"/>
          </a:p>
        </p:txBody>
      </p:sp>
      <p:sp>
        <p:nvSpPr>
          <p:cNvPr id="29" name="Text 27"/>
          <p:cNvSpPr txBox="1"/>
          <p:nvPr/>
        </p:nvSpPr>
        <p:spPr>
          <a:xfrm>
            <a:off x="4703978" y="2834640"/>
            <a:ext cx="2783738" cy="731520"/>
          </a:xfrm>
          <a:prstGeom prst="rect">
            <a:avLst/>
          </a:prstGeom>
          <a:noFill/>
          <a:ln/>
        </p:spPr>
        <p:txBody>
          <a:bodyPr wrap="square" lIns="0" tIns="0" rIns="0" bIns="0" rtlCol="0" anchor="t"/>
          <a:lstStyle/>
          <a:p>
            <a:pPr indent="0" marL="0">
              <a:buNone/>
            </a:pPr>
            <a:r>
              <a:rPr lang="en-US" sz="1250" dirty="0">
                <a:solidFill>
                  <a:srgbClr val="55606E"/>
                </a:solidFill>
                <a:latin typeface="Arial" pitchFamily="34" charset="0"/>
                <a:ea typeface="Arial" pitchFamily="34" charset="-122"/>
                <a:cs typeface="Arial" pitchFamily="34" charset="-120"/>
              </a:rPr>
              <a:t>Split first, balance the training data only; repeated over 5 random seeds</a:t>
            </a:r>
            <a:endParaRPr lang="en-US" sz="1250" dirty="0"/>
          </a:p>
        </p:txBody>
      </p:sp>
      <p:sp>
        <p:nvSpPr>
          <p:cNvPr id="30" name="Shape 28"/>
          <p:cNvSpPr/>
          <p:nvPr/>
        </p:nvSpPr>
        <p:spPr>
          <a:xfrm>
            <a:off x="4703978" y="3547872"/>
            <a:ext cx="1325880" cy="310896"/>
          </a:xfrm>
          <a:prstGeom prst="roundRect">
            <a:avLst>
              <a:gd name="adj" fmla="val 23529"/>
            </a:avLst>
          </a:prstGeom>
          <a:solidFill>
            <a:srgbClr val="FFFFFF"/>
          </a:solidFill>
          <a:ln w="12700">
            <a:solidFill>
              <a:srgbClr val="FFFFFF"/>
            </a:solidFill>
            <a:prstDash val="solid"/>
          </a:ln>
        </p:spPr>
      </p:sp>
      <p:sp>
        <p:nvSpPr>
          <p:cNvPr id="31" name="Text 29"/>
          <p:cNvSpPr txBox="1"/>
          <p:nvPr/>
        </p:nvSpPr>
        <p:spPr>
          <a:xfrm>
            <a:off x="4703978" y="3547872"/>
            <a:ext cx="1325880" cy="310896"/>
          </a:xfrm>
          <a:prstGeom prst="rect">
            <a:avLst/>
          </a:prstGeom>
          <a:noFill/>
          <a:ln/>
        </p:spPr>
        <p:txBody>
          <a:bodyPr wrap="square" lIns="0" tIns="0" rIns="0" bIns="0" rtlCol="0" anchor="ctr"/>
          <a:lstStyle/>
          <a:p>
            <a:pPr algn="ctr" indent="0" marL="0">
              <a:buNone/>
            </a:pPr>
            <a:r>
              <a:rPr lang="en-US" sz="1050" b="1" dirty="0">
                <a:solidFill>
                  <a:srgbClr val="0F1B2D"/>
                </a:solidFill>
                <a:latin typeface="Arial" pitchFamily="34" charset="0"/>
                <a:ea typeface="Arial" pitchFamily="34" charset="-122"/>
                <a:cs typeface="Arial" pitchFamily="34" charset="-120"/>
              </a:rPr>
              <a:t>Benign vs APT</a:t>
            </a:r>
            <a:endParaRPr lang="en-US" sz="1050" dirty="0"/>
          </a:p>
        </p:txBody>
      </p:sp>
      <p:sp>
        <p:nvSpPr>
          <p:cNvPr id="32" name="Shape 30"/>
          <p:cNvSpPr/>
          <p:nvPr/>
        </p:nvSpPr>
        <p:spPr>
          <a:xfrm>
            <a:off x="8082077" y="1828800"/>
            <a:ext cx="3423818" cy="2194560"/>
          </a:xfrm>
          <a:prstGeom prst="roundRect">
            <a:avLst>
              <a:gd name="adj" fmla="val 2500"/>
            </a:avLst>
          </a:prstGeom>
          <a:solidFill>
            <a:srgbClr val="F4F6F9"/>
          </a:solidFill>
          <a:ln w="12700">
            <a:solidFill>
              <a:srgbClr val="F4F6F9"/>
            </a:solidFill>
            <a:prstDash val="solid"/>
          </a:ln>
        </p:spPr>
      </p:sp>
      <p:sp>
        <p:nvSpPr>
          <p:cNvPr id="33" name="Text 31"/>
          <p:cNvSpPr txBox="1"/>
          <p:nvPr/>
        </p:nvSpPr>
        <p:spPr>
          <a:xfrm>
            <a:off x="8402117" y="2084832"/>
            <a:ext cx="2783738" cy="256032"/>
          </a:xfrm>
          <a:prstGeom prst="rect">
            <a:avLst/>
          </a:prstGeom>
          <a:noFill/>
          <a:ln/>
        </p:spPr>
        <p:txBody>
          <a:bodyPr wrap="square" lIns="0" tIns="0" rIns="0" bIns="0" rtlCol="0" anchor="t"/>
          <a:lstStyle/>
          <a:p>
            <a:pPr indent="0" marL="0">
              <a:buNone/>
            </a:pPr>
            <a:r>
              <a:rPr lang="en-US" sz="1000" b="1" dirty="0">
                <a:solidFill>
                  <a:srgbClr val="2A78D6"/>
                </a:solidFill>
                <a:latin typeface="Arial" pitchFamily="34" charset="0"/>
                <a:ea typeface="Arial" pitchFamily="34" charset="-122"/>
                <a:cs typeface="Arial" pitchFamily="34" charset="-120"/>
              </a:rPr>
              <a:t>EXTENSION</a:t>
            </a:r>
            <a:endParaRPr lang="en-US" sz="1000" dirty="0"/>
          </a:p>
        </p:txBody>
      </p:sp>
      <p:sp>
        <p:nvSpPr>
          <p:cNvPr id="34" name="Text 32"/>
          <p:cNvSpPr txBox="1"/>
          <p:nvPr/>
        </p:nvSpPr>
        <p:spPr>
          <a:xfrm>
            <a:off x="8402117" y="2377440"/>
            <a:ext cx="2783738" cy="411480"/>
          </a:xfrm>
          <a:prstGeom prst="rect">
            <a:avLst/>
          </a:prstGeom>
          <a:noFill/>
          <a:ln/>
        </p:spPr>
        <p:txBody>
          <a:bodyPr wrap="square" lIns="0" tIns="0" rIns="0" bIns="0" rtlCol="0" anchor="t"/>
          <a:lstStyle/>
          <a:p>
            <a:pPr indent="0" marL="0">
              <a:buNone/>
            </a:pPr>
            <a:r>
              <a:rPr lang="en-US" sz="2000" dirty="0">
                <a:solidFill>
                  <a:srgbClr val="0F1B2D"/>
                </a:solidFill>
                <a:latin typeface="Georgia" pitchFamily="34" charset="0"/>
                <a:ea typeface="Georgia" pitchFamily="34" charset="-122"/>
                <a:cs typeface="Georgia" pitchFamily="34" charset="-120"/>
              </a:rPr>
              <a:t>APT-stage classification</a:t>
            </a:r>
            <a:endParaRPr lang="en-US" sz="2000" dirty="0"/>
          </a:p>
        </p:txBody>
      </p:sp>
      <p:sp>
        <p:nvSpPr>
          <p:cNvPr id="35" name="Text 33"/>
          <p:cNvSpPr txBox="1"/>
          <p:nvPr/>
        </p:nvSpPr>
        <p:spPr>
          <a:xfrm>
            <a:off x="8402117" y="2834640"/>
            <a:ext cx="2783738" cy="731520"/>
          </a:xfrm>
          <a:prstGeom prst="rect">
            <a:avLst/>
          </a:prstGeom>
          <a:noFill/>
          <a:ln/>
        </p:spPr>
        <p:txBody>
          <a:bodyPr wrap="square" lIns="0" tIns="0" rIns="0" bIns="0" rtlCol="0" anchor="t"/>
          <a:lstStyle/>
          <a:p>
            <a:pPr indent="0" marL="0">
              <a:buNone/>
            </a:pPr>
            <a:r>
              <a:rPr lang="en-US" sz="1250" dirty="0">
                <a:solidFill>
                  <a:srgbClr val="55606E"/>
                </a:solidFill>
                <a:latin typeface="Arial" pitchFamily="34" charset="0"/>
                <a:ea typeface="Arial" pitchFamily="34" charset="-122"/>
                <a:cs typeface="Arial" pitchFamily="34" charset="-120"/>
              </a:rPr>
              <a:t>Predict the stage of every flow, leakage-free, which the paper's datasets cannot support</a:t>
            </a:r>
            <a:endParaRPr lang="en-US" sz="1250" dirty="0"/>
          </a:p>
        </p:txBody>
      </p:sp>
      <p:sp>
        <p:nvSpPr>
          <p:cNvPr id="36" name="Shape 34"/>
          <p:cNvSpPr/>
          <p:nvPr/>
        </p:nvSpPr>
        <p:spPr>
          <a:xfrm>
            <a:off x="8402117" y="3547872"/>
            <a:ext cx="1325880" cy="310896"/>
          </a:xfrm>
          <a:prstGeom prst="roundRect">
            <a:avLst>
              <a:gd name="adj" fmla="val 23529"/>
            </a:avLst>
          </a:prstGeom>
          <a:solidFill>
            <a:srgbClr val="FFFFFF"/>
          </a:solidFill>
          <a:ln w="12700">
            <a:solidFill>
              <a:srgbClr val="FFFFFF"/>
            </a:solidFill>
            <a:prstDash val="solid"/>
          </a:ln>
        </p:spPr>
      </p:sp>
      <p:sp>
        <p:nvSpPr>
          <p:cNvPr id="37" name="Text 35"/>
          <p:cNvSpPr txBox="1"/>
          <p:nvPr/>
        </p:nvSpPr>
        <p:spPr>
          <a:xfrm>
            <a:off x="8402117" y="3547872"/>
            <a:ext cx="1325880" cy="310896"/>
          </a:xfrm>
          <a:prstGeom prst="rect">
            <a:avLst/>
          </a:prstGeom>
          <a:noFill/>
          <a:ln/>
        </p:spPr>
        <p:txBody>
          <a:bodyPr wrap="square" lIns="0" tIns="0" rIns="0" bIns="0" rtlCol="0" anchor="ctr"/>
          <a:lstStyle/>
          <a:p>
            <a:pPr algn="ctr" indent="0" marL="0">
              <a:buNone/>
            </a:pPr>
            <a:r>
              <a:rPr lang="en-US" sz="1050" b="1" dirty="0">
                <a:solidFill>
                  <a:srgbClr val="0F1B2D"/>
                </a:solidFill>
                <a:latin typeface="Arial" pitchFamily="34" charset="0"/>
                <a:ea typeface="Arial" pitchFamily="34" charset="-122"/>
                <a:cs typeface="Arial" pitchFamily="34" charset="-120"/>
              </a:rPr>
              <a:t>5 classes</a:t>
            </a:r>
            <a:endParaRPr lang="en-US" sz="1050" dirty="0"/>
          </a:p>
        </p:txBody>
      </p:sp>
      <p:sp>
        <p:nvSpPr>
          <p:cNvPr id="38" name="Shape 36"/>
          <p:cNvSpPr/>
          <p:nvPr/>
        </p:nvSpPr>
        <p:spPr>
          <a:xfrm>
            <a:off x="685800" y="4343400"/>
            <a:ext cx="10820095" cy="914"/>
          </a:xfrm>
          <a:prstGeom prst="line">
            <a:avLst/>
          </a:prstGeom>
          <a:noFill/>
          <a:ln w="9525">
            <a:solidFill>
              <a:srgbClr val="E2E6EC"/>
            </a:solidFill>
            <a:prstDash val="solid"/>
          </a:ln>
        </p:spPr>
      </p:sp>
      <p:sp>
        <p:nvSpPr>
          <p:cNvPr id="39" name="Text 37"/>
          <p:cNvSpPr txBox="1"/>
          <p:nvPr/>
        </p:nvSpPr>
        <p:spPr>
          <a:xfrm>
            <a:off x="685800" y="4553712"/>
            <a:ext cx="3423818" cy="256032"/>
          </a:xfrm>
          <a:prstGeom prst="rect">
            <a:avLst/>
          </a:prstGeom>
          <a:noFill/>
          <a:ln/>
        </p:spPr>
        <p:txBody>
          <a:bodyPr wrap="square" lIns="0" tIns="0" rIns="0" bIns="0" rtlCol="0" anchor="t"/>
          <a:lstStyle/>
          <a:p>
            <a:pPr indent="0" marL="0">
              <a:buNone/>
            </a:pPr>
            <a:r>
              <a:rPr lang="en-US" sz="1000" b="1" dirty="0">
                <a:solidFill>
                  <a:srgbClr val="8A94A3"/>
                </a:solidFill>
                <a:latin typeface="Arial" pitchFamily="34" charset="0"/>
                <a:ea typeface="Arial" pitchFamily="34" charset="-122"/>
                <a:cs typeface="Arial" pitchFamily="34" charset="-120"/>
              </a:rPr>
              <a:t>PROPOSED</a:t>
            </a:r>
            <a:endParaRPr lang="en-US" sz="1000" dirty="0"/>
          </a:p>
        </p:txBody>
      </p:sp>
      <p:sp>
        <p:nvSpPr>
          <p:cNvPr id="40" name="Text 38"/>
          <p:cNvSpPr txBox="1"/>
          <p:nvPr/>
        </p:nvSpPr>
        <p:spPr>
          <a:xfrm>
            <a:off x="685800" y="4846320"/>
            <a:ext cx="3332378" cy="1234440"/>
          </a:xfrm>
          <a:prstGeom prst="rect">
            <a:avLst/>
          </a:prstGeom>
          <a:noFill/>
          <a:ln/>
        </p:spPr>
        <p:txBody>
          <a:bodyPr wrap="square" lIns="0" tIns="0" rIns="0" bIns="0" rtlCol="0" anchor="t"/>
          <a:lstStyle/>
          <a:p>
            <a:pPr indent="0" marL="0">
              <a:buNone/>
            </a:pPr>
            <a:r>
              <a:rPr lang="en-US" sz="1250" dirty="0">
                <a:solidFill>
                  <a:srgbClr val="0F1B2D"/>
                </a:solidFill>
                <a:latin typeface="Arial" pitchFamily="34" charset="0"/>
                <a:ea typeface="Arial" pitchFamily="34" charset="-122"/>
                <a:cs typeface="Arial" pitchFamily="34" charset="-120"/>
              </a:rPr>
              <a:t>Hybrid RF + XGBoost (OR rule, as published)</a:t>
            </a:r>
            <a:endParaRPr lang="en-US" sz="1250" dirty="0"/>
          </a:p>
          <a:p>
            <a:pPr indent="0" marL="0">
              <a:buNone/>
            </a:pPr>
            <a:r>
              <a:rPr lang="en-US" sz="1250" dirty="0">
                <a:solidFill>
                  <a:srgbClr val="0F1B2D"/>
                </a:solidFill>
                <a:latin typeface="Arial" pitchFamily="34" charset="0"/>
                <a:ea typeface="Arial" pitchFamily="34" charset="-122"/>
                <a:cs typeface="Arial" pitchFamily="34" charset="-120"/>
              </a:rPr>
              <a:t>Hybrid, soft-vote variant</a:t>
            </a:r>
            <a:endParaRPr lang="en-US" sz="1250" dirty="0"/>
          </a:p>
        </p:txBody>
      </p:sp>
      <p:sp>
        <p:nvSpPr>
          <p:cNvPr id="41" name="Text 39"/>
          <p:cNvSpPr txBox="1"/>
          <p:nvPr/>
        </p:nvSpPr>
        <p:spPr>
          <a:xfrm>
            <a:off x="4383938" y="4553712"/>
            <a:ext cx="3423818" cy="256032"/>
          </a:xfrm>
          <a:prstGeom prst="rect">
            <a:avLst/>
          </a:prstGeom>
          <a:noFill/>
          <a:ln/>
        </p:spPr>
        <p:txBody>
          <a:bodyPr wrap="square" lIns="0" tIns="0" rIns="0" bIns="0" rtlCol="0" anchor="t"/>
          <a:lstStyle/>
          <a:p>
            <a:pPr indent="0" marL="0">
              <a:buNone/>
            </a:pPr>
            <a:r>
              <a:rPr lang="en-US" sz="1000" b="1" dirty="0">
                <a:solidFill>
                  <a:srgbClr val="8A94A3"/>
                </a:solidFill>
                <a:latin typeface="Arial" pitchFamily="34" charset="0"/>
                <a:ea typeface="Arial" pitchFamily="34" charset="-122"/>
                <a:cs typeface="Arial" pitchFamily="34" charset="-120"/>
              </a:rPr>
              <a:t>CLASSICAL MACHINE LEARNING</a:t>
            </a:r>
            <a:endParaRPr lang="en-US" sz="1000" dirty="0"/>
          </a:p>
        </p:txBody>
      </p:sp>
      <p:sp>
        <p:nvSpPr>
          <p:cNvPr id="42" name="Text 40"/>
          <p:cNvSpPr txBox="1"/>
          <p:nvPr/>
        </p:nvSpPr>
        <p:spPr>
          <a:xfrm>
            <a:off x="4383938" y="4846320"/>
            <a:ext cx="3332378" cy="1234440"/>
          </a:xfrm>
          <a:prstGeom prst="rect">
            <a:avLst/>
          </a:prstGeom>
          <a:noFill/>
          <a:ln/>
        </p:spPr>
        <p:txBody>
          <a:bodyPr wrap="square" lIns="0" tIns="0" rIns="0" bIns="0" rtlCol="0" anchor="t"/>
          <a:lstStyle/>
          <a:p>
            <a:pPr indent="0" marL="0">
              <a:buNone/>
            </a:pPr>
            <a:r>
              <a:rPr lang="en-US" sz="1250" dirty="0">
                <a:solidFill>
                  <a:srgbClr val="0F1B2D"/>
                </a:solidFill>
                <a:latin typeface="Arial" pitchFamily="34" charset="0"/>
                <a:ea typeface="Arial" pitchFamily="34" charset="-122"/>
                <a:cs typeface="Arial" pitchFamily="34" charset="-120"/>
              </a:rPr>
              <a:t>KNN · Decision tree · SVM · Kernel SVM · Random forest · XGBoost · Gradient boosting · AdaBoost · Naive Bayes · Logistic regression</a:t>
            </a:r>
            <a:endParaRPr lang="en-US" sz="1250" dirty="0"/>
          </a:p>
        </p:txBody>
      </p:sp>
      <p:sp>
        <p:nvSpPr>
          <p:cNvPr id="43" name="Text 41"/>
          <p:cNvSpPr txBox="1"/>
          <p:nvPr/>
        </p:nvSpPr>
        <p:spPr>
          <a:xfrm>
            <a:off x="8082077" y="4553712"/>
            <a:ext cx="3423818" cy="256032"/>
          </a:xfrm>
          <a:prstGeom prst="rect">
            <a:avLst/>
          </a:prstGeom>
          <a:noFill/>
          <a:ln/>
        </p:spPr>
        <p:txBody>
          <a:bodyPr wrap="square" lIns="0" tIns="0" rIns="0" bIns="0" rtlCol="0" anchor="t"/>
          <a:lstStyle/>
          <a:p>
            <a:pPr indent="0" marL="0">
              <a:buNone/>
            </a:pPr>
            <a:r>
              <a:rPr lang="en-US" sz="1000" b="1" dirty="0">
                <a:solidFill>
                  <a:srgbClr val="8A94A3"/>
                </a:solidFill>
                <a:latin typeface="Arial" pitchFamily="34" charset="0"/>
                <a:ea typeface="Arial" pitchFamily="34" charset="-122"/>
                <a:cs typeface="Arial" pitchFamily="34" charset="-120"/>
              </a:rPr>
              <a:t>DEEP LEARNING</a:t>
            </a:r>
            <a:endParaRPr lang="en-US" sz="1000" dirty="0"/>
          </a:p>
        </p:txBody>
      </p:sp>
      <p:sp>
        <p:nvSpPr>
          <p:cNvPr id="44" name="Text 42"/>
          <p:cNvSpPr txBox="1"/>
          <p:nvPr/>
        </p:nvSpPr>
        <p:spPr>
          <a:xfrm>
            <a:off x="8082077" y="4846320"/>
            <a:ext cx="3332378" cy="1234440"/>
          </a:xfrm>
          <a:prstGeom prst="rect">
            <a:avLst/>
          </a:prstGeom>
          <a:noFill/>
          <a:ln/>
        </p:spPr>
        <p:txBody>
          <a:bodyPr wrap="square" lIns="0" tIns="0" rIns="0" bIns="0" rtlCol="0" anchor="t"/>
          <a:lstStyle/>
          <a:p>
            <a:pPr indent="0" marL="0">
              <a:buNone/>
            </a:pPr>
            <a:r>
              <a:rPr lang="en-US" sz="1250" dirty="0">
                <a:solidFill>
                  <a:srgbClr val="0F1B2D"/>
                </a:solidFill>
                <a:latin typeface="Arial" pitchFamily="34" charset="0"/>
                <a:ea typeface="Arial" pitchFamily="34" charset="-122"/>
                <a:cs typeface="Arial" pitchFamily="34" charset="-120"/>
              </a:rPr>
              <a:t>CNN · ANN · MLP, trained on the GPU for up to 200 epochs with early stopping</a:t>
            </a:r>
            <a:endParaRPr lang="en-US" sz="1250" dirty="0"/>
          </a:p>
        </p:txBody>
      </p:sp>
      <p:sp>
        <p:nvSpPr>
          <p:cNvPr id="45" name="Text 43"/>
          <p:cNvSpPr txBox="1"/>
          <p:nvPr/>
        </p:nvSpPr>
        <p:spPr>
          <a:xfrm>
            <a:off x="685800" y="6400800"/>
            <a:ext cx="7315200" cy="228600"/>
          </a:xfrm>
          <a:prstGeom prst="rect">
            <a:avLst/>
          </a:prstGeom>
          <a:noFill/>
          <a:ln/>
        </p:spPr>
        <p:txBody>
          <a:bodyPr wrap="square" lIns="0" tIns="0" rIns="0" bIns="0" rtlCol="0" anchor="t"/>
          <a:lstStyle/>
          <a:p>
            <a:pPr indent="0" marL="0">
              <a:buNone/>
            </a:pPr>
            <a:r>
              <a:rPr lang="en-US" sz="900" dirty="0">
                <a:solidFill>
                  <a:srgbClr val="8A94A3"/>
                </a:solidFill>
                <a:latin typeface="Arial" pitchFamily="34" charset="0"/>
                <a:ea typeface="Arial" pitchFamily="34" charset="-122"/>
                <a:cs typeface="Arial" pitchFamily="34" charset="-120"/>
              </a:rPr>
              <a:t>Anomaly detection for Advanced Persistent Threats   |   Mid-term evaluation</a:t>
            </a:r>
            <a:endParaRPr lang="en-US" sz="900" dirty="0"/>
          </a:p>
        </p:txBody>
      </p:sp>
      <p:sp>
        <p:nvSpPr>
          <p:cNvPr id="46" name="Text 44"/>
          <p:cNvSpPr txBox="1"/>
          <p:nvPr/>
        </p:nvSpPr>
        <p:spPr>
          <a:xfrm>
            <a:off x="10591495" y="6400800"/>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351387" y="1163854"/>
            <a:ext cx="20285" cy="558501"/>
          </a:xfrm>
          <a:prstGeom prst="line">
            <a:avLst/>
          </a:prstGeom>
          <a:noFill/>
          <a:ln w="9525">
            <a:solidFill>
              <a:srgbClr val="2C3E5C"/>
            </a:solidFill>
            <a:prstDash val="solid"/>
          </a:ln>
        </p:spPr>
      </p:sp>
      <p:sp>
        <p:nvSpPr>
          <p:cNvPr id="3" name="Shape 1"/>
          <p:cNvSpPr/>
          <p:nvPr/>
        </p:nvSpPr>
        <p:spPr>
          <a:xfrm flipH="1">
            <a:off x="6820618" y="1163854"/>
            <a:ext cx="530769" cy="299396"/>
          </a:xfrm>
          <a:prstGeom prst="line">
            <a:avLst/>
          </a:prstGeom>
          <a:noFill/>
          <a:ln w="12700">
            <a:solidFill>
              <a:srgbClr val="E0533A">
                <a:alpha val="55000"/>
              </a:srgbClr>
            </a:solidFill>
            <a:prstDash val="solid"/>
          </a:ln>
        </p:spPr>
      </p:sp>
      <p:sp>
        <p:nvSpPr>
          <p:cNvPr id="4" name="Shape 2"/>
          <p:cNvSpPr/>
          <p:nvPr/>
        </p:nvSpPr>
        <p:spPr>
          <a:xfrm>
            <a:off x="9174218" y="1030487"/>
            <a:ext cx="108778" cy="797620"/>
          </a:xfrm>
          <a:prstGeom prst="line">
            <a:avLst/>
          </a:prstGeom>
          <a:noFill/>
          <a:ln w="9525">
            <a:solidFill>
              <a:srgbClr val="2C3E5C"/>
            </a:solidFill>
            <a:prstDash val="solid"/>
          </a:ln>
        </p:spPr>
      </p:sp>
      <p:sp>
        <p:nvSpPr>
          <p:cNvPr id="5" name="Shape 3"/>
          <p:cNvSpPr/>
          <p:nvPr/>
        </p:nvSpPr>
        <p:spPr>
          <a:xfrm flipH="1">
            <a:off x="8899852" y="1030487"/>
            <a:ext cx="274366" cy="880036"/>
          </a:xfrm>
          <a:prstGeom prst="line">
            <a:avLst/>
          </a:prstGeom>
          <a:noFill/>
          <a:ln w="9525">
            <a:solidFill>
              <a:srgbClr val="2C3E5C"/>
            </a:solidFill>
            <a:prstDash val="solid"/>
          </a:ln>
        </p:spPr>
      </p:sp>
      <p:sp>
        <p:nvSpPr>
          <p:cNvPr id="6" name="Shape 4"/>
          <p:cNvSpPr/>
          <p:nvPr/>
        </p:nvSpPr>
        <p:spPr>
          <a:xfrm>
            <a:off x="10719002" y="944060"/>
            <a:ext cx="342546" cy="512115"/>
          </a:xfrm>
          <a:prstGeom prst="line">
            <a:avLst/>
          </a:prstGeom>
          <a:noFill/>
          <a:ln w="9525">
            <a:solidFill>
              <a:srgbClr val="2C3E5C"/>
            </a:solidFill>
            <a:prstDash val="solid"/>
          </a:ln>
        </p:spPr>
      </p:sp>
      <p:sp>
        <p:nvSpPr>
          <p:cNvPr id="7" name="Shape 5"/>
          <p:cNvSpPr/>
          <p:nvPr/>
        </p:nvSpPr>
        <p:spPr>
          <a:xfrm flipH="1">
            <a:off x="10127273" y="944060"/>
            <a:ext cx="591729" cy="465048"/>
          </a:xfrm>
          <a:prstGeom prst="line">
            <a:avLst/>
          </a:prstGeom>
          <a:noFill/>
          <a:ln w="9525">
            <a:solidFill>
              <a:srgbClr val="2C3E5C"/>
            </a:solidFill>
            <a:prstDash val="solid"/>
          </a:ln>
        </p:spPr>
      </p:sp>
      <p:sp>
        <p:nvSpPr>
          <p:cNvPr id="8" name="Shape 6"/>
          <p:cNvSpPr/>
          <p:nvPr/>
        </p:nvSpPr>
        <p:spPr>
          <a:xfrm flipH="1">
            <a:off x="11061548" y="1070891"/>
            <a:ext cx="405297" cy="385284"/>
          </a:xfrm>
          <a:prstGeom prst="line">
            <a:avLst/>
          </a:prstGeom>
          <a:noFill/>
          <a:ln w="9525">
            <a:solidFill>
              <a:srgbClr val="2C3E5C"/>
            </a:solidFill>
            <a:prstDash val="solid"/>
          </a:ln>
        </p:spPr>
      </p:sp>
      <p:sp>
        <p:nvSpPr>
          <p:cNvPr id="9" name="Shape 7"/>
          <p:cNvSpPr/>
          <p:nvPr/>
        </p:nvSpPr>
        <p:spPr>
          <a:xfrm>
            <a:off x="10719002" y="944060"/>
            <a:ext cx="747843" cy="126831"/>
          </a:xfrm>
          <a:prstGeom prst="line">
            <a:avLst/>
          </a:prstGeom>
          <a:noFill/>
          <a:ln w="9525">
            <a:solidFill>
              <a:srgbClr val="2C3E5C"/>
            </a:solidFill>
            <a:prstDash val="solid"/>
          </a:ln>
        </p:spPr>
      </p:sp>
      <p:sp>
        <p:nvSpPr>
          <p:cNvPr id="10" name="Shape 8"/>
          <p:cNvSpPr/>
          <p:nvPr/>
        </p:nvSpPr>
        <p:spPr>
          <a:xfrm>
            <a:off x="6820618" y="1463249"/>
            <a:ext cx="551054" cy="259106"/>
          </a:xfrm>
          <a:prstGeom prst="line">
            <a:avLst/>
          </a:prstGeom>
          <a:noFill/>
          <a:ln w="12700">
            <a:solidFill>
              <a:srgbClr val="E0533A">
                <a:alpha val="55000"/>
              </a:srgbClr>
            </a:solidFill>
            <a:prstDash val="solid"/>
          </a:ln>
        </p:spPr>
      </p:sp>
      <p:sp>
        <p:nvSpPr>
          <p:cNvPr id="11" name="Shape 9"/>
          <p:cNvSpPr/>
          <p:nvPr/>
        </p:nvSpPr>
        <p:spPr>
          <a:xfrm flipV="1">
            <a:off x="8899852" y="1828107"/>
            <a:ext cx="383144" cy="82416"/>
          </a:xfrm>
          <a:prstGeom prst="line">
            <a:avLst/>
          </a:prstGeom>
          <a:noFill/>
          <a:ln w="9525">
            <a:solidFill>
              <a:srgbClr val="2C3E5C"/>
            </a:solidFill>
            <a:prstDash val="solid"/>
          </a:ln>
        </p:spPr>
      </p:sp>
      <p:sp>
        <p:nvSpPr>
          <p:cNvPr id="12" name="Shape 10"/>
          <p:cNvSpPr/>
          <p:nvPr/>
        </p:nvSpPr>
        <p:spPr>
          <a:xfrm flipH="1">
            <a:off x="8562466" y="1910524"/>
            <a:ext cx="337386" cy="384192"/>
          </a:xfrm>
          <a:prstGeom prst="line">
            <a:avLst/>
          </a:prstGeom>
          <a:noFill/>
          <a:ln w="9525">
            <a:solidFill>
              <a:srgbClr val="2C3E5C"/>
            </a:solidFill>
            <a:prstDash val="solid"/>
          </a:ln>
        </p:spPr>
      </p:sp>
      <p:sp>
        <p:nvSpPr>
          <p:cNvPr id="13" name="Shape 11"/>
          <p:cNvSpPr/>
          <p:nvPr/>
        </p:nvSpPr>
        <p:spPr>
          <a:xfrm>
            <a:off x="10127273" y="1409107"/>
            <a:ext cx="934275" cy="47067"/>
          </a:xfrm>
          <a:prstGeom prst="line">
            <a:avLst/>
          </a:prstGeom>
          <a:noFill/>
          <a:ln w="9525">
            <a:solidFill>
              <a:srgbClr val="2C3E5C"/>
            </a:solidFill>
            <a:prstDash val="solid"/>
          </a:ln>
        </p:spPr>
      </p:sp>
      <p:sp>
        <p:nvSpPr>
          <p:cNvPr id="14" name="Shape 12"/>
          <p:cNvSpPr/>
          <p:nvPr/>
        </p:nvSpPr>
        <p:spPr>
          <a:xfrm>
            <a:off x="6614901" y="2776206"/>
            <a:ext cx="770234" cy="102833"/>
          </a:xfrm>
          <a:prstGeom prst="line">
            <a:avLst/>
          </a:prstGeom>
          <a:noFill/>
          <a:ln w="9525">
            <a:solidFill>
              <a:srgbClr val="2C3E5C"/>
            </a:solidFill>
            <a:prstDash val="solid"/>
          </a:ln>
        </p:spPr>
      </p:sp>
      <p:sp>
        <p:nvSpPr>
          <p:cNvPr id="15" name="Shape 13"/>
          <p:cNvSpPr/>
          <p:nvPr/>
        </p:nvSpPr>
        <p:spPr>
          <a:xfrm flipH="1">
            <a:off x="6470015" y="2776206"/>
            <a:ext cx="144886" cy="966822"/>
          </a:xfrm>
          <a:prstGeom prst="line">
            <a:avLst/>
          </a:prstGeom>
          <a:noFill/>
          <a:ln w="12700">
            <a:solidFill>
              <a:srgbClr val="E0533A">
                <a:alpha val="55000"/>
              </a:srgbClr>
            </a:solidFill>
            <a:prstDash val="solid"/>
          </a:ln>
        </p:spPr>
      </p:sp>
      <p:sp>
        <p:nvSpPr>
          <p:cNvPr id="16" name="Shape 14"/>
          <p:cNvSpPr/>
          <p:nvPr/>
        </p:nvSpPr>
        <p:spPr>
          <a:xfrm>
            <a:off x="7385135" y="2879038"/>
            <a:ext cx="539756" cy="797478"/>
          </a:xfrm>
          <a:prstGeom prst="line">
            <a:avLst/>
          </a:prstGeom>
          <a:noFill/>
          <a:ln w="9525">
            <a:solidFill>
              <a:srgbClr val="2C3E5C"/>
            </a:solidFill>
            <a:prstDash val="solid"/>
          </a:ln>
        </p:spPr>
      </p:sp>
      <p:sp>
        <p:nvSpPr>
          <p:cNvPr id="17" name="Shape 15"/>
          <p:cNvSpPr/>
          <p:nvPr/>
        </p:nvSpPr>
        <p:spPr>
          <a:xfrm flipH="1">
            <a:off x="8562466" y="1828107"/>
            <a:ext cx="720530" cy="466608"/>
          </a:xfrm>
          <a:prstGeom prst="line">
            <a:avLst/>
          </a:prstGeom>
          <a:noFill/>
          <a:ln w="9525">
            <a:solidFill>
              <a:srgbClr val="2C3E5C"/>
            </a:solidFill>
            <a:prstDash val="solid"/>
          </a:ln>
        </p:spPr>
      </p:sp>
      <p:sp>
        <p:nvSpPr>
          <p:cNvPr id="18" name="Shape 16"/>
          <p:cNvSpPr/>
          <p:nvPr/>
        </p:nvSpPr>
        <p:spPr>
          <a:xfrm>
            <a:off x="9305560" y="2834396"/>
            <a:ext cx="175373" cy="271443"/>
          </a:xfrm>
          <a:prstGeom prst="line">
            <a:avLst/>
          </a:prstGeom>
          <a:noFill/>
          <a:ln w="9525">
            <a:solidFill>
              <a:srgbClr val="2C3E5C"/>
            </a:solidFill>
            <a:prstDash val="solid"/>
          </a:ln>
        </p:spPr>
      </p:sp>
      <p:sp>
        <p:nvSpPr>
          <p:cNvPr id="19" name="Shape 17"/>
          <p:cNvSpPr/>
          <p:nvPr/>
        </p:nvSpPr>
        <p:spPr>
          <a:xfrm>
            <a:off x="8562466" y="2294716"/>
            <a:ext cx="743094" cy="539680"/>
          </a:xfrm>
          <a:prstGeom prst="line">
            <a:avLst/>
          </a:prstGeom>
          <a:noFill/>
          <a:ln w="9525">
            <a:solidFill>
              <a:srgbClr val="2C3E5C"/>
            </a:solidFill>
            <a:prstDash val="solid"/>
          </a:ln>
        </p:spPr>
      </p:sp>
      <p:sp>
        <p:nvSpPr>
          <p:cNvPr id="20" name="Shape 18"/>
          <p:cNvSpPr/>
          <p:nvPr/>
        </p:nvSpPr>
        <p:spPr>
          <a:xfrm>
            <a:off x="11331086" y="2821397"/>
            <a:ext cx="242455" cy="392882"/>
          </a:xfrm>
          <a:prstGeom prst="line">
            <a:avLst/>
          </a:prstGeom>
          <a:noFill/>
          <a:ln w="9525">
            <a:solidFill>
              <a:srgbClr val="2C3E5C"/>
            </a:solidFill>
            <a:prstDash val="solid"/>
          </a:ln>
        </p:spPr>
      </p:sp>
      <p:sp>
        <p:nvSpPr>
          <p:cNvPr id="21" name="Shape 19"/>
          <p:cNvSpPr/>
          <p:nvPr/>
        </p:nvSpPr>
        <p:spPr>
          <a:xfrm>
            <a:off x="11061548" y="1456175"/>
            <a:ext cx="269538" cy="1365222"/>
          </a:xfrm>
          <a:prstGeom prst="line">
            <a:avLst/>
          </a:prstGeom>
          <a:noFill/>
          <a:ln w="9525">
            <a:solidFill>
              <a:srgbClr val="2C3E5C"/>
            </a:solidFill>
            <a:prstDash val="solid"/>
          </a:ln>
        </p:spPr>
      </p:sp>
      <p:sp>
        <p:nvSpPr>
          <p:cNvPr id="22" name="Shape 20"/>
          <p:cNvSpPr/>
          <p:nvPr/>
        </p:nvSpPr>
        <p:spPr>
          <a:xfrm>
            <a:off x="6470015" y="3743027"/>
            <a:ext cx="267439" cy="670222"/>
          </a:xfrm>
          <a:prstGeom prst="line">
            <a:avLst/>
          </a:prstGeom>
          <a:noFill/>
          <a:ln w="12700">
            <a:solidFill>
              <a:srgbClr val="E0533A">
                <a:alpha val="55000"/>
              </a:srgbClr>
            </a:solidFill>
            <a:prstDash val="solid"/>
          </a:ln>
        </p:spPr>
      </p:sp>
      <p:sp>
        <p:nvSpPr>
          <p:cNvPr id="23" name="Shape 21"/>
          <p:cNvSpPr/>
          <p:nvPr/>
        </p:nvSpPr>
        <p:spPr>
          <a:xfrm>
            <a:off x="7924891" y="3676517"/>
            <a:ext cx="442636" cy="607324"/>
          </a:xfrm>
          <a:prstGeom prst="line">
            <a:avLst/>
          </a:prstGeom>
          <a:noFill/>
          <a:ln w="9525">
            <a:solidFill>
              <a:srgbClr val="2C3E5C"/>
            </a:solidFill>
            <a:prstDash val="solid"/>
          </a:ln>
        </p:spPr>
      </p:sp>
      <p:sp>
        <p:nvSpPr>
          <p:cNvPr id="24" name="Shape 22"/>
          <p:cNvSpPr/>
          <p:nvPr/>
        </p:nvSpPr>
        <p:spPr>
          <a:xfrm flipV="1">
            <a:off x="7924891" y="3639407"/>
            <a:ext cx="756407" cy="37109"/>
          </a:xfrm>
          <a:prstGeom prst="line">
            <a:avLst/>
          </a:prstGeom>
          <a:noFill/>
          <a:ln w="9525">
            <a:solidFill>
              <a:srgbClr val="2C3E5C"/>
            </a:solidFill>
            <a:prstDash val="solid"/>
          </a:ln>
        </p:spPr>
      </p:sp>
      <p:sp>
        <p:nvSpPr>
          <p:cNvPr id="25" name="Shape 23"/>
          <p:cNvSpPr/>
          <p:nvPr/>
        </p:nvSpPr>
        <p:spPr>
          <a:xfrm flipH="1">
            <a:off x="8367527" y="3639407"/>
            <a:ext cx="313771" cy="644433"/>
          </a:xfrm>
          <a:prstGeom prst="line">
            <a:avLst/>
          </a:prstGeom>
          <a:noFill/>
          <a:ln w="9525">
            <a:solidFill>
              <a:srgbClr val="2C3E5C"/>
            </a:solidFill>
            <a:prstDash val="solid"/>
          </a:ln>
        </p:spPr>
      </p:sp>
      <p:sp>
        <p:nvSpPr>
          <p:cNvPr id="26" name="Shape 24"/>
          <p:cNvSpPr/>
          <p:nvPr/>
        </p:nvSpPr>
        <p:spPr>
          <a:xfrm>
            <a:off x="9480933" y="3105839"/>
            <a:ext cx="568020" cy="598560"/>
          </a:xfrm>
          <a:prstGeom prst="line">
            <a:avLst/>
          </a:prstGeom>
          <a:noFill/>
          <a:ln w="9525">
            <a:solidFill>
              <a:srgbClr val="2C3E5C"/>
            </a:solidFill>
            <a:prstDash val="solid"/>
          </a:ln>
        </p:spPr>
      </p:sp>
      <p:sp>
        <p:nvSpPr>
          <p:cNvPr id="27" name="Shape 25"/>
          <p:cNvSpPr/>
          <p:nvPr/>
        </p:nvSpPr>
        <p:spPr>
          <a:xfrm>
            <a:off x="10048953" y="3704399"/>
            <a:ext cx="117371" cy="409213"/>
          </a:xfrm>
          <a:prstGeom prst="line">
            <a:avLst/>
          </a:prstGeom>
          <a:noFill/>
          <a:ln w="9525">
            <a:solidFill>
              <a:srgbClr val="2C3E5C"/>
            </a:solidFill>
            <a:prstDash val="solid"/>
          </a:ln>
        </p:spPr>
      </p:sp>
      <p:sp>
        <p:nvSpPr>
          <p:cNvPr id="28" name="Shape 26"/>
          <p:cNvSpPr/>
          <p:nvPr/>
        </p:nvSpPr>
        <p:spPr>
          <a:xfrm flipH="1">
            <a:off x="11230515" y="3214279"/>
            <a:ext cx="343026" cy="1009888"/>
          </a:xfrm>
          <a:prstGeom prst="line">
            <a:avLst/>
          </a:prstGeom>
          <a:noFill/>
          <a:ln w="9525">
            <a:solidFill>
              <a:srgbClr val="2C3E5C"/>
            </a:solidFill>
            <a:prstDash val="solid"/>
          </a:ln>
        </p:spPr>
      </p:sp>
      <p:sp>
        <p:nvSpPr>
          <p:cNvPr id="29" name="Shape 27"/>
          <p:cNvSpPr/>
          <p:nvPr/>
        </p:nvSpPr>
        <p:spPr>
          <a:xfrm>
            <a:off x="6737454" y="4413249"/>
            <a:ext cx="89460" cy="1083477"/>
          </a:xfrm>
          <a:prstGeom prst="line">
            <a:avLst/>
          </a:prstGeom>
          <a:noFill/>
          <a:ln w="9525">
            <a:solidFill>
              <a:srgbClr val="2C3E5C"/>
            </a:solidFill>
            <a:prstDash val="solid"/>
          </a:ln>
        </p:spPr>
      </p:sp>
      <p:sp>
        <p:nvSpPr>
          <p:cNvPr id="30" name="Shape 28"/>
          <p:cNvSpPr/>
          <p:nvPr/>
        </p:nvSpPr>
        <p:spPr>
          <a:xfrm>
            <a:off x="10166324" y="4113612"/>
            <a:ext cx="1064191" cy="110554"/>
          </a:xfrm>
          <a:prstGeom prst="line">
            <a:avLst/>
          </a:prstGeom>
          <a:noFill/>
          <a:ln w="9525">
            <a:solidFill>
              <a:srgbClr val="2C3E5C"/>
            </a:solidFill>
            <a:prstDash val="solid"/>
          </a:ln>
        </p:spPr>
      </p:sp>
      <p:sp>
        <p:nvSpPr>
          <p:cNvPr id="31" name="Shape 29"/>
          <p:cNvSpPr/>
          <p:nvPr/>
        </p:nvSpPr>
        <p:spPr>
          <a:xfrm flipV="1">
            <a:off x="6826914" y="5362052"/>
            <a:ext cx="615581" cy="134674"/>
          </a:xfrm>
          <a:prstGeom prst="line">
            <a:avLst/>
          </a:prstGeom>
          <a:noFill/>
          <a:ln w="9525">
            <a:solidFill>
              <a:srgbClr val="2C3E5C"/>
            </a:solidFill>
            <a:prstDash val="solid"/>
          </a:ln>
        </p:spPr>
      </p:sp>
      <p:sp>
        <p:nvSpPr>
          <p:cNvPr id="32" name="Shape 30"/>
          <p:cNvSpPr/>
          <p:nvPr/>
        </p:nvSpPr>
        <p:spPr>
          <a:xfrm>
            <a:off x="6826914" y="5496727"/>
            <a:ext cx="842535" cy="382840"/>
          </a:xfrm>
          <a:prstGeom prst="line">
            <a:avLst/>
          </a:prstGeom>
          <a:noFill/>
          <a:ln w="9525">
            <a:solidFill>
              <a:srgbClr val="2C3E5C"/>
            </a:solidFill>
            <a:prstDash val="solid"/>
          </a:ln>
        </p:spPr>
      </p:sp>
      <p:sp>
        <p:nvSpPr>
          <p:cNvPr id="33" name="Shape 31"/>
          <p:cNvSpPr/>
          <p:nvPr/>
        </p:nvSpPr>
        <p:spPr>
          <a:xfrm>
            <a:off x="7442495" y="5362052"/>
            <a:ext cx="226954" cy="517514"/>
          </a:xfrm>
          <a:prstGeom prst="line">
            <a:avLst/>
          </a:prstGeom>
          <a:noFill/>
          <a:ln w="9525">
            <a:solidFill>
              <a:srgbClr val="2C3E5C"/>
            </a:solidFill>
            <a:prstDash val="solid"/>
          </a:ln>
        </p:spPr>
      </p:sp>
      <p:sp>
        <p:nvSpPr>
          <p:cNvPr id="34" name="Shape 32"/>
          <p:cNvSpPr/>
          <p:nvPr/>
        </p:nvSpPr>
        <p:spPr>
          <a:xfrm>
            <a:off x="8848683" y="4881217"/>
            <a:ext cx="627598" cy="431747"/>
          </a:xfrm>
          <a:prstGeom prst="line">
            <a:avLst/>
          </a:prstGeom>
          <a:noFill/>
          <a:ln w="9525">
            <a:solidFill>
              <a:srgbClr val="2C3E5C"/>
            </a:solidFill>
            <a:prstDash val="solid"/>
          </a:ln>
        </p:spPr>
      </p:sp>
      <p:sp>
        <p:nvSpPr>
          <p:cNvPr id="35" name="Shape 33"/>
          <p:cNvSpPr/>
          <p:nvPr/>
        </p:nvSpPr>
        <p:spPr>
          <a:xfrm>
            <a:off x="8367527" y="4283840"/>
            <a:ext cx="481155" cy="597377"/>
          </a:xfrm>
          <a:prstGeom prst="line">
            <a:avLst/>
          </a:prstGeom>
          <a:noFill/>
          <a:ln w="9525">
            <a:solidFill>
              <a:srgbClr val="2C3E5C"/>
            </a:solidFill>
            <a:prstDash val="solid"/>
          </a:ln>
        </p:spPr>
      </p:sp>
      <p:sp>
        <p:nvSpPr>
          <p:cNvPr id="36" name="Shape 34"/>
          <p:cNvSpPr/>
          <p:nvPr/>
        </p:nvSpPr>
        <p:spPr>
          <a:xfrm flipH="1">
            <a:off x="9345420" y="5312964"/>
            <a:ext cx="130860" cy="372637"/>
          </a:xfrm>
          <a:prstGeom prst="line">
            <a:avLst/>
          </a:prstGeom>
          <a:noFill/>
          <a:ln w="9525">
            <a:solidFill>
              <a:srgbClr val="2C3E5C"/>
            </a:solidFill>
            <a:prstDash val="solid"/>
          </a:ln>
        </p:spPr>
      </p:sp>
      <p:sp>
        <p:nvSpPr>
          <p:cNvPr id="37" name="Shape 35"/>
          <p:cNvSpPr/>
          <p:nvPr/>
        </p:nvSpPr>
        <p:spPr>
          <a:xfrm flipV="1">
            <a:off x="7669449" y="5815828"/>
            <a:ext cx="711013" cy="63739"/>
          </a:xfrm>
          <a:prstGeom prst="line">
            <a:avLst/>
          </a:prstGeom>
          <a:noFill/>
          <a:ln w="9525">
            <a:solidFill>
              <a:srgbClr val="2C3E5C"/>
            </a:solidFill>
            <a:prstDash val="solid"/>
          </a:ln>
        </p:spPr>
      </p:sp>
      <p:sp>
        <p:nvSpPr>
          <p:cNvPr id="38" name="Shape 36"/>
          <p:cNvSpPr/>
          <p:nvPr/>
        </p:nvSpPr>
        <p:spPr>
          <a:xfrm flipV="1">
            <a:off x="8380462" y="5685601"/>
            <a:ext cx="964958" cy="130227"/>
          </a:xfrm>
          <a:prstGeom prst="line">
            <a:avLst/>
          </a:prstGeom>
          <a:noFill/>
          <a:ln w="9525">
            <a:solidFill>
              <a:srgbClr val="2C3E5C"/>
            </a:solidFill>
            <a:prstDash val="solid"/>
          </a:ln>
        </p:spPr>
      </p:sp>
      <p:sp>
        <p:nvSpPr>
          <p:cNvPr id="39" name="Shape 37"/>
          <p:cNvSpPr/>
          <p:nvPr/>
        </p:nvSpPr>
        <p:spPr>
          <a:xfrm>
            <a:off x="8848683" y="4881217"/>
            <a:ext cx="496738" cy="804384"/>
          </a:xfrm>
          <a:prstGeom prst="line">
            <a:avLst/>
          </a:prstGeom>
          <a:noFill/>
          <a:ln w="9525">
            <a:solidFill>
              <a:srgbClr val="2C3E5C"/>
            </a:solidFill>
            <a:prstDash val="solid"/>
          </a:ln>
        </p:spPr>
      </p:sp>
      <p:sp>
        <p:nvSpPr>
          <p:cNvPr id="40" name="Shape 38"/>
          <p:cNvSpPr/>
          <p:nvPr/>
        </p:nvSpPr>
        <p:spPr>
          <a:xfrm>
            <a:off x="11230515" y="4224167"/>
            <a:ext cx="121713" cy="1871978"/>
          </a:xfrm>
          <a:prstGeom prst="line">
            <a:avLst/>
          </a:prstGeom>
          <a:noFill/>
          <a:ln w="9525">
            <a:solidFill>
              <a:srgbClr val="2C3E5C"/>
            </a:solidFill>
            <a:prstDash val="solid"/>
          </a:ln>
        </p:spPr>
      </p:sp>
      <p:sp>
        <p:nvSpPr>
          <p:cNvPr id="41" name="Shape 39"/>
          <p:cNvSpPr/>
          <p:nvPr/>
        </p:nvSpPr>
        <p:spPr>
          <a:xfrm>
            <a:off x="9476280" y="5312964"/>
            <a:ext cx="1875947" cy="783180"/>
          </a:xfrm>
          <a:prstGeom prst="line">
            <a:avLst/>
          </a:prstGeom>
          <a:noFill/>
          <a:ln w="9525">
            <a:solidFill>
              <a:srgbClr val="2C3E5C"/>
            </a:solidFill>
            <a:prstDash val="solid"/>
          </a:ln>
        </p:spPr>
      </p:sp>
      <p:sp>
        <p:nvSpPr>
          <p:cNvPr id="42" name="Shape 40"/>
          <p:cNvSpPr/>
          <p:nvPr/>
        </p:nvSpPr>
        <p:spPr>
          <a:xfrm>
            <a:off x="7308150" y="1120616"/>
            <a:ext cx="86475" cy="86475"/>
          </a:xfrm>
          <a:prstGeom prst="ellipse">
            <a:avLst/>
          </a:prstGeom>
          <a:solidFill>
            <a:srgbClr val="4B6388"/>
          </a:solidFill>
          <a:ln w="12700">
            <a:solidFill>
              <a:srgbClr val="4B6388"/>
            </a:solidFill>
            <a:prstDash val="solid"/>
          </a:ln>
        </p:spPr>
      </p:sp>
      <p:sp>
        <p:nvSpPr>
          <p:cNvPr id="43" name="Shape 41"/>
          <p:cNvSpPr/>
          <p:nvPr/>
        </p:nvSpPr>
        <p:spPr>
          <a:xfrm>
            <a:off x="9132228" y="988497"/>
            <a:ext cx="83981" cy="83981"/>
          </a:xfrm>
          <a:prstGeom prst="ellipse">
            <a:avLst/>
          </a:prstGeom>
          <a:solidFill>
            <a:srgbClr val="4B6388"/>
          </a:solidFill>
          <a:ln w="12700">
            <a:solidFill>
              <a:srgbClr val="4B6388"/>
            </a:solidFill>
            <a:prstDash val="solid"/>
          </a:ln>
        </p:spPr>
      </p:sp>
      <p:sp>
        <p:nvSpPr>
          <p:cNvPr id="44" name="Shape 42"/>
          <p:cNvSpPr/>
          <p:nvPr/>
        </p:nvSpPr>
        <p:spPr>
          <a:xfrm>
            <a:off x="10668007" y="893065"/>
            <a:ext cx="101989" cy="101989"/>
          </a:xfrm>
          <a:prstGeom prst="ellipse">
            <a:avLst/>
          </a:prstGeom>
          <a:solidFill>
            <a:srgbClr val="4B6388"/>
          </a:solidFill>
          <a:ln w="12700">
            <a:solidFill>
              <a:srgbClr val="4B6388"/>
            </a:solidFill>
            <a:prstDash val="solid"/>
          </a:ln>
        </p:spPr>
      </p:sp>
      <p:sp>
        <p:nvSpPr>
          <p:cNvPr id="45" name="Shape 43"/>
          <p:cNvSpPr/>
          <p:nvPr/>
        </p:nvSpPr>
        <p:spPr>
          <a:xfrm>
            <a:off x="11417968" y="1022014"/>
            <a:ext cx="97754" cy="97754"/>
          </a:xfrm>
          <a:prstGeom prst="ellipse">
            <a:avLst/>
          </a:prstGeom>
          <a:solidFill>
            <a:srgbClr val="4B6388"/>
          </a:solidFill>
          <a:ln w="12700">
            <a:solidFill>
              <a:srgbClr val="4B6388"/>
            </a:solidFill>
            <a:prstDash val="solid"/>
          </a:ln>
        </p:spPr>
      </p:sp>
      <p:sp>
        <p:nvSpPr>
          <p:cNvPr id="46" name="Shape 44"/>
          <p:cNvSpPr/>
          <p:nvPr/>
        </p:nvSpPr>
        <p:spPr>
          <a:xfrm>
            <a:off x="6601162" y="1243793"/>
            <a:ext cx="438912" cy="438912"/>
          </a:xfrm>
          <a:prstGeom prst="ellipse">
            <a:avLst/>
          </a:prstGeom>
          <a:solidFill>
            <a:srgbClr val="E0533A">
              <a:alpha val="20000"/>
            </a:srgbClr>
          </a:solidFill>
          <a:ln w="12700">
            <a:solidFill>
              <a:srgbClr val="E0533A">
                <a:alpha val="20000"/>
              </a:srgbClr>
            </a:solidFill>
            <a:prstDash val="solid"/>
          </a:ln>
        </p:spPr>
      </p:sp>
      <p:sp>
        <p:nvSpPr>
          <p:cNvPr id="47" name="Shape 45"/>
          <p:cNvSpPr/>
          <p:nvPr/>
        </p:nvSpPr>
        <p:spPr>
          <a:xfrm>
            <a:off x="6738322" y="1380953"/>
            <a:ext cx="164592" cy="164592"/>
          </a:xfrm>
          <a:prstGeom prst="ellipse">
            <a:avLst/>
          </a:prstGeom>
          <a:solidFill>
            <a:srgbClr val="E0533A"/>
          </a:solidFill>
          <a:ln w="12700">
            <a:solidFill>
              <a:srgbClr val="E0533A"/>
            </a:solidFill>
            <a:prstDash val="solid"/>
          </a:ln>
        </p:spPr>
      </p:sp>
      <p:sp>
        <p:nvSpPr>
          <p:cNvPr id="48" name="Shape 46"/>
          <p:cNvSpPr/>
          <p:nvPr/>
        </p:nvSpPr>
        <p:spPr>
          <a:xfrm>
            <a:off x="7335537" y="1686220"/>
            <a:ext cx="72271" cy="72271"/>
          </a:xfrm>
          <a:prstGeom prst="ellipse">
            <a:avLst/>
          </a:prstGeom>
          <a:solidFill>
            <a:srgbClr val="4B6388"/>
          </a:solidFill>
          <a:ln w="12700">
            <a:solidFill>
              <a:srgbClr val="4B6388"/>
            </a:solidFill>
            <a:prstDash val="solid"/>
          </a:ln>
        </p:spPr>
      </p:sp>
      <p:sp>
        <p:nvSpPr>
          <p:cNvPr id="49" name="Shape 47"/>
          <p:cNvSpPr/>
          <p:nvPr/>
        </p:nvSpPr>
        <p:spPr>
          <a:xfrm>
            <a:off x="8857362" y="1868034"/>
            <a:ext cx="84980" cy="84980"/>
          </a:xfrm>
          <a:prstGeom prst="ellipse">
            <a:avLst/>
          </a:prstGeom>
          <a:solidFill>
            <a:srgbClr val="4B6388"/>
          </a:solidFill>
          <a:ln w="12700">
            <a:solidFill>
              <a:srgbClr val="4B6388"/>
            </a:solidFill>
            <a:prstDash val="solid"/>
          </a:ln>
        </p:spPr>
      </p:sp>
      <p:sp>
        <p:nvSpPr>
          <p:cNvPr id="50" name="Shape 48"/>
          <p:cNvSpPr/>
          <p:nvPr/>
        </p:nvSpPr>
        <p:spPr>
          <a:xfrm>
            <a:off x="9237594" y="1782705"/>
            <a:ext cx="90805" cy="90805"/>
          </a:xfrm>
          <a:prstGeom prst="ellipse">
            <a:avLst/>
          </a:prstGeom>
          <a:solidFill>
            <a:srgbClr val="4B6388"/>
          </a:solidFill>
          <a:ln w="12700">
            <a:solidFill>
              <a:srgbClr val="4B6388"/>
            </a:solidFill>
            <a:prstDash val="solid"/>
          </a:ln>
        </p:spPr>
      </p:sp>
      <p:sp>
        <p:nvSpPr>
          <p:cNvPr id="51" name="Shape 49"/>
          <p:cNvSpPr/>
          <p:nvPr/>
        </p:nvSpPr>
        <p:spPr>
          <a:xfrm>
            <a:off x="10077691" y="1359525"/>
            <a:ext cx="99164" cy="99164"/>
          </a:xfrm>
          <a:prstGeom prst="ellipse">
            <a:avLst/>
          </a:prstGeom>
          <a:solidFill>
            <a:srgbClr val="4B6388"/>
          </a:solidFill>
          <a:ln w="12700">
            <a:solidFill>
              <a:srgbClr val="4B6388"/>
            </a:solidFill>
            <a:prstDash val="solid"/>
          </a:ln>
        </p:spPr>
      </p:sp>
      <p:sp>
        <p:nvSpPr>
          <p:cNvPr id="52" name="Shape 50"/>
          <p:cNvSpPr/>
          <p:nvPr/>
        </p:nvSpPr>
        <p:spPr>
          <a:xfrm>
            <a:off x="11017347" y="1411973"/>
            <a:ext cx="88403" cy="88403"/>
          </a:xfrm>
          <a:prstGeom prst="ellipse">
            <a:avLst/>
          </a:prstGeom>
          <a:solidFill>
            <a:srgbClr val="4B6388"/>
          </a:solidFill>
          <a:ln w="12700">
            <a:solidFill>
              <a:srgbClr val="4B6388"/>
            </a:solidFill>
            <a:prstDash val="solid"/>
          </a:ln>
        </p:spPr>
      </p:sp>
      <p:sp>
        <p:nvSpPr>
          <p:cNvPr id="53" name="Shape 51"/>
          <p:cNvSpPr/>
          <p:nvPr/>
        </p:nvSpPr>
        <p:spPr>
          <a:xfrm>
            <a:off x="6569065" y="2730370"/>
            <a:ext cx="91672" cy="91672"/>
          </a:xfrm>
          <a:prstGeom prst="ellipse">
            <a:avLst/>
          </a:prstGeom>
          <a:solidFill>
            <a:srgbClr val="4B6388"/>
          </a:solidFill>
          <a:ln w="12700">
            <a:solidFill>
              <a:srgbClr val="4B6388"/>
            </a:solidFill>
            <a:prstDash val="solid"/>
          </a:ln>
        </p:spPr>
      </p:sp>
      <p:sp>
        <p:nvSpPr>
          <p:cNvPr id="54" name="Shape 52"/>
          <p:cNvSpPr/>
          <p:nvPr/>
        </p:nvSpPr>
        <p:spPr>
          <a:xfrm>
            <a:off x="7344635" y="2838538"/>
            <a:ext cx="81000" cy="81000"/>
          </a:xfrm>
          <a:prstGeom prst="ellipse">
            <a:avLst/>
          </a:prstGeom>
          <a:solidFill>
            <a:srgbClr val="4B6388"/>
          </a:solidFill>
          <a:ln w="12700">
            <a:solidFill>
              <a:srgbClr val="4B6388"/>
            </a:solidFill>
            <a:prstDash val="solid"/>
          </a:ln>
        </p:spPr>
      </p:sp>
      <p:sp>
        <p:nvSpPr>
          <p:cNvPr id="55" name="Shape 53"/>
          <p:cNvSpPr/>
          <p:nvPr/>
        </p:nvSpPr>
        <p:spPr>
          <a:xfrm>
            <a:off x="8503594" y="2235843"/>
            <a:ext cx="117745" cy="117745"/>
          </a:xfrm>
          <a:prstGeom prst="ellipse">
            <a:avLst/>
          </a:prstGeom>
          <a:solidFill>
            <a:srgbClr val="4B6388"/>
          </a:solidFill>
          <a:ln w="12700">
            <a:solidFill>
              <a:srgbClr val="4B6388"/>
            </a:solidFill>
            <a:prstDash val="solid"/>
          </a:ln>
        </p:spPr>
      </p:sp>
      <p:sp>
        <p:nvSpPr>
          <p:cNvPr id="56" name="Shape 54"/>
          <p:cNvSpPr/>
          <p:nvPr/>
        </p:nvSpPr>
        <p:spPr>
          <a:xfrm>
            <a:off x="9258694" y="2787530"/>
            <a:ext cx="93732" cy="93732"/>
          </a:xfrm>
          <a:prstGeom prst="ellipse">
            <a:avLst/>
          </a:prstGeom>
          <a:solidFill>
            <a:srgbClr val="4B6388"/>
          </a:solidFill>
          <a:ln w="12700">
            <a:solidFill>
              <a:srgbClr val="4B6388"/>
            </a:solidFill>
            <a:prstDash val="solid"/>
          </a:ln>
        </p:spPr>
      </p:sp>
      <p:sp>
        <p:nvSpPr>
          <p:cNvPr id="57" name="Shape 55"/>
          <p:cNvSpPr/>
          <p:nvPr/>
        </p:nvSpPr>
        <p:spPr>
          <a:xfrm>
            <a:off x="11290307" y="2780618"/>
            <a:ext cx="81558" cy="81558"/>
          </a:xfrm>
          <a:prstGeom prst="ellipse">
            <a:avLst/>
          </a:prstGeom>
          <a:solidFill>
            <a:srgbClr val="4B6388"/>
          </a:solidFill>
          <a:ln w="12700">
            <a:solidFill>
              <a:srgbClr val="4B6388"/>
            </a:solidFill>
            <a:prstDash val="solid"/>
          </a:ln>
        </p:spPr>
      </p:sp>
      <p:sp>
        <p:nvSpPr>
          <p:cNvPr id="58" name="Shape 56"/>
          <p:cNvSpPr/>
          <p:nvPr/>
        </p:nvSpPr>
        <p:spPr>
          <a:xfrm>
            <a:off x="6250559" y="3523571"/>
            <a:ext cx="438912" cy="438912"/>
          </a:xfrm>
          <a:prstGeom prst="ellipse">
            <a:avLst/>
          </a:prstGeom>
          <a:solidFill>
            <a:srgbClr val="E0533A">
              <a:alpha val="20000"/>
            </a:srgbClr>
          </a:solidFill>
          <a:ln w="12700">
            <a:solidFill>
              <a:srgbClr val="E0533A">
                <a:alpha val="20000"/>
              </a:srgbClr>
            </a:solidFill>
            <a:prstDash val="solid"/>
          </a:ln>
        </p:spPr>
      </p:sp>
      <p:sp>
        <p:nvSpPr>
          <p:cNvPr id="59" name="Shape 57"/>
          <p:cNvSpPr/>
          <p:nvPr/>
        </p:nvSpPr>
        <p:spPr>
          <a:xfrm>
            <a:off x="6387719" y="3660731"/>
            <a:ext cx="164592" cy="164592"/>
          </a:xfrm>
          <a:prstGeom prst="ellipse">
            <a:avLst/>
          </a:prstGeom>
          <a:solidFill>
            <a:srgbClr val="E0533A"/>
          </a:solidFill>
          <a:ln w="12700">
            <a:solidFill>
              <a:srgbClr val="E0533A"/>
            </a:solidFill>
            <a:prstDash val="solid"/>
          </a:ln>
        </p:spPr>
      </p:sp>
      <p:sp>
        <p:nvSpPr>
          <p:cNvPr id="60" name="Shape 58"/>
          <p:cNvSpPr/>
          <p:nvPr/>
        </p:nvSpPr>
        <p:spPr>
          <a:xfrm>
            <a:off x="7889965" y="3641590"/>
            <a:ext cx="69853" cy="69853"/>
          </a:xfrm>
          <a:prstGeom prst="ellipse">
            <a:avLst/>
          </a:prstGeom>
          <a:solidFill>
            <a:srgbClr val="4B6388"/>
          </a:solidFill>
          <a:ln w="12700">
            <a:solidFill>
              <a:srgbClr val="4B6388"/>
            </a:solidFill>
            <a:prstDash val="solid"/>
          </a:ln>
        </p:spPr>
      </p:sp>
      <p:sp>
        <p:nvSpPr>
          <p:cNvPr id="61" name="Shape 59"/>
          <p:cNvSpPr/>
          <p:nvPr/>
        </p:nvSpPr>
        <p:spPr>
          <a:xfrm>
            <a:off x="8643474" y="3601583"/>
            <a:ext cx="75648" cy="75648"/>
          </a:xfrm>
          <a:prstGeom prst="ellipse">
            <a:avLst/>
          </a:prstGeom>
          <a:solidFill>
            <a:srgbClr val="4B6388"/>
          </a:solidFill>
          <a:ln w="12700">
            <a:solidFill>
              <a:srgbClr val="4B6388"/>
            </a:solidFill>
            <a:prstDash val="solid"/>
          </a:ln>
        </p:spPr>
      </p:sp>
      <p:sp>
        <p:nvSpPr>
          <p:cNvPr id="62" name="Shape 60"/>
          <p:cNvSpPr/>
          <p:nvPr/>
        </p:nvSpPr>
        <p:spPr>
          <a:xfrm>
            <a:off x="9422797" y="3047703"/>
            <a:ext cx="116271" cy="116271"/>
          </a:xfrm>
          <a:prstGeom prst="ellipse">
            <a:avLst/>
          </a:prstGeom>
          <a:solidFill>
            <a:srgbClr val="4B6388"/>
          </a:solidFill>
          <a:ln w="12700">
            <a:solidFill>
              <a:srgbClr val="4B6388"/>
            </a:solidFill>
            <a:prstDash val="solid"/>
          </a:ln>
        </p:spPr>
      </p:sp>
      <p:sp>
        <p:nvSpPr>
          <p:cNvPr id="63" name="Shape 61"/>
          <p:cNvSpPr/>
          <p:nvPr/>
        </p:nvSpPr>
        <p:spPr>
          <a:xfrm>
            <a:off x="10007317" y="3662764"/>
            <a:ext cx="83270" cy="83270"/>
          </a:xfrm>
          <a:prstGeom prst="ellipse">
            <a:avLst/>
          </a:prstGeom>
          <a:solidFill>
            <a:srgbClr val="4B6388"/>
          </a:solidFill>
          <a:ln w="12700">
            <a:solidFill>
              <a:srgbClr val="4B6388"/>
            </a:solidFill>
            <a:prstDash val="solid"/>
          </a:ln>
        </p:spPr>
      </p:sp>
      <p:sp>
        <p:nvSpPr>
          <p:cNvPr id="64" name="Shape 62"/>
          <p:cNvSpPr/>
          <p:nvPr/>
        </p:nvSpPr>
        <p:spPr>
          <a:xfrm>
            <a:off x="11529529" y="3170267"/>
            <a:ext cx="88024" cy="88024"/>
          </a:xfrm>
          <a:prstGeom prst="ellipse">
            <a:avLst/>
          </a:prstGeom>
          <a:solidFill>
            <a:srgbClr val="4B6388"/>
          </a:solidFill>
          <a:ln w="12700">
            <a:solidFill>
              <a:srgbClr val="4B6388"/>
            </a:solidFill>
            <a:prstDash val="solid"/>
          </a:ln>
        </p:spPr>
      </p:sp>
      <p:sp>
        <p:nvSpPr>
          <p:cNvPr id="65" name="Shape 63"/>
          <p:cNvSpPr/>
          <p:nvPr/>
        </p:nvSpPr>
        <p:spPr>
          <a:xfrm>
            <a:off x="6705045" y="4380840"/>
            <a:ext cx="64818" cy="64818"/>
          </a:xfrm>
          <a:prstGeom prst="ellipse">
            <a:avLst/>
          </a:prstGeom>
          <a:solidFill>
            <a:srgbClr val="4B6388"/>
          </a:solidFill>
          <a:ln w="12700">
            <a:solidFill>
              <a:srgbClr val="4B6388"/>
            </a:solidFill>
            <a:prstDash val="solid"/>
          </a:ln>
        </p:spPr>
      </p:sp>
      <p:sp>
        <p:nvSpPr>
          <p:cNvPr id="66" name="Shape 64"/>
          <p:cNvSpPr/>
          <p:nvPr/>
        </p:nvSpPr>
        <p:spPr>
          <a:xfrm>
            <a:off x="8321839" y="4238153"/>
            <a:ext cx="91376" cy="91376"/>
          </a:xfrm>
          <a:prstGeom prst="ellipse">
            <a:avLst/>
          </a:prstGeom>
          <a:solidFill>
            <a:srgbClr val="4B6388"/>
          </a:solidFill>
          <a:ln w="12700">
            <a:solidFill>
              <a:srgbClr val="4B6388"/>
            </a:solidFill>
            <a:prstDash val="solid"/>
          </a:ln>
        </p:spPr>
      </p:sp>
      <p:sp>
        <p:nvSpPr>
          <p:cNvPr id="67" name="Shape 65"/>
          <p:cNvSpPr/>
          <p:nvPr/>
        </p:nvSpPr>
        <p:spPr>
          <a:xfrm>
            <a:off x="10114458" y="4061747"/>
            <a:ext cx="103731" cy="103731"/>
          </a:xfrm>
          <a:prstGeom prst="ellipse">
            <a:avLst/>
          </a:prstGeom>
          <a:solidFill>
            <a:srgbClr val="4B6388"/>
          </a:solidFill>
          <a:ln w="12700">
            <a:solidFill>
              <a:srgbClr val="4B6388"/>
            </a:solidFill>
            <a:prstDash val="solid"/>
          </a:ln>
        </p:spPr>
      </p:sp>
      <p:sp>
        <p:nvSpPr>
          <p:cNvPr id="68" name="Shape 66"/>
          <p:cNvSpPr/>
          <p:nvPr/>
        </p:nvSpPr>
        <p:spPr>
          <a:xfrm>
            <a:off x="11187499" y="4181150"/>
            <a:ext cx="86033" cy="86033"/>
          </a:xfrm>
          <a:prstGeom prst="ellipse">
            <a:avLst/>
          </a:prstGeom>
          <a:solidFill>
            <a:srgbClr val="4B6388"/>
          </a:solidFill>
          <a:ln w="12700">
            <a:solidFill>
              <a:srgbClr val="4B6388"/>
            </a:solidFill>
            <a:prstDash val="solid"/>
          </a:ln>
        </p:spPr>
      </p:sp>
      <p:sp>
        <p:nvSpPr>
          <p:cNvPr id="69" name="Shape 67"/>
          <p:cNvSpPr/>
          <p:nvPr/>
        </p:nvSpPr>
        <p:spPr>
          <a:xfrm>
            <a:off x="6774425" y="5444238"/>
            <a:ext cx="104977" cy="104977"/>
          </a:xfrm>
          <a:prstGeom prst="ellipse">
            <a:avLst/>
          </a:prstGeom>
          <a:solidFill>
            <a:srgbClr val="4B6388"/>
          </a:solidFill>
          <a:ln w="12700">
            <a:solidFill>
              <a:srgbClr val="4B6388"/>
            </a:solidFill>
            <a:prstDash val="solid"/>
          </a:ln>
        </p:spPr>
      </p:sp>
      <p:sp>
        <p:nvSpPr>
          <p:cNvPr id="70" name="Shape 68"/>
          <p:cNvSpPr/>
          <p:nvPr/>
        </p:nvSpPr>
        <p:spPr>
          <a:xfrm>
            <a:off x="7399383" y="5318940"/>
            <a:ext cx="86224" cy="86224"/>
          </a:xfrm>
          <a:prstGeom prst="ellipse">
            <a:avLst/>
          </a:prstGeom>
          <a:solidFill>
            <a:srgbClr val="4B6388"/>
          </a:solidFill>
          <a:ln w="12700">
            <a:solidFill>
              <a:srgbClr val="4B6388"/>
            </a:solidFill>
            <a:prstDash val="solid"/>
          </a:ln>
        </p:spPr>
      </p:sp>
      <p:sp>
        <p:nvSpPr>
          <p:cNvPr id="71" name="Shape 69"/>
          <p:cNvSpPr/>
          <p:nvPr/>
        </p:nvSpPr>
        <p:spPr>
          <a:xfrm>
            <a:off x="8789091" y="4821625"/>
            <a:ext cx="119184" cy="119184"/>
          </a:xfrm>
          <a:prstGeom prst="ellipse">
            <a:avLst/>
          </a:prstGeom>
          <a:solidFill>
            <a:srgbClr val="4B6388"/>
          </a:solidFill>
          <a:ln w="12700">
            <a:solidFill>
              <a:srgbClr val="4B6388"/>
            </a:solidFill>
            <a:prstDash val="solid"/>
          </a:ln>
        </p:spPr>
      </p:sp>
      <p:sp>
        <p:nvSpPr>
          <p:cNvPr id="72" name="Shape 70"/>
          <p:cNvSpPr/>
          <p:nvPr/>
        </p:nvSpPr>
        <p:spPr>
          <a:xfrm>
            <a:off x="9425143" y="5261827"/>
            <a:ext cx="102275" cy="102275"/>
          </a:xfrm>
          <a:prstGeom prst="ellipse">
            <a:avLst/>
          </a:prstGeom>
          <a:solidFill>
            <a:srgbClr val="4B6388"/>
          </a:solidFill>
          <a:ln w="12700">
            <a:solidFill>
              <a:srgbClr val="4B6388"/>
            </a:solidFill>
            <a:prstDash val="solid"/>
          </a:ln>
        </p:spPr>
      </p:sp>
      <p:sp>
        <p:nvSpPr>
          <p:cNvPr id="73" name="Shape 71"/>
          <p:cNvSpPr/>
          <p:nvPr/>
        </p:nvSpPr>
        <p:spPr>
          <a:xfrm>
            <a:off x="7612069" y="5822186"/>
            <a:ext cx="114762" cy="114762"/>
          </a:xfrm>
          <a:prstGeom prst="ellipse">
            <a:avLst/>
          </a:prstGeom>
          <a:solidFill>
            <a:srgbClr val="4B6388"/>
          </a:solidFill>
          <a:ln w="12700">
            <a:solidFill>
              <a:srgbClr val="4B6388"/>
            </a:solidFill>
            <a:prstDash val="solid"/>
          </a:ln>
        </p:spPr>
      </p:sp>
      <p:sp>
        <p:nvSpPr>
          <p:cNvPr id="74" name="Shape 72"/>
          <p:cNvSpPr/>
          <p:nvPr/>
        </p:nvSpPr>
        <p:spPr>
          <a:xfrm>
            <a:off x="8344845" y="5780211"/>
            <a:ext cx="71234" cy="71234"/>
          </a:xfrm>
          <a:prstGeom prst="ellipse">
            <a:avLst/>
          </a:prstGeom>
          <a:solidFill>
            <a:srgbClr val="4B6388"/>
          </a:solidFill>
          <a:ln w="12700">
            <a:solidFill>
              <a:srgbClr val="4B6388"/>
            </a:solidFill>
            <a:prstDash val="solid"/>
          </a:ln>
        </p:spPr>
      </p:sp>
      <p:sp>
        <p:nvSpPr>
          <p:cNvPr id="75" name="Shape 73"/>
          <p:cNvSpPr/>
          <p:nvPr/>
        </p:nvSpPr>
        <p:spPr>
          <a:xfrm>
            <a:off x="9307042" y="5647223"/>
            <a:ext cx="76756" cy="76756"/>
          </a:xfrm>
          <a:prstGeom prst="ellipse">
            <a:avLst/>
          </a:prstGeom>
          <a:solidFill>
            <a:srgbClr val="4B6388"/>
          </a:solidFill>
          <a:ln w="12700">
            <a:solidFill>
              <a:srgbClr val="4B6388"/>
            </a:solidFill>
            <a:prstDash val="solid"/>
          </a:ln>
        </p:spPr>
      </p:sp>
      <p:sp>
        <p:nvSpPr>
          <p:cNvPr id="76" name="Shape 74"/>
          <p:cNvSpPr/>
          <p:nvPr/>
        </p:nvSpPr>
        <p:spPr>
          <a:xfrm>
            <a:off x="11311508" y="6055425"/>
            <a:ext cx="81440" cy="81440"/>
          </a:xfrm>
          <a:prstGeom prst="ellipse">
            <a:avLst/>
          </a:prstGeom>
          <a:solidFill>
            <a:srgbClr val="4B6388"/>
          </a:solidFill>
          <a:ln w="12700">
            <a:solidFill>
              <a:srgbClr val="4B6388"/>
            </a:solidFill>
            <a:prstDash val="solid"/>
          </a:ln>
        </p:spPr>
      </p:sp>
      <p:sp>
        <p:nvSpPr>
          <p:cNvPr id="77" name="Text 75"/>
          <p:cNvSpPr txBox="1"/>
          <p:nvPr/>
        </p:nvSpPr>
        <p:spPr>
          <a:xfrm>
            <a:off x="685800" y="1600200"/>
            <a:ext cx="2743200" cy="1371600"/>
          </a:xfrm>
          <a:prstGeom prst="rect">
            <a:avLst/>
          </a:prstGeom>
          <a:noFill/>
          <a:ln/>
        </p:spPr>
        <p:txBody>
          <a:bodyPr wrap="square" lIns="0" tIns="0" rIns="0" bIns="0" rtlCol="0" anchor="t"/>
          <a:lstStyle/>
          <a:p>
            <a:pPr indent="0" marL="0">
              <a:buNone/>
            </a:pPr>
            <a:r>
              <a:rPr lang="en-US" sz="9600" dirty="0">
                <a:solidFill>
                  <a:srgbClr val="F08A6E"/>
                </a:solidFill>
                <a:latin typeface="Georgia" pitchFamily="34" charset="0"/>
                <a:ea typeface="Georgia" pitchFamily="34" charset="-122"/>
                <a:cs typeface="Georgia" pitchFamily="34" charset="-120"/>
              </a:rPr>
              <a:t>03</a:t>
            </a:r>
            <a:endParaRPr lang="en-US" sz="9600" dirty="0"/>
          </a:p>
        </p:txBody>
      </p:sp>
      <p:sp>
        <p:nvSpPr>
          <p:cNvPr id="78" name="Text 76"/>
          <p:cNvSpPr txBox="1"/>
          <p:nvPr/>
        </p:nvSpPr>
        <p:spPr>
          <a:xfrm>
            <a:off x="685800" y="3063240"/>
            <a:ext cx="5486400" cy="868680"/>
          </a:xfrm>
          <a:prstGeom prst="rect">
            <a:avLst/>
          </a:prstGeom>
          <a:noFill/>
          <a:ln/>
        </p:spPr>
        <p:txBody>
          <a:bodyPr wrap="square" lIns="0" tIns="0" rIns="0" bIns="0" rtlCol="0" anchor="t"/>
          <a:lstStyle/>
          <a:p>
            <a:pPr indent="0" marL="0">
              <a:buNone/>
            </a:pPr>
            <a:r>
              <a:rPr lang="en-US" sz="4400" dirty="0">
                <a:solidFill>
                  <a:srgbClr val="FFFFFF"/>
                </a:solidFill>
                <a:latin typeface="Georgia" pitchFamily="34" charset="0"/>
                <a:ea typeface="Georgia" pitchFamily="34" charset="-122"/>
                <a:cs typeface="Georgia" pitchFamily="34" charset="-120"/>
              </a:rPr>
              <a:t>Results</a:t>
            </a:r>
            <a:endParaRPr lang="en-US" sz="4400" dirty="0"/>
          </a:p>
        </p:txBody>
      </p:sp>
      <p:sp>
        <p:nvSpPr>
          <p:cNvPr id="79" name="Text 77"/>
          <p:cNvSpPr txBox="1"/>
          <p:nvPr/>
        </p:nvSpPr>
        <p:spPr>
          <a:xfrm>
            <a:off x="685800" y="4023360"/>
            <a:ext cx="5212080" cy="1005840"/>
          </a:xfrm>
          <a:prstGeom prst="rect">
            <a:avLst/>
          </a:prstGeom>
          <a:noFill/>
          <a:ln/>
        </p:spPr>
        <p:txBody>
          <a:bodyPr wrap="square" lIns="0" tIns="0" rIns="0" bIns="0" rtlCol="0" anchor="t"/>
          <a:lstStyle/>
          <a:p>
            <a:pPr indent="0" marL="0">
              <a:buNone/>
            </a:pPr>
            <a:r>
              <a:rPr lang="en-US" sz="1600" dirty="0">
                <a:solidFill>
                  <a:srgbClr val="A9B6C8"/>
                </a:solidFill>
                <a:latin typeface="Arial" pitchFamily="34" charset="0"/>
                <a:ea typeface="Arial" pitchFamily="34" charset="-122"/>
                <a:cs typeface="Arial" pitchFamily="34" charset="-120"/>
              </a:rPr>
              <a:t>Six results on real APT traffic: 15 models, three experiments and five random seeds</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V="1">
            <a:off x="10087295" y="470002"/>
            <a:ext cx="288950" cy="416966"/>
          </a:xfrm>
          <a:prstGeom prst="line">
            <a:avLst/>
          </a:prstGeom>
          <a:noFill/>
          <a:ln w="9525">
            <a:solidFill>
              <a:srgbClr val="DCE2EA"/>
            </a:solidFill>
            <a:prstDash val="solid"/>
          </a:ln>
        </p:spPr>
      </p:sp>
      <p:sp>
        <p:nvSpPr>
          <p:cNvPr id="3" name="Shape 1"/>
          <p:cNvSpPr/>
          <p:nvPr/>
        </p:nvSpPr>
        <p:spPr>
          <a:xfrm>
            <a:off x="10087295" y="886968"/>
            <a:ext cx="549006" cy="69494"/>
          </a:xfrm>
          <a:prstGeom prst="line">
            <a:avLst/>
          </a:prstGeom>
          <a:noFill/>
          <a:ln w="9525">
            <a:solidFill>
              <a:srgbClr val="DCE2EA"/>
            </a:solidFill>
            <a:prstDash val="solid"/>
          </a:ln>
        </p:spPr>
      </p:sp>
      <p:sp>
        <p:nvSpPr>
          <p:cNvPr id="4" name="Shape 2"/>
          <p:cNvSpPr/>
          <p:nvPr/>
        </p:nvSpPr>
        <p:spPr>
          <a:xfrm>
            <a:off x="10376245" y="470002"/>
            <a:ext cx="549006" cy="156362"/>
          </a:xfrm>
          <a:prstGeom prst="line">
            <a:avLst/>
          </a:prstGeom>
          <a:noFill/>
          <a:ln w="9525">
            <a:solidFill>
              <a:srgbClr val="F2B7A8"/>
            </a:solidFill>
            <a:prstDash val="solid"/>
          </a:ln>
        </p:spPr>
      </p:sp>
      <p:sp>
        <p:nvSpPr>
          <p:cNvPr id="5" name="Shape 3"/>
          <p:cNvSpPr/>
          <p:nvPr/>
        </p:nvSpPr>
        <p:spPr>
          <a:xfrm flipV="1">
            <a:off x="10636301" y="626364"/>
            <a:ext cx="288950" cy="330098"/>
          </a:xfrm>
          <a:prstGeom prst="line">
            <a:avLst/>
          </a:prstGeom>
          <a:noFill/>
          <a:ln w="9525">
            <a:solidFill>
              <a:srgbClr val="F2B7A8"/>
            </a:solidFill>
            <a:prstDash val="solid"/>
          </a:ln>
        </p:spPr>
      </p:sp>
      <p:sp>
        <p:nvSpPr>
          <p:cNvPr id="6" name="Shape 4"/>
          <p:cNvSpPr/>
          <p:nvPr/>
        </p:nvSpPr>
        <p:spPr>
          <a:xfrm flipV="1">
            <a:off x="10925251" y="522122"/>
            <a:ext cx="534558" cy="104242"/>
          </a:xfrm>
          <a:prstGeom prst="line">
            <a:avLst/>
          </a:prstGeom>
          <a:noFill/>
          <a:ln w="9525">
            <a:solidFill>
              <a:srgbClr val="F2B7A8"/>
            </a:solidFill>
            <a:prstDash val="solid"/>
          </a:ln>
        </p:spPr>
      </p:sp>
      <p:sp>
        <p:nvSpPr>
          <p:cNvPr id="7" name="Shape 5"/>
          <p:cNvSpPr/>
          <p:nvPr/>
        </p:nvSpPr>
        <p:spPr>
          <a:xfrm>
            <a:off x="10636301" y="956462"/>
            <a:ext cx="549006" cy="121615"/>
          </a:xfrm>
          <a:prstGeom prst="line">
            <a:avLst/>
          </a:prstGeom>
          <a:noFill/>
          <a:ln w="9525">
            <a:solidFill>
              <a:srgbClr val="DCE2EA"/>
            </a:solidFill>
            <a:prstDash val="solid"/>
          </a:ln>
        </p:spPr>
      </p:sp>
      <p:sp>
        <p:nvSpPr>
          <p:cNvPr id="8" name="Shape 6"/>
          <p:cNvSpPr/>
          <p:nvPr/>
        </p:nvSpPr>
        <p:spPr>
          <a:xfrm flipV="1">
            <a:off x="11185307" y="843534"/>
            <a:ext cx="173370" cy="234544"/>
          </a:xfrm>
          <a:prstGeom prst="line">
            <a:avLst/>
          </a:prstGeom>
          <a:noFill/>
          <a:ln w="9525">
            <a:solidFill>
              <a:srgbClr val="DCE2EA"/>
            </a:solidFill>
            <a:prstDash val="solid"/>
          </a:ln>
        </p:spPr>
      </p:sp>
      <p:sp>
        <p:nvSpPr>
          <p:cNvPr id="9" name="Shape 7"/>
          <p:cNvSpPr/>
          <p:nvPr/>
        </p:nvSpPr>
        <p:spPr>
          <a:xfrm flipH="1">
            <a:off x="11358677" y="522122"/>
            <a:ext cx="101133" cy="321412"/>
          </a:xfrm>
          <a:prstGeom prst="line">
            <a:avLst/>
          </a:prstGeom>
          <a:noFill/>
          <a:ln w="9525">
            <a:solidFill>
              <a:srgbClr val="DCE2EA"/>
            </a:solidFill>
            <a:prstDash val="solid"/>
          </a:ln>
        </p:spPr>
      </p:sp>
      <p:sp>
        <p:nvSpPr>
          <p:cNvPr id="10" name="Shape 8"/>
          <p:cNvSpPr/>
          <p:nvPr/>
        </p:nvSpPr>
        <p:spPr>
          <a:xfrm>
            <a:off x="10055291" y="854964"/>
            <a:ext cx="64008" cy="64008"/>
          </a:xfrm>
          <a:prstGeom prst="ellipse">
            <a:avLst/>
          </a:prstGeom>
          <a:solidFill>
            <a:srgbClr val="C3CCD9"/>
          </a:solidFill>
          <a:ln w="12700">
            <a:solidFill>
              <a:srgbClr val="C3CCD9"/>
            </a:solidFill>
            <a:prstDash val="solid"/>
          </a:ln>
        </p:spPr>
      </p:sp>
      <p:sp>
        <p:nvSpPr>
          <p:cNvPr id="11" name="Shape 9"/>
          <p:cNvSpPr/>
          <p:nvPr/>
        </p:nvSpPr>
        <p:spPr>
          <a:xfrm>
            <a:off x="10335097" y="428854"/>
            <a:ext cx="82296" cy="82296"/>
          </a:xfrm>
          <a:prstGeom prst="ellipse">
            <a:avLst/>
          </a:prstGeom>
          <a:solidFill>
            <a:srgbClr val="C3CCD9"/>
          </a:solidFill>
          <a:ln w="12700">
            <a:solidFill>
              <a:srgbClr val="C3CCD9"/>
            </a:solidFill>
            <a:prstDash val="solid"/>
          </a:ln>
        </p:spPr>
      </p:sp>
      <p:sp>
        <p:nvSpPr>
          <p:cNvPr id="12" name="Shape 10"/>
          <p:cNvSpPr/>
          <p:nvPr/>
        </p:nvSpPr>
        <p:spPr>
          <a:xfrm>
            <a:off x="10599725" y="919886"/>
            <a:ext cx="73152" cy="73152"/>
          </a:xfrm>
          <a:prstGeom prst="ellipse">
            <a:avLst/>
          </a:prstGeom>
          <a:solidFill>
            <a:srgbClr val="C3CCD9"/>
          </a:solidFill>
          <a:ln w="12700">
            <a:solidFill>
              <a:srgbClr val="C3CCD9"/>
            </a:solidFill>
            <a:prstDash val="solid"/>
          </a:ln>
        </p:spPr>
      </p:sp>
      <p:sp>
        <p:nvSpPr>
          <p:cNvPr id="13" name="Shape 11"/>
          <p:cNvSpPr/>
          <p:nvPr/>
        </p:nvSpPr>
        <p:spPr>
          <a:xfrm>
            <a:off x="10806379" y="507492"/>
            <a:ext cx="237744" cy="237744"/>
          </a:xfrm>
          <a:prstGeom prst="ellipse">
            <a:avLst/>
          </a:prstGeom>
          <a:solidFill>
            <a:srgbClr val="E0533A">
              <a:alpha val="18000"/>
            </a:srgbClr>
          </a:solidFill>
          <a:ln w="12700">
            <a:solidFill>
              <a:srgbClr val="E0533A">
                <a:alpha val="18000"/>
              </a:srgbClr>
            </a:solidFill>
            <a:prstDash val="solid"/>
          </a:ln>
        </p:spPr>
      </p:sp>
      <p:sp>
        <p:nvSpPr>
          <p:cNvPr id="14" name="Shape 12"/>
          <p:cNvSpPr/>
          <p:nvPr/>
        </p:nvSpPr>
        <p:spPr>
          <a:xfrm>
            <a:off x="10874959" y="576072"/>
            <a:ext cx="100584" cy="100584"/>
          </a:xfrm>
          <a:prstGeom prst="ellipse">
            <a:avLst/>
          </a:prstGeom>
          <a:solidFill>
            <a:srgbClr val="E0533A"/>
          </a:solidFill>
          <a:ln w="12700">
            <a:solidFill>
              <a:srgbClr val="E0533A"/>
            </a:solidFill>
            <a:prstDash val="solid"/>
          </a:ln>
        </p:spPr>
      </p:sp>
      <p:sp>
        <p:nvSpPr>
          <p:cNvPr id="15" name="Shape 13"/>
          <p:cNvSpPr/>
          <p:nvPr/>
        </p:nvSpPr>
        <p:spPr>
          <a:xfrm>
            <a:off x="11144159" y="1036930"/>
            <a:ext cx="82296" cy="82296"/>
          </a:xfrm>
          <a:prstGeom prst="ellipse">
            <a:avLst/>
          </a:prstGeom>
          <a:solidFill>
            <a:srgbClr val="C3CCD9"/>
          </a:solidFill>
          <a:ln w="12700">
            <a:solidFill>
              <a:srgbClr val="C3CCD9"/>
            </a:solidFill>
            <a:prstDash val="solid"/>
          </a:ln>
        </p:spPr>
      </p:sp>
      <p:sp>
        <p:nvSpPr>
          <p:cNvPr id="16" name="Shape 14"/>
          <p:cNvSpPr/>
          <p:nvPr/>
        </p:nvSpPr>
        <p:spPr>
          <a:xfrm>
            <a:off x="11427805" y="490118"/>
            <a:ext cx="64008" cy="64008"/>
          </a:xfrm>
          <a:prstGeom prst="ellipse">
            <a:avLst/>
          </a:prstGeom>
          <a:solidFill>
            <a:srgbClr val="C3CCD9"/>
          </a:solidFill>
          <a:ln w="12700">
            <a:solidFill>
              <a:srgbClr val="C3CCD9"/>
            </a:solidFill>
            <a:prstDash val="solid"/>
          </a:ln>
        </p:spPr>
      </p:sp>
      <p:sp>
        <p:nvSpPr>
          <p:cNvPr id="17" name="Shape 15"/>
          <p:cNvSpPr/>
          <p:nvPr/>
        </p:nvSpPr>
        <p:spPr>
          <a:xfrm>
            <a:off x="11331245" y="816102"/>
            <a:ext cx="54864" cy="54864"/>
          </a:xfrm>
          <a:prstGeom prst="ellipse">
            <a:avLst/>
          </a:prstGeom>
          <a:solidFill>
            <a:srgbClr val="C3CCD9"/>
          </a:solidFill>
          <a:ln w="12700">
            <a:solidFill>
              <a:srgbClr val="C3CCD9"/>
            </a:solidFill>
            <a:prstDash val="solid"/>
          </a:ln>
        </p:spPr>
      </p:sp>
      <p:sp>
        <p:nvSpPr>
          <p:cNvPr id="18" name="Text 16"/>
          <p:cNvSpPr txBox="1"/>
          <p:nvPr/>
        </p:nvSpPr>
        <p:spPr>
          <a:xfrm>
            <a:off x="685800" y="475488"/>
            <a:ext cx="10820095" cy="256032"/>
          </a:xfrm>
          <a:prstGeom prst="rect">
            <a:avLst/>
          </a:prstGeom>
          <a:noFill/>
          <a:ln/>
        </p:spPr>
        <p:txBody>
          <a:bodyPr wrap="square" lIns="0" tIns="0" rIns="0" bIns="0" rtlCol="0" anchor="t"/>
          <a:lstStyle/>
          <a:p>
            <a:pPr indent="0" marL="0">
              <a:buNone/>
            </a:pPr>
            <a:r>
              <a:rPr lang="en-US" sz="1100" b="1" dirty="0">
                <a:solidFill>
                  <a:srgbClr val="E0533A"/>
                </a:solidFill>
                <a:latin typeface="Arial" pitchFamily="34" charset="0"/>
                <a:ea typeface="Arial" pitchFamily="34" charset="-122"/>
                <a:cs typeface="Arial" pitchFamily="34" charset="-120"/>
              </a:rPr>
              <a:t>03 · RESULTS</a:t>
            </a:r>
            <a:endParaRPr lang="en-US" sz="1100" dirty="0"/>
          </a:p>
        </p:txBody>
      </p:sp>
      <p:sp>
        <p:nvSpPr>
          <p:cNvPr id="19" name="Text 17"/>
          <p:cNvSpPr txBox="1"/>
          <p:nvPr/>
        </p:nvSpPr>
        <p:spPr>
          <a:xfrm>
            <a:off x="685800" y="768096"/>
            <a:ext cx="10820095" cy="822960"/>
          </a:xfrm>
          <a:prstGeom prst="rect">
            <a:avLst/>
          </a:prstGeom>
          <a:noFill/>
          <a:ln/>
        </p:spPr>
        <p:txBody>
          <a:bodyPr wrap="square" lIns="0" tIns="0" rIns="0" bIns="0" rtlCol="0" anchor="t"/>
          <a:lstStyle/>
          <a:p>
            <a:pPr indent="0" marL="0">
              <a:buNone/>
            </a:pPr>
            <a:r>
              <a:rPr lang="en-US" sz="3000" dirty="0">
                <a:solidFill>
                  <a:srgbClr val="0F1B2D"/>
                </a:solidFill>
                <a:latin typeface="Georgia" pitchFamily="34" charset="0"/>
                <a:ea typeface="Georgia" pitchFamily="34" charset="-122"/>
                <a:cs typeface="Georgia" pitchFamily="34" charset="-120"/>
              </a:rPr>
              <a:t>On real APT traffic, false alarms rise about 13×</a:t>
            </a:r>
            <a:endParaRPr lang="en-US" sz="3000" dirty="0"/>
          </a:p>
        </p:txBody>
      </p:sp>
      <p:sp>
        <p:nvSpPr>
          <p:cNvPr id="20" name="Shape 18"/>
          <p:cNvSpPr/>
          <p:nvPr/>
        </p:nvSpPr>
        <p:spPr>
          <a:xfrm>
            <a:off x="685800" y="1828800"/>
            <a:ext cx="3423818" cy="3611880"/>
          </a:xfrm>
          <a:prstGeom prst="roundRect">
            <a:avLst>
              <a:gd name="adj" fmla="val 1602"/>
            </a:avLst>
          </a:prstGeom>
          <a:solidFill>
            <a:srgbClr val="F4F6F9"/>
          </a:solidFill>
          <a:ln w="12700">
            <a:solidFill>
              <a:srgbClr val="F4F6F9"/>
            </a:solidFill>
            <a:prstDash val="solid"/>
          </a:ln>
        </p:spPr>
      </p:sp>
      <p:sp>
        <p:nvSpPr>
          <p:cNvPr id="21" name="Text 19"/>
          <p:cNvSpPr txBox="1"/>
          <p:nvPr/>
        </p:nvSpPr>
        <p:spPr>
          <a:xfrm>
            <a:off x="1051560" y="2103120"/>
            <a:ext cx="2692298" cy="256032"/>
          </a:xfrm>
          <a:prstGeom prst="rect">
            <a:avLst/>
          </a:prstGeom>
          <a:noFill/>
          <a:ln/>
        </p:spPr>
        <p:txBody>
          <a:bodyPr wrap="square" lIns="0" tIns="0" rIns="0" bIns="0" rtlCol="0" anchor="t"/>
          <a:lstStyle/>
          <a:p>
            <a:pPr indent="0" marL="0">
              <a:buNone/>
            </a:pPr>
            <a:r>
              <a:rPr lang="en-US" sz="1050" b="1" dirty="0">
                <a:solidFill>
                  <a:srgbClr val="8A94A3"/>
                </a:solidFill>
                <a:latin typeface="Arial" pitchFamily="34" charset="0"/>
                <a:ea typeface="Arial" pitchFamily="34" charset="-122"/>
                <a:cs typeface="Arial" pitchFamily="34" charset="-120"/>
              </a:rPr>
              <a:t>PAPER'S CLAIM</a:t>
            </a:r>
            <a:endParaRPr lang="en-US" sz="1050" dirty="0"/>
          </a:p>
        </p:txBody>
      </p:sp>
      <p:sp>
        <p:nvSpPr>
          <p:cNvPr id="22" name="Text 20"/>
          <p:cNvSpPr txBox="1"/>
          <p:nvPr/>
        </p:nvSpPr>
        <p:spPr>
          <a:xfrm>
            <a:off x="1051560" y="2377440"/>
            <a:ext cx="2692298" cy="274320"/>
          </a:xfrm>
          <a:prstGeom prst="rect">
            <a:avLst/>
          </a:prstGeom>
          <a:noFill/>
          <a:ln/>
        </p:spPr>
        <p:txBody>
          <a:bodyPr wrap="square" lIns="0" tIns="0" rIns="0" bIns="0" rtlCol="0" anchor="t"/>
          <a:lstStyle/>
          <a:p>
            <a:pPr indent="0" marL="0">
              <a:buNone/>
            </a:pPr>
            <a:r>
              <a:rPr lang="en-US" sz="1200" dirty="0">
                <a:solidFill>
                  <a:srgbClr val="55606E"/>
                </a:solidFill>
                <a:latin typeface="Arial" pitchFamily="34" charset="0"/>
                <a:ea typeface="Arial" pitchFamily="34" charset="-122"/>
                <a:cs typeface="Arial" pitchFamily="34" charset="-120"/>
              </a:rPr>
              <a:t>CSE-CIC-IDS2018 (Table 7)</a:t>
            </a:r>
            <a:endParaRPr lang="en-US" sz="1200" dirty="0"/>
          </a:p>
        </p:txBody>
      </p:sp>
      <p:sp>
        <p:nvSpPr>
          <p:cNvPr id="23" name="Text 21"/>
          <p:cNvSpPr txBox="1"/>
          <p:nvPr/>
        </p:nvSpPr>
        <p:spPr>
          <a:xfrm>
            <a:off x="1051560" y="2788920"/>
            <a:ext cx="2692298" cy="868680"/>
          </a:xfrm>
          <a:prstGeom prst="rect">
            <a:avLst/>
          </a:prstGeom>
          <a:noFill/>
          <a:ln/>
        </p:spPr>
        <p:txBody>
          <a:bodyPr wrap="square" lIns="0" tIns="0" rIns="0" bIns="0" rtlCol="0" anchor="t"/>
          <a:lstStyle/>
          <a:p>
            <a:pPr indent="0" marL="0">
              <a:buNone/>
            </a:pPr>
            <a:r>
              <a:rPr lang="en-US" sz="5000" dirty="0">
                <a:solidFill>
                  <a:srgbClr val="0F1B2D"/>
                </a:solidFill>
                <a:latin typeface="Georgia" pitchFamily="34" charset="0"/>
                <a:ea typeface="Georgia" pitchFamily="34" charset="-122"/>
                <a:cs typeface="Georgia" pitchFamily="34" charset="-120"/>
              </a:rPr>
              <a:t>98.92%</a:t>
            </a:r>
            <a:endParaRPr lang="en-US" sz="5000" dirty="0"/>
          </a:p>
        </p:txBody>
      </p:sp>
      <p:sp>
        <p:nvSpPr>
          <p:cNvPr id="24" name="Text 22"/>
          <p:cNvSpPr txBox="1"/>
          <p:nvPr/>
        </p:nvSpPr>
        <p:spPr>
          <a:xfrm>
            <a:off x="1051560" y="3657600"/>
            <a:ext cx="2692298" cy="274320"/>
          </a:xfrm>
          <a:prstGeom prst="rect">
            <a:avLst/>
          </a:prstGeom>
          <a:noFill/>
          <a:ln/>
        </p:spPr>
        <p:txBody>
          <a:bodyPr wrap="square" lIns="0" tIns="0" rIns="0" bIns="0" rtlCol="0" anchor="t"/>
          <a:lstStyle/>
          <a:p>
            <a:pPr indent="0" marL="0">
              <a:buNone/>
            </a:pPr>
            <a:r>
              <a:rPr lang="en-US" sz="1200" dirty="0">
                <a:solidFill>
                  <a:srgbClr val="55606E"/>
                </a:solidFill>
                <a:latin typeface="Arial" pitchFamily="34" charset="0"/>
                <a:ea typeface="Arial" pitchFamily="34" charset="-122"/>
                <a:cs typeface="Arial" pitchFamily="34" charset="-120"/>
              </a:rPr>
              <a:t>accuracy</a:t>
            </a:r>
            <a:endParaRPr lang="en-US" sz="1200" dirty="0"/>
          </a:p>
        </p:txBody>
      </p:sp>
      <p:sp>
        <p:nvSpPr>
          <p:cNvPr id="25" name="Shape 23"/>
          <p:cNvSpPr/>
          <p:nvPr/>
        </p:nvSpPr>
        <p:spPr>
          <a:xfrm>
            <a:off x="1051560" y="4160520"/>
            <a:ext cx="2692298" cy="914"/>
          </a:xfrm>
          <a:prstGeom prst="line">
            <a:avLst/>
          </a:prstGeom>
          <a:noFill/>
          <a:ln w="9525">
            <a:solidFill>
              <a:srgbClr val="E2E6EC"/>
            </a:solidFill>
            <a:prstDash val="solid"/>
          </a:ln>
        </p:spPr>
      </p:sp>
      <p:sp>
        <p:nvSpPr>
          <p:cNvPr id="26" name="Text 24"/>
          <p:cNvSpPr txBox="1"/>
          <p:nvPr/>
        </p:nvSpPr>
        <p:spPr>
          <a:xfrm>
            <a:off x="1051560" y="4343400"/>
            <a:ext cx="1828800" cy="320040"/>
          </a:xfrm>
          <a:prstGeom prst="rect">
            <a:avLst/>
          </a:prstGeom>
          <a:noFill/>
          <a:ln/>
        </p:spPr>
        <p:txBody>
          <a:bodyPr wrap="square" lIns="0" tIns="0" rIns="0" bIns="0" rtlCol="0" anchor="t"/>
          <a:lstStyle/>
          <a:p>
            <a:pPr indent="0" marL="0">
              <a:buNone/>
            </a:pPr>
            <a:r>
              <a:rPr lang="en-US" sz="1300" dirty="0">
                <a:solidFill>
                  <a:srgbClr val="55606E"/>
                </a:solidFill>
                <a:latin typeface="Arial" pitchFamily="34" charset="0"/>
                <a:ea typeface="Arial" pitchFamily="34" charset="-122"/>
                <a:cs typeface="Arial" pitchFamily="34" charset="-120"/>
              </a:rPr>
              <a:t>F1-score</a:t>
            </a:r>
            <a:endParaRPr lang="en-US" sz="1300" dirty="0"/>
          </a:p>
        </p:txBody>
      </p:sp>
      <p:sp>
        <p:nvSpPr>
          <p:cNvPr id="27" name="Text 25"/>
          <p:cNvSpPr txBox="1"/>
          <p:nvPr/>
        </p:nvSpPr>
        <p:spPr>
          <a:xfrm>
            <a:off x="2280818" y="4343400"/>
            <a:ext cx="1463040" cy="320040"/>
          </a:xfrm>
          <a:prstGeom prst="rect">
            <a:avLst/>
          </a:prstGeom>
          <a:noFill/>
          <a:ln/>
        </p:spPr>
        <p:txBody>
          <a:bodyPr wrap="square" lIns="0" tIns="0" rIns="0" bIns="0" rtlCol="0" anchor="t"/>
          <a:lstStyle/>
          <a:p>
            <a:pPr algn="r" indent="0" marL="0">
              <a:buNone/>
            </a:pPr>
            <a:r>
              <a:rPr lang="en-US" sz="1600" b="1" dirty="0">
                <a:solidFill>
                  <a:srgbClr val="0F1B2D"/>
                </a:solidFill>
                <a:latin typeface="Arial" pitchFamily="34" charset="0"/>
                <a:ea typeface="Arial" pitchFamily="34" charset="-122"/>
                <a:cs typeface="Arial" pitchFamily="34" charset="-120"/>
              </a:rPr>
              <a:t>98.90%</a:t>
            </a:r>
            <a:endParaRPr lang="en-US" sz="1600" dirty="0"/>
          </a:p>
        </p:txBody>
      </p:sp>
      <p:sp>
        <p:nvSpPr>
          <p:cNvPr id="28" name="Text 26"/>
          <p:cNvSpPr txBox="1"/>
          <p:nvPr/>
        </p:nvSpPr>
        <p:spPr>
          <a:xfrm>
            <a:off x="1051560" y="4800600"/>
            <a:ext cx="1828800" cy="320040"/>
          </a:xfrm>
          <a:prstGeom prst="rect">
            <a:avLst/>
          </a:prstGeom>
          <a:noFill/>
          <a:ln/>
        </p:spPr>
        <p:txBody>
          <a:bodyPr wrap="square" lIns="0" tIns="0" rIns="0" bIns="0" rtlCol="0" anchor="t"/>
          <a:lstStyle/>
          <a:p>
            <a:pPr indent="0" marL="0">
              <a:buNone/>
            </a:pPr>
            <a:r>
              <a:rPr lang="en-US" sz="1300" dirty="0">
                <a:solidFill>
                  <a:srgbClr val="55606E"/>
                </a:solidFill>
                <a:latin typeface="Arial" pitchFamily="34" charset="0"/>
                <a:ea typeface="Arial" pitchFamily="34" charset="-122"/>
                <a:cs typeface="Arial" pitchFamily="34" charset="-120"/>
              </a:rPr>
              <a:t>False positive rate</a:t>
            </a:r>
            <a:endParaRPr lang="en-US" sz="1300" dirty="0"/>
          </a:p>
        </p:txBody>
      </p:sp>
      <p:sp>
        <p:nvSpPr>
          <p:cNvPr id="29" name="Text 27"/>
          <p:cNvSpPr txBox="1"/>
          <p:nvPr/>
        </p:nvSpPr>
        <p:spPr>
          <a:xfrm>
            <a:off x="2280818" y="4800600"/>
            <a:ext cx="1463040" cy="320040"/>
          </a:xfrm>
          <a:prstGeom prst="rect">
            <a:avLst/>
          </a:prstGeom>
          <a:noFill/>
          <a:ln/>
        </p:spPr>
        <p:txBody>
          <a:bodyPr wrap="square" lIns="0" tIns="0" rIns="0" bIns="0" rtlCol="0" anchor="t"/>
          <a:lstStyle/>
          <a:p>
            <a:pPr algn="r" indent="0" marL="0">
              <a:buNone/>
            </a:pPr>
            <a:r>
              <a:rPr lang="en-US" sz="1600" b="1" dirty="0">
                <a:solidFill>
                  <a:srgbClr val="0F1B2D"/>
                </a:solidFill>
                <a:latin typeface="Arial" pitchFamily="34" charset="0"/>
                <a:ea typeface="Arial" pitchFamily="34" charset="-122"/>
                <a:cs typeface="Arial" pitchFamily="34" charset="-120"/>
              </a:rPr>
              <a:t>0.52%</a:t>
            </a:r>
            <a:endParaRPr lang="en-US" sz="1600" dirty="0"/>
          </a:p>
        </p:txBody>
      </p:sp>
      <p:sp>
        <p:nvSpPr>
          <p:cNvPr id="30" name="Shape 28"/>
          <p:cNvSpPr/>
          <p:nvPr/>
        </p:nvSpPr>
        <p:spPr>
          <a:xfrm>
            <a:off x="4383938" y="1828800"/>
            <a:ext cx="3423818" cy="3611880"/>
          </a:xfrm>
          <a:prstGeom prst="roundRect">
            <a:avLst>
              <a:gd name="adj" fmla="val 1602"/>
            </a:avLst>
          </a:prstGeom>
          <a:solidFill>
            <a:srgbClr val="F4F6F9"/>
          </a:solidFill>
          <a:ln w="12700">
            <a:solidFill>
              <a:srgbClr val="F4F6F9"/>
            </a:solidFill>
            <a:prstDash val="solid"/>
          </a:ln>
        </p:spPr>
      </p:sp>
      <p:sp>
        <p:nvSpPr>
          <p:cNvPr id="31" name="Text 29"/>
          <p:cNvSpPr txBox="1"/>
          <p:nvPr/>
        </p:nvSpPr>
        <p:spPr>
          <a:xfrm>
            <a:off x="4749698" y="2103120"/>
            <a:ext cx="2692298" cy="256032"/>
          </a:xfrm>
          <a:prstGeom prst="rect">
            <a:avLst/>
          </a:prstGeom>
          <a:noFill/>
          <a:ln/>
        </p:spPr>
        <p:txBody>
          <a:bodyPr wrap="square" lIns="0" tIns="0" rIns="0" bIns="0" rtlCol="0" anchor="t"/>
          <a:lstStyle/>
          <a:p>
            <a:pPr indent="0" marL="0">
              <a:buNone/>
            </a:pPr>
            <a:r>
              <a:rPr lang="en-US" sz="1050" b="1" dirty="0">
                <a:solidFill>
                  <a:srgbClr val="E0533A"/>
                </a:solidFill>
                <a:latin typeface="Arial" pitchFamily="34" charset="0"/>
                <a:ea typeface="Arial" pitchFamily="34" charset="-122"/>
                <a:cs typeface="Arial" pitchFamily="34" charset="-120"/>
              </a:rPr>
              <a:t>OUR REPLICATION</a:t>
            </a:r>
            <a:endParaRPr lang="en-US" sz="1050" dirty="0"/>
          </a:p>
        </p:txBody>
      </p:sp>
      <p:sp>
        <p:nvSpPr>
          <p:cNvPr id="32" name="Text 30"/>
          <p:cNvSpPr txBox="1"/>
          <p:nvPr/>
        </p:nvSpPr>
        <p:spPr>
          <a:xfrm>
            <a:off x="4749698" y="2377440"/>
            <a:ext cx="2692298" cy="274320"/>
          </a:xfrm>
          <a:prstGeom prst="rect">
            <a:avLst/>
          </a:prstGeom>
          <a:noFill/>
          <a:ln/>
        </p:spPr>
        <p:txBody>
          <a:bodyPr wrap="square" lIns="0" tIns="0" rIns="0" bIns="0" rtlCol="0" anchor="t"/>
          <a:lstStyle/>
          <a:p>
            <a:pPr indent="0" marL="0">
              <a:buNone/>
            </a:pPr>
            <a:r>
              <a:rPr lang="en-US" sz="1200" dirty="0">
                <a:solidFill>
                  <a:srgbClr val="55606E"/>
                </a:solidFill>
                <a:latin typeface="Arial" pitchFamily="34" charset="0"/>
                <a:ea typeface="Arial" pitchFamily="34" charset="-122"/>
                <a:cs typeface="Arial" pitchFamily="34" charset="-120"/>
              </a:rPr>
              <a:t>DAPT2020, paper protocol</a:t>
            </a:r>
            <a:endParaRPr lang="en-US" sz="1200" dirty="0"/>
          </a:p>
        </p:txBody>
      </p:sp>
      <p:sp>
        <p:nvSpPr>
          <p:cNvPr id="33" name="Text 31"/>
          <p:cNvSpPr txBox="1"/>
          <p:nvPr/>
        </p:nvSpPr>
        <p:spPr>
          <a:xfrm>
            <a:off x="4749698" y="2788920"/>
            <a:ext cx="2692298" cy="868680"/>
          </a:xfrm>
          <a:prstGeom prst="rect">
            <a:avLst/>
          </a:prstGeom>
          <a:noFill/>
          <a:ln/>
        </p:spPr>
        <p:txBody>
          <a:bodyPr wrap="square" lIns="0" tIns="0" rIns="0" bIns="0" rtlCol="0" anchor="t"/>
          <a:lstStyle/>
          <a:p>
            <a:pPr indent="0" marL="0">
              <a:buNone/>
            </a:pPr>
            <a:r>
              <a:rPr lang="en-US" sz="5000" dirty="0">
                <a:solidFill>
                  <a:srgbClr val="0F1B2D"/>
                </a:solidFill>
                <a:latin typeface="Georgia" pitchFamily="34" charset="0"/>
                <a:ea typeface="Georgia" pitchFamily="34" charset="-122"/>
                <a:cs typeface="Georgia" pitchFamily="34" charset="-120"/>
              </a:rPr>
              <a:t>96.99%</a:t>
            </a:r>
            <a:endParaRPr lang="en-US" sz="5000" dirty="0"/>
          </a:p>
        </p:txBody>
      </p:sp>
      <p:sp>
        <p:nvSpPr>
          <p:cNvPr id="34" name="Text 32"/>
          <p:cNvSpPr txBox="1"/>
          <p:nvPr/>
        </p:nvSpPr>
        <p:spPr>
          <a:xfrm>
            <a:off x="4749698" y="3657600"/>
            <a:ext cx="2692298" cy="274320"/>
          </a:xfrm>
          <a:prstGeom prst="rect">
            <a:avLst/>
          </a:prstGeom>
          <a:noFill/>
          <a:ln/>
        </p:spPr>
        <p:txBody>
          <a:bodyPr wrap="square" lIns="0" tIns="0" rIns="0" bIns="0" rtlCol="0" anchor="t"/>
          <a:lstStyle/>
          <a:p>
            <a:pPr indent="0" marL="0">
              <a:buNone/>
            </a:pPr>
            <a:r>
              <a:rPr lang="en-US" sz="1200" dirty="0">
                <a:solidFill>
                  <a:srgbClr val="55606E"/>
                </a:solidFill>
                <a:latin typeface="Arial" pitchFamily="34" charset="0"/>
                <a:ea typeface="Arial" pitchFamily="34" charset="-122"/>
                <a:cs typeface="Arial" pitchFamily="34" charset="-120"/>
              </a:rPr>
              <a:t>accuracy</a:t>
            </a:r>
            <a:endParaRPr lang="en-US" sz="1200" dirty="0"/>
          </a:p>
        </p:txBody>
      </p:sp>
      <p:sp>
        <p:nvSpPr>
          <p:cNvPr id="35" name="Shape 33"/>
          <p:cNvSpPr/>
          <p:nvPr/>
        </p:nvSpPr>
        <p:spPr>
          <a:xfrm>
            <a:off x="4749698" y="4160520"/>
            <a:ext cx="2692298" cy="914"/>
          </a:xfrm>
          <a:prstGeom prst="line">
            <a:avLst/>
          </a:prstGeom>
          <a:noFill/>
          <a:ln w="9525">
            <a:solidFill>
              <a:srgbClr val="E2E6EC"/>
            </a:solidFill>
            <a:prstDash val="solid"/>
          </a:ln>
        </p:spPr>
      </p:sp>
      <p:sp>
        <p:nvSpPr>
          <p:cNvPr id="36" name="Text 34"/>
          <p:cNvSpPr txBox="1"/>
          <p:nvPr/>
        </p:nvSpPr>
        <p:spPr>
          <a:xfrm>
            <a:off x="4749698" y="4343400"/>
            <a:ext cx="1828800" cy="320040"/>
          </a:xfrm>
          <a:prstGeom prst="rect">
            <a:avLst/>
          </a:prstGeom>
          <a:noFill/>
          <a:ln/>
        </p:spPr>
        <p:txBody>
          <a:bodyPr wrap="square" lIns="0" tIns="0" rIns="0" bIns="0" rtlCol="0" anchor="t"/>
          <a:lstStyle/>
          <a:p>
            <a:pPr indent="0" marL="0">
              <a:buNone/>
            </a:pPr>
            <a:r>
              <a:rPr lang="en-US" sz="1300" dirty="0">
                <a:solidFill>
                  <a:srgbClr val="55606E"/>
                </a:solidFill>
                <a:latin typeface="Arial" pitchFamily="34" charset="0"/>
                <a:ea typeface="Arial" pitchFamily="34" charset="-122"/>
                <a:cs typeface="Arial" pitchFamily="34" charset="-120"/>
              </a:rPr>
              <a:t>F1-score</a:t>
            </a:r>
            <a:endParaRPr lang="en-US" sz="1300" dirty="0"/>
          </a:p>
        </p:txBody>
      </p:sp>
      <p:sp>
        <p:nvSpPr>
          <p:cNvPr id="37" name="Text 35"/>
          <p:cNvSpPr txBox="1"/>
          <p:nvPr/>
        </p:nvSpPr>
        <p:spPr>
          <a:xfrm>
            <a:off x="5978957" y="4343400"/>
            <a:ext cx="1463040" cy="320040"/>
          </a:xfrm>
          <a:prstGeom prst="rect">
            <a:avLst/>
          </a:prstGeom>
          <a:noFill/>
          <a:ln/>
        </p:spPr>
        <p:txBody>
          <a:bodyPr wrap="square" lIns="0" tIns="0" rIns="0" bIns="0" rtlCol="0" anchor="t"/>
          <a:lstStyle/>
          <a:p>
            <a:pPr algn="r" indent="0" marL="0">
              <a:buNone/>
            </a:pPr>
            <a:r>
              <a:rPr lang="en-US" sz="1600" b="1" dirty="0">
                <a:solidFill>
                  <a:srgbClr val="0F1B2D"/>
                </a:solidFill>
                <a:latin typeface="Arial" pitchFamily="34" charset="0"/>
                <a:ea typeface="Arial" pitchFamily="34" charset="-122"/>
                <a:cs typeface="Arial" pitchFamily="34" charset="-120"/>
              </a:rPr>
              <a:t>97.06%</a:t>
            </a:r>
            <a:endParaRPr lang="en-US" sz="1600" dirty="0"/>
          </a:p>
        </p:txBody>
      </p:sp>
      <p:sp>
        <p:nvSpPr>
          <p:cNvPr id="38" name="Text 36"/>
          <p:cNvSpPr txBox="1"/>
          <p:nvPr/>
        </p:nvSpPr>
        <p:spPr>
          <a:xfrm>
            <a:off x="4749698" y="4800600"/>
            <a:ext cx="1828800" cy="320040"/>
          </a:xfrm>
          <a:prstGeom prst="rect">
            <a:avLst/>
          </a:prstGeom>
          <a:noFill/>
          <a:ln/>
        </p:spPr>
        <p:txBody>
          <a:bodyPr wrap="square" lIns="0" tIns="0" rIns="0" bIns="0" rtlCol="0" anchor="t"/>
          <a:lstStyle/>
          <a:p>
            <a:pPr indent="0" marL="0">
              <a:buNone/>
            </a:pPr>
            <a:r>
              <a:rPr lang="en-US" sz="1300" dirty="0">
                <a:solidFill>
                  <a:srgbClr val="55606E"/>
                </a:solidFill>
                <a:latin typeface="Arial" pitchFamily="34" charset="0"/>
                <a:ea typeface="Arial" pitchFamily="34" charset="-122"/>
                <a:cs typeface="Arial" pitchFamily="34" charset="-120"/>
              </a:rPr>
              <a:t>False positive rate</a:t>
            </a:r>
            <a:endParaRPr lang="en-US" sz="1300" dirty="0"/>
          </a:p>
        </p:txBody>
      </p:sp>
      <p:sp>
        <p:nvSpPr>
          <p:cNvPr id="39" name="Text 37"/>
          <p:cNvSpPr txBox="1"/>
          <p:nvPr/>
        </p:nvSpPr>
        <p:spPr>
          <a:xfrm>
            <a:off x="5978957" y="4800600"/>
            <a:ext cx="1463040" cy="320040"/>
          </a:xfrm>
          <a:prstGeom prst="rect">
            <a:avLst/>
          </a:prstGeom>
          <a:noFill/>
          <a:ln/>
        </p:spPr>
        <p:txBody>
          <a:bodyPr wrap="square" lIns="0" tIns="0" rIns="0" bIns="0" rtlCol="0" anchor="t"/>
          <a:lstStyle/>
          <a:p>
            <a:pPr algn="r" indent="0" marL="0">
              <a:buNone/>
            </a:pPr>
            <a:r>
              <a:rPr lang="en-US" sz="1600" b="1" dirty="0">
                <a:solidFill>
                  <a:srgbClr val="E0533A"/>
                </a:solidFill>
                <a:latin typeface="Arial" pitchFamily="34" charset="0"/>
                <a:ea typeface="Arial" pitchFamily="34" charset="-122"/>
                <a:cs typeface="Arial" pitchFamily="34" charset="-120"/>
              </a:rPr>
              <a:t>5.44%</a:t>
            </a:r>
            <a:endParaRPr lang="en-US" sz="1600" dirty="0"/>
          </a:p>
        </p:txBody>
      </p:sp>
      <p:sp>
        <p:nvSpPr>
          <p:cNvPr id="40" name="Shape 38"/>
          <p:cNvSpPr/>
          <p:nvPr/>
        </p:nvSpPr>
        <p:spPr>
          <a:xfrm>
            <a:off x="8082077" y="1828800"/>
            <a:ext cx="3423818" cy="3611880"/>
          </a:xfrm>
          <a:prstGeom prst="roundRect">
            <a:avLst>
              <a:gd name="adj" fmla="val 1602"/>
            </a:avLst>
          </a:prstGeom>
          <a:solidFill>
            <a:srgbClr val="0B1526"/>
          </a:solidFill>
          <a:ln w="12700">
            <a:solidFill>
              <a:srgbClr val="0B1526"/>
            </a:solidFill>
            <a:prstDash val="solid"/>
          </a:ln>
        </p:spPr>
      </p:sp>
      <p:sp>
        <p:nvSpPr>
          <p:cNvPr id="41" name="Text 39"/>
          <p:cNvSpPr txBox="1"/>
          <p:nvPr/>
        </p:nvSpPr>
        <p:spPr>
          <a:xfrm>
            <a:off x="8447837" y="2103120"/>
            <a:ext cx="2692298" cy="256032"/>
          </a:xfrm>
          <a:prstGeom prst="rect">
            <a:avLst/>
          </a:prstGeom>
          <a:noFill/>
          <a:ln/>
        </p:spPr>
        <p:txBody>
          <a:bodyPr wrap="square" lIns="0" tIns="0" rIns="0" bIns="0" rtlCol="0" anchor="t"/>
          <a:lstStyle/>
          <a:p>
            <a:pPr indent="0" marL="0">
              <a:buNone/>
            </a:pPr>
            <a:r>
              <a:rPr lang="en-US" sz="1050" b="1" dirty="0">
                <a:solidFill>
                  <a:srgbClr val="F08A6E"/>
                </a:solidFill>
                <a:latin typeface="Arial" pitchFamily="34" charset="0"/>
                <a:ea typeface="Arial" pitchFamily="34" charset="-122"/>
                <a:cs typeface="Arial" pitchFamily="34" charset="-120"/>
              </a:rPr>
              <a:t>LEAKAGE-FREE (REALISTIC)</a:t>
            </a:r>
            <a:endParaRPr lang="en-US" sz="1050" dirty="0"/>
          </a:p>
        </p:txBody>
      </p:sp>
      <p:sp>
        <p:nvSpPr>
          <p:cNvPr id="42" name="Text 40"/>
          <p:cNvSpPr txBox="1"/>
          <p:nvPr/>
        </p:nvSpPr>
        <p:spPr>
          <a:xfrm>
            <a:off x="8447837" y="2377440"/>
            <a:ext cx="2692298" cy="274320"/>
          </a:xfrm>
          <a:prstGeom prst="rect">
            <a:avLst/>
          </a:prstGeom>
          <a:noFill/>
          <a:ln/>
        </p:spPr>
        <p:txBody>
          <a:bodyPr wrap="square" lIns="0" tIns="0" rIns="0" bIns="0" rtlCol="0" anchor="t"/>
          <a:lstStyle/>
          <a:p>
            <a:pPr indent="0" marL="0">
              <a:buNone/>
            </a:pPr>
            <a:r>
              <a:rPr lang="en-US" sz="1200" dirty="0">
                <a:solidFill>
                  <a:srgbClr val="A9B6C8"/>
                </a:solidFill>
                <a:latin typeface="Arial" pitchFamily="34" charset="0"/>
                <a:ea typeface="Arial" pitchFamily="34" charset="-122"/>
                <a:cs typeface="Arial" pitchFamily="34" charset="-120"/>
              </a:rPr>
              <a:t>DAPT2020, balance after split</a:t>
            </a:r>
            <a:endParaRPr lang="en-US" sz="1200" dirty="0"/>
          </a:p>
        </p:txBody>
      </p:sp>
      <p:sp>
        <p:nvSpPr>
          <p:cNvPr id="43" name="Text 41"/>
          <p:cNvSpPr txBox="1"/>
          <p:nvPr/>
        </p:nvSpPr>
        <p:spPr>
          <a:xfrm>
            <a:off x="8447837" y="2788920"/>
            <a:ext cx="2692298" cy="868680"/>
          </a:xfrm>
          <a:prstGeom prst="rect">
            <a:avLst/>
          </a:prstGeom>
          <a:noFill/>
          <a:ln/>
        </p:spPr>
        <p:txBody>
          <a:bodyPr wrap="square" lIns="0" tIns="0" rIns="0" bIns="0" rtlCol="0" anchor="t"/>
          <a:lstStyle/>
          <a:p>
            <a:pPr indent="0" marL="0">
              <a:buNone/>
            </a:pPr>
            <a:r>
              <a:rPr lang="en-US" sz="5000" dirty="0">
                <a:solidFill>
                  <a:srgbClr val="FFFFFF"/>
                </a:solidFill>
                <a:latin typeface="Georgia" pitchFamily="34" charset="0"/>
                <a:ea typeface="Georgia" pitchFamily="34" charset="-122"/>
                <a:cs typeface="Georgia" pitchFamily="34" charset="-120"/>
              </a:rPr>
              <a:t>94.28%</a:t>
            </a:r>
            <a:endParaRPr lang="en-US" sz="5000" dirty="0"/>
          </a:p>
        </p:txBody>
      </p:sp>
      <p:sp>
        <p:nvSpPr>
          <p:cNvPr id="44" name="Text 42"/>
          <p:cNvSpPr txBox="1"/>
          <p:nvPr/>
        </p:nvSpPr>
        <p:spPr>
          <a:xfrm>
            <a:off x="8447837" y="3657600"/>
            <a:ext cx="2692298" cy="274320"/>
          </a:xfrm>
          <a:prstGeom prst="rect">
            <a:avLst/>
          </a:prstGeom>
          <a:noFill/>
          <a:ln/>
        </p:spPr>
        <p:txBody>
          <a:bodyPr wrap="square" lIns="0" tIns="0" rIns="0" bIns="0" rtlCol="0" anchor="t"/>
          <a:lstStyle/>
          <a:p>
            <a:pPr indent="0" marL="0">
              <a:buNone/>
            </a:pPr>
            <a:r>
              <a:rPr lang="en-US" sz="1200" dirty="0">
                <a:solidFill>
                  <a:srgbClr val="A9B6C8"/>
                </a:solidFill>
                <a:latin typeface="Arial" pitchFamily="34" charset="0"/>
                <a:ea typeface="Arial" pitchFamily="34" charset="-122"/>
                <a:cs typeface="Arial" pitchFamily="34" charset="-120"/>
              </a:rPr>
              <a:t>accuracy</a:t>
            </a:r>
            <a:endParaRPr lang="en-US" sz="1200" dirty="0"/>
          </a:p>
        </p:txBody>
      </p:sp>
      <p:sp>
        <p:nvSpPr>
          <p:cNvPr id="45" name="Shape 43"/>
          <p:cNvSpPr/>
          <p:nvPr/>
        </p:nvSpPr>
        <p:spPr>
          <a:xfrm>
            <a:off x="8447837" y="4160520"/>
            <a:ext cx="2692298" cy="914"/>
          </a:xfrm>
          <a:prstGeom prst="line">
            <a:avLst/>
          </a:prstGeom>
          <a:noFill/>
          <a:ln w="9525">
            <a:solidFill>
              <a:srgbClr val="2C3E5C"/>
            </a:solidFill>
            <a:prstDash val="solid"/>
          </a:ln>
        </p:spPr>
      </p:sp>
      <p:sp>
        <p:nvSpPr>
          <p:cNvPr id="46" name="Text 44"/>
          <p:cNvSpPr txBox="1"/>
          <p:nvPr/>
        </p:nvSpPr>
        <p:spPr>
          <a:xfrm>
            <a:off x="8447837" y="4343400"/>
            <a:ext cx="1828800" cy="320040"/>
          </a:xfrm>
          <a:prstGeom prst="rect">
            <a:avLst/>
          </a:prstGeom>
          <a:noFill/>
          <a:ln/>
        </p:spPr>
        <p:txBody>
          <a:bodyPr wrap="square" lIns="0" tIns="0" rIns="0" bIns="0" rtlCol="0" anchor="t"/>
          <a:lstStyle/>
          <a:p>
            <a:pPr indent="0" marL="0">
              <a:buNone/>
            </a:pPr>
            <a:r>
              <a:rPr lang="en-US" sz="1300" dirty="0">
                <a:solidFill>
                  <a:srgbClr val="A9B6C8"/>
                </a:solidFill>
                <a:latin typeface="Arial" pitchFamily="34" charset="0"/>
                <a:ea typeface="Arial" pitchFamily="34" charset="-122"/>
                <a:cs typeface="Arial" pitchFamily="34" charset="-120"/>
              </a:rPr>
              <a:t>F1-score</a:t>
            </a:r>
            <a:endParaRPr lang="en-US" sz="1300" dirty="0"/>
          </a:p>
        </p:txBody>
      </p:sp>
      <p:sp>
        <p:nvSpPr>
          <p:cNvPr id="47" name="Text 45"/>
          <p:cNvSpPr txBox="1"/>
          <p:nvPr/>
        </p:nvSpPr>
        <p:spPr>
          <a:xfrm>
            <a:off x="9677095" y="4343400"/>
            <a:ext cx="1463040" cy="320040"/>
          </a:xfrm>
          <a:prstGeom prst="rect">
            <a:avLst/>
          </a:prstGeom>
          <a:noFill/>
          <a:ln/>
        </p:spPr>
        <p:txBody>
          <a:bodyPr wrap="square" lIns="0" tIns="0" rIns="0" bIns="0" rtlCol="0" anchor="t"/>
          <a:lstStyle/>
          <a:p>
            <a:pPr algn="r" indent="0" marL="0">
              <a:buNone/>
            </a:pPr>
            <a:r>
              <a:rPr lang="en-US" sz="1600" b="1" dirty="0">
                <a:solidFill>
                  <a:srgbClr val="FFFFFF"/>
                </a:solidFill>
                <a:latin typeface="Arial" pitchFamily="34" charset="0"/>
                <a:ea typeface="Arial" pitchFamily="34" charset="-122"/>
                <a:cs typeface="Arial" pitchFamily="34" charset="-120"/>
              </a:rPr>
              <a:t>88.85%</a:t>
            </a:r>
            <a:endParaRPr lang="en-US" sz="1600" dirty="0"/>
          </a:p>
        </p:txBody>
      </p:sp>
      <p:sp>
        <p:nvSpPr>
          <p:cNvPr id="48" name="Text 46"/>
          <p:cNvSpPr txBox="1"/>
          <p:nvPr/>
        </p:nvSpPr>
        <p:spPr>
          <a:xfrm>
            <a:off x="8447837" y="4800600"/>
            <a:ext cx="1828800" cy="320040"/>
          </a:xfrm>
          <a:prstGeom prst="rect">
            <a:avLst/>
          </a:prstGeom>
          <a:noFill/>
          <a:ln/>
        </p:spPr>
        <p:txBody>
          <a:bodyPr wrap="square" lIns="0" tIns="0" rIns="0" bIns="0" rtlCol="0" anchor="t"/>
          <a:lstStyle/>
          <a:p>
            <a:pPr indent="0" marL="0">
              <a:buNone/>
            </a:pPr>
            <a:r>
              <a:rPr lang="en-US" sz="1300" dirty="0">
                <a:solidFill>
                  <a:srgbClr val="A9B6C8"/>
                </a:solidFill>
                <a:latin typeface="Arial" pitchFamily="34" charset="0"/>
                <a:ea typeface="Arial" pitchFamily="34" charset="-122"/>
                <a:cs typeface="Arial" pitchFamily="34" charset="-120"/>
              </a:rPr>
              <a:t>False positive rate</a:t>
            </a:r>
            <a:endParaRPr lang="en-US" sz="1300" dirty="0"/>
          </a:p>
        </p:txBody>
      </p:sp>
      <p:sp>
        <p:nvSpPr>
          <p:cNvPr id="49" name="Text 47"/>
          <p:cNvSpPr txBox="1"/>
          <p:nvPr/>
        </p:nvSpPr>
        <p:spPr>
          <a:xfrm>
            <a:off x="9677095" y="4800600"/>
            <a:ext cx="1463040" cy="320040"/>
          </a:xfrm>
          <a:prstGeom prst="rect">
            <a:avLst/>
          </a:prstGeom>
          <a:noFill/>
          <a:ln/>
        </p:spPr>
        <p:txBody>
          <a:bodyPr wrap="square" lIns="0" tIns="0" rIns="0" bIns="0" rtlCol="0" anchor="t"/>
          <a:lstStyle/>
          <a:p>
            <a:pPr algn="r" indent="0" marL="0">
              <a:buNone/>
            </a:pPr>
            <a:r>
              <a:rPr lang="en-US" sz="1600" b="1" dirty="0">
                <a:solidFill>
                  <a:srgbClr val="F08A6E"/>
                </a:solidFill>
                <a:latin typeface="Arial" pitchFamily="34" charset="0"/>
                <a:ea typeface="Arial" pitchFamily="34" charset="-122"/>
                <a:cs typeface="Arial" pitchFamily="34" charset="-120"/>
              </a:rPr>
              <a:t>6.78%</a:t>
            </a:r>
            <a:endParaRPr lang="en-US" sz="1600" dirty="0"/>
          </a:p>
        </p:txBody>
      </p:sp>
      <p:sp>
        <p:nvSpPr>
          <p:cNvPr id="50" name="Text 48"/>
          <p:cNvSpPr txBox="1"/>
          <p:nvPr/>
        </p:nvSpPr>
        <p:spPr>
          <a:xfrm>
            <a:off x="685800" y="5669280"/>
            <a:ext cx="10820095" cy="548640"/>
          </a:xfrm>
          <a:prstGeom prst="rect">
            <a:avLst/>
          </a:prstGeom>
          <a:noFill/>
          <a:ln/>
        </p:spPr>
        <p:txBody>
          <a:bodyPr wrap="square" lIns="0" tIns="0" rIns="0" bIns="0" rtlCol="0" anchor="t"/>
          <a:lstStyle/>
          <a:p>
            <a:pPr indent="0" marL="0">
              <a:buNone/>
            </a:pPr>
            <a:r>
              <a:rPr lang="en-US" sz="1400" b="1" dirty="0">
                <a:solidFill>
                  <a:srgbClr val="0F1B2D"/>
                </a:solidFill>
                <a:latin typeface="Arial" pitchFamily="34" charset="0"/>
                <a:ea typeface="Arial" pitchFamily="34" charset="-122"/>
                <a:cs typeface="Arial" pitchFamily="34" charset="-120"/>
              </a:rPr>
              <a:t>Takeaway: </a:t>
            </a:r>
            <a:pPr indent="0" marL="0">
              <a:buNone/>
            </a:pPr>
            <a:r>
              <a:rPr lang="en-US" sz="1400" dirty="0">
                <a:solidFill>
                  <a:srgbClr val="0F1B2D"/>
                </a:solidFill>
                <a:latin typeface="Arial" pitchFamily="34" charset="0"/>
                <a:ea typeface="Arial" pitchFamily="34" charset="-122"/>
                <a:cs typeface="Arial" pitchFamily="34" charset="-120"/>
              </a:rPr>
              <a:t>the hybrid still ranks APT flows very well (AUC 99.08%), but raises about 13× more false alarms than claimed, and on a realistic test set its F1 is 8.2 points lower.</a:t>
            </a:r>
            <a:endParaRPr lang="en-US" sz="1400" dirty="0"/>
          </a:p>
        </p:txBody>
      </p:sp>
      <p:sp>
        <p:nvSpPr>
          <p:cNvPr id="51" name="Text 49"/>
          <p:cNvSpPr txBox="1"/>
          <p:nvPr/>
        </p:nvSpPr>
        <p:spPr>
          <a:xfrm>
            <a:off x="685800" y="6400800"/>
            <a:ext cx="7315200" cy="228600"/>
          </a:xfrm>
          <a:prstGeom prst="rect">
            <a:avLst/>
          </a:prstGeom>
          <a:noFill/>
          <a:ln/>
        </p:spPr>
        <p:txBody>
          <a:bodyPr wrap="square" lIns="0" tIns="0" rIns="0" bIns="0" rtlCol="0" anchor="t"/>
          <a:lstStyle/>
          <a:p>
            <a:pPr indent="0" marL="0">
              <a:buNone/>
            </a:pPr>
            <a:r>
              <a:rPr lang="en-US" sz="900" dirty="0">
                <a:solidFill>
                  <a:srgbClr val="8A94A3"/>
                </a:solidFill>
                <a:latin typeface="Arial" pitchFamily="34" charset="0"/>
                <a:ea typeface="Arial" pitchFamily="34" charset="-122"/>
                <a:cs typeface="Arial" pitchFamily="34" charset="-120"/>
              </a:rPr>
              <a:t>Anomaly detection for Advanced Persistent Threats   |   Mid-term evaluation</a:t>
            </a:r>
            <a:endParaRPr lang="en-US" sz="900" dirty="0"/>
          </a:p>
        </p:txBody>
      </p:sp>
      <p:sp>
        <p:nvSpPr>
          <p:cNvPr id="52" name="Text 50"/>
          <p:cNvSpPr txBox="1"/>
          <p:nvPr/>
        </p:nvSpPr>
        <p:spPr>
          <a:xfrm>
            <a:off x="10591495" y="6400800"/>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V="1">
            <a:off x="10087295" y="470002"/>
            <a:ext cx="288950" cy="416966"/>
          </a:xfrm>
          <a:prstGeom prst="line">
            <a:avLst/>
          </a:prstGeom>
          <a:noFill/>
          <a:ln w="9525">
            <a:solidFill>
              <a:srgbClr val="DCE2EA"/>
            </a:solidFill>
            <a:prstDash val="solid"/>
          </a:ln>
        </p:spPr>
      </p:sp>
      <p:sp>
        <p:nvSpPr>
          <p:cNvPr id="3" name="Shape 1"/>
          <p:cNvSpPr/>
          <p:nvPr/>
        </p:nvSpPr>
        <p:spPr>
          <a:xfrm>
            <a:off x="10087295" y="886968"/>
            <a:ext cx="549006" cy="69494"/>
          </a:xfrm>
          <a:prstGeom prst="line">
            <a:avLst/>
          </a:prstGeom>
          <a:noFill/>
          <a:ln w="9525">
            <a:solidFill>
              <a:srgbClr val="DCE2EA"/>
            </a:solidFill>
            <a:prstDash val="solid"/>
          </a:ln>
        </p:spPr>
      </p:sp>
      <p:sp>
        <p:nvSpPr>
          <p:cNvPr id="4" name="Shape 2"/>
          <p:cNvSpPr/>
          <p:nvPr/>
        </p:nvSpPr>
        <p:spPr>
          <a:xfrm>
            <a:off x="10376245" y="470002"/>
            <a:ext cx="549006" cy="156362"/>
          </a:xfrm>
          <a:prstGeom prst="line">
            <a:avLst/>
          </a:prstGeom>
          <a:noFill/>
          <a:ln w="9525">
            <a:solidFill>
              <a:srgbClr val="F2B7A8"/>
            </a:solidFill>
            <a:prstDash val="solid"/>
          </a:ln>
        </p:spPr>
      </p:sp>
      <p:sp>
        <p:nvSpPr>
          <p:cNvPr id="5" name="Shape 3"/>
          <p:cNvSpPr/>
          <p:nvPr/>
        </p:nvSpPr>
        <p:spPr>
          <a:xfrm flipV="1">
            <a:off x="10636301" y="626364"/>
            <a:ext cx="288950" cy="330098"/>
          </a:xfrm>
          <a:prstGeom prst="line">
            <a:avLst/>
          </a:prstGeom>
          <a:noFill/>
          <a:ln w="9525">
            <a:solidFill>
              <a:srgbClr val="F2B7A8"/>
            </a:solidFill>
            <a:prstDash val="solid"/>
          </a:ln>
        </p:spPr>
      </p:sp>
      <p:sp>
        <p:nvSpPr>
          <p:cNvPr id="6" name="Shape 4"/>
          <p:cNvSpPr/>
          <p:nvPr/>
        </p:nvSpPr>
        <p:spPr>
          <a:xfrm flipV="1">
            <a:off x="10925251" y="522122"/>
            <a:ext cx="534558" cy="104242"/>
          </a:xfrm>
          <a:prstGeom prst="line">
            <a:avLst/>
          </a:prstGeom>
          <a:noFill/>
          <a:ln w="9525">
            <a:solidFill>
              <a:srgbClr val="F2B7A8"/>
            </a:solidFill>
            <a:prstDash val="solid"/>
          </a:ln>
        </p:spPr>
      </p:sp>
      <p:sp>
        <p:nvSpPr>
          <p:cNvPr id="7" name="Shape 5"/>
          <p:cNvSpPr/>
          <p:nvPr/>
        </p:nvSpPr>
        <p:spPr>
          <a:xfrm>
            <a:off x="10636301" y="956462"/>
            <a:ext cx="549006" cy="121615"/>
          </a:xfrm>
          <a:prstGeom prst="line">
            <a:avLst/>
          </a:prstGeom>
          <a:noFill/>
          <a:ln w="9525">
            <a:solidFill>
              <a:srgbClr val="DCE2EA"/>
            </a:solidFill>
            <a:prstDash val="solid"/>
          </a:ln>
        </p:spPr>
      </p:sp>
      <p:sp>
        <p:nvSpPr>
          <p:cNvPr id="8" name="Shape 6"/>
          <p:cNvSpPr/>
          <p:nvPr/>
        </p:nvSpPr>
        <p:spPr>
          <a:xfrm flipV="1">
            <a:off x="11185307" y="843534"/>
            <a:ext cx="173370" cy="234544"/>
          </a:xfrm>
          <a:prstGeom prst="line">
            <a:avLst/>
          </a:prstGeom>
          <a:noFill/>
          <a:ln w="9525">
            <a:solidFill>
              <a:srgbClr val="DCE2EA"/>
            </a:solidFill>
            <a:prstDash val="solid"/>
          </a:ln>
        </p:spPr>
      </p:sp>
      <p:sp>
        <p:nvSpPr>
          <p:cNvPr id="9" name="Shape 7"/>
          <p:cNvSpPr/>
          <p:nvPr/>
        </p:nvSpPr>
        <p:spPr>
          <a:xfrm flipH="1">
            <a:off x="11358677" y="522122"/>
            <a:ext cx="101133" cy="321412"/>
          </a:xfrm>
          <a:prstGeom prst="line">
            <a:avLst/>
          </a:prstGeom>
          <a:noFill/>
          <a:ln w="9525">
            <a:solidFill>
              <a:srgbClr val="DCE2EA"/>
            </a:solidFill>
            <a:prstDash val="solid"/>
          </a:ln>
        </p:spPr>
      </p:sp>
      <p:sp>
        <p:nvSpPr>
          <p:cNvPr id="10" name="Shape 8"/>
          <p:cNvSpPr/>
          <p:nvPr/>
        </p:nvSpPr>
        <p:spPr>
          <a:xfrm>
            <a:off x="10055291" y="854964"/>
            <a:ext cx="64008" cy="64008"/>
          </a:xfrm>
          <a:prstGeom prst="ellipse">
            <a:avLst/>
          </a:prstGeom>
          <a:solidFill>
            <a:srgbClr val="C3CCD9"/>
          </a:solidFill>
          <a:ln w="12700">
            <a:solidFill>
              <a:srgbClr val="C3CCD9"/>
            </a:solidFill>
            <a:prstDash val="solid"/>
          </a:ln>
        </p:spPr>
      </p:sp>
      <p:sp>
        <p:nvSpPr>
          <p:cNvPr id="11" name="Shape 9"/>
          <p:cNvSpPr/>
          <p:nvPr/>
        </p:nvSpPr>
        <p:spPr>
          <a:xfrm>
            <a:off x="10335097" y="428854"/>
            <a:ext cx="82296" cy="82296"/>
          </a:xfrm>
          <a:prstGeom prst="ellipse">
            <a:avLst/>
          </a:prstGeom>
          <a:solidFill>
            <a:srgbClr val="C3CCD9"/>
          </a:solidFill>
          <a:ln w="12700">
            <a:solidFill>
              <a:srgbClr val="C3CCD9"/>
            </a:solidFill>
            <a:prstDash val="solid"/>
          </a:ln>
        </p:spPr>
      </p:sp>
      <p:sp>
        <p:nvSpPr>
          <p:cNvPr id="12" name="Shape 10"/>
          <p:cNvSpPr/>
          <p:nvPr/>
        </p:nvSpPr>
        <p:spPr>
          <a:xfrm>
            <a:off x="10599725" y="919886"/>
            <a:ext cx="73152" cy="73152"/>
          </a:xfrm>
          <a:prstGeom prst="ellipse">
            <a:avLst/>
          </a:prstGeom>
          <a:solidFill>
            <a:srgbClr val="C3CCD9"/>
          </a:solidFill>
          <a:ln w="12700">
            <a:solidFill>
              <a:srgbClr val="C3CCD9"/>
            </a:solidFill>
            <a:prstDash val="solid"/>
          </a:ln>
        </p:spPr>
      </p:sp>
      <p:sp>
        <p:nvSpPr>
          <p:cNvPr id="13" name="Shape 11"/>
          <p:cNvSpPr/>
          <p:nvPr/>
        </p:nvSpPr>
        <p:spPr>
          <a:xfrm>
            <a:off x="10806379" y="507492"/>
            <a:ext cx="237744" cy="237744"/>
          </a:xfrm>
          <a:prstGeom prst="ellipse">
            <a:avLst/>
          </a:prstGeom>
          <a:solidFill>
            <a:srgbClr val="E0533A">
              <a:alpha val="18000"/>
            </a:srgbClr>
          </a:solidFill>
          <a:ln w="12700">
            <a:solidFill>
              <a:srgbClr val="E0533A">
                <a:alpha val="18000"/>
              </a:srgbClr>
            </a:solidFill>
            <a:prstDash val="solid"/>
          </a:ln>
        </p:spPr>
      </p:sp>
      <p:sp>
        <p:nvSpPr>
          <p:cNvPr id="14" name="Shape 12"/>
          <p:cNvSpPr/>
          <p:nvPr/>
        </p:nvSpPr>
        <p:spPr>
          <a:xfrm>
            <a:off x="10874959" y="576072"/>
            <a:ext cx="100584" cy="100584"/>
          </a:xfrm>
          <a:prstGeom prst="ellipse">
            <a:avLst/>
          </a:prstGeom>
          <a:solidFill>
            <a:srgbClr val="E0533A"/>
          </a:solidFill>
          <a:ln w="12700">
            <a:solidFill>
              <a:srgbClr val="E0533A"/>
            </a:solidFill>
            <a:prstDash val="solid"/>
          </a:ln>
        </p:spPr>
      </p:sp>
      <p:sp>
        <p:nvSpPr>
          <p:cNvPr id="15" name="Shape 13"/>
          <p:cNvSpPr/>
          <p:nvPr/>
        </p:nvSpPr>
        <p:spPr>
          <a:xfrm>
            <a:off x="11144159" y="1036930"/>
            <a:ext cx="82296" cy="82296"/>
          </a:xfrm>
          <a:prstGeom prst="ellipse">
            <a:avLst/>
          </a:prstGeom>
          <a:solidFill>
            <a:srgbClr val="C3CCD9"/>
          </a:solidFill>
          <a:ln w="12700">
            <a:solidFill>
              <a:srgbClr val="C3CCD9"/>
            </a:solidFill>
            <a:prstDash val="solid"/>
          </a:ln>
        </p:spPr>
      </p:sp>
      <p:sp>
        <p:nvSpPr>
          <p:cNvPr id="16" name="Shape 14"/>
          <p:cNvSpPr/>
          <p:nvPr/>
        </p:nvSpPr>
        <p:spPr>
          <a:xfrm>
            <a:off x="11427805" y="490118"/>
            <a:ext cx="64008" cy="64008"/>
          </a:xfrm>
          <a:prstGeom prst="ellipse">
            <a:avLst/>
          </a:prstGeom>
          <a:solidFill>
            <a:srgbClr val="C3CCD9"/>
          </a:solidFill>
          <a:ln w="12700">
            <a:solidFill>
              <a:srgbClr val="C3CCD9"/>
            </a:solidFill>
            <a:prstDash val="solid"/>
          </a:ln>
        </p:spPr>
      </p:sp>
      <p:sp>
        <p:nvSpPr>
          <p:cNvPr id="17" name="Shape 15"/>
          <p:cNvSpPr/>
          <p:nvPr/>
        </p:nvSpPr>
        <p:spPr>
          <a:xfrm>
            <a:off x="11331245" y="816102"/>
            <a:ext cx="54864" cy="54864"/>
          </a:xfrm>
          <a:prstGeom prst="ellipse">
            <a:avLst/>
          </a:prstGeom>
          <a:solidFill>
            <a:srgbClr val="C3CCD9"/>
          </a:solidFill>
          <a:ln w="12700">
            <a:solidFill>
              <a:srgbClr val="C3CCD9"/>
            </a:solidFill>
            <a:prstDash val="solid"/>
          </a:ln>
        </p:spPr>
      </p:sp>
      <p:sp>
        <p:nvSpPr>
          <p:cNvPr id="18" name="Text 16"/>
          <p:cNvSpPr txBox="1"/>
          <p:nvPr/>
        </p:nvSpPr>
        <p:spPr>
          <a:xfrm>
            <a:off x="685800" y="475488"/>
            <a:ext cx="10820095" cy="256032"/>
          </a:xfrm>
          <a:prstGeom prst="rect">
            <a:avLst/>
          </a:prstGeom>
          <a:noFill/>
          <a:ln/>
        </p:spPr>
        <p:txBody>
          <a:bodyPr wrap="square" lIns="0" tIns="0" rIns="0" bIns="0" rtlCol="0" anchor="t"/>
          <a:lstStyle/>
          <a:p>
            <a:pPr indent="0" marL="0">
              <a:buNone/>
            </a:pPr>
            <a:r>
              <a:rPr lang="en-US" sz="1100" b="1" dirty="0">
                <a:solidFill>
                  <a:srgbClr val="E0533A"/>
                </a:solidFill>
                <a:latin typeface="Arial" pitchFamily="34" charset="0"/>
                <a:ea typeface="Arial" pitchFamily="34" charset="-122"/>
                <a:cs typeface="Arial" pitchFamily="34" charset="-120"/>
              </a:rPr>
              <a:t>03 · RESULTS</a:t>
            </a:r>
            <a:endParaRPr lang="en-US" sz="1100" dirty="0"/>
          </a:p>
        </p:txBody>
      </p:sp>
      <p:sp>
        <p:nvSpPr>
          <p:cNvPr id="19" name="Text 17"/>
          <p:cNvSpPr txBox="1"/>
          <p:nvPr/>
        </p:nvSpPr>
        <p:spPr>
          <a:xfrm>
            <a:off x="685800" y="768096"/>
            <a:ext cx="10820095" cy="822960"/>
          </a:xfrm>
          <a:prstGeom prst="rect">
            <a:avLst/>
          </a:prstGeom>
          <a:noFill/>
          <a:ln/>
        </p:spPr>
        <p:txBody>
          <a:bodyPr wrap="square" lIns="0" tIns="0" rIns="0" bIns="0" rtlCol="0" anchor="t"/>
          <a:lstStyle/>
          <a:p>
            <a:pPr indent="0" marL="0">
              <a:buNone/>
            </a:pPr>
            <a:r>
              <a:rPr lang="en-US" sz="3000" dirty="0">
                <a:solidFill>
                  <a:srgbClr val="0F1B2D"/>
                </a:solidFill>
                <a:latin typeface="Georgia" pitchFamily="34" charset="0"/>
                <a:ea typeface="Georgia" pitchFamily="34" charset="-122"/>
                <a:cs typeface="Georgia" pitchFamily="34" charset="-120"/>
              </a:rPr>
              <a:t>Most of the inflation comes from the 50/50 test set</a:t>
            </a:r>
            <a:endParaRPr lang="en-US" sz="3000" dirty="0"/>
          </a:p>
        </p:txBody>
      </p:sp>
      <p:sp>
        <p:nvSpPr>
          <p:cNvPr id="20" name="Shape 18"/>
          <p:cNvSpPr/>
          <p:nvPr/>
        </p:nvSpPr>
        <p:spPr>
          <a:xfrm>
            <a:off x="685800" y="1828800"/>
            <a:ext cx="2926080" cy="2286000"/>
          </a:xfrm>
          <a:prstGeom prst="roundRect">
            <a:avLst>
              <a:gd name="adj" fmla="val 2400"/>
            </a:avLst>
          </a:prstGeom>
          <a:solidFill>
            <a:srgbClr val="F4F6F9"/>
          </a:solidFill>
          <a:ln w="12700">
            <a:solidFill>
              <a:srgbClr val="F4F6F9"/>
            </a:solidFill>
            <a:prstDash val="solid"/>
          </a:ln>
        </p:spPr>
      </p:sp>
      <p:sp>
        <p:nvSpPr>
          <p:cNvPr id="21" name="Text 19"/>
          <p:cNvSpPr txBox="1"/>
          <p:nvPr/>
        </p:nvSpPr>
        <p:spPr>
          <a:xfrm>
            <a:off x="960120" y="2029968"/>
            <a:ext cx="2377440" cy="256032"/>
          </a:xfrm>
          <a:prstGeom prst="rect">
            <a:avLst/>
          </a:prstGeom>
          <a:noFill/>
          <a:ln/>
        </p:spPr>
        <p:txBody>
          <a:bodyPr wrap="square" lIns="0" tIns="0" rIns="0" bIns="0" rtlCol="0" anchor="t"/>
          <a:lstStyle/>
          <a:p>
            <a:pPr indent="0" marL="0">
              <a:buNone/>
            </a:pPr>
            <a:r>
              <a:rPr lang="en-US" sz="950" b="1" dirty="0">
                <a:solidFill>
                  <a:srgbClr val="8A94A3"/>
                </a:solidFill>
                <a:latin typeface="Arial" pitchFamily="34" charset="0"/>
                <a:ea typeface="Arial" pitchFamily="34" charset="-122"/>
                <a:cs typeface="Arial" pitchFamily="34" charset="-120"/>
              </a:rPr>
              <a:t>AS THE PAPER WOULD REPORT IT</a:t>
            </a:r>
            <a:endParaRPr lang="en-US" sz="950" dirty="0"/>
          </a:p>
        </p:txBody>
      </p:sp>
      <p:sp>
        <p:nvSpPr>
          <p:cNvPr id="22" name="Text 20"/>
          <p:cNvSpPr txBox="1"/>
          <p:nvPr/>
        </p:nvSpPr>
        <p:spPr>
          <a:xfrm>
            <a:off x="960120" y="2286000"/>
            <a:ext cx="2377440" cy="274320"/>
          </a:xfrm>
          <a:prstGeom prst="rect">
            <a:avLst/>
          </a:prstGeom>
          <a:noFill/>
          <a:ln/>
        </p:spPr>
        <p:txBody>
          <a:bodyPr wrap="square" lIns="0" tIns="0" rIns="0" bIns="0" rtlCol="0" anchor="t"/>
          <a:lstStyle/>
          <a:p>
            <a:pPr indent="0" marL="0">
              <a:buNone/>
            </a:pPr>
            <a:r>
              <a:rPr lang="en-US" sz="1150" dirty="0">
                <a:solidFill>
                  <a:srgbClr val="55606E"/>
                </a:solidFill>
                <a:latin typeface="Arial" pitchFamily="34" charset="0"/>
                <a:ea typeface="Arial" pitchFamily="34" charset="-122"/>
                <a:cs typeface="Arial" pitchFamily="34" charset="-120"/>
              </a:rPr>
              <a:t>Balanced test set with synthetic flows</a:t>
            </a:r>
            <a:endParaRPr lang="en-US" sz="1150" dirty="0"/>
          </a:p>
        </p:txBody>
      </p:sp>
      <p:sp>
        <p:nvSpPr>
          <p:cNvPr id="23" name="Text 21"/>
          <p:cNvSpPr txBox="1"/>
          <p:nvPr/>
        </p:nvSpPr>
        <p:spPr>
          <a:xfrm>
            <a:off x="960120" y="2651760"/>
            <a:ext cx="2377440" cy="777240"/>
          </a:xfrm>
          <a:prstGeom prst="rect">
            <a:avLst/>
          </a:prstGeom>
          <a:noFill/>
          <a:ln/>
        </p:spPr>
        <p:txBody>
          <a:bodyPr wrap="square" lIns="0" tIns="0" rIns="0" bIns="0" rtlCol="0" anchor="t"/>
          <a:lstStyle/>
          <a:p>
            <a:pPr indent="0" marL="0">
              <a:buNone/>
            </a:pPr>
            <a:r>
              <a:rPr lang="en-US" sz="4200" dirty="0">
                <a:solidFill>
                  <a:srgbClr val="0F1B2D"/>
                </a:solidFill>
                <a:latin typeface="Georgia" pitchFamily="34" charset="0"/>
                <a:ea typeface="Georgia" pitchFamily="34" charset="-122"/>
                <a:cs typeface="Georgia" pitchFamily="34" charset="-120"/>
              </a:rPr>
              <a:t>97.06%</a:t>
            </a:r>
            <a:endParaRPr lang="en-US" sz="4200" dirty="0"/>
          </a:p>
        </p:txBody>
      </p:sp>
      <p:sp>
        <p:nvSpPr>
          <p:cNvPr id="24" name="Text 22"/>
          <p:cNvSpPr txBox="1"/>
          <p:nvPr/>
        </p:nvSpPr>
        <p:spPr>
          <a:xfrm>
            <a:off x="960120" y="3474720"/>
            <a:ext cx="2377440" cy="274320"/>
          </a:xfrm>
          <a:prstGeom prst="rect">
            <a:avLst/>
          </a:prstGeom>
          <a:noFill/>
          <a:ln/>
        </p:spPr>
        <p:txBody>
          <a:bodyPr wrap="square" lIns="0" tIns="0" rIns="0" bIns="0" rtlCol="0" anchor="t"/>
          <a:lstStyle/>
          <a:p>
            <a:pPr indent="0" marL="0">
              <a:buNone/>
            </a:pPr>
            <a:r>
              <a:rPr lang="en-US" sz="1200" dirty="0">
                <a:solidFill>
                  <a:srgbClr val="55606E"/>
                </a:solidFill>
                <a:latin typeface="Arial" pitchFamily="34" charset="0"/>
                <a:ea typeface="Arial" pitchFamily="34" charset="-122"/>
                <a:cs typeface="Arial" pitchFamily="34" charset="-120"/>
              </a:rPr>
              <a:t>F1   ·   precision 94.8%</a:t>
            </a:r>
            <a:endParaRPr lang="en-US" sz="1200" dirty="0"/>
          </a:p>
        </p:txBody>
      </p:sp>
      <p:sp>
        <p:nvSpPr>
          <p:cNvPr id="25" name="Shape 23"/>
          <p:cNvSpPr/>
          <p:nvPr/>
        </p:nvSpPr>
        <p:spPr>
          <a:xfrm>
            <a:off x="4632808" y="1828800"/>
            <a:ext cx="2926080" cy="2286000"/>
          </a:xfrm>
          <a:prstGeom prst="roundRect">
            <a:avLst>
              <a:gd name="adj" fmla="val 2400"/>
            </a:avLst>
          </a:prstGeom>
          <a:solidFill>
            <a:srgbClr val="F4F6F9"/>
          </a:solidFill>
          <a:ln w="12700">
            <a:solidFill>
              <a:srgbClr val="F4F6F9"/>
            </a:solidFill>
            <a:prstDash val="solid"/>
          </a:ln>
        </p:spPr>
      </p:sp>
      <p:sp>
        <p:nvSpPr>
          <p:cNvPr id="26" name="Text 24"/>
          <p:cNvSpPr txBox="1"/>
          <p:nvPr/>
        </p:nvSpPr>
        <p:spPr>
          <a:xfrm>
            <a:off x="4907128" y="2029968"/>
            <a:ext cx="2377440" cy="256032"/>
          </a:xfrm>
          <a:prstGeom prst="rect">
            <a:avLst/>
          </a:prstGeom>
          <a:noFill/>
          <a:ln/>
        </p:spPr>
        <p:txBody>
          <a:bodyPr wrap="square" lIns="0" tIns="0" rIns="0" bIns="0" rtlCol="0" anchor="t"/>
          <a:lstStyle/>
          <a:p>
            <a:pPr indent="0" marL="0">
              <a:buNone/>
            </a:pPr>
            <a:r>
              <a:rPr lang="en-US" sz="950" b="1" dirty="0">
                <a:solidFill>
                  <a:srgbClr val="8A94A3"/>
                </a:solidFill>
                <a:latin typeface="Arial" pitchFamily="34" charset="0"/>
                <a:ea typeface="Arial" pitchFamily="34" charset="-122"/>
                <a:cs typeface="Arial" pitchFamily="34" charset="-120"/>
              </a:rPr>
              <a:t>SAME PREDICTIONS, REAL CLASS RATIO</a:t>
            </a:r>
            <a:endParaRPr lang="en-US" sz="950" dirty="0"/>
          </a:p>
        </p:txBody>
      </p:sp>
      <p:sp>
        <p:nvSpPr>
          <p:cNvPr id="27" name="Text 25"/>
          <p:cNvSpPr txBox="1"/>
          <p:nvPr/>
        </p:nvSpPr>
        <p:spPr>
          <a:xfrm>
            <a:off x="4907128" y="2286000"/>
            <a:ext cx="2377440" cy="274320"/>
          </a:xfrm>
          <a:prstGeom prst="rect">
            <a:avLst/>
          </a:prstGeom>
          <a:noFill/>
          <a:ln/>
        </p:spPr>
        <p:txBody>
          <a:bodyPr wrap="square" lIns="0" tIns="0" rIns="0" bIns="0" rtlCol="0" anchor="t"/>
          <a:lstStyle/>
          <a:p>
            <a:pPr indent="0" marL="0">
              <a:buNone/>
            </a:pPr>
            <a:r>
              <a:rPr lang="en-US" sz="1150" dirty="0">
                <a:solidFill>
                  <a:srgbClr val="55606E"/>
                </a:solidFill>
                <a:latin typeface="Arial" pitchFamily="34" charset="0"/>
                <a:ea typeface="Arial" pitchFamily="34" charset="-122"/>
                <a:cs typeface="Arial" pitchFamily="34" charset="-120"/>
              </a:rPr>
              <a:t>Re-scored at 23% APT / 77% benign</a:t>
            </a:r>
            <a:endParaRPr lang="en-US" sz="1150" dirty="0"/>
          </a:p>
        </p:txBody>
      </p:sp>
      <p:sp>
        <p:nvSpPr>
          <p:cNvPr id="28" name="Text 26"/>
          <p:cNvSpPr txBox="1"/>
          <p:nvPr/>
        </p:nvSpPr>
        <p:spPr>
          <a:xfrm>
            <a:off x="4907128" y="2651760"/>
            <a:ext cx="2377440" cy="777240"/>
          </a:xfrm>
          <a:prstGeom prst="rect">
            <a:avLst/>
          </a:prstGeom>
          <a:noFill/>
          <a:ln/>
        </p:spPr>
        <p:txBody>
          <a:bodyPr wrap="square" lIns="0" tIns="0" rIns="0" bIns="0" rtlCol="0" anchor="t"/>
          <a:lstStyle/>
          <a:p>
            <a:pPr indent="0" marL="0">
              <a:buNone/>
            </a:pPr>
            <a:r>
              <a:rPr lang="en-US" sz="4200" dirty="0">
                <a:solidFill>
                  <a:srgbClr val="0F1B2D"/>
                </a:solidFill>
                <a:latin typeface="Georgia" pitchFamily="34" charset="0"/>
                <a:ea typeface="Georgia" pitchFamily="34" charset="-122"/>
                <a:cs typeface="Georgia" pitchFamily="34" charset="-120"/>
              </a:rPr>
              <a:t>91.49%</a:t>
            </a:r>
            <a:endParaRPr lang="en-US" sz="4200" dirty="0"/>
          </a:p>
        </p:txBody>
      </p:sp>
      <p:sp>
        <p:nvSpPr>
          <p:cNvPr id="29" name="Text 27"/>
          <p:cNvSpPr txBox="1"/>
          <p:nvPr/>
        </p:nvSpPr>
        <p:spPr>
          <a:xfrm>
            <a:off x="4907128" y="3474720"/>
            <a:ext cx="2377440" cy="274320"/>
          </a:xfrm>
          <a:prstGeom prst="rect">
            <a:avLst/>
          </a:prstGeom>
          <a:noFill/>
          <a:ln/>
        </p:spPr>
        <p:txBody>
          <a:bodyPr wrap="square" lIns="0" tIns="0" rIns="0" bIns="0" rtlCol="0" anchor="t"/>
          <a:lstStyle/>
          <a:p>
            <a:pPr indent="0" marL="0">
              <a:buNone/>
            </a:pPr>
            <a:r>
              <a:rPr lang="en-US" sz="1200" dirty="0">
                <a:solidFill>
                  <a:srgbClr val="55606E"/>
                </a:solidFill>
                <a:latin typeface="Arial" pitchFamily="34" charset="0"/>
                <a:ea typeface="Arial" pitchFamily="34" charset="-122"/>
                <a:cs typeface="Arial" pitchFamily="34" charset="-120"/>
              </a:rPr>
              <a:t>F1   ·   precision 84.7%</a:t>
            </a:r>
            <a:endParaRPr lang="en-US" sz="1200" dirty="0"/>
          </a:p>
        </p:txBody>
      </p:sp>
      <p:sp>
        <p:nvSpPr>
          <p:cNvPr id="30" name="Shape 28"/>
          <p:cNvSpPr/>
          <p:nvPr/>
        </p:nvSpPr>
        <p:spPr>
          <a:xfrm>
            <a:off x="8579815" y="1828800"/>
            <a:ext cx="2926080" cy="2286000"/>
          </a:xfrm>
          <a:prstGeom prst="roundRect">
            <a:avLst>
              <a:gd name="adj" fmla="val 2400"/>
            </a:avLst>
          </a:prstGeom>
          <a:solidFill>
            <a:srgbClr val="0B1526"/>
          </a:solidFill>
          <a:ln w="12700">
            <a:solidFill>
              <a:srgbClr val="0B1526"/>
            </a:solidFill>
            <a:prstDash val="solid"/>
          </a:ln>
        </p:spPr>
      </p:sp>
      <p:sp>
        <p:nvSpPr>
          <p:cNvPr id="31" name="Text 29"/>
          <p:cNvSpPr txBox="1"/>
          <p:nvPr/>
        </p:nvSpPr>
        <p:spPr>
          <a:xfrm>
            <a:off x="8854135" y="2029968"/>
            <a:ext cx="2377440" cy="256032"/>
          </a:xfrm>
          <a:prstGeom prst="rect">
            <a:avLst/>
          </a:prstGeom>
          <a:noFill/>
          <a:ln/>
        </p:spPr>
        <p:txBody>
          <a:bodyPr wrap="square" lIns="0" tIns="0" rIns="0" bIns="0" rtlCol="0" anchor="t"/>
          <a:lstStyle/>
          <a:p>
            <a:pPr indent="0" marL="0">
              <a:buNone/>
            </a:pPr>
            <a:r>
              <a:rPr lang="en-US" sz="950" b="1" dirty="0">
                <a:solidFill>
                  <a:srgbClr val="F08A6E"/>
                </a:solidFill>
                <a:latin typeface="Arial" pitchFamily="34" charset="0"/>
                <a:ea typeface="Arial" pitchFamily="34" charset="-122"/>
                <a:cs typeface="Arial" pitchFamily="34" charset="-120"/>
              </a:rPr>
              <a:t>LEAKAGE-FREE</a:t>
            </a:r>
            <a:endParaRPr lang="en-US" sz="950" dirty="0"/>
          </a:p>
        </p:txBody>
      </p:sp>
      <p:sp>
        <p:nvSpPr>
          <p:cNvPr id="32" name="Text 30"/>
          <p:cNvSpPr txBox="1"/>
          <p:nvPr/>
        </p:nvSpPr>
        <p:spPr>
          <a:xfrm>
            <a:off x="8854135" y="2286000"/>
            <a:ext cx="2377440" cy="274320"/>
          </a:xfrm>
          <a:prstGeom prst="rect">
            <a:avLst/>
          </a:prstGeom>
          <a:noFill/>
          <a:ln/>
        </p:spPr>
        <p:txBody>
          <a:bodyPr wrap="square" lIns="0" tIns="0" rIns="0" bIns="0" rtlCol="0" anchor="t"/>
          <a:lstStyle/>
          <a:p>
            <a:pPr indent="0" marL="0">
              <a:buNone/>
            </a:pPr>
            <a:r>
              <a:rPr lang="en-US" sz="1150" dirty="0">
                <a:solidFill>
                  <a:srgbClr val="A9B6C8"/>
                </a:solidFill>
                <a:latin typeface="Arial" pitchFamily="34" charset="0"/>
                <a:ea typeface="Arial" pitchFamily="34" charset="-122"/>
                <a:cs typeface="Arial" pitchFamily="34" charset="-120"/>
              </a:rPr>
              <a:t>Real flows only, real class ratio</a:t>
            </a:r>
            <a:endParaRPr lang="en-US" sz="1150" dirty="0"/>
          </a:p>
        </p:txBody>
      </p:sp>
      <p:sp>
        <p:nvSpPr>
          <p:cNvPr id="33" name="Text 31"/>
          <p:cNvSpPr txBox="1"/>
          <p:nvPr/>
        </p:nvSpPr>
        <p:spPr>
          <a:xfrm>
            <a:off x="8854135" y="2651760"/>
            <a:ext cx="2377440" cy="777240"/>
          </a:xfrm>
          <a:prstGeom prst="rect">
            <a:avLst/>
          </a:prstGeom>
          <a:noFill/>
          <a:ln/>
        </p:spPr>
        <p:txBody>
          <a:bodyPr wrap="square" lIns="0" tIns="0" rIns="0" bIns="0" rtlCol="0" anchor="t"/>
          <a:lstStyle/>
          <a:p>
            <a:pPr indent="0" marL="0">
              <a:buNone/>
            </a:pPr>
            <a:r>
              <a:rPr lang="en-US" sz="4200" dirty="0">
                <a:solidFill>
                  <a:srgbClr val="FFFFFF"/>
                </a:solidFill>
                <a:latin typeface="Georgia" pitchFamily="34" charset="0"/>
                <a:ea typeface="Georgia" pitchFamily="34" charset="-122"/>
                <a:cs typeface="Georgia" pitchFamily="34" charset="-120"/>
              </a:rPr>
              <a:t>88.85%</a:t>
            </a:r>
            <a:endParaRPr lang="en-US" sz="4200" dirty="0"/>
          </a:p>
        </p:txBody>
      </p:sp>
      <p:sp>
        <p:nvSpPr>
          <p:cNvPr id="34" name="Text 32"/>
          <p:cNvSpPr txBox="1"/>
          <p:nvPr/>
        </p:nvSpPr>
        <p:spPr>
          <a:xfrm>
            <a:off x="8854135" y="3474720"/>
            <a:ext cx="2377440" cy="274320"/>
          </a:xfrm>
          <a:prstGeom prst="rect">
            <a:avLst/>
          </a:prstGeom>
          <a:noFill/>
          <a:ln/>
        </p:spPr>
        <p:txBody>
          <a:bodyPr wrap="square" lIns="0" tIns="0" rIns="0" bIns="0" rtlCol="0" anchor="t"/>
          <a:lstStyle/>
          <a:p>
            <a:pPr indent="0" marL="0">
              <a:buNone/>
            </a:pPr>
            <a:r>
              <a:rPr lang="en-US" sz="1200" dirty="0">
                <a:solidFill>
                  <a:srgbClr val="A9B6C8"/>
                </a:solidFill>
                <a:latin typeface="Arial" pitchFamily="34" charset="0"/>
                <a:ea typeface="Arial" pitchFamily="34" charset="-122"/>
                <a:cs typeface="Arial" pitchFamily="34" charset="-120"/>
              </a:rPr>
              <a:t>F1   ·   precision 81.4%</a:t>
            </a:r>
            <a:endParaRPr lang="en-US" sz="1200" dirty="0"/>
          </a:p>
        </p:txBody>
      </p:sp>
      <p:sp>
        <p:nvSpPr>
          <p:cNvPr id="35" name="Text 33"/>
          <p:cNvSpPr txBox="1"/>
          <p:nvPr/>
        </p:nvSpPr>
        <p:spPr>
          <a:xfrm>
            <a:off x="3611880" y="2542032"/>
            <a:ext cx="1020928" cy="320040"/>
          </a:xfrm>
          <a:prstGeom prst="rect">
            <a:avLst/>
          </a:prstGeom>
          <a:noFill/>
          <a:ln/>
        </p:spPr>
        <p:txBody>
          <a:bodyPr wrap="square" lIns="0" tIns="0" rIns="0" bIns="0" rtlCol="0" anchor="t"/>
          <a:lstStyle/>
          <a:p>
            <a:pPr algn="ctr" indent="0" marL="0">
              <a:buNone/>
            </a:pPr>
            <a:r>
              <a:rPr lang="en-US" sz="1400" b="1" dirty="0">
                <a:solidFill>
                  <a:srgbClr val="E0533A"/>
                </a:solidFill>
                <a:latin typeface="Arial" pitchFamily="34" charset="0"/>
                <a:ea typeface="Arial" pitchFamily="34" charset="-122"/>
                <a:cs typeface="Arial" pitchFamily="34" charset="-120"/>
              </a:rPr>
              <a:t>−5.6 pts</a:t>
            </a:r>
            <a:endParaRPr lang="en-US" sz="1400" dirty="0"/>
          </a:p>
        </p:txBody>
      </p:sp>
      <p:sp>
        <p:nvSpPr>
          <p:cNvPr id="36" name="Shape 34"/>
          <p:cNvSpPr/>
          <p:nvPr/>
        </p:nvSpPr>
        <p:spPr>
          <a:xfrm>
            <a:off x="3749040" y="2971800"/>
            <a:ext cx="746608" cy="914"/>
          </a:xfrm>
          <a:prstGeom prst="line">
            <a:avLst/>
          </a:prstGeom>
          <a:noFill/>
          <a:ln w="19050">
            <a:solidFill>
              <a:srgbClr val="E0533A"/>
            </a:solidFill>
            <a:prstDash val="solid"/>
            <a:tailEnd type="triangle"/>
          </a:ln>
        </p:spPr>
      </p:sp>
      <p:sp>
        <p:nvSpPr>
          <p:cNvPr id="37" name="Text 35"/>
          <p:cNvSpPr txBox="1"/>
          <p:nvPr/>
        </p:nvSpPr>
        <p:spPr>
          <a:xfrm>
            <a:off x="3611880" y="3090672"/>
            <a:ext cx="1020928" cy="274320"/>
          </a:xfrm>
          <a:prstGeom prst="rect">
            <a:avLst/>
          </a:prstGeom>
          <a:noFill/>
          <a:ln/>
        </p:spPr>
        <p:txBody>
          <a:bodyPr wrap="square" lIns="0" tIns="0" rIns="0" bIns="0" rtlCol="0" anchor="t"/>
          <a:lstStyle/>
          <a:p>
            <a:pPr algn="ctr" indent="0" marL="0">
              <a:buNone/>
            </a:pPr>
            <a:r>
              <a:rPr lang="en-US" sz="1100" dirty="0">
                <a:solidFill>
                  <a:srgbClr val="55606E"/>
                </a:solidFill>
                <a:latin typeface="Arial" pitchFamily="34" charset="0"/>
                <a:ea typeface="Arial" pitchFamily="34" charset="-122"/>
                <a:cs typeface="Arial" pitchFamily="34" charset="-120"/>
              </a:rPr>
              <a:t>class ratio</a:t>
            </a:r>
            <a:endParaRPr lang="en-US" sz="1100" dirty="0"/>
          </a:p>
        </p:txBody>
      </p:sp>
      <p:sp>
        <p:nvSpPr>
          <p:cNvPr id="38" name="Text 36"/>
          <p:cNvSpPr txBox="1"/>
          <p:nvPr/>
        </p:nvSpPr>
        <p:spPr>
          <a:xfrm>
            <a:off x="7558888" y="2542032"/>
            <a:ext cx="1020928" cy="320040"/>
          </a:xfrm>
          <a:prstGeom prst="rect">
            <a:avLst/>
          </a:prstGeom>
          <a:noFill/>
          <a:ln/>
        </p:spPr>
        <p:txBody>
          <a:bodyPr wrap="square" lIns="0" tIns="0" rIns="0" bIns="0" rtlCol="0" anchor="t"/>
          <a:lstStyle/>
          <a:p>
            <a:pPr algn="ctr" indent="0" marL="0">
              <a:buNone/>
            </a:pPr>
            <a:r>
              <a:rPr lang="en-US" sz="1400" b="1" dirty="0">
                <a:solidFill>
                  <a:srgbClr val="E0533A"/>
                </a:solidFill>
                <a:latin typeface="Arial" pitchFamily="34" charset="0"/>
                <a:ea typeface="Arial" pitchFamily="34" charset="-122"/>
                <a:cs typeface="Arial" pitchFamily="34" charset="-120"/>
              </a:rPr>
              <a:t>−2.6 pts</a:t>
            </a:r>
            <a:endParaRPr lang="en-US" sz="1400" dirty="0"/>
          </a:p>
        </p:txBody>
      </p:sp>
      <p:sp>
        <p:nvSpPr>
          <p:cNvPr id="39" name="Shape 37"/>
          <p:cNvSpPr/>
          <p:nvPr/>
        </p:nvSpPr>
        <p:spPr>
          <a:xfrm>
            <a:off x="7696048" y="2971800"/>
            <a:ext cx="746608" cy="914"/>
          </a:xfrm>
          <a:prstGeom prst="line">
            <a:avLst/>
          </a:prstGeom>
          <a:noFill/>
          <a:ln w="19050">
            <a:solidFill>
              <a:srgbClr val="E0533A"/>
            </a:solidFill>
            <a:prstDash val="solid"/>
            <a:tailEnd type="triangle"/>
          </a:ln>
        </p:spPr>
      </p:sp>
      <p:sp>
        <p:nvSpPr>
          <p:cNvPr id="40" name="Text 38"/>
          <p:cNvSpPr txBox="1"/>
          <p:nvPr/>
        </p:nvSpPr>
        <p:spPr>
          <a:xfrm>
            <a:off x="7558888" y="3090672"/>
            <a:ext cx="1020928" cy="274320"/>
          </a:xfrm>
          <a:prstGeom prst="rect">
            <a:avLst/>
          </a:prstGeom>
          <a:noFill/>
          <a:ln/>
        </p:spPr>
        <p:txBody>
          <a:bodyPr wrap="square" lIns="0" tIns="0" rIns="0" bIns="0" rtlCol="0" anchor="t"/>
          <a:lstStyle/>
          <a:p>
            <a:pPr algn="ctr" indent="0" marL="0">
              <a:buNone/>
            </a:pPr>
            <a:r>
              <a:rPr lang="en-US" sz="1100" dirty="0">
                <a:solidFill>
                  <a:srgbClr val="55606E"/>
                </a:solidFill>
                <a:latin typeface="Arial" pitchFamily="34" charset="0"/>
                <a:ea typeface="Arial" pitchFamily="34" charset="-122"/>
                <a:cs typeface="Arial" pitchFamily="34" charset="-120"/>
              </a:rPr>
              <a:t>leakage</a:t>
            </a:r>
            <a:endParaRPr lang="en-US" sz="1100" dirty="0"/>
          </a:p>
        </p:txBody>
      </p:sp>
      <p:sp>
        <p:nvSpPr>
          <p:cNvPr id="41" name="Shape 39"/>
          <p:cNvSpPr/>
          <p:nvPr/>
        </p:nvSpPr>
        <p:spPr>
          <a:xfrm>
            <a:off x="685800" y="4434840"/>
            <a:ext cx="5272888" cy="1691640"/>
          </a:xfrm>
          <a:prstGeom prst="roundRect">
            <a:avLst>
              <a:gd name="adj" fmla="val 3243"/>
            </a:avLst>
          </a:prstGeom>
          <a:solidFill>
            <a:srgbClr val="F4F6F9"/>
          </a:solidFill>
          <a:ln w="12700">
            <a:solidFill>
              <a:srgbClr val="F4F6F9"/>
            </a:solidFill>
            <a:prstDash val="solid"/>
          </a:ln>
        </p:spPr>
      </p:sp>
      <p:sp>
        <p:nvSpPr>
          <p:cNvPr id="42" name="Shape 40"/>
          <p:cNvSpPr/>
          <p:nvPr/>
        </p:nvSpPr>
        <p:spPr>
          <a:xfrm>
            <a:off x="960120" y="4663440"/>
            <a:ext cx="502920" cy="502920"/>
          </a:xfrm>
          <a:prstGeom prst="ellipse">
            <a:avLst/>
          </a:prstGeom>
          <a:solidFill>
            <a:srgbClr val="E0533A"/>
          </a:solidFill>
          <a:ln w="12700">
            <a:solidFill>
              <a:srgbClr val="E0533A"/>
            </a:solidFill>
            <a:prstDash val="solid"/>
          </a:ln>
        </p:spPr>
      </p:sp>
      <p:pic>
        <p:nvPicPr>
          <p:cNvPr id="43" name="Image 0" descr="preencoded.png">    </p:cNvPr>
          <p:cNvPicPr>
            <a:picLocks noChangeAspect="1"/>
          </p:cNvPicPr>
          <p:nvPr/>
        </p:nvPicPr>
        <p:blipFill>
          <a:blip r:embed="rId1"/>
          <a:stretch>
            <a:fillRect/>
          </a:stretch>
        </p:blipFill>
        <p:spPr>
          <a:xfrm>
            <a:off x="1095908" y="4799228"/>
            <a:ext cx="231343" cy="231343"/>
          </a:xfrm>
          <a:prstGeom prst="rect">
            <a:avLst/>
          </a:prstGeom>
        </p:spPr>
      </p:pic>
      <p:sp>
        <p:nvSpPr>
          <p:cNvPr id="44" name="Text 41"/>
          <p:cNvSpPr txBox="1"/>
          <p:nvPr/>
        </p:nvSpPr>
        <p:spPr>
          <a:xfrm>
            <a:off x="1645920" y="4681728"/>
            <a:ext cx="4084168" cy="320040"/>
          </a:xfrm>
          <a:prstGeom prst="rect">
            <a:avLst/>
          </a:prstGeom>
          <a:noFill/>
          <a:ln/>
        </p:spPr>
        <p:txBody>
          <a:bodyPr wrap="square" lIns="0" tIns="0" rIns="0" bIns="0" rtlCol="0" anchor="t"/>
          <a:lstStyle/>
          <a:p>
            <a:pPr indent="0" marL="0">
              <a:buNone/>
            </a:pPr>
            <a:r>
              <a:rPr lang="en-US" sz="1450" b="1" dirty="0">
                <a:solidFill>
                  <a:srgbClr val="0F1B2D"/>
                </a:solidFill>
                <a:latin typeface="Arial" pitchFamily="34" charset="0"/>
                <a:ea typeface="Arial" pitchFamily="34" charset="-122"/>
                <a:cs typeface="Arial" pitchFamily="34" charset="-120"/>
              </a:rPr>
              <a:t>The 50/50 test set: 5.6 points</a:t>
            </a:r>
            <a:endParaRPr lang="en-US" sz="1450" dirty="0"/>
          </a:p>
        </p:txBody>
      </p:sp>
      <p:sp>
        <p:nvSpPr>
          <p:cNvPr id="45" name="Text 42"/>
          <p:cNvSpPr txBox="1"/>
          <p:nvPr/>
        </p:nvSpPr>
        <p:spPr>
          <a:xfrm>
            <a:off x="1645920" y="5047488"/>
            <a:ext cx="4084168" cy="1005840"/>
          </a:xfrm>
          <a:prstGeom prst="rect">
            <a:avLst/>
          </a:prstGeom>
          <a:noFill/>
          <a:ln/>
        </p:spPr>
        <p:txBody>
          <a:bodyPr wrap="square" lIns="0" tIns="0" rIns="0" bIns="0" rtlCol="0" anchor="t"/>
          <a:lstStyle/>
          <a:p>
            <a:pPr indent="0" marL="0">
              <a:buNone/>
            </a:pPr>
            <a:r>
              <a:rPr lang="en-US" sz="1200" dirty="0">
                <a:solidFill>
                  <a:srgbClr val="55606E"/>
                </a:solidFill>
                <a:latin typeface="Arial" pitchFamily="34" charset="0"/>
                <a:ea typeface="Arial" pitchFamily="34" charset="-122"/>
                <a:cs typeface="Arial" pitchFamily="34" charset="-120"/>
              </a:rPr>
              <a:t>Real traffic here is 77% benign. On a balanced test set there are far fewer benign flows to raise false alarms on, so precision looks higher: 94.8% vs 84.7% for the same predictions.</a:t>
            </a:r>
            <a:endParaRPr lang="en-US" sz="1200" dirty="0"/>
          </a:p>
        </p:txBody>
      </p:sp>
      <p:sp>
        <p:nvSpPr>
          <p:cNvPr id="46" name="Shape 43"/>
          <p:cNvSpPr/>
          <p:nvPr/>
        </p:nvSpPr>
        <p:spPr>
          <a:xfrm>
            <a:off x="6233008" y="4434840"/>
            <a:ext cx="5272888" cy="1691640"/>
          </a:xfrm>
          <a:prstGeom prst="roundRect">
            <a:avLst>
              <a:gd name="adj" fmla="val 3243"/>
            </a:avLst>
          </a:prstGeom>
          <a:solidFill>
            <a:srgbClr val="F4F6F9"/>
          </a:solidFill>
          <a:ln w="12700">
            <a:solidFill>
              <a:srgbClr val="F4F6F9"/>
            </a:solidFill>
            <a:prstDash val="solid"/>
          </a:ln>
        </p:spPr>
      </p:sp>
      <p:sp>
        <p:nvSpPr>
          <p:cNvPr id="47" name="Shape 44"/>
          <p:cNvSpPr/>
          <p:nvPr/>
        </p:nvSpPr>
        <p:spPr>
          <a:xfrm>
            <a:off x="6507328" y="4663440"/>
            <a:ext cx="502920" cy="502920"/>
          </a:xfrm>
          <a:prstGeom prst="ellipse">
            <a:avLst/>
          </a:prstGeom>
          <a:solidFill>
            <a:srgbClr val="E0533A"/>
          </a:solidFill>
          <a:ln w="12700">
            <a:solidFill>
              <a:srgbClr val="E0533A"/>
            </a:solidFill>
            <a:prstDash val="solid"/>
          </a:ln>
        </p:spPr>
      </p:sp>
      <p:pic>
        <p:nvPicPr>
          <p:cNvPr id="48" name="Image 1" descr="preencoded.png">    </p:cNvPr>
          <p:cNvPicPr>
            <a:picLocks noChangeAspect="1"/>
          </p:cNvPicPr>
          <p:nvPr/>
        </p:nvPicPr>
        <p:blipFill>
          <a:blip r:embed="rId2"/>
          <a:stretch>
            <a:fillRect/>
          </a:stretch>
        </p:blipFill>
        <p:spPr>
          <a:xfrm>
            <a:off x="6643116" y="4799228"/>
            <a:ext cx="231343" cy="231343"/>
          </a:xfrm>
          <a:prstGeom prst="rect">
            <a:avLst/>
          </a:prstGeom>
        </p:spPr>
      </p:pic>
      <p:sp>
        <p:nvSpPr>
          <p:cNvPr id="49" name="Text 45"/>
          <p:cNvSpPr txBox="1"/>
          <p:nvPr/>
        </p:nvSpPr>
        <p:spPr>
          <a:xfrm>
            <a:off x="7193128" y="4681728"/>
            <a:ext cx="4084168" cy="320040"/>
          </a:xfrm>
          <a:prstGeom prst="rect">
            <a:avLst/>
          </a:prstGeom>
          <a:noFill/>
          <a:ln/>
        </p:spPr>
        <p:txBody>
          <a:bodyPr wrap="square" lIns="0" tIns="0" rIns="0" bIns="0" rtlCol="0" anchor="t"/>
          <a:lstStyle/>
          <a:p>
            <a:pPr indent="0" marL="0">
              <a:buNone/>
            </a:pPr>
            <a:r>
              <a:rPr lang="en-US" sz="1450" b="1" dirty="0">
                <a:solidFill>
                  <a:srgbClr val="0F1B2D"/>
                </a:solidFill>
                <a:latin typeface="Arial" pitchFamily="34" charset="0"/>
                <a:ea typeface="Arial" pitchFamily="34" charset="-122"/>
                <a:cs typeface="Arial" pitchFamily="34" charset="-120"/>
              </a:rPr>
              <a:t>Synthetic-flow leakage: 2.6 points</a:t>
            </a:r>
            <a:endParaRPr lang="en-US" sz="1450" dirty="0"/>
          </a:p>
        </p:txBody>
      </p:sp>
      <p:sp>
        <p:nvSpPr>
          <p:cNvPr id="50" name="Text 46"/>
          <p:cNvSpPr txBox="1"/>
          <p:nvPr/>
        </p:nvSpPr>
        <p:spPr>
          <a:xfrm>
            <a:off x="7193128" y="5047488"/>
            <a:ext cx="4084168" cy="1005840"/>
          </a:xfrm>
          <a:prstGeom prst="rect">
            <a:avLst/>
          </a:prstGeom>
          <a:noFill/>
          <a:ln/>
        </p:spPr>
        <p:txBody>
          <a:bodyPr wrap="square" lIns="0" tIns="0" rIns="0" bIns="0" rtlCol="0" anchor="t"/>
          <a:lstStyle/>
          <a:p>
            <a:pPr indent="0" marL="0">
              <a:buNone/>
            </a:pPr>
            <a:r>
              <a:rPr lang="en-US" sz="1200" dirty="0">
                <a:solidFill>
                  <a:srgbClr val="55606E"/>
                </a:solidFill>
                <a:latin typeface="Arial" pitchFamily="34" charset="0"/>
                <a:ea typeface="Arial" pitchFamily="34" charset="-122"/>
                <a:cs typeface="Arial" pitchFamily="34" charset="-120"/>
              </a:rPr>
              <a:t>70% of the APT flows in the paper-protocol test set are synthetic. The model misses 0.34% of them, but 1.12% of real APT flows.</a:t>
            </a:r>
            <a:endParaRPr lang="en-US" sz="1200" dirty="0"/>
          </a:p>
        </p:txBody>
      </p:sp>
      <p:sp>
        <p:nvSpPr>
          <p:cNvPr id="51" name="Text 47"/>
          <p:cNvSpPr txBox="1"/>
          <p:nvPr/>
        </p:nvSpPr>
        <p:spPr>
          <a:xfrm>
            <a:off x="685800" y="6400800"/>
            <a:ext cx="7315200" cy="228600"/>
          </a:xfrm>
          <a:prstGeom prst="rect">
            <a:avLst/>
          </a:prstGeom>
          <a:noFill/>
          <a:ln/>
        </p:spPr>
        <p:txBody>
          <a:bodyPr wrap="square" lIns="0" tIns="0" rIns="0" bIns="0" rtlCol="0" anchor="t"/>
          <a:lstStyle/>
          <a:p>
            <a:pPr indent="0" marL="0">
              <a:buNone/>
            </a:pPr>
            <a:r>
              <a:rPr lang="en-US" sz="900" dirty="0">
                <a:solidFill>
                  <a:srgbClr val="8A94A3"/>
                </a:solidFill>
                <a:latin typeface="Arial" pitchFamily="34" charset="0"/>
                <a:ea typeface="Arial" pitchFamily="34" charset="-122"/>
                <a:cs typeface="Arial" pitchFamily="34" charset="-120"/>
              </a:rPr>
              <a:t>Anomaly detection for Advanced Persistent Threats   |   Mid-term evaluation</a:t>
            </a:r>
            <a:endParaRPr lang="en-US" sz="900" dirty="0"/>
          </a:p>
        </p:txBody>
      </p:sp>
      <p:sp>
        <p:nvSpPr>
          <p:cNvPr id="52" name="Text 48"/>
          <p:cNvSpPr txBox="1"/>
          <p:nvPr/>
        </p:nvSpPr>
        <p:spPr>
          <a:xfrm>
            <a:off x="10591495" y="6400800"/>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Arial" pitchFamily="34" charset="0"/>
                <a:ea typeface="Arial" pitchFamily="34" charset="-122"/>
                <a:cs typeface="Arial"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V="1">
            <a:off x="10087295" y="470002"/>
            <a:ext cx="288950" cy="416966"/>
          </a:xfrm>
          <a:prstGeom prst="line">
            <a:avLst/>
          </a:prstGeom>
          <a:noFill/>
          <a:ln w="9525">
            <a:solidFill>
              <a:srgbClr val="DCE2EA"/>
            </a:solidFill>
            <a:prstDash val="solid"/>
          </a:ln>
        </p:spPr>
      </p:sp>
      <p:sp>
        <p:nvSpPr>
          <p:cNvPr id="3" name="Shape 1"/>
          <p:cNvSpPr/>
          <p:nvPr/>
        </p:nvSpPr>
        <p:spPr>
          <a:xfrm>
            <a:off x="10087295" y="886968"/>
            <a:ext cx="549006" cy="69494"/>
          </a:xfrm>
          <a:prstGeom prst="line">
            <a:avLst/>
          </a:prstGeom>
          <a:noFill/>
          <a:ln w="9525">
            <a:solidFill>
              <a:srgbClr val="DCE2EA"/>
            </a:solidFill>
            <a:prstDash val="solid"/>
          </a:ln>
        </p:spPr>
      </p:sp>
      <p:sp>
        <p:nvSpPr>
          <p:cNvPr id="4" name="Shape 2"/>
          <p:cNvSpPr/>
          <p:nvPr/>
        </p:nvSpPr>
        <p:spPr>
          <a:xfrm>
            <a:off x="10376245" y="470002"/>
            <a:ext cx="549006" cy="156362"/>
          </a:xfrm>
          <a:prstGeom prst="line">
            <a:avLst/>
          </a:prstGeom>
          <a:noFill/>
          <a:ln w="9525">
            <a:solidFill>
              <a:srgbClr val="F2B7A8"/>
            </a:solidFill>
            <a:prstDash val="solid"/>
          </a:ln>
        </p:spPr>
      </p:sp>
      <p:sp>
        <p:nvSpPr>
          <p:cNvPr id="5" name="Shape 3"/>
          <p:cNvSpPr/>
          <p:nvPr/>
        </p:nvSpPr>
        <p:spPr>
          <a:xfrm flipV="1">
            <a:off x="10636301" y="626364"/>
            <a:ext cx="288950" cy="330098"/>
          </a:xfrm>
          <a:prstGeom prst="line">
            <a:avLst/>
          </a:prstGeom>
          <a:noFill/>
          <a:ln w="9525">
            <a:solidFill>
              <a:srgbClr val="F2B7A8"/>
            </a:solidFill>
            <a:prstDash val="solid"/>
          </a:ln>
        </p:spPr>
      </p:sp>
      <p:sp>
        <p:nvSpPr>
          <p:cNvPr id="6" name="Shape 4"/>
          <p:cNvSpPr/>
          <p:nvPr/>
        </p:nvSpPr>
        <p:spPr>
          <a:xfrm flipV="1">
            <a:off x="10925251" y="522122"/>
            <a:ext cx="534558" cy="104242"/>
          </a:xfrm>
          <a:prstGeom prst="line">
            <a:avLst/>
          </a:prstGeom>
          <a:noFill/>
          <a:ln w="9525">
            <a:solidFill>
              <a:srgbClr val="F2B7A8"/>
            </a:solidFill>
            <a:prstDash val="solid"/>
          </a:ln>
        </p:spPr>
      </p:sp>
      <p:sp>
        <p:nvSpPr>
          <p:cNvPr id="7" name="Shape 5"/>
          <p:cNvSpPr/>
          <p:nvPr/>
        </p:nvSpPr>
        <p:spPr>
          <a:xfrm>
            <a:off x="10636301" y="956462"/>
            <a:ext cx="549006" cy="121615"/>
          </a:xfrm>
          <a:prstGeom prst="line">
            <a:avLst/>
          </a:prstGeom>
          <a:noFill/>
          <a:ln w="9525">
            <a:solidFill>
              <a:srgbClr val="DCE2EA"/>
            </a:solidFill>
            <a:prstDash val="solid"/>
          </a:ln>
        </p:spPr>
      </p:sp>
      <p:sp>
        <p:nvSpPr>
          <p:cNvPr id="8" name="Shape 6"/>
          <p:cNvSpPr/>
          <p:nvPr/>
        </p:nvSpPr>
        <p:spPr>
          <a:xfrm flipV="1">
            <a:off x="11185307" y="843534"/>
            <a:ext cx="173370" cy="234544"/>
          </a:xfrm>
          <a:prstGeom prst="line">
            <a:avLst/>
          </a:prstGeom>
          <a:noFill/>
          <a:ln w="9525">
            <a:solidFill>
              <a:srgbClr val="DCE2EA"/>
            </a:solidFill>
            <a:prstDash val="solid"/>
          </a:ln>
        </p:spPr>
      </p:sp>
      <p:sp>
        <p:nvSpPr>
          <p:cNvPr id="9" name="Shape 7"/>
          <p:cNvSpPr/>
          <p:nvPr/>
        </p:nvSpPr>
        <p:spPr>
          <a:xfrm flipH="1">
            <a:off x="11358677" y="522122"/>
            <a:ext cx="101133" cy="321412"/>
          </a:xfrm>
          <a:prstGeom prst="line">
            <a:avLst/>
          </a:prstGeom>
          <a:noFill/>
          <a:ln w="9525">
            <a:solidFill>
              <a:srgbClr val="DCE2EA"/>
            </a:solidFill>
            <a:prstDash val="solid"/>
          </a:ln>
        </p:spPr>
      </p:sp>
      <p:sp>
        <p:nvSpPr>
          <p:cNvPr id="10" name="Shape 8"/>
          <p:cNvSpPr/>
          <p:nvPr/>
        </p:nvSpPr>
        <p:spPr>
          <a:xfrm>
            <a:off x="10055291" y="854964"/>
            <a:ext cx="64008" cy="64008"/>
          </a:xfrm>
          <a:prstGeom prst="ellipse">
            <a:avLst/>
          </a:prstGeom>
          <a:solidFill>
            <a:srgbClr val="C3CCD9"/>
          </a:solidFill>
          <a:ln w="12700">
            <a:solidFill>
              <a:srgbClr val="C3CCD9"/>
            </a:solidFill>
            <a:prstDash val="solid"/>
          </a:ln>
        </p:spPr>
      </p:sp>
      <p:sp>
        <p:nvSpPr>
          <p:cNvPr id="11" name="Shape 9"/>
          <p:cNvSpPr/>
          <p:nvPr/>
        </p:nvSpPr>
        <p:spPr>
          <a:xfrm>
            <a:off x="10335097" y="428854"/>
            <a:ext cx="82296" cy="82296"/>
          </a:xfrm>
          <a:prstGeom prst="ellipse">
            <a:avLst/>
          </a:prstGeom>
          <a:solidFill>
            <a:srgbClr val="C3CCD9"/>
          </a:solidFill>
          <a:ln w="12700">
            <a:solidFill>
              <a:srgbClr val="C3CCD9"/>
            </a:solidFill>
            <a:prstDash val="solid"/>
          </a:ln>
        </p:spPr>
      </p:sp>
      <p:sp>
        <p:nvSpPr>
          <p:cNvPr id="12" name="Shape 10"/>
          <p:cNvSpPr/>
          <p:nvPr/>
        </p:nvSpPr>
        <p:spPr>
          <a:xfrm>
            <a:off x="10599725" y="919886"/>
            <a:ext cx="73152" cy="73152"/>
          </a:xfrm>
          <a:prstGeom prst="ellipse">
            <a:avLst/>
          </a:prstGeom>
          <a:solidFill>
            <a:srgbClr val="C3CCD9"/>
          </a:solidFill>
          <a:ln w="12700">
            <a:solidFill>
              <a:srgbClr val="C3CCD9"/>
            </a:solidFill>
            <a:prstDash val="solid"/>
          </a:ln>
        </p:spPr>
      </p:sp>
      <p:sp>
        <p:nvSpPr>
          <p:cNvPr id="13" name="Shape 11"/>
          <p:cNvSpPr/>
          <p:nvPr/>
        </p:nvSpPr>
        <p:spPr>
          <a:xfrm>
            <a:off x="10806379" y="507492"/>
            <a:ext cx="237744" cy="237744"/>
          </a:xfrm>
          <a:prstGeom prst="ellipse">
            <a:avLst/>
          </a:prstGeom>
          <a:solidFill>
            <a:srgbClr val="E0533A">
              <a:alpha val="18000"/>
            </a:srgbClr>
          </a:solidFill>
          <a:ln w="12700">
            <a:solidFill>
              <a:srgbClr val="E0533A">
                <a:alpha val="18000"/>
              </a:srgbClr>
            </a:solidFill>
            <a:prstDash val="solid"/>
          </a:ln>
        </p:spPr>
      </p:sp>
      <p:sp>
        <p:nvSpPr>
          <p:cNvPr id="14" name="Shape 12"/>
          <p:cNvSpPr/>
          <p:nvPr/>
        </p:nvSpPr>
        <p:spPr>
          <a:xfrm>
            <a:off x="10874959" y="576072"/>
            <a:ext cx="100584" cy="100584"/>
          </a:xfrm>
          <a:prstGeom prst="ellipse">
            <a:avLst/>
          </a:prstGeom>
          <a:solidFill>
            <a:srgbClr val="E0533A"/>
          </a:solidFill>
          <a:ln w="12700">
            <a:solidFill>
              <a:srgbClr val="E0533A"/>
            </a:solidFill>
            <a:prstDash val="solid"/>
          </a:ln>
        </p:spPr>
      </p:sp>
      <p:sp>
        <p:nvSpPr>
          <p:cNvPr id="15" name="Shape 13"/>
          <p:cNvSpPr/>
          <p:nvPr/>
        </p:nvSpPr>
        <p:spPr>
          <a:xfrm>
            <a:off x="11144159" y="1036930"/>
            <a:ext cx="82296" cy="82296"/>
          </a:xfrm>
          <a:prstGeom prst="ellipse">
            <a:avLst/>
          </a:prstGeom>
          <a:solidFill>
            <a:srgbClr val="C3CCD9"/>
          </a:solidFill>
          <a:ln w="12700">
            <a:solidFill>
              <a:srgbClr val="C3CCD9"/>
            </a:solidFill>
            <a:prstDash val="solid"/>
          </a:ln>
        </p:spPr>
      </p:sp>
      <p:sp>
        <p:nvSpPr>
          <p:cNvPr id="16" name="Shape 14"/>
          <p:cNvSpPr/>
          <p:nvPr/>
        </p:nvSpPr>
        <p:spPr>
          <a:xfrm>
            <a:off x="11427805" y="490118"/>
            <a:ext cx="64008" cy="64008"/>
          </a:xfrm>
          <a:prstGeom prst="ellipse">
            <a:avLst/>
          </a:prstGeom>
          <a:solidFill>
            <a:srgbClr val="C3CCD9"/>
          </a:solidFill>
          <a:ln w="12700">
            <a:solidFill>
              <a:srgbClr val="C3CCD9"/>
            </a:solidFill>
            <a:prstDash val="solid"/>
          </a:ln>
        </p:spPr>
      </p:sp>
      <p:sp>
        <p:nvSpPr>
          <p:cNvPr id="17" name="Shape 15"/>
          <p:cNvSpPr/>
          <p:nvPr/>
        </p:nvSpPr>
        <p:spPr>
          <a:xfrm>
            <a:off x="11331245" y="816102"/>
            <a:ext cx="54864" cy="54864"/>
          </a:xfrm>
          <a:prstGeom prst="ellipse">
            <a:avLst/>
          </a:prstGeom>
          <a:solidFill>
            <a:srgbClr val="C3CCD9"/>
          </a:solidFill>
          <a:ln w="12700">
            <a:solidFill>
              <a:srgbClr val="C3CCD9"/>
            </a:solidFill>
            <a:prstDash val="solid"/>
          </a:ln>
        </p:spPr>
      </p:sp>
      <p:sp>
        <p:nvSpPr>
          <p:cNvPr id="18" name="Text 16"/>
          <p:cNvSpPr txBox="1"/>
          <p:nvPr/>
        </p:nvSpPr>
        <p:spPr>
          <a:xfrm>
            <a:off x="685800" y="475488"/>
            <a:ext cx="10820095" cy="256032"/>
          </a:xfrm>
          <a:prstGeom prst="rect">
            <a:avLst/>
          </a:prstGeom>
          <a:noFill/>
          <a:ln/>
        </p:spPr>
        <p:txBody>
          <a:bodyPr wrap="square" lIns="0" tIns="0" rIns="0" bIns="0" rtlCol="0" anchor="t"/>
          <a:lstStyle/>
          <a:p>
            <a:pPr indent="0" marL="0">
              <a:buNone/>
            </a:pPr>
            <a:r>
              <a:rPr lang="en-US" sz="1100" b="1" dirty="0">
                <a:solidFill>
                  <a:srgbClr val="E0533A"/>
                </a:solidFill>
                <a:latin typeface="Arial" pitchFamily="34" charset="0"/>
                <a:ea typeface="Arial" pitchFamily="34" charset="-122"/>
                <a:cs typeface="Arial" pitchFamily="34" charset="-120"/>
              </a:rPr>
              <a:t>03 · RESULTS</a:t>
            </a:r>
            <a:endParaRPr lang="en-US" sz="1100" dirty="0"/>
          </a:p>
        </p:txBody>
      </p:sp>
      <p:sp>
        <p:nvSpPr>
          <p:cNvPr id="19" name="Text 17"/>
          <p:cNvSpPr txBox="1"/>
          <p:nvPr/>
        </p:nvSpPr>
        <p:spPr>
          <a:xfrm>
            <a:off x="685800" y="768096"/>
            <a:ext cx="10820095" cy="822960"/>
          </a:xfrm>
          <a:prstGeom prst="rect">
            <a:avLst/>
          </a:prstGeom>
          <a:noFill/>
          <a:ln/>
        </p:spPr>
        <p:txBody>
          <a:bodyPr wrap="square" lIns="0" tIns="0" rIns="0" bIns="0" rtlCol="0" anchor="t"/>
          <a:lstStyle/>
          <a:p>
            <a:pPr indent="0" marL="0">
              <a:buNone/>
            </a:pPr>
            <a:r>
              <a:rPr lang="en-US" sz="3000" dirty="0">
                <a:solidFill>
                  <a:srgbClr val="0F1B2D"/>
                </a:solidFill>
                <a:latin typeface="Georgia" pitchFamily="34" charset="0"/>
                <a:ea typeface="Georgia" pitchFamily="34" charset="-122"/>
                <a:cs typeface="Georgia" pitchFamily="34" charset="-120"/>
              </a:rPr>
              <a:t>All 15 models look worse on a realistic test set</a:t>
            </a:r>
            <a:endParaRPr lang="en-US" sz="3000" dirty="0"/>
          </a:p>
        </p:txBody>
      </p:sp>
      <p:pic>
        <p:nvPicPr>
          <p:cNvPr id="20" name="Image 0" descr="F1-score of all 15 models under the paper protocol and the leakage-free protocol">    </p:cNvPr>
          <p:cNvPicPr>
            <a:picLocks noChangeAspect="1"/>
          </p:cNvPicPr>
          <p:nvPr/>
        </p:nvPicPr>
        <p:blipFill>
          <a:blip r:embed="rId1"/>
          <a:stretch>
            <a:fillRect/>
          </a:stretch>
        </p:blipFill>
        <p:spPr>
          <a:xfrm>
            <a:off x="685800" y="1691640"/>
            <a:ext cx="7498080" cy="4526280"/>
          </a:xfrm>
          <a:prstGeom prst="rect">
            <a:avLst/>
          </a:prstGeom>
        </p:spPr>
      </p:pic>
      <p:sp>
        <p:nvSpPr>
          <p:cNvPr id="21" name="Shape 18"/>
          <p:cNvSpPr/>
          <p:nvPr/>
        </p:nvSpPr>
        <p:spPr>
          <a:xfrm>
            <a:off x="8549640" y="1965960"/>
            <a:ext cx="457200" cy="457200"/>
          </a:xfrm>
          <a:prstGeom prst="ellipse">
            <a:avLst/>
          </a:prstGeom>
          <a:solidFill>
            <a:srgbClr val="E0533A"/>
          </a:solidFill>
          <a:ln w="12700">
            <a:solidFill>
              <a:srgbClr val="E0533A"/>
            </a:solidFill>
            <a:prstDash val="solid"/>
          </a:ln>
        </p:spPr>
      </p:sp>
      <p:pic>
        <p:nvPicPr>
          <p:cNvPr id="22" name="Image 1" descr="preencoded.png">    </p:cNvPr>
          <p:cNvPicPr>
            <a:picLocks noChangeAspect="1"/>
          </p:cNvPicPr>
          <p:nvPr/>
        </p:nvPicPr>
        <p:blipFill>
          <a:blip r:embed="rId2"/>
          <a:stretch>
            <a:fillRect/>
          </a:stretch>
        </p:blipFill>
        <p:spPr>
          <a:xfrm>
            <a:off x="8673084" y="2089404"/>
            <a:ext cx="210312" cy="210312"/>
          </a:xfrm>
          <a:prstGeom prst="rect">
            <a:avLst/>
          </a:prstGeom>
        </p:spPr>
      </p:pic>
      <p:sp>
        <p:nvSpPr>
          <p:cNvPr id="23" name="Text 19"/>
          <p:cNvSpPr txBox="1"/>
          <p:nvPr/>
        </p:nvSpPr>
        <p:spPr>
          <a:xfrm>
            <a:off x="9171432" y="2011680"/>
            <a:ext cx="2334463" cy="365760"/>
          </a:xfrm>
          <a:prstGeom prst="rect">
            <a:avLst/>
          </a:prstGeom>
          <a:noFill/>
          <a:ln/>
        </p:spPr>
        <p:txBody>
          <a:bodyPr wrap="square" lIns="0" tIns="0" rIns="0" bIns="0" rtlCol="0" anchor="t"/>
          <a:lstStyle/>
          <a:p>
            <a:pPr indent="0" marL="0">
              <a:buNone/>
            </a:pPr>
            <a:r>
              <a:rPr lang="en-US" sz="1400" b="1" dirty="0">
                <a:solidFill>
                  <a:srgbClr val="0F1B2D"/>
                </a:solidFill>
                <a:latin typeface="Arial" pitchFamily="34" charset="0"/>
                <a:ea typeface="Arial" pitchFamily="34" charset="-122"/>
                <a:cs typeface="Arial" pitchFamily="34" charset="-120"/>
              </a:rPr>
              <a:t>Every model drops</a:t>
            </a:r>
            <a:endParaRPr lang="en-US" sz="1400" dirty="0"/>
          </a:p>
        </p:txBody>
      </p:sp>
      <p:sp>
        <p:nvSpPr>
          <p:cNvPr id="24" name="Text 20"/>
          <p:cNvSpPr txBox="1"/>
          <p:nvPr/>
        </p:nvSpPr>
        <p:spPr>
          <a:xfrm>
            <a:off x="8549640" y="2532888"/>
            <a:ext cx="2956255" cy="594360"/>
          </a:xfrm>
          <a:prstGeom prst="rect">
            <a:avLst/>
          </a:prstGeom>
          <a:noFill/>
          <a:ln/>
        </p:spPr>
        <p:txBody>
          <a:bodyPr wrap="square" lIns="0" tIns="0" rIns="0" bIns="0" rtlCol="0" anchor="t"/>
          <a:lstStyle/>
          <a:p>
            <a:pPr indent="0" marL="0">
              <a:buNone/>
            </a:pPr>
            <a:r>
              <a:rPr lang="en-US" sz="1200" dirty="0">
                <a:solidFill>
                  <a:srgbClr val="55606E"/>
                </a:solidFill>
                <a:latin typeface="Arial" pitchFamily="34" charset="0"/>
                <a:ea typeface="Arial" pitchFamily="34" charset="-122"/>
                <a:cs typeface="Arial" pitchFamily="34" charset="-120"/>
              </a:rPr>
              <a:t>F1 falls 8.0–21.2 points; for the hybrid, 5.6 of 8.2 come from the class ratio</a:t>
            </a:r>
            <a:endParaRPr lang="en-US" sz="1200" dirty="0"/>
          </a:p>
        </p:txBody>
      </p:sp>
      <p:sp>
        <p:nvSpPr>
          <p:cNvPr id="25" name="Shape 21"/>
          <p:cNvSpPr/>
          <p:nvPr/>
        </p:nvSpPr>
        <p:spPr>
          <a:xfrm>
            <a:off x="8549640" y="3063240"/>
            <a:ext cx="2956255" cy="914"/>
          </a:xfrm>
          <a:prstGeom prst="line">
            <a:avLst/>
          </a:prstGeom>
          <a:noFill/>
          <a:ln w="9525">
            <a:solidFill>
              <a:srgbClr val="E2E6EC"/>
            </a:solidFill>
            <a:prstDash val="solid"/>
          </a:ln>
        </p:spPr>
      </p:sp>
      <p:sp>
        <p:nvSpPr>
          <p:cNvPr id="26" name="Shape 22"/>
          <p:cNvSpPr/>
          <p:nvPr/>
        </p:nvSpPr>
        <p:spPr>
          <a:xfrm>
            <a:off x="8549640" y="3337560"/>
            <a:ext cx="457200" cy="457200"/>
          </a:xfrm>
          <a:prstGeom prst="ellipse">
            <a:avLst/>
          </a:prstGeom>
          <a:solidFill>
            <a:srgbClr val="2A78D6"/>
          </a:solidFill>
          <a:ln w="12700">
            <a:solidFill>
              <a:srgbClr val="2A78D6"/>
            </a:solidFill>
            <a:prstDash val="solid"/>
          </a:ln>
        </p:spPr>
      </p:sp>
      <p:pic>
        <p:nvPicPr>
          <p:cNvPr id="27" name="Image 2" descr="preencoded.png">    </p:cNvPr>
          <p:cNvPicPr>
            <a:picLocks noChangeAspect="1"/>
          </p:cNvPicPr>
          <p:nvPr/>
        </p:nvPicPr>
        <p:blipFill>
          <a:blip r:embed="rId3"/>
          <a:stretch>
            <a:fillRect/>
          </a:stretch>
        </p:blipFill>
        <p:spPr>
          <a:xfrm>
            <a:off x="8673084" y="3461004"/>
            <a:ext cx="210312" cy="210312"/>
          </a:xfrm>
          <a:prstGeom prst="rect">
            <a:avLst/>
          </a:prstGeom>
        </p:spPr>
      </p:pic>
      <p:sp>
        <p:nvSpPr>
          <p:cNvPr id="28" name="Text 23"/>
          <p:cNvSpPr txBox="1"/>
          <p:nvPr/>
        </p:nvSpPr>
        <p:spPr>
          <a:xfrm>
            <a:off x="9171432" y="3383280"/>
            <a:ext cx="2334463" cy="365760"/>
          </a:xfrm>
          <a:prstGeom prst="rect">
            <a:avLst/>
          </a:prstGeom>
          <a:noFill/>
          <a:ln/>
        </p:spPr>
        <p:txBody>
          <a:bodyPr wrap="square" lIns="0" tIns="0" rIns="0" bIns="0" rtlCol="0" anchor="t"/>
          <a:lstStyle/>
          <a:p>
            <a:pPr indent="0" marL="0">
              <a:buNone/>
            </a:pPr>
            <a:r>
              <a:rPr lang="en-US" sz="1400" b="1" dirty="0">
                <a:solidFill>
                  <a:srgbClr val="0F1B2D"/>
                </a:solidFill>
                <a:latin typeface="Arial" pitchFamily="34" charset="0"/>
                <a:ea typeface="Arial" pitchFamily="34" charset="-122"/>
                <a:cs typeface="Arial" pitchFamily="34" charset="-120"/>
              </a:rPr>
              <a:t>Tree ensembles lead</a:t>
            </a:r>
            <a:endParaRPr lang="en-US" sz="1400" dirty="0"/>
          </a:p>
        </p:txBody>
      </p:sp>
      <p:sp>
        <p:nvSpPr>
          <p:cNvPr id="29" name="Text 24"/>
          <p:cNvSpPr txBox="1"/>
          <p:nvPr/>
        </p:nvSpPr>
        <p:spPr>
          <a:xfrm>
            <a:off x="8549640" y="3904488"/>
            <a:ext cx="2956255" cy="594360"/>
          </a:xfrm>
          <a:prstGeom prst="rect">
            <a:avLst/>
          </a:prstGeom>
          <a:noFill/>
          <a:ln/>
        </p:spPr>
        <p:txBody>
          <a:bodyPr wrap="square" lIns="0" tIns="0" rIns="0" bIns="0" rtlCol="0" anchor="t"/>
          <a:lstStyle/>
          <a:p>
            <a:pPr indent="0" marL="0">
              <a:buNone/>
            </a:pPr>
            <a:r>
              <a:rPr lang="en-US" sz="1200" dirty="0">
                <a:solidFill>
                  <a:srgbClr val="55606E"/>
                </a:solidFill>
                <a:latin typeface="Arial" pitchFamily="34" charset="0"/>
                <a:ea typeface="Arial" pitchFamily="34" charset="-122"/>
                <a:cs typeface="Arial" pitchFamily="34" charset="-120"/>
              </a:rPr>
              <a:t>Soft vote 89.3%, Random Forest 89.1%, XGBoost 88.9%, OR hybrid 88.9%</a:t>
            </a:r>
            <a:endParaRPr lang="en-US" sz="1200" dirty="0"/>
          </a:p>
        </p:txBody>
      </p:sp>
      <p:sp>
        <p:nvSpPr>
          <p:cNvPr id="30" name="Shape 25"/>
          <p:cNvSpPr/>
          <p:nvPr/>
        </p:nvSpPr>
        <p:spPr>
          <a:xfrm>
            <a:off x="8549640" y="4434840"/>
            <a:ext cx="2956255" cy="914"/>
          </a:xfrm>
          <a:prstGeom prst="line">
            <a:avLst/>
          </a:prstGeom>
          <a:noFill/>
          <a:ln w="9525">
            <a:solidFill>
              <a:srgbClr val="E2E6EC"/>
            </a:solidFill>
            <a:prstDash val="solid"/>
          </a:ln>
        </p:spPr>
      </p:sp>
      <p:sp>
        <p:nvSpPr>
          <p:cNvPr id="31" name="Shape 26"/>
          <p:cNvSpPr/>
          <p:nvPr/>
        </p:nvSpPr>
        <p:spPr>
          <a:xfrm>
            <a:off x="8549640" y="4709160"/>
            <a:ext cx="457200" cy="457200"/>
          </a:xfrm>
          <a:prstGeom prst="ellipse">
            <a:avLst/>
          </a:prstGeom>
          <a:solidFill>
            <a:srgbClr val="2A78D6"/>
          </a:solidFill>
          <a:ln w="12700">
            <a:solidFill>
              <a:srgbClr val="2A78D6"/>
            </a:solidFill>
            <a:prstDash val="solid"/>
          </a:ln>
        </p:spPr>
      </p:sp>
      <p:pic>
        <p:nvPicPr>
          <p:cNvPr id="32" name="Image 3" descr="preencoded.png">    </p:cNvPr>
          <p:cNvPicPr>
            <a:picLocks noChangeAspect="1"/>
          </p:cNvPicPr>
          <p:nvPr/>
        </p:nvPicPr>
        <p:blipFill>
          <a:blip r:embed="rId4"/>
          <a:stretch>
            <a:fillRect/>
          </a:stretch>
        </p:blipFill>
        <p:spPr>
          <a:xfrm>
            <a:off x="8673084" y="4832604"/>
            <a:ext cx="210312" cy="210312"/>
          </a:xfrm>
          <a:prstGeom prst="rect">
            <a:avLst/>
          </a:prstGeom>
        </p:spPr>
      </p:pic>
      <p:sp>
        <p:nvSpPr>
          <p:cNvPr id="33" name="Text 27"/>
          <p:cNvSpPr txBox="1"/>
          <p:nvPr/>
        </p:nvSpPr>
        <p:spPr>
          <a:xfrm>
            <a:off x="9171432" y="4754880"/>
            <a:ext cx="2334463" cy="365760"/>
          </a:xfrm>
          <a:prstGeom prst="rect">
            <a:avLst/>
          </a:prstGeom>
          <a:noFill/>
          <a:ln/>
        </p:spPr>
        <p:txBody>
          <a:bodyPr wrap="square" lIns="0" tIns="0" rIns="0" bIns="0" rtlCol="0" anchor="t"/>
          <a:lstStyle/>
          <a:p>
            <a:pPr indent="0" marL="0">
              <a:buNone/>
            </a:pPr>
            <a:r>
              <a:rPr lang="en-US" sz="1400" b="1" dirty="0">
                <a:solidFill>
                  <a:srgbClr val="0F1B2D"/>
                </a:solidFill>
                <a:latin typeface="Arial" pitchFamily="34" charset="0"/>
                <a:ea typeface="Arial" pitchFamily="34" charset="-122"/>
                <a:cs typeface="Arial" pitchFamily="34" charset="-120"/>
              </a:rPr>
              <a:t>Deep learning doesn't help</a:t>
            </a:r>
            <a:endParaRPr lang="en-US" sz="1400" dirty="0"/>
          </a:p>
        </p:txBody>
      </p:sp>
      <p:sp>
        <p:nvSpPr>
          <p:cNvPr id="34" name="Text 28"/>
          <p:cNvSpPr txBox="1"/>
          <p:nvPr/>
        </p:nvSpPr>
        <p:spPr>
          <a:xfrm>
            <a:off x="8549640" y="5276088"/>
            <a:ext cx="2956255" cy="594360"/>
          </a:xfrm>
          <a:prstGeom prst="rect">
            <a:avLst/>
          </a:prstGeom>
          <a:noFill/>
          <a:ln/>
        </p:spPr>
        <p:txBody>
          <a:bodyPr wrap="square" lIns="0" tIns="0" rIns="0" bIns="0" rtlCol="0" anchor="t"/>
          <a:lstStyle/>
          <a:p>
            <a:pPr indent="0" marL="0">
              <a:buNone/>
            </a:pPr>
            <a:r>
              <a:rPr lang="en-US" sz="1200" dirty="0">
                <a:solidFill>
                  <a:srgbClr val="55606E"/>
                </a:solidFill>
                <a:latin typeface="Arial" pitchFamily="34" charset="0"/>
                <a:ea typeface="Arial" pitchFamily="34" charset="-122"/>
                <a:cs typeface="Arial" pitchFamily="34" charset="-120"/>
              </a:rPr>
              <a:t>CNN 87.1%, MLP 87.0%, consistent with the paper's own Table 7</a:t>
            </a:r>
            <a:endParaRPr lang="en-US" sz="1200" dirty="0"/>
          </a:p>
        </p:txBody>
      </p:sp>
      <p:sp>
        <p:nvSpPr>
          <p:cNvPr id="35" name="Text 29"/>
          <p:cNvSpPr txBox="1"/>
          <p:nvPr/>
        </p:nvSpPr>
        <p:spPr>
          <a:xfrm>
            <a:off x="685800" y="6400800"/>
            <a:ext cx="7315200" cy="228600"/>
          </a:xfrm>
          <a:prstGeom prst="rect">
            <a:avLst/>
          </a:prstGeom>
          <a:noFill/>
          <a:ln/>
        </p:spPr>
        <p:txBody>
          <a:bodyPr wrap="square" lIns="0" tIns="0" rIns="0" bIns="0" rtlCol="0" anchor="t"/>
          <a:lstStyle/>
          <a:p>
            <a:pPr indent="0" marL="0">
              <a:buNone/>
            </a:pPr>
            <a:r>
              <a:rPr lang="en-US" sz="900" dirty="0">
                <a:solidFill>
                  <a:srgbClr val="8A94A3"/>
                </a:solidFill>
                <a:latin typeface="Arial" pitchFamily="34" charset="0"/>
                <a:ea typeface="Arial" pitchFamily="34" charset="-122"/>
                <a:cs typeface="Arial" pitchFamily="34" charset="-120"/>
              </a:rPr>
              <a:t>Anomaly detection for Advanced Persistent Threats   |   Mid-term evaluation</a:t>
            </a:r>
            <a:endParaRPr lang="en-US" sz="900" dirty="0"/>
          </a:p>
        </p:txBody>
      </p:sp>
      <p:sp>
        <p:nvSpPr>
          <p:cNvPr id="36" name="Text 30"/>
          <p:cNvSpPr txBox="1"/>
          <p:nvPr/>
        </p:nvSpPr>
        <p:spPr>
          <a:xfrm>
            <a:off x="10591495" y="6400800"/>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Arial" pitchFamily="34" charset="0"/>
                <a:ea typeface="Arial" pitchFamily="34" charset="-122"/>
                <a:cs typeface="Arial"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V="1">
            <a:off x="10087295" y="470002"/>
            <a:ext cx="288950" cy="416966"/>
          </a:xfrm>
          <a:prstGeom prst="line">
            <a:avLst/>
          </a:prstGeom>
          <a:noFill/>
          <a:ln w="9525">
            <a:solidFill>
              <a:srgbClr val="DCE2EA"/>
            </a:solidFill>
            <a:prstDash val="solid"/>
          </a:ln>
        </p:spPr>
      </p:sp>
      <p:sp>
        <p:nvSpPr>
          <p:cNvPr id="3" name="Shape 1"/>
          <p:cNvSpPr/>
          <p:nvPr/>
        </p:nvSpPr>
        <p:spPr>
          <a:xfrm>
            <a:off x="10087295" y="886968"/>
            <a:ext cx="549006" cy="69494"/>
          </a:xfrm>
          <a:prstGeom prst="line">
            <a:avLst/>
          </a:prstGeom>
          <a:noFill/>
          <a:ln w="9525">
            <a:solidFill>
              <a:srgbClr val="DCE2EA"/>
            </a:solidFill>
            <a:prstDash val="solid"/>
          </a:ln>
        </p:spPr>
      </p:sp>
      <p:sp>
        <p:nvSpPr>
          <p:cNvPr id="4" name="Shape 2"/>
          <p:cNvSpPr/>
          <p:nvPr/>
        </p:nvSpPr>
        <p:spPr>
          <a:xfrm>
            <a:off x="10376245" y="470002"/>
            <a:ext cx="549006" cy="156362"/>
          </a:xfrm>
          <a:prstGeom prst="line">
            <a:avLst/>
          </a:prstGeom>
          <a:noFill/>
          <a:ln w="9525">
            <a:solidFill>
              <a:srgbClr val="F2B7A8"/>
            </a:solidFill>
            <a:prstDash val="solid"/>
          </a:ln>
        </p:spPr>
      </p:sp>
      <p:sp>
        <p:nvSpPr>
          <p:cNvPr id="5" name="Shape 3"/>
          <p:cNvSpPr/>
          <p:nvPr/>
        </p:nvSpPr>
        <p:spPr>
          <a:xfrm flipV="1">
            <a:off x="10636301" y="626364"/>
            <a:ext cx="288950" cy="330098"/>
          </a:xfrm>
          <a:prstGeom prst="line">
            <a:avLst/>
          </a:prstGeom>
          <a:noFill/>
          <a:ln w="9525">
            <a:solidFill>
              <a:srgbClr val="F2B7A8"/>
            </a:solidFill>
            <a:prstDash val="solid"/>
          </a:ln>
        </p:spPr>
      </p:sp>
      <p:sp>
        <p:nvSpPr>
          <p:cNvPr id="6" name="Shape 4"/>
          <p:cNvSpPr/>
          <p:nvPr/>
        </p:nvSpPr>
        <p:spPr>
          <a:xfrm flipV="1">
            <a:off x="10925251" y="522122"/>
            <a:ext cx="534558" cy="104242"/>
          </a:xfrm>
          <a:prstGeom prst="line">
            <a:avLst/>
          </a:prstGeom>
          <a:noFill/>
          <a:ln w="9525">
            <a:solidFill>
              <a:srgbClr val="F2B7A8"/>
            </a:solidFill>
            <a:prstDash val="solid"/>
          </a:ln>
        </p:spPr>
      </p:sp>
      <p:sp>
        <p:nvSpPr>
          <p:cNvPr id="7" name="Shape 5"/>
          <p:cNvSpPr/>
          <p:nvPr/>
        </p:nvSpPr>
        <p:spPr>
          <a:xfrm>
            <a:off x="10636301" y="956462"/>
            <a:ext cx="549006" cy="121615"/>
          </a:xfrm>
          <a:prstGeom prst="line">
            <a:avLst/>
          </a:prstGeom>
          <a:noFill/>
          <a:ln w="9525">
            <a:solidFill>
              <a:srgbClr val="DCE2EA"/>
            </a:solidFill>
            <a:prstDash val="solid"/>
          </a:ln>
        </p:spPr>
      </p:sp>
      <p:sp>
        <p:nvSpPr>
          <p:cNvPr id="8" name="Shape 6"/>
          <p:cNvSpPr/>
          <p:nvPr/>
        </p:nvSpPr>
        <p:spPr>
          <a:xfrm flipV="1">
            <a:off x="11185307" y="843534"/>
            <a:ext cx="173370" cy="234544"/>
          </a:xfrm>
          <a:prstGeom prst="line">
            <a:avLst/>
          </a:prstGeom>
          <a:noFill/>
          <a:ln w="9525">
            <a:solidFill>
              <a:srgbClr val="DCE2EA"/>
            </a:solidFill>
            <a:prstDash val="solid"/>
          </a:ln>
        </p:spPr>
      </p:sp>
      <p:sp>
        <p:nvSpPr>
          <p:cNvPr id="9" name="Shape 7"/>
          <p:cNvSpPr/>
          <p:nvPr/>
        </p:nvSpPr>
        <p:spPr>
          <a:xfrm flipH="1">
            <a:off x="11358677" y="522122"/>
            <a:ext cx="101133" cy="321412"/>
          </a:xfrm>
          <a:prstGeom prst="line">
            <a:avLst/>
          </a:prstGeom>
          <a:noFill/>
          <a:ln w="9525">
            <a:solidFill>
              <a:srgbClr val="DCE2EA"/>
            </a:solidFill>
            <a:prstDash val="solid"/>
          </a:ln>
        </p:spPr>
      </p:sp>
      <p:sp>
        <p:nvSpPr>
          <p:cNvPr id="10" name="Shape 8"/>
          <p:cNvSpPr/>
          <p:nvPr/>
        </p:nvSpPr>
        <p:spPr>
          <a:xfrm>
            <a:off x="10055291" y="854964"/>
            <a:ext cx="64008" cy="64008"/>
          </a:xfrm>
          <a:prstGeom prst="ellipse">
            <a:avLst/>
          </a:prstGeom>
          <a:solidFill>
            <a:srgbClr val="C3CCD9"/>
          </a:solidFill>
          <a:ln w="12700">
            <a:solidFill>
              <a:srgbClr val="C3CCD9"/>
            </a:solidFill>
            <a:prstDash val="solid"/>
          </a:ln>
        </p:spPr>
      </p:sp>
      <p:sp>
        <p:nvSpPr>
          <p:cNvPr id="11" name="Shape 9"/>
          <p:cNvSpPr/>
          <p:nvPr/>
        </p:nvSpPr>
        <p:spPr>
          <a:xfrm>
            <a:off x="10335097" y="428854"/>
            <a:ext cx="82296" cy="82296"/>
          </a:xfrm>
          <a:prstGeom prst="ellipse">
            <a:avLst/>
          </a:prstGeom>
          <a:solidFill>
            <a:srgbClr val="C3CCD9"/>
          </a:solidFill>
          <a:ln w="12700">
            <a:solidFill>
              <a:srgbClr val="C3CCD9"/>
            </a:solidFill>
            <a:prstDash val="solid"/>
          </a:ln>
        </p:spPr>
      </p:sp>
      <p:sp>
        <p:nvSpPr>
          <p:cNvPr id="12" name="Shape 10"/>
          <p:cNvSpPr/>
          <p:nvPr/>
        </p:nvSpPr>
        <p:spPr>
          <a:xfrm>
            <a:off x="10599725" y="919886"/>
            <a:ext cx="73152" cy="73152"/>
          </a:xfrm>
          <a:prstGeom prst="ellipse">
            <a:avLst/>
          </a:prstGeom>
          <a:solidFill>
            <a:srgbClr val="C3CCD9"/>
          </a:solidFill>
          <a:ln w="12700">
            <a:solidFill>
              <a:srgbClr val="C3CCD9"/>
            </a:solidFill>
            <a:prstDash val="solid"/>
          </a:ln>
        </p:spPr>
      </p:sp>
      <p:sp>
        <p:nvSpPr>
          <p:cNvPr id="13" name="Shape 11"/>
          <p:cNvSpPr/>
          <p:nvPr/>
        </p:nvSpPr>
        <p:spPr>
          <a:xfrm>
            <a:off x="10806379" y="507492"/>
            <a:ext cx="237744" cy="237744"/>
          </a:xfrm>
          <a:prstGeom prst="ellipse">
            <a:avLst/>
          </a:prstGeom>
          <a:solidFill>
            <a:srgbClr val="E0533A">
              <a:alpha val="18000"/>
            </a:srgbClr>
          </a:solidFill>
          <a:ln w="12700">
            <a:solidFill>
              <a:srgbClr val="E0533A">
                <a:alpha val="18000"/>
              </a:srgbClr>
            </a:solidFill>
            <a:prstDash val="solid"/>
          </a:ln>
        </p:spPr>
      </p:sp>
      <p:sp>
        <p:nvSpPr>
          <p:cNvPr id="14" name="Shape 12"/>
          <p:cNvSpPr/>
          <p:nvPr/>
        </p:nvSpPr>
        <p:spPr>
          <a:xfrm>
            <a:off x="10874959" y="576072"/>
            <a:ext cx="100584" cy="100584"/>
          </a:xfrm>
          <a:prstGeom prst="ellipse">
            <a:avLst/>
          </a:prstGeom>
          <a:solidFill>
            <a:srgbClr val="E0533A"/>
          </a:solidFill>
          <a:ln w="12700">
            <a:solidFill>
              <a:srgbClr val="E0533A"/>
            </a:solidFill>
            <a:prstDash val="solid"/>
          </a:ln>
        </p:spPr>
      </p:sp>
      <p:sp>
        <p:nvSpPr>
          <p:cNvPr id="15" name="Shape 13"/>
          <p:cNvSpPr/>
          <p:nvPr/>
        </p:nvSpPr>
        <p:spPr>
          <a:xfrm>
            <a:off x="11144159" y="1036930"/>
            <a:ext cx="82296" cy="82296"/>
          </a:xfrm>
          <a:prstGeom prst="ellipse">
            <a:avLst/>
          </a:prstGeom>
          <a:solidFill>
            <a:srgbClr val="C3CCD9"/>
          </a:solidFill>
          <a:ln w="12700">
            <a:solidFill>
              <a:srgbClr val="C3CCD9"/>
            </a:solidFill>
            <a:prstDash val="solid"/>
          </a:ln>
        </p:spPr>
      </p:sp>
      <p:sp>
        <p:nvSpPr>
          <p:cNvPr id="16" name="Shape 14"/>
          <p:cNvSpPr/>
          <p:nvPr/>
        </p:nvSpPr>
        <p:spPr>
          <a:xfrm>
            <a:off x="11427805" y="490118"/>
            <a:ext cx="64008" cy="64008"/>
          </a:xfrm>
          <a:prstGeom prst="ellipse">
            <a:avLst/>
          </a:prstGeom>
          <a:solidFill>
            <a:srgbClr val="C3CCD9"/>
          </a:solidFill>
          <a:ln w="12700">
            <a:solidFill>
              <a:srgbClr val="C3CCD9"/>
            </a:solidFill>
            <a:prstDash val="solid"/>
          </a:ln>
        </p:spPr>
      </p:sp>
      <p:sp>
        <p:nvSpPr>
          <p:cNvPr id="17" name="Shape 15"/>
          <p:cNvSpPr/>
          <p:nvPr/>
        </p:nvSpPr>
        <p:spPr>
          <a:xfrm>
            <a:off x="11331245" y="816102"/>
            <a:ext cx="54864" cy="54864"/>
          </a:xfrm>
          <a:prstGeom prst="ellipse">
            <a:avLst/>
          </a:prstGeom>
          <a:solidFill>
            <a:srgbClr val="C3CCD9"/>
          </a:solidFill>
          <a:ln w="12700">
            <a:solidFill>
              <a:srgbClr val="C3CCD9"/>
            </a:solidFill>
            <a:prstDash val="solid"/>
          </a:ln>
        </p:spPr>
      </p:sp>
      <p:sp>
        <p:nvSpPr>
          <p:cNvPr id="18" name="Text 16"/>
          <p:cNvSpPr txBox="1"/>
          <p:nvPr/>
        </p:nvSpPr>
        <p:spPr>
          <a:xfrm>
            <a:off x="685800" y="475488"/>
            <a:ext cx="10820095" cy="256032"/>
          </a:xfrm>
          <a:prstGeom prst="rect">
            <a:avLst/>
          </a:prstGeom>
          <a:noFill/>
          <a:ln/>
        </p:spPr>
        <p:txBody>
          <a:bodyPr wrap="square" lIns="0" tIns="0" rIns="0" bIns="0" rtlCol="0" anchor="t"/>
          <a:lstStyle/>
          <a:p>
            <a:pPr indent="0" marL="0">
              <a:buNone/>
            </a:pPr>
            <a:r>
              <a:rPr lang="en-US" sz="1100" b="1" dirty="0">
                <a:solidFill>
                  <a:srgbClr val="E0533A"/>
                </a:solidFill>
                <a:latin typeface="Arial" pitchFamily="34" charset="0"/>
                <a:ea typeface="Arial" pitchFamily="34" charset="-122"/>
                <a:cs typeface="Arial" pitchFamily="34" charset="-120"/>
              </a:rPr>
              <a:t>03 · RESULTS</a:t>
            </a:r>
            <a:endParaRPr lang="en-US" sz="1100" dirty="0"/>
          </a:p>
        </p:txBody>
      </p:sp>
      <p:sp>
        <p:nvSpPr>
          <p:cNvPr id="19" name="Text 17"/>
          <p:cNvSpPr txBox="1"/>
          <p:nvPr/>
        </p:nvSpPr>
        <p:spPr>
          <a:xfrm>
            <a:off x="685800" y="768096"/>
            <a:ext cx="10820095" cy="822960"/>
          </a:xfrm>
          <a:prstGeom prst="rect">
            <a:avLst/>
          </a:prstGeom>
          <a:noFill/>
          <a:ln/>
        </p:spPr>
        <p:txBody>
          <a:bodyPr wrap="square" lIns="0" tIns="0" rIns="0" bIns="0" rtlCol="0" anchor="t"/>
          <a:lstStyle/>
          <a:p>
            <a:pPr indent="0" marL="0">
              <a:buNone/>
            </a:pPr>
            <a:r>
              <a:rPr lang="en-US" sz="3000" dirty="0">
                <a:solidFill>
                  <a:srgbClr val="0F1B2D"/>
                </a:solidFill>
                <a:latin typeface="Georgia" pitchFamily="34" charset="0"/>
                <a:ea typeface="Georgia" pitchFamily="34" charset="-122"/>
                <a:cs typeface="Georgia" pitchFamily="34" charset="-120"/>
              </a:rPr>
              <a:t>The published hybrid doesn't beat its parts</a:t>
            </a:r>
            <a:endParaRPr lang="en-US" sz="3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85800" y="1783080"/>
          <a:ext cx="10820095" cy="914400"/>
        </p:xfrm>
        <a:graphic>
          <a:graphicData uri="http://schemas.openxmlformats.org/drawingml/2006/table">
            <a:tbl>
              <a:tblPr/>
              <a:tblGrid>
                <a:gridCol w="3593592"/>
                <a:gridCol w="1737360"/>
                <a:gridCol w="1737360"/>
                <a:gridCol w="2011680"/>
                <a:gridCol w="1737360"/>
              </a:tblGrid>
              <a:tr h="475488">
                <a:tc>
                  <a:txBody>
                    <a:bodyPr/>
                    <a:lstStyle/>
                    <a:p>
                      <a:pPr indent="0" marL="0">
                        <a:buNone/>
                      </a:pPr>
                      <a:r>
                        <a:rPr lang="en-US" sz="1400" b="1" dirty="0">
                          <a:solidFill>
                            <a:srgbClr val="FFFFFF"/>
                          </a:solidFill>
                          <a:latin typeface="Arial" pitchFamily="34" charset="0"/>
                          <a:ea typeface="Arial" pitchFamily="34" charset="-122"/>
                          <a:cs typeface="Arial" pitchFamily="34" charset="-120"/>
                        </a:rPr>
                        <a:t>Model</a:t>
                      </a:r>
                      <a:endParaRPr lang="en-US" sz="1400" dirty="0">
                        <a:latin typeface="Arial" charset="0"/>
                        <a:ea typeface="Arial" charset="0"/>
                        <a:cs typeface="Arial" charset="0"/>
                      </a:endParaRPr>
                    </a:p>
                  </a:txBody>
                  <a:tcPr marL="73152" marR="73152" marT="73152" marB="73152"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0B1526"/>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F1</a:t>
                      </a:r>
                      <a:endParaRPr lang="en-US" sz="1400" dirty="0">
                        <a:latin typeface="Arial" charset="0"/>
                        <a:ea typeface="Arial" charset="0"/>
                        <a:cs typeface="Arial" charset="0"/>
                      </a:endParaRPr>
                    </a:p>
                  </a:txBody>
                  <a:tcPr marL="73152" marR="73152" marT="73152" marB="73152"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0B1526"/>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Recall</a:t>
                      </a:r>
                      <a:endParaRPr lang="en-US" sz="1400" dirty="0">
                        <a:latin typeface="Arial" charset="0"/>
                        <a:ea typeface="Arial" charset="0"/>
                        <a:cs typeface="Arial" charset="0"/>
                      </a:endParaRPr>
                    </a:p>
                  </a:txBody>
                  <a:tcPr marL="73152" marR="73152" marT="73152" marB="73152"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0B1526"/>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False positive rate</a:t>
                      </a:r>
                      <a:endParaRPr lang="en-US" sz="1400" dirty="0">
                        <a:latin typeface="Arial" charset="0"/>
                        <a:ea typeface="Arial" charset="0"/>
                        <a:cs typeface="Arial" charset="0"/>
                      </a:endParaRPr>
                    </a:p>
                  </a:txBody>
                  <a:tcPr marL="73152" marR="73152" marT="73152" marB="73152"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0B1526"/>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AUC</a:t>
                      </a:r>
                      <a:endParaRPr lang="en-US" sz="1400" dirty="0">
                        <a:latin typeface="Arial" charset="0"/>
                        <a:ea typeface="Arial" charset="0"/>
                        <a:cs typeface="Arial" charset="0"/>
                      </a:endParaRPr>
                    </a:p>
                  </a:txBody>
                  <a:tcPr marL="73152" marR="73152" marT="73152" marB="73152"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0B1526"/>
                    </a:solidFill>
                  </a:tcPr>
                </a:tc>
              </a:tr>
              <a:tr h="475488">
                <a:tc>
                  <a:txBody>
                    <a:bodyPr/>
                    <a:lstStyle/>
                    <a:p>
                      <a:pPr indent="0" marL="0">
                        <a:buNone/>
                      </a:pPr>
                      <a:r>
                        <a:rPr lang="en-US" sz="1400" dirty="0">
                          <a:solidFill>
                            <a:srgbClr val="0F1B2D"/>
                          </a:solidFill>
                          <a:latin typeface="Arial" pitchFamily="34" charset="0"/>
                          <a:ea typeface="Arial" pitchFamily="34" charset="-122"/>
                          <a:cs typeface="Arial" pitchFamily="34" charset="-120"/>
                        </a:rPr>
                        <a:t>Proposed hybrid (OR rule, as published)</a:t>
                      </a:r>
                      <a:endParaRPr lang="en-US" sz="1400" dirty="0">
                        <a:latin typeface="Arial" charset="0"/>
                        <a:ea typeface="Arial" charset="0"/>
                        <a:cs typeface="Arial" charset="0"/>
                      </a:endParaRPr>
                    </a:p>
                  </a:txBody>
                  <a:tcPr marL="73152" marR="73152" marT="73152" marB="73152"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c>
                  <a:txBody>
                    <a:bodyPr/>
                    <a:lstStyle/>
                    <a:p>
                      <a:pPr indent="0" marL="0">
                        <a:buNone/>
                      </a:pPr>
                      <a:r>
                        <a:rPr lang="en-US" sz="1400" dirty="0">
                          <a:solidFill>
                            <a:srgbClr val="0F1B2D"/>
                          </a:solidFill>
                          <a:latin typeface="Arial" pitchFamily="34" charset="0"/>
                          <a:ea typeface="Arial" pitchFamily="34" charset="-122"/>
                          <a:cs typeface="Arial" pitchFamily="34" charset="-120"/>
                        </a:rPr>
                        <a:t>88.82 ± 0.18</a:t>
                      </a:r>
                      <a:endParaRPr lang="en-US" sz="1400" dirty="0">
                        <a:latin typeface="Arial" charset="0"/>
                        <a:ea typeface="Arial" charset="0"/>
                        <a:cs typeface="Arial" charset="0"/>
                      </a:endParaRPr>
                    </a:p>
                  </a:txBody>
                  <a:tcPr marL="73152" marR="73152" marT="73152" marB="73152"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c>
                  <a:txBody>
                    <a:bodyPr/>
                    <a:lstStyle/>
                    <a:p>
                      <a:pPr indent="0" marL="0">
                        <a:buNone/>
                      </a:pPr>
                      <a:r>
                        <a:rPr lang="en-US" sz="1400" dirty="0">
                          <a:solidFill>
                            <a:srgbClr val="0F1B2D"/>
                          </a:solidFill>
                          <a:latin typeface="Arial" pitchFamily="34" charset="0"/>
                          <a:ea typeface="Arial" pitchFamily="34" charset="-122"/>
                          <a:cs typeface="Arial" pitchFamily="34" charset="-120"/>
                        </a:rPr>
                        <a:t>96.93 ± 0.38</a:t>
                      </a:r>
                      <a:endParaRPr lang="en-US" sz="1400" dirty="0">
                        <a:latin typeface="Arial" charset="0"/>
                        <a:ea typeface="Arial" charset="0"/>
                        <a:cs typeface="Arial" charset="0"/>
                      </a:endParaRPr>
                    </a:p>
                  </a:txBody>
                  <a:tcPr marL="73152" marR="73152" marT="73152" marB="73152"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c>
                  <a:txBody>
                    <a:bodyPr/>
                    <a:lstStyle/>
                    <a:p>
                      <a:pPr indent="0" marL="0">
                        <a:buNone/>
                      </a:pPr>
                      <a:r>
                        <a:rPr lang="en-US" sz="1400" dirty="0">
                          <a:solidFill>
                            <a:srgbClr val="0F1B2D"/>
                          </a:solidFill>
                          <a:latin typeface="Arial" pitchFamily="34" charset="0"/>
                          <a:ea typeface="Arial" pitchFamily="34" charset="-122"/>
                          <a:cs typeface="Arial" pitchFamily="34" charset="-120"/>
                        </a:rPr>
                        <a:t>6.48 ± 0.14</a:t>
                      </a:r>
                      <a:endParaRPr lang="en-US" sz="1400" dirty="0">
                        <a:latin typeface="Arial" charset="0"/>
                        <a:ea typeface="Arial" charset="0"/>
                        <a:cs typeface="Arial" charset="0"/>
                      </a:endParaRPr>
                    </a:p>
                  </a:txBody>
                  <a:tcPr marL="73152" marR="73152" marT="73152" marB="73152"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c>
                  <a:txBody>
                    <a:bodyPr/>
                    <a:lstStyle/>
                    <a:p>
                      <a:pPr indent="0" marL="0">
                        <a:buNone/>
                      </a:pPr>
                      <a:r>
                        <a:rPr lang="en-US" sz="1400" dirty="0">
                          <a:solidFill>
                            <a:srgbClr val="0F1B2D"/>
                          </a:solidFill>
                          <a:latin typeface="Arial" pitchFamily="34" charset="0"/>
                          <a:ea typeface="Arial" pitchFamily="34" charset="-122"/>
                          <a:cs typeface="Arial" pitchFamily="34" charset="-120"/>
                        </a:rPr>
                        <a:t>99.02 ± 0.03</a:t>
                      </a:r>
                      <a:endParaRPr lang="en-US" sz="1400" dirty="0">
                        <a:latin typeface="Arial" charset="0"/>
                        <a:ea typeface="Arial" charset="0"/>
                        <a:cs typeface="Arial" charset="0"/>
                      </a:endParaRPr>
                    </a:p>
                  </a:txBody>
                  <a:tcPr marL="73152" marR="73152" marT="73152" marB="73152"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r>
              <a:tr h="475488">
                <a:tc>
                  <a:txBody>
                    <a:bodyPr/>
                    <a:lstStyle/>
                    <a:p>
                      <a:pPr indent="0" marL="0">
                        <a:buNone/>
                      </a:pPr>
                      <a:r>
                        <a:rPr lang="en-US" sz="1400" b="1" dirty="0">
                          <a:solidFill>
                            <a:srgbClr val="0F1B2D"/>
                          </a:solidFill>
                          <a:latin typeface="Arial" pitchFamily="34" charset="0"/>
                          <a:ea typeface="Arial" pitchFamily="34" charset="-122"/>
                          <a:cs typeface="Arial" pitchFamily="34" charset="-120"/>
                        </a:rPr>
                        <a:t>Hybrid, soft vote</a:t>
                      </a:r>
                      <a:endParaRPr lang="en-US" sz="1400" dirty="0">
                        <a:latin typeface="Arial" charset="0"/>
                        <a:ea typeface="Arial" charset="0"/>
                        <a:cs typeface="Arial" charset="0"/>
                      </a:endParaRPr>
                    </a:p>
                  </a:txBody>
                  <a:tcPr marL="73152" marR="73152" marT="73152" marB="73152"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E7F4ED"/>
                    </a:solidFill>
                  </a:tcPr>
                </a:tc>
                <a:tc>
                  <a:txBody>
                    <a:bodyPr/>
                    <a:lstStyle/>
                    <a:p>
                      <a:pPr indent="0" marL="0">
                        <a:buNone/>
                      </a:pPr>
                      <a:r>
                        <a:rPr lang="en-US" sz="1400" b="1" dirty="0">
                          <a:solidFill>
                            <a:srgbClr val="0F1B2D"/>
                          </a:solidFill>
                          <a:latin typeface="Arial" pitchFamily="34" charset="0"/>
                          <a:ea typeface="Arial" pitchFamily="34" charset="-122"/>
                          <a:cs typeface="Arial" pitchFamily="34" charset="-120"/>
                        </a:rPr>
                        <a:t>89.21 ± 0.24</a:t>
                      </a:r>
                      <a:endParaRPr lang="en-US" sz="1400" dirty="0">
                        <a:latin typeface="Arial" charset="0"/>
                        <a:ea typeface="Arial" charset="0"/>
                        <a:cs typeface="Arial" charset="0"/>
                      </a:endParaRPr>
                    </a:p>
                  </a:txBody>
                  <a:tcPr marL="73152" marR="73152" marT="73152" marB="73152"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E7F4ED"/>
                    </a:solidFill>
                  </a:tcPr>
                </a:tc>
                <a:tc>
                  <a:txBody>
                    <a:bodyPr/>
                    <a:lstStyle/>
                    <a:p>
                      <a:pPr indent="0" marL="0">
                        <a:buNone/>
                      </a:pPr>
                      <a:r>
                        <a:rPr lang="en-US" sz="1400" b="1" dirty="0">
                          <a:solidFill>
                            <a:srgbClr val="0F1B2D"/>
                          </a:solidFill>
                          <a:latin typeface="Arial" pitchFamily="34" charset="0"/>
                          <a:ea typeface="Arial" pitchFamily="34" charset="-122"/>
                          <a:cs typeface="Arial" pitchFamily="34" charset="-120"/>
                        </a:rPr>
                        <a:t>95.09 ± 0.47</a:t>
                      </a:r>
                      <a:endParaRPr lang="en-US" sz="1400" dirty="0">
                        <a:latin typeface="Arial" charset="0"/>
                        <a:ea typeface="Arial" charset="0"/>
                        <a:cs typeface="Arial" charset="0"/>
                      </a:endParaRPr>
                    </a:p>
                  </a:txBody>
                  <a:tcPr marL="73152" marR="73152" marT="73152" marB="73152"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E7F4ED"/>
                    </a:solidFill>
                  </a:tcPr>
                </a:tc>
                <a:tc>
                  <a:txBody>
                    <a:bodyPr/>
                    <a:lstStyle/>
                    <a:p>
                      <a:pPr indent="0" marL="0">
                        <a:buNone/>
                      </a:pPr>
                      <a:r>
                        <a:rPr lang="en-US" sz="1400" b="1" dirty="0">
                          <a:solidFill>
                            <a:srgbClr val="0F1B2D"/>
                          </a:solidFill>
                          <a:latin typeface="Arial" pitchFamily="34" charset="0"/>
                          <a:ea typeface="Arial" pitchFamily="34" charset="-122"/>
                          <a:cs typeface="Arial" pitchFamily="34" charset="-120"/>
                        </a:rPr>
                        <a:t>5.50 ± 0.16</a:t>
                      </a:r>
                      <a:endParaRPr lang="en-US" sz="1400" dirty="0">
                        <a:latin typeface="Arial" charset="0"/>
                        <a:ea typeface="Arial" charset="0"/>
                        <a:cs typeface="Arial" charset="0"/>
                      </a:endParaRPr>
                    </a:p>
                  </a:txBody>
                  <a:tcPr marL="73152" marR="73152" marT="73152" marB="73152"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E7F4ED"/>
                    </a:solidFill>
                  </a:tcPr>
                </a:tc>
                <a:tc>
                  <a:txBody>
                    <a:bodyPr/>
                    <a:lstStyle/>
                    <a:p>
                      <a:pPr indent="0" marL="0">
                        <a:buNone/>
                      </a:pPr>
                      <a:r>
                        <a:rPr lang="en-US" sz="1400" b="1" dirty="0">
                          <a:solidFill>
                            <a:srgbClr val="0F1B2D"/>
                          </a:solidFill>
                          <a:latin typeface="Arial" pitchFamily="34" charset="0"/>
                          <a:ea typeface="Arial" pitchFamily="34" charset="-122"/>
                          <a:cs typeface="Arial" pitchFamily="34" charset="-120"/>
                        </a:rPr>
                        <a:t>99.02 ± 0.03</a:t>
                      </a:r>
                      <a:endParaRPr lang="en-US" sz="1400" dirty="0">
                        <a:latin typeface="Arial" charset="0"/>
                        <a:ea typeface="Arial" charset="0"/>
                        <a:cs typeface="Arial" charset="0"/>
                      </a:endParaRPr>
                    </a:p>
                  </a:txBody>
                  <a:tcPr marL="73152" marR="73152" marT="73152" marB="73152"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E7F4ED"/>
                    </a:solidFill>
                  </a:tcPr>
                </a:tc>
              </a:tr>
              <a:tr h="475488">
                <a:tc>
                  <a:txBody>
                    <a:bodyPr/>
                    <a:lstStyle/>
                    <a:p>
                      <a:pPr indent="0" marL="0">
                        <a:buNone/>
                      </a:pPr>
                      <a:r>
                        <a:rPr lang="en-US" sz="1400" dirty="0">
                          <a:solidFill>
                            <a:srgbClr val="0F1B2D"/>
                          </a:solidFill>
                          <a:latin typeface="Arial" pitchFamily="34" charset="0"/>
                          <a:ea typeface="Arial" pitchFamily="34" charset="-122"/>
                          <a:cs typeface="Arial" pitchFamily="34" charset="-120"/>
                        </a:rPr>
                        <a:t>Random Forest</a:t>
                      </a:r>
                      <a:endParaRPr lang="en-US" sz="1400" dirty="0">
                        <a:latin typeface="Arial" charset="0"/>
                        <a:ea typeface="Arial" charset="0"/>
                        <a:cs typeface="Arial" charset="0"/>
                      </a:endParaRPr>
                    </a:p>
                  </a:txBody>
                  <a:tcPr marL="73152" marR="73152" marT="73152" marB="73152"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c>
                  <a:txBody>
                    <a:bodyPr/>
                    <a:lstStyle/>
                    <a:p>
                      <a:pPr indent="0" marL="0">
                        <a:buNone/>
                      </a:pPr>
                      <a:r>
                        <a:rPr lang="en-US" sz="1400" dirty="0">
                          <a:solidFill>
                            <a:srgbClr val="0F1B2D"/>
                          </a:solidFill>
                          <a:latin typeface="Arial" pitchFamily="34" charset="0"/>
                          <a:ea typeface="Arial" pitchFamily="34" charset="-122"/>
                          <a:cs typeface="Arial" pitchFamily="34" charset="-120"/>
                        </a:rPr>
                        <a:t>89.00 ± 0.21</a:t>
                      </a:r>
                      <a:endParaRPr lang="en-US" sz="1400" dirty="0">
                        <a:latin typeface="Arial" charset="0"/>
                        <a:ea typeface="Arial" charset="0"/>
                        <a:cs typeface="Arial" charset="0"/>
                      </a:endParaRPr>
                    </a:p>
                  </a:txBody>
                  <a:tcPr marL="73152" marR="73152" marT="73152" marB="73152"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c>
                  <a:txBody>
                    <a:bodyPr/>
                    <a:lstStyle/>
                    <a:p>
                      <a:pPr indent="0" marL="0">
                        <a:buNone/>
                      </a:pPr>
                      <a:r>
                        <a:rPr lang="en-US" sz="1400" dirty="0">
                          <a:solidFill>
                            <a:srgbClr val="0F1B2D"/>
                          </a:solidFill>
                          <a:latin typeface="Arial" pitchFamily="34" charset="0"/>
                          <a:ea typeface="Arial" pitchFamily="34" charset="-122"/>
                          <a:cs typeface="Arial" pitchFamily="34" charset="-120"/>
                        </a:rPr>
                        <a:t>94.63 ± 0.22</a:t>
                      </a:r>
                      <a:endParaRPr lang="en-US" sz="1400" dirty="0">
                        <a:latin typeface="Arial" charset="0"/>
                        <a:ea typeface="Arial" charset="0"/>
                        <a:cs typeface="Arial" charset="0"/>
                      </a:endParaRPr>
                    </a:p>
                  </a:txBody>
                  <a:tcPr marL="73152" marR="73152" marT="73152" marB="73152"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c>
                  <a:txBody>
                    <a:bodyPr/>
                    <a:lstStyle/>
                    <a:p>
                      <a:pPr indent="0" marL="0">
                        <a:buNone/>
                      </a:pPr>
                      <a:r>
                        <a:rPr lang="en-US" sz="1400" dirty="0">
                          <a:solidFill>
                            <a:srgbClr val="0F1B2D"/>
                          </a:solidFill>
                          <a:latin typeface="Arial" pitchFamily="34" charset="0"/>
                          <a:ea typeface="Arial" pitchFamily="34" charset="-122"/>
                          <a:cs typeface="Arial" pitchFamily="34" charset="-120"/>
                        </a:rPr>
                        <a:t>5.47 ± 0.12</a:t>
                      </a:r>
                      <a:endParaRPr lang="en-US" sz="1400" dirty="0">
                        <a:latin typeface="Arial" charset="0"/>
                        <a:ea typeface="Arial" charset="0"/>
                        <a:cs typeface="Arial" charset="0"/>
                      </a:endParaRPr>
                    </a:p>
                  </a:txBody>
                  <a:tcPr marL="73152" marR="73152" marT="73152" marB="73152"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c>
                  <a:txBody>
                    <a:bodyPr/>
                    <a:lstStyle/>
                    <a:p>
                      <a:pPr indent="0" marL="0">
                        <a:buNone/>
                      </a:pPr>
                      <a:r>
                        <a:rPr lang="en-US" sz="1400" dirty="0">
                          <a:solidFill>
                            <a:srgbClr val="0F1B2D"/>
                          </a:solidFill>
                          <a:latin typeface="Arial" pitchFamily="34" charset="0"/>
                          <a:ea typeface="Arial" pitchFamily="34" charset="-122"/>
                          <a:cs typeface="Arial" pitchFamily="34" charset="-120"/>
                        </a:rPr>
                        <a:t>98.83 ± 0.02</a:t>
                      </a:r>
                      <a:endParaRPr lang="en-US" sz="1400" dirty="0">
                        <a:latin typeface="Arial" charset="0"/>
                        <a:ea typeface="Arial" charset="0"/>
                        <a:cs typeface="Arial" charset="0"/>
                      </a:endParaRPr>
                    </a:p>
                  </a:txBody>
                  <a:tcPr marL="73152" marR="73152" marT="73152" marB="73152"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0F1B2D"/>
                          </a:solidFill>
                          <a:latin typeface="Arial" pitchFamily="34" charset="0"/>
                          <a:ea typeface="Arial" pitchFamily="34" charset="-122"/>
                          <a:cs typeface="Arial" pitchFamily="34" charset="-120"/>
                        </a:rPr>
                        <a:t>XGBoost</a:t>
                      </a:r>
                      <a:endParaRPr lang="en-US" sz="1400" dirty="0">
                        <a:latin typeface="Arial" charset="0"/>
                        <a:ea typeface="Arial" charset="0"/>
                        <a:cs typeface="Arial" charset="0"/>
                      </a:endParaRPr>
                    </a:p>
                  </a:txBody>
                  <a:tcPr marL="73152" marR="73152" marT="73152" marB="73152"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c>
                  <a:txBody>
                    <a:bodyPr/>
                    <a:lstStyle/>
                    <a:p>
                      <a:pPr indent="0" marL="0">
                        <a:buNone/>
                      </a:pPr>
                      <a:r>
                        <a:rPr lang="en-US" sz="1400" dirty="0">
                          <a:solidFill>
                            <a:srgbClr val="0F1B2D"/>
                          </a:solidFill>
                          <a:latin typeface="Arial" pitchFamily="34" charset="0"/>
                          <a:ea typeface="Arial" pitchFamily="34" charset="-122"/>
                          <a:cs typeface="Arial" pitchFamily="34" charset="-120"/>
                        </a:rPr>
                        <a:t>89.01 ± 0.25</a:t>
                      </a:r>
                      <a:endParaRPr lang="en-US" sz="1400" dirty="0">
                        <a:latin typeface="Arial" charset="0"/>
                        <a:ea typeface="Arial" charset="0"/>
                        <a:cs typeface="Arial" charset="0"/>
                      </a:endParaRPr>
                    </a:p>
                  </a:txBody>
                  <a:tcPr marL="73152" marR="73152" marT="73152" marB="73152"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c>
                  <a:txBody>
                    <a:bodyPr/>
                    <a:lstStyle/>
                    <a:p>
                      <a:pPr indent="0" marL="0">
                        <a:buNone/>
                      </a:pPr>
                      <a:r>
                        <a:rPr lang="en-US" sz="1400" dirty="0">
                          <a:solidFill>
                            <a:srgbClr val="0F1B2D"/>
                          </a:solidFill>
                          <a:latin typeface="Arial" pitchFamily="34" charset="0"/>
                          <a:ea typeface="Arial" pitchFamily="34" charset="-122"/>
                          <a:cs typeface="Arial" pitchFamily="34" charset="-120"/>
                        </a:rPr>
                        <a:t>94.68 ± 0.51</a:t>
                      </a:r>
                      <a:endParaRPr lang="en-US" sz="1400" dirty="0">
                        <a:latin typeface="Arial" charset="0"/>
                        <a:ea typeface="Arial" charset="0"/>
                        <a:cs typeface="Arial" charset="0"/>
                      </a:endParaRPr>
                    </a:p>
                  </a:txBody>
                  <a:tcPr marL="73152" marR="73152" marT="73152" marB="73152"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c>
                  <a:txBody>
                    <a:bodyPr/>
                    <a:lstStyle/>
                    <a:p>
                      <a:pPr indent="0" marL="0">
                        <a:buNone/>
                      </a:pPr>
                      <a:r>
                        <a:rPr lang="en-US" sz="1400" dirty="0">
                          <a:solidFill>
                            <a:srgbClr val="0F1B2D"/>
                          </a:solidFill>
                          <a:latin typeface="Arial" pitchFamily="34" charset="0"/>
                          <a:ea typeface="Arial" pitchFamily="34" charset="-122"/>
                          <a:cs typeface="Arial" pitchFamily="34" charset="-120"/>
                        </a:rPr>
                        <a:t>5.49 ± 0.17</a:t>
                      </a:r>
                      <a:endParaRPr lang="en-US" sz="1400" dirty="0">
                        <a:latin typeface="Arial" charset="0"/>
                        <a:ea typeface="Arial" charset="0"/>
                        <a:cs typeface="Arial" charset="0"/>
                      </a:endParaRPr>
                    </a:p>
                  </a:txBody>
                  <a:tcPr marL="73152" marR="73152" marT="73152" marB="73152"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c>
                  <a:txBody>
                    <a:bodyPr/>
                    <a:lstStyle/>
                    <a:p>
                      <a:pPr indent="0" marL="0">
                        <a:buNone/>
                      </a:pPr>
                      <a:r>
                        <a:rPr lang="en-US" sz="1400" dirty="0">
                          <a:solidFill>
                            <a:srgbClr val="0F1B2D"/>
                          </a:solidFill>
                          <a:latin typeface="Arial" pitchFamily="34" charset="0"/>
                          <a:ea typeface="Arial" pitchFamily="34" charset="-122"/>
                          <a:cs typeface="Arial" pitchFamily="34" charset="-120"/>
                        </a:rPr>
                        <a:t>98.95 ± 0.06</a:t>
                      </a:r>
                      <a:endParaRPr lang="en-US" sz="1400" dirty="0">
                        <a:latin typeface="Arial" charset="0"/>
                        <a:ea typeface="Arial" charset="0"/>
                        <a:cs typeface="Arial" charset="0"/>
                      </a:endParaRPr>
                    </a:p>
                  </a:txBody>
                  <a:tcPr marL="73152" marR="73152" marT="73152" marB="73152"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r>
            </a:tbl>
          </a:graphicData>
        </a:graphic>
      </p:graphicFrame>
      <p:sp>
        <p:nvSpPr>
          <p:cNvPr id="21" name="Text 18"/>
          <p:cNvSpPr txBox="1"/>
          <p:nvPr/>
        </p:nvSpPr>
        <p:spPr>
          <a:xfrm>
            <a:off x="685800" y="4251960"/>
            <a:ext cx="10820095" cy="274320"/>
          </a:xfrm>
          <a:prstGeom prst="rect">
            <a:avLst/>
          </a:prstGeom>
          <a:noFill/>
          <a:ln/>
        </p:spPr>
        <p:txBody>
          <a:bodyPr wrap="square" lIns="0" tIns="0" rIns="0" bIns="0" rtlCol="0" anchor="t"/>
          <a:lstStyle/>
          <a:p>
            <a:pPr indent="0" marL="0">
              <a:buNone/>
            </a:pPr>
            <a:r>
              <a:rPr lang="en-US" sz="1100" dirty="0">
                <a:solidFill>
                  <a:srgbClr val="8A94A3"/>
                </a:solidFill>
                <a:latin typeface="Arial" pitchFamily="34" charset="0"/>
                <a:ea typeface="Arial" pitchFamily="34" charset="-122"/>
                <a:cs typeface="Arial" pitchFamily="34" charset="-120"/>
              </a:rPr>
              <a:t>Leakage-free test set, mean ± standard deviation over 5 random seeds (%)</a:t>
            </a:r>
            <a:endParaRPr lang="en-US" sz="1100" dirty="0"/>
          </a:p>
        </p:txBody>
      </p:sp>
      <p:sp>
        <p:nvSpPr>
          <p:cNvPr id="22" name="Shape 19"/>
          <p:cNvSpPr/>
          <p:nvPr/>
        </p:nvSpPr>
        <p:spPr>
          <a:xfrm>
            <a:off x="685800" y="4937760"/>
            <a:ext cx="530352" cy="530352"/>
          </a:xfrm>
          <a:prstGeom prst="ellipse">
            <a:avLst/>
          </a:prstGeom>
          <a:solidFill>
            <a:srgbClr val="2A78D6"/>
          </a:solidFill>
          <a:ln w="12700">
            <a:solidFill>
              <a:srgbClr val="2A78D6"/>
            </a:solidFill>
            <a:prstDash val="solid"/>
          </a:ln>
        </p:spPr>
      </p:sp>
      <p:pic>
        <p:nvPicPr>
          <p:cNvPr id="23" name="Image 0" descr="preencoded.png">    </p:cNvPr>
          <p:cNvPicPr>
            <a:picLocks noChangeAspect="1"/>
          </p:cNvPicPr>
          <p:nvPr/>
        </p:nvPicPr>
        <p:blipFill>
          <a:blip r:embed="rId1"/>
          <a:stretch>
            <a:fillRect/>
          </a:stretch>
        </p:blipFill>
        <p:spPr>
          <a:xfrm>
            <a:off x="828995" y="5080955"/>
            <a:ext cx="243962" cy="243962"/>
          </a:xfrm>
          <a:prstGeom prst="rect">
            <a:avLst/>
          </a:prstGeom>
        </p:spPr>
      </p:pic>
      <p:sp>
        <p:nvSpPr>
          <p:cNvPr id="24" name="Text 20"/>
          <p:cNvSpPr txBox="1"/>
          <p:nvPr/>
        </p:nvSpPr>
        <p:spPr>
          <a:xfrm>
            <a:off x="1417320" y="4983480"/>
            <a:ext cx="2646578" cy="365760"/>
          </a:xfrm>
          <a:prstGeom prst="rect">
            <a:avLst/>
          </a:prstGeom>
          <a:noFill/>
          <a:ln/>
        </p:spPr>
        <p:txBody>
          <a:bodyPr wrap="square" lIns="0" tIns="0" rIns="0" bIns="0" rtlCol="0" anchor="t"/>
          <a:lstStyle/>
          <a:p>
            <a:pPr indent="0" marL="0">
              <a:buNone/>
            </a:pPr>
            <a:r>
              <a:rPr lang="en-US" sz="1500" b="1" dirty="0">
                <a:solidFill>
                  <a:srgbClr val="0F1B2D"/>
                </a:solidFill>
                <a:latin typeface="Arial" pitchFamily="34" charset="0"/>
                <a:ea typeface="Arial" pitchFamily="34" charset="-122"/>
                <a:cs typeface="Arial" pitchFamily="34" charset="-120"/>
              </a:rPr>
              <a:t>OR hybrid: no gain</a:t>
            </a:r>
            <a:endParaRPr lang="en-US" sz="1500" dirty="0"/>
          </a:p>
        </p:txBody>
      </p:sp>
      <p:sp>
        <p:nvSpPr>
          <p:cNvPr id="25" name="Text 21"/>
          <p:cNvSpPr txBox="1"/>
          <p:nvPr/>
        </p:nvSpPr>
        <p:spPr>
          <a:xfrm>
            <a:off x="1417320" y="5367528"/>
            <a:ext cx="2646578" cy="914400"/>
          </a:xfrm>
          <a:prstGeom prst="rect">
            <a:avLst/>
          </a:prstGeom>
          <a:noFill/>
          <a:ln/>
        </p:spPr>
        <p:txBody>
          <a:bodyPr wrap="square" lIns="0" tIns="0" rIns="0" bIns="0" rtlCol="0" anchor="t"/>
          <a:lstStyle/>
          <a:p>
            <a:pPr indent="0" marL="0">
              <a:buNone/>
            </a:pPr>
            <a:r>
              <a:rPr lang="en-US" sz="1250" dirty="0">
                <a:solidFill>
                  <a:srgbClr val="55606E"/>
                </a:solidFill>
                <a:latin typeface="Arial" pitchFamily="34" charset="0"/>
                <a:ea typeface="Arial" pitchFamily="34" charset="-122"/>
                <a:cs typeface="Arial" pitchFamily="34" charset="-120"/>
              </a:rPr>
              <a:t>F1 88.82% vs Random Forest 89.00% and XGBoost 89.01%</a:t>
            </a:r>
            <a:endParaRPr lang="en-US" sz="1250" dirty="0"/>
          </a:p>
        </p:txBody>
      </p:sp>
      <p:sp>
        <p:nvSpPr>
          <p:cNvPr id="26" name="Shape 22"/>
          <p:cNvSpPr/>
          <p:nvPr/>
        </p:nvSpPr>
        <p:spPr>
          <a:xfrm>
            <a:off x="4383938" y="4937760"/>
            <a:ext cx="530352" cy="530352"/>
          </a:xfrm>
          <a:prstGeom prst="ellipse">
            <a:avLst/>
          </a:prstGeom>
          <a:solidFill>
            <a:srgbClr val="1E8A5F"/>
          </a:solidFill>
          <a:ln w="12700">
            <a:solidFill>
              <a:srgbClr val="1E8A5F"/>
            </a:solidFill>
            <a:prstDash val="solid"/>
          </a:ln>
        </p:spPr>
      </p:sp>
      <p:pic>
        <p:nvPicPr>
          <p:cNvPr id="27" name="Image 1" descr="preencoded.png">    </p:cNvPr>
          <p:cNvPicPr>
            <a:picLocks noChangeAspect="1"/>
          </p:cNvPicPr>
          <p:nvPr/>
        </p:nvPicPr>
        <p:blipFill>
          <a:blip r:embed="rId2"/>
          <a:stretch>
            <a:fillRect/>
          </a:stretch>
        </p:blipFill>
        <p:spPr>
          <a:xfrm>
            <a:off x="4527133" y="5080955"/>
            <a:ext cx="243962" cy="243962"/>
          </a:xfrm>
          <a:prstGeom prst="rect">
            <a:avLst/>
          </a:prstGeom>
        </p:spPr>
      </p:pic>
      <p:sp>
        <p:nvSpPr>
          <p:cNvPr id="28" name="Text 23"/>
          <p:cNvSpPr txBox="1"/>
          <p:nvPr/>
        </p:nvSpPr>
        <p:spPr>
          <a:xfrm>
            <a:off x="5115458" y="4983480"/>
            <a:ext cx="2646578" cy="365760"/>
          </a:xfrm>
          <a:prstGeom prst="rect">
            <a:avLst/>
          </a:prstGeom>
          <a:noFill/>
          <a:ln/>
        </p:spPr>
        <p:txBody>
          <a:bodyPr wrap="square" lIns="0" tIns="0" rIns="0" bIns="0" rtlCol="0" anchor="t"/>
          <a:lstStyle/>
          <a:p>
            <a:pPr indent="0" marL="0">
              <a:buNone/>
            </a:pPr>
            <a:r>
              <a:rPr lang="en-US" sz="1500" b="1" dirty="0">
                <a:solidFill>
                  <a:srgbClr val="0F1B2D"/>
                </a:solidFill>
                <a:latin typeface="Arial" pitchFamily="34" charset="0"/>
                <a:ea typeface="Arial" pitchFamily="34" charset="-122"/>
                <a:cs typeface="Arial" pitchFamily="34" charset="-120"/>
              </a:rPr>
              <a:t>Soft vote edges ahead</a:t>
            </a:r>
            <a:endParaRPr lang="en-US" sz="1500" dirty="0"/>
          </a:p>
        </p:txBody>
      </p:sp>
      <p:sp>
        <p:nvSpPr>
          <p:cNvPr id="29" name="Text 24"/>
          <p:cNvSpPr txBox="1"/>
          <p:nvPr/>
        </p:nvSpPr>
        <p:spPr>
          <a:xfrm>
            <a:off x="5115458" y="5367528"/>
            <a:ext cx="2646578" cy="914400"/>
          </a:xfrm>
          <a:prstGeom prst="rect">
            <a:avLst/>
          </a:prstGeom>
          <a:noFill/>
          <a:ln/>
        </p:spPr>
        <p:txBody>
          <a:bodyPr wrap="square" lIns="0" tIns="0" rIns="0" bIns="0" rtlCol="0" anchor="t"/>
          <a:lstStyle/>
          <a:p>
            <a:pPr indent="0" marL="0">
              <a:buNone/>
            </a:pPr>
            <a:r>
              <a:rPr lang="en-US" sz="1250" dirty="0">
                <a:solidFill>
                  <a:srgbClr val="55606E"/>
                </a:solidFill>
                <a:latin typeface="Arial" pitchFamily="34" charset="0"/>
                <a:ea typeface="Arial" pitchFamily="34" charset="-122"/>
                <a:cs typeface="Arial" pitchFamily="34" charset="-120"/>
              </a:rPr>
              <a:t>Best mean F1 (89.21%); ahead of XGBoost and the OR hybrid on 5/5 seeds, Random Forest on 4/5</a:t>
            </a:r>
            <a:endParaRPr lang="en-US" sz="1250" dirty="0"/>
          </a:p>
        </p:txBody>
      </p:sp>
      <p:sp>
        <p:nvSpPr>
          <p:cNvPr id="30" name="Shape 25"/>
          <p:cNvSpPr/>
          <p:nvPr/>
        </p:nvSpPr>
        <p:spPr>
          <a:xfrm>
            <a:off x="8082077" y="4937760"/>
            <a:ext cx="530352" cy="530352"/>
          </a:xfrm>
          <a:prstGeom prst="ellipse">
            <a:avLst/>
          </a:prstGeom>
          <a:solidFill>
            <a:srgbClr val="E0533A"/>
          </a:solidFill>
          <a:ln w="12700">
            <a:solidFill>
              <a:srgbClr val="E0533A"/>
            </a:solidFill>
            <a:prstDash val="solid"/>
          </a:ln>
        </p:spPr>
      </p:sp>
      <p:pic>
        <p:nvPicPr>
          <p:cNvPr id="31" name="Image 2" descr="preencoded.png">    </p:cNvPr>
          <p:cNvPicPr>
            <a:picLocks noChangeAspect="1"/>
          </p:cNvPicPr>
          <p:nvPr/>
        </p:nvPicPr>
        <p:blipFill>
          <a:blip r:embed="rId3"/>
          <a:stretch>
            <a:fillRect/>
          </a:stretch>
        </p:blipFill>
        <p:spPr>
          <a:xfrm>
            <a:off x="8225272" y="5080955"/>
            <a:ext cx="243962" cy="243962"/>
          </a:xfrm>
          <a:prstGeom prst="rect">
            <a:avLst/>
          </a:prstGeom>
        </p:spPr>
      </p:pic>
      <p:sp>
        <p:nvSpPr>
          <p:cNvPr id="32" name="Text 26"/>
          <p:cNvSpPr txBox="1"/>
          <p:nvPr/>
        </p:nvSpPr>
        <p:spPr>
          <a:xfrm>
            <a:off x="8813597" y="4983480"/>
            <a:ext cx="2646578" cy="365760"/>
          </a:xfrm>
          <a:prstGeom prst="rect">
            <a:avLst/>
          </a:prstGeom>
          <a:noFill/>
          <a:ln/>
        </p:spPr>
        <p:txBody>
          <a:bodyPr wrap="square" lIns="0" tIns="0" rIns="0" bIns="0" rtlCol="0" anchor="t"/>
          <a:lstStyle/>
          <a:p>
            <a:pPr indent="0" marL="0">
              <a:buNone/>
            </a:pPr>
            <a:r>
              <a:rPr lang="en-US" sz="1500" b="1" dirty="0">
                <a:solidFill>
                  <a:srgbClr val="0F1B2D"/>
                </a:solidFill>
                <a:latin typeface="Arial" pitchFamily="34" charset="0"/>
                <a:ea typeface="Arial" pitchFamily="34" charset="-122"/>
                <a:cs typeface="Arial" pitchFamily="34" charset="-120"/>
              </a:rPr>
              <a:t>OR rule = more alarms</a:t>
            </a:r>
            <a:endParaRPr lang="en-US" sz="1500" dirty="0"/>
          </a:p>
        </p:txBody>
      </p:sp>
      <p:sp>
        <p:nvSpPr>
          <p:cNvPr id="33" name="Text 27"/>
          <p:cNvSpPr txBox="1"/>
          <p:nvPr/>
        </p:nvSpPr>
        <p:spPr>
          <a:xfrm>
            <a:off x="8813597" y="5367528"/>
            <a:ext cx="2646578" cy="914400"/>
          </a:xfrm>
          <a:prstGeom prst="rect">
            <a:avLst/>
          </a:prstGeom>
          <a:noFill/>
          <a:ln/>
        </p:spPr>
        <p:txBody>
          <a:bodyPr wrap="square" lIns="0" tIns="0" rIns="0" bIns="0" rtlCol="0" anchor="t"/>
          <a:lstStyle/>
          <a:p>
            <a:pPr indent="0" marL="0">
              <a:buNone/>
            </a:pPr>
            <a:r>
              <a:rPr lang="en-US" sz="1250" dirty="0">
                <a:solidFill>
                  <a:srgbClr val="55606E"/>
                </a:solidFill>
                <a:latin typeface="Arial" pitchFamily="34" charset="0"/>
                <a:ea typeface="Arial" pitchFamily="34" charset="-122"/>
                <a:cs typeface="Arial" pitchFamily="34" charset="-120"/>
              </a:rPr>
              <a:t>Highest recall (96.9%), but FPR 6.5% vs 5.5% for Random Forest</a:t>
            </a:r>
            <a:endParaRPr lang="en-US" sz="1250" dirty="0"/>
          </a:p>
        </p:txBody>
      </p:sp>
      <p:sp>
        <p:nvSpPr>
          <p:cNvPr id="34" name="Text 28"/>
          <p:cNvSpPr txBox="1"/>
          <p:nvPr/>
        </p:nvSpPr>
        <p:spPr>
          <a:xfrm>
            <a:off x="685800" y="6400800"/>
            <a:ext cx="7315200" cy="228600"/>
          </a:xfrm>
          <a:prstGeom prst="rect">
            <a:avLst/>
          </a:prstGeom>
          <a:noFill/>
          <a:ln/>
        </p:spPr>
        <p:txBody>
          <a:bodyPr wrap="square" lIns="0" tIns="0" rIns="0" bIns="0" rtlCol="0" anchor="t"/>
          <a:lstStyle/>
          <a:p>
            <a:pPr indent="0" marL="0">
              <a:buNone/>
            </a:pPr>
            <a:r>
              <a:rPr lang="en-US" sz="900" dirty="0">
                <a:solidFill>
                  <a:srgbClr val="8A94A3"/>
                </a:solidFill>
                <a:latin typeface="Arial" pitchFamily="34" charset="0"/>
                <a:ea typeface="Arial" pitchFamily="34" charset="-122"/>
                <a:cs typeface="Arial" pitchFamily="34" charset="-120"/>
              </a:rPr>
              <a:t>Anomaly detection for Advanced Persistent Threats   |   Mid-term evaluation</a:t>
            </a:r>
            <a:endParaRPr lang="en-US" sz="900" dirty="0"/>
          </a:p>
        </p:txBody>
      </p:sp>
      <p:sp>
        <p:nvSpPr>
          <p:cNvPr id="35" name="Text 29"/>
          <p:cNvSpPr txBox="1"/>
          <p:nvPr/>
        </p:nvSpPr>
        <p:spPr>
          <a:xfrm>
            <a:off x="10591495" y="6400800"/>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Arial" pitchFamily="34" charset="0"/>
                <a:ea typeface="Arial" pitchFamily="34" charset="-122"/>
                <a:cs typeface="Arial"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V="1">
            <a:off x="10087295" y="470002"/>
            <a:ext cx="288950" cy="416966"/>
          </a:xfrm>
          <a:prstGeom prst="line">
            <a:avLst/>
          </a:prstGeom>
          <a:noFill/>
          <a:ln w="9525">
            <a:solidFill>
              <a:srgbClr val="DCE2EA"/>
            </a:solidFill>
            <a:prstDash val="solid"/>
          </a:ln>
        </p:spPr>
      </p:sp>
      <p:sp>
        <p:nvSpPr>
          <p:cNvPr id="3" name="Shape 1"/>
          <p:cNvSpPr/>
          <p:nvPr/>
        </p:nvSpPr>
        <p:spPr>
          <a:xfrm>
            <a:off x="10087295" y="886968"/>
            <a:ext cx="549006" cy="69494"/>
          </a:xfrm>
          <a:prstGeom prst="line">
            <a:avLst/>
          </a:prstGeom>
          <a:noFill/>
          <a:ln w="9525">
            <a:solidFill>
              <a:srgbClr val="DCE2EA"/>
            </a:solidFill>
            <a:prstDash val="solid"/>
          </a:ln>
        </p:spPr>
      </p:sp>
      <p:sp>
        <p:nvSpPr>
          <p:cNvPr id="4" name="Shape 2"/>
          <p:cNvSpPr/>
          <p:nvPr/>
        </p:nvSpPr>
        <p:spPr>
          <a:xfrm>
            <a:off x="10376245" y="470002"/>
            <a:ext cx="549006" cy="156362"/>
          </a:xfrm>
          <a:prstGeom prst="line">
            <a:avLst/>
          </a:prstGeom>
          <a:noFill/>
          <a:ln w="9525">
            <a:solidFill>
              <a:srgbClr val="F2B7A8"/>
            </a:solidFill>
            <a:prstDash val="solid"/>
          </a:ln>
        </p:spPr>
      </p:sp>
      <p:sp>
        <p:nvSpPr>
          <p:cNvPr id="5" name="Shape 3"/>
          <p:cNvSpPr/>
          <p:nvPr/>
        </p:nvSpPr>
        <p:spPr>
          <a:xfrm flipV="1">
            <a:off x="10636301" y="626364"/>
            <a:ext cx="288950" cy="330098"/>
          </a:xfrm>
          <a:prstGeom prst="line">
            <a:avLst/>
          </a:prstGeom>
          <a:noFill/>
          <a:ln w="9525">
            <a:solidFill>
              <a:srgbClr val="F2B7A8"/>
            </a:solidFill>
            <a:prstDash val="solid"/>
          </a:ln>
        </p:spPr>
      </p:sp>
      <p:sp>
        <p:nvSpPr>
          <p:cNvPr id="6" name="Shape 4"/>
          <p:cNvSpPr/>
          <p:nvPr/>
        </p:nvSpPr>
        <p:spPr>
          <a:xfrm flipV="1">
            <a:off x="10925251" y="522122"/>
            <a:ext cx="534558" cy="104242"/>
          </a:xfrm>
          <a:prstGeom prst="line">
            <a:avLst/>
          </a:prstGeom>
          <a:noFill/>
          <a:ln w="9525">
            <a:solidFill>
              <a:srgbClr val="F2B7A8"/>
            </a:solidFill>
            <a:prstDash val="solid"/>
          </a:ln>
        </p:spPr>
      </p:sp>
      <p:sp>
        <p:nvSpPr>
          <p:cNvPr id="7" name="Shape 5"/>
          <p:cNvSpPr/>
          <p:nvPr/>
        </p:nvSpPr>
        <p:spPr>
          <a:xfrm>
            <a:off x="10636301" y="956462"/>
            <a:ext cx="549006" cy="121615"/>
          </a:xfrm>
          <a:prstGeom prst="line">
            <a:avLst/>
          </a:prstGeom>
          <a:noFill/>
          <a:ln w="9525">
            <a:solidFill>
              <a:srgbClr val="DCE2EA"/>
            </a:solidFill>
            <a:prstDash val="solid"/>
          </a:ln>
        </p:spPr>
      </p:sp>
      <p:sp>
        <p:nvSpPr>
          <p:cNvPr id="8" name="Shape 6"/>
          <p:cNvSpPr/>
          <p:nvPr/>
        </p:nvSpPr>
        <p:spPr>
          <a:xfrm flipV="1">
            <a:off x="11185307" y="843534"/>
            <a:ext cx="173370" cy="234544"/>
          </a:xfrm>
          <a:prstGeom prst="line">
            <a:avLst/>
          </a:prstGeom>
          <a:noFill/>
          <a:ln w="9525">
            <a:solidFill>
              <a:srgbClr val="DCE2EA"/>
            </a:solidFill>
            <a:prstDash val="solid"/>
          </a:ln>
        </p:spPr>
      </p:sp>
      <p:sp>
        <p:nvSpPr>
          <p:cNvPr id="9" name="Shape 7"/>
          <p:cNvSpPr/>
          <p:nvPr/>
        </p:nvSpPr>
        <p:spPr>
          <a:xfrm flipH="1">
            <a:off x="11358677" y="522122"/>
            <a:ext cx="101133" cy="321412"/>
          </a:xfrm>
          <a:prstGeom prst="line">
            <a:avLst/>
          </a:prstGeom>
          <a:noFill/>
          <a:ln w="9525">
            <a:solidFill>
              <a:srgbClr val="DCE2EA"/>
            </a:solidFill>
            <a:prstDash val="solid"/>
          </a:ln>
        </p:spPr>
      </p:sp>
      <p:sp>
        <p:nvSpPr>
          <p:cNvPr id="10" name="Shape 8"/>
          <p:cNvSpPr/>
          <p:nvPr/>
        </p:nvSpPr>
        <p:spPr>
          <a:xfrm>
            <a:off x="10055291" y="854964"/>
            <a:ext cx="64008" cy="64008"/>
          </a:xfrm>
          <a:prstGeom prst="ellipse">
            <a:avLst/>
          </a:prstGeom>
          <a:solidFill>
            <a:srgbClr val="C3CCD9"/>
          </a:solidFill>
          <a:ln w="12700">
            <a:solidFill>
              <a:srgbClr val="C3CCD9"/>
            </a:solidFill>
            <a:prstDash val="solid"/>
          </a:ln>
        </p:spPr>
      </p:sp>
      <p:sp>
        <p:nvSpPr>
          <p:cNvPr id="11" name="Shape 9"/>
          <p:cNvSpPr/>
          <p:nvPr/>
        </p:nvSpPr>
        <p:spPr>
          <a:xfrm>
            <a:off x="10335097" y="428854"/>
            <a:ext cx="82296" cy="82296"/>
          </a:xfrm>
          <a:prstGeom prst="ellipse">
            <a:avLst/>
          </a:prstGeom>
          <a:solidFill>
            <a:srgbClr val="C3CCD9"/>
          </a:solidFill>
          <a:ln w="12700">
            <a:solidFill>
              <a:srgbClr val="C3CCD9"/>
            </a:solidFill>
            <a:prstDash val="solid"/>
          </a:ln>
        </p:spPr>
      </p:sp>
      <p:sp>
        <p:nvSpPr>
          <p:cNvPr id="12" name="Shape 10"/>
          <p:cNvSpPr/>
          <p:nvPr/>
        </p:nvSpPr>
        <p:spPr>
          <a:xfrm>
            <a:off x="10599725" y="919886"/>
            <a:ext cx="73152" cy="73152"/>
          </a:xfrm>
          <a:prstGeom prst="ellipse">
            <a:avLst/>
          </a:prstGeom>
          <a:solidFill>
            <a:srgbClr val="C3CCD9"/>
          </a:solidFill>
          <a:ln w="12700">
            <a:solidFill>
              <a:srgbClr val="C3CCD9"/>
            </a:solidFill>
            <a:prstDash val="solid"/>
          </a:ln>
        </p:spPr>
      </p:sp>
      <p:sp>
        <p:nvSpPr>
          <p:cNvPr id="13" name="Shape 11"/>
          <p:cNvSpPr/>
          <p:nvPr/>
        </p:nvSpPr>
        <p:spPr>
          <a:xfrm>
            <a:off x="10806379" y="507492"/>
            <a:ext cx="237744" cy="237744"/>
          </a:xfrm>
          <a:prstGeom prst="ellipse">
            <a:avLst/>
          </a:prstGeom>
          <a:solidFill>
            <a:srgbClr val="E0533A">
              <a:alpha val="18000"/>
            </a:srgbClr>
          </a:solidFill>
          <a:ln w="12700">
            <a:solidFill>
              <a:srgbClr val="E0533A">
                <a:alpha val="18000"/>
              </a:srgbClr>
            </a:solidFill>
            <a:prstDash val="solid"/>
          </a:ln>
        </p:spPr>
      </p:sp>
      <p:sp>
        <p:nvSpPr>
          <p:cNvPr id="14" name="Shape 12"/>
          <p:cNvSpPr/>
          <p:nvPr/>
        </p:nvSpPr>
        <p:spPr>
          <a:xfrm>
            <a:off x="10874959" y="576072"/>
            <a:ext cx="100584" cy="100584"/>
          </a:xfrm>
          <a:prstGeom prst="ellipse">
            <a:avLst/>
          </a:prstGeom>
          <a:solidFill>
            <a:srgbClr val="E0533A"/>
          </a:solidFill>
          <a:ln w="12700">
            <a:solidFill>
              <a:srgbClr val="E0533A"/>
            </a:solidFill>
            <a:prstDash val="solid"/>
          </a:ln>
        </p:spPr>
      </p:sp>
      <p:sp>
        <p:nvSpPr>
          <p:cNvPr id="15" name="Shape 13"/>
          <p:cNvSpPr/>
          <p:nvPr/>
        </p:nvSpPr>
        <p:spPr>
          <a:xfrm>
            <a:off x="11144159" y="1036930"/>
            <a:ext cx="82296" cy="82296"/>
          </a:xfrm>
          <a:prstGeom prst="ellipse">
            <a:avLst/>
          </a:prstGeom>
          <a:solidFill>
            <a:srgbClr val="C3CCD9"/>
          </a:solidFill>
          <a:ln w="12700">
            <a:solidFill>
              <a:srgbClr val="C3CCD9"/>
            </a:solidFill>
            <a:prstDash val="solid"/>
          </a:ln>
        </p:spPr>
      </p:sp>
      <p:sp>
        <p:nvSpPr>
          <p:cNvPr id="16" name="Shape 14"/>
          <p:cNvSpPr/>
          <p:nvPr/>
        </p:nvSpPr>
        <p:spPr>
          <a:xfrm>
            <a:off x="11427805" y="490118"/>
            <a:ext cx="64008" cy="64008"/>
          </a:xfrm>
          <a:prstGeom prst="ellipse">
            <a:avLst/>
          </a:prstGeom>
          <a:solidFill>
            <a:srgbClr val="C3CCD9"/>
          </a:solidFill>
          <a:ln w="12700">
            <a:solidFill>
              <a:srgbClr val="C3CCD9"/>
            </a:solidFill>
            <a:prstDash val="solid"/>
          </a:ln>
        </p:spPr>
      </p:sp>
      <p:sp>
        <p:nvSpPr>
          <p:cNvPr id="17" name="Shape 15"/>
          <p:cNvSpPr/>
          <p:nvPr/>
        </p:nvSpPr>
        <p:spPr>
          <a:xfrm>
            <a:off x="11331245" y="816102"/>
            <a:ext cx="54864" cy="54864"/>
          </a:xfrm>
          <a:prstGeom prst="ellipse">
            <a:avLst/>
          </a:prstGeom>
          <a:solidFill>
            <a:srgbClr val="C3CCD9"/>
          </a:solidFill>
          <a:ln w="12700">
            <a:solidFill>
              <a:srgbClr val="C3CCD9"/>
            </a:solidFill>
            <a:prstDash val="solid"/>
          </a:ln>
        </p:spPr>
      </p:sp>
      <p:sp>
        <p:nvSpPr>
          <p:cNvPr id="18" name="Text 16"/>
          <p:cNvSpPr txBox="1"/>
          <p:nvPr/>
        </p:nvSpPr>
        <p:spPr>
          <a:xfrm>
            <a:off x="685800" y="475488"/>
            <a:ext cx="10820095" cy="256032"/>
          </a:xfrm>
          <a:prstGeom prst="rect">
            <a:avLst/>
          </a:prstGeom>
          <a:noFill/>
          <a:ln/>
        </p:spPr>
        <p:txBody>
          <a:bodyPr wrap="square" lIns="0" tIns="0" rIns="0" bIns="0" rtlCol="0" anchor="t"/>
          <a:lstStyle/>
          <a:p>
            <a:pPr indent="0" marL="0">
              <a:buNone/>
            </a:pPr>
            <a:r>
              <a:rPr lang="en-US" sz="1100" b="1" dirty="0">
                <a:solidFill>
                  <a:srgbClr val="E0533A"/>
                </a:solidFill>
                <a:latin typeface="Arial" pitchFamily="34" charset="0"/>
                <a:ea typeface="Arial" pitchFamily="34" charset="-122"/>
                <a:cs typeface="Arial" pitchFamily="34" charset="-120"/>
              </a:rPr>
              <a:t>03 · RESULTS</a:t>
            </a:r>
            <a:endParaRPr lang="en-US" sz="1100" dirty="0"/>
          </a:p>
        </p:txBody>
      </p:sp>
      <p:sp>
        <p:nvSpPr>
          <p:cNvPr id="19" name="Text 17"/>
          <p:cNvSpPr txBox="1"/>
          <p:nvPr/>
        </p:nvSpPr>
        <p:spPr>
          <a:xfrm>
            <a:off x="685800" y="768096"/>
            <a:ext cx="10820095" cy="822960"/>
          </a:xfrm>
          <a:prstGeom prst="rect">
            <a:avLst/>
          </a:prstGeom>
          <a:noFill/>
          <a:ln/>
        </p:spPr>
        <p:txBody>
          <a:bodyPr wrap="square" lIns="0" tIns="0" rIns="0" bIns="0" rtlCol="0" anchor="t"/>
          <a:lstStyle/>
          <a:p>
            <a:pPr indent="0" marL="0">
              <a:buNone/>
            </a:pPr>
            <a:r>
              <a:rPr lang="en-US" sz="3000" dirty="0">
                <a:solidFill>
                  <a:srgbClr val="0F1B2D"/>
                </a:solidFill>
                <a:latin typeface="Georgia" pitchFamily="34" charset="0"/>
                <a:ea typeface="Georgia" pitchFamily="34" charset="-122"/>
                <a:cs typeface="Georgia" pitchFamily="34" charset="-120"/>
              </a:rPr>
              <a:t>APT stages can be told apart, except exfiltration</a:t>
            </a:r>
            <a:endParaRPr lang="en-US" sz="3000" dirty="0"/>
          </a:p>
        </p:txBody>
      </p:sp>
      <p:pic>
        <p:nvPicPr>
          <p:cNvPr id="20" name="Image 0" descr="Confusion matrix of APT-stage predictions by the soft-vote hybrid">    </p:cNvPr>
          <p:cNvPicPr>
            <a:picLocks noChangeAspect="1"/>
          </p:cNvPicPr>
          <p:nvPr/>
        </p:nvPicPr>
        <p:blipFill>
          <a:blip r:embed="rId1"/>
          <a:stretch>
            <a:fillRect/>
          </a:stretch>
        </p:blipFill>
        <p:spPr>
          <a:xfrm>
            <a:off x="685800" y="1691640"/>
            <a:ext cx="4754880" cy="4480560"/>
          </a:xfrm>
          <a:prstGeom prst="rect">
            <a:avLst/>
          </a:prstGeom>
        </p:spPr>
      </p:pic>
      <p:sp>
        <p:nvSpPr>
          <p:cNvPr id="21" name="Text 18"/>
          <p:cNvSpPr txBox="1"/>
          <p:nvPr/>
        </p:nvSpPr>
        <p:spPr>
          <a:xfrm>
            <a:off x="5897880" y="1783080"/>
            <a:ext cx="5608015" cy="320040"/>
          </a:xfrm>
          <a:prstGeom prst="rect">
            <a:avLst/>
          </a:prstGeom>
          <a:noFill/>
          <a:ln/>
        </p:spPr>
        <p:txBody>
          <a:bodyPr wrap="square" lIns="0" tIns="0" rIns="0" bIns="0" rtlCol="0" anchor="t"/>
          <a:lstStyle/>
          <a:p>
            <a:pPr indent="0" marL="0">
              <a:buNone/>
            </a:pPr>
            <a:r>
              <a:rPr lang="en-US" sz="1400" b="1" dirty="0">
                <a:solidFill>
                  <a:srgbClr val="0F1B2D"/>
                </a:solidFill>
                <a:latin typeface="Arial" pitchFamily="34" charset="0"/>
                <a:ea typeface="Arial" pitchFamily="34" charset="-122"/>
                <a:cs typeface="Arial" pitchFamily="34" charset="-120"/>
              </a:rPr>
              <a:t>Recall per stage  ·  hybrid, soft vote</a:t>
            </a:r>
            <a:endParaRPr lang="en-US" sz="1400" dirty="0"/>
          </a:p>
        </p:txBody>
      </p:sp>
      <p:sp>
        <p:nvSpPr>
          <p:cNvPr id="22" name="Shape 19"/>
          <p:cNvSpPr/>
          <p:nvPr/>
        </p:nvSpPr>
        <p:spPr>
          <a:xfrm>
            <a:off x="5897880" y="2304288"/>
            <a:ext cx="502920" cy="502920"/>
          </a:xfrm>
          <a:prstGeom prst="ellipse">
            <a:avLst/>
          </a:prstGeom>
          <a:solidFill>
            <a:srgbClr val="0B1526"/>
          </a:solidFill>
          <a:ln w="12700">
            <a:solidFill>
              <a:srgbClr val="0B1526"/>
            </a:solidFill>
            <a:prstDash val="solid"/>
          </a:ln>
        </p:spPr>
      </p:sp>
      <p:pic>
        <p:nvPicPr>
          <p:cNvPr id="23" name="Image 1" descr="preencoded.png">    </p:cNvPr>
          <p:cNvPicPr>
            <a:picLocks noChangeAspect="1"/>
          </p:cNvPicPr>
          <p:nvPr/>
        </p:nvPicPr>
        <p:blipFill>
          <a:blip r:embed="rId2"/>
          <a:stretch>
            <a:fillRect/>
          </a:stretch>
        </p:blipFill>
        <p:spPr>
          <a:xfrm>
            <a:off x="6033668" y="2440076"/>
            <a:ext cx="231343" cy="231343"/>
          </a:xfrm>
          <a:prstGeom prst="rect">
            <a:avLst/>
          </a:prstGeom>
        </p:spPr>
      </p:pic>
      <p:sp>
        <p:nvSpPr>
          <p:cNvPr id="24" name="Text 20"/>
          <p:cNvSpPr txBox="1"/>
          <p:nvPr/>
        </p:nvSpPr>
        <p:spPr>
          <a:xfrm>
            <a:off x="6611112" y="2304288"/>
            <a:ext cx="2743200" cy="292608"/>
          </a:xfrm>
          <a:prstGeom prst="rect">
            <a:avLst/>
          </a:prstGeom>
          <a:noFill/>
          <a:ln/>
        </p:spPr>
        <p:txBody>
          <a:bodyPr wrap="square" lIns="0" tIns="0" rIns="0" bIns="0" rtlCol="0" anchor="t"/>
          <a:lstStyle/>
          <a:p>
            <a:pPr indent="0" marL="0">
              <a:buNone/>
            </a:pPr>
            <a:r>
              <a:rPr lang="en-US" sz="1450" b="1" dirty="0">
                <a:solidFill>
                  <a:srgbClr val="0F1B2D"/>
                </a:solidFill>
                <a:latin typeface="Arial" pitchFamily="34" charset="0"/>
                <a:ea typeface="Arial" pitchFamily="34" charset="-122"/>
                <a:cs typeface="Arial" pitchFamily="34" charset="-120"/>
              </a:rPr>
              <a:t>Reconnaissance</a:t>
            </a:r>
            <a:endParaRPr lang="en-US" sz="1450" dirty="0"/>
          </a:p>
        </p:txBody>
      </p:sp>
      <p:sp>
        <p:nvSpPr>
          <p:cNvPr id="25" name="Text 21"/>
          <p:cNvSpPr txBox="1"/>
          <p:nvPr/>
        </p:nvSpPr>
        <p:spPr>
          <a:xfrm>
            <a:off x="6611112" y="2596896"/>
            <a:ext cx="2926080" cy="256032"/>
          </a:xfrm>
          <a:prstGeom prst="rect">
            <a:avLst/>
          </a:prstGeom>
          <a:noFill/>
          <a:ln/>
        </p:spPr>
        <p:txBody>
          <a:bodyPr wrap="square" lIns="0" tIns="0" rIns="0" bIns="0" rtlCol="0" anchor="t"/>
          <a:lstStyle/>
          <a:p>
            <a:pPr indent="0" marL="0">
              <a:buNone/>
            </a:pPr>
            <a:r>
              <a:rPr lang="en-US" sz="1150" dirty="0">
                <a:solidFill>
                  <a:srgbClr val="55606E"/>
                </a:solidFill>
                <a:latin typeface="Arial" pitchFamily="34" charset="0"/>
                <a:ea typeface="Arial" pitchFamily="34" charset="-122"/>
                <a:cs typeface="Arial" pitchFamily="34" charset="-120"/>
              </a:rPr>
              <a:t>3,118 of 3,195 test flows</a:t>
            </a:r>
            <a:endParaRPr lang="en-US" sz="1150" dirty="0"/>
          </a:p>
        </p:txBody>
      </p:sp>
      <p:sp>
        <p:nvSpPr>
          <p:cNvPr id="26" name="Text 22"/>
          <p:cNvSpPr txBox="1"/>
          <p:nvPr/>
        </p:nvSpPr>
        <p:spPr>
          <a:xfrm>
            <a:off x="9464040" y="2286000"/>
            <a:ext cx="2041855" cy="548640"/>
          </a:xfrm>
          <a:prstGeom prst="rect">
            <a:avLst/>
          </a:prstGeom>
          <a:noFill/>
          <a:ln/>
        </p:spPr>
        <p:txBody>
          <a:bodyPr wrap="square" lIns="0" tIns="0" rIns="0" bIns="0" rtlCol="0" anchor="ctr"/>
          <a:lstStyle/>
          <a:p>
            <a:pPr algn="r" indent="0" marL="0">
              <a:buNone/>
            </a:pPr>
            <a:r>
              <a:rPr lang="en-US" sz="2600" dirty="0">
                <a:solidFill>
                  <a:srgbClr val="0B1526"/>
                </a:solidFill>
                <a:latin typeface="Georgia" pitchFamily="34" charset="0"/>
                <a:ea typeface="Georgia" pitchFamily="34" charset="-122"/>
                <a:cs typeface="Georgia" pitchFamily="34" charset="-120"/>
              </a:rPr>
              <a:t>97.6%</a:t>
            </a:r>
            <a:endParaRPr lang="en-US" sz="2600" dirty="0"/>
          </a:p>
        </p:txBody>
      </p:sp>
      <p:sp>
        <p:nvSpPr>
          <p:cNvPr id="27" name="Shape 23"/>
          <p:cNvSpPr/>
          <p:nvPr/>
        </p:nvSpPr>
        <p:spPr>
          <a:xfrm>
            <a:off x="5897880" y="2944368"/>
            <a:ext cx="5608015" cy="914"/>
          </a:xfrm>
          <a:prstGeom prst="line">
            <a:avLst/>
          </a:prstGeom>
          <a:noFill/>
          <a:ln w="9525">
            <a:solidFill>
              <a:srgbClr val="E2E6EC"/>
            </a:solidFill>
            <a:prstDash val="solid"/>
          </a:ln>
        </p:spPr>
      </p:sp>
      <p:sp>
        <p:nvSpPr>
          <p:cNvPr id="28" name="Shape 24"/>
          <p:cNvSpPr/>
          <p:nvPr/>
        </p:nvSpPr>
        <p:spPr>
          <a:xfrm>
            <a:off x="5897880" y="3081528"/>
            <a:ext cx="502920" cy="502920"/>
          </a:xfrm>
          <a:prstGeom prst="ellipse">
            <a:avLst/>
          </a:prstGeom>
          <a:solidFill>
            <a:srgbClr val="0B1526"/>
          </a:solidFill>
          <a:ln w="12700">
            <a:solidFill>
              <a:srgbClr val="0B1526"/>
            </a:solidFill>
            <a:prstDash val="solid"/>
          </a:ln>
        </p:spPr>
      </p:sp>
      <p:pic>
        <p:nvPicPr>
          <p:cNvPr id="29" name="Image 2" descr="preencoded.png">    </p:cNvPr>
          <p:cNvPicPr>
            <a:picLocks noChangeAspect="1"/>
          </p:cNvPicPr>
          <p:nvPr/>
        </p:nvPicPr>
        <p:blipFill>
          <a:blip r:embed="rId3"/>
          <a:stretch>
            <a:fillRect/>
          </a:stretch>
        </p:blipFill>
        <p:spPr>
          <a:xfrm>
            <a:off x="6033668" y="3217316"/>
            <a:ext cx="231343" cy="231343"/>
          </a:xfrm>
          <a:prstGeom prst="rect">
            <a:avLst/>
          </a:prstGeom>
        </p:spPr>
      </p:pic>
      <p:sp>
        <p:nvSpPr>
          <p:cNvPr id="30" name="Text 25"/>
          <p:cNvSpPr txBox="1"/>
          <p:nvPr/>
        </p:nvSpPr>
        <p:spPr>
          <a:xfrm>
            <a:off x="6611112" y="3081528"/>
            <a:ext cx="2743200" cy="292608"/>
          </a:xfrm>
          <a:prstGeom prst="rect">
            <a:avLst/>
          </a:prstGeom>
          <a:noFill/>
          <a:ln/>
        </p:spPr>
        <p:txBody>
          <a:bodyPr wrap="square" lIns="0" tIns="0" rIns="0" bIns="0" rtlCol="0" anchor="t"/>
          <a:lstStyle/>
          <a:p>
            <a:pPr indent="0" marL="0">
              <a:buNone/>
            </a:pPr>
            <a:r>
              <a:rPr lang="en-US" sz="1450" b="1" dirty="0">
                <a:solidFill>
                  <a:srgbClr val="0F1B2D"/>
                </a:solidFill>
                <a:latin typeface="Arial" pitchFamily="34" charset="0"/>
                <a:ea typeface="Arial" pitchFamily="34" charset="-122"/>
                <a:cs typeface="Arial" pitchFamily="34" charset="-120"/>
              </a:rPr>
              <a:t>Establish foothold</a:t>
            </a:r>
            <a:endParaRPr lang="en-US" sz="1450" dirty="0"/>
          </a:p>
        </p:txBody>
      </p:sp>
      <p:sp>
        <p:nvSpPr>
          <p:cNvPr id="31" name="Text 26"/>
          <p:cNvSpPr txBox="1"/>
          <p:nvPr/>
        </p:nvSpPr>
        <p:spPr>
          <a:xfrm>
            <a:off x="6611112" y="3374136"/>
            <a:ext cx="2926080" cy="256032"/>
          </a:xfrm>
          <a:prstGeom prst="rect">
            <a:avLst/>
          </a:prstGeom>
          <a:noFill/>
          <a:ln/>
        </p:spPr>
        <p:txBody>
          <a:bodyPr wrap="square" lIns="0" tIns="0" rIns="0" bIns="0" rtlCol="0" anchor="t"/>
          <a:lstStyle/>
          <a:p>
            <a:pPr indent="0" marL="0">
              <a:buNone/>
            </a:pPr>
            <a:r>
              <a:rPr lang="en-US" sz="1150" dirty="0">
                <a:solidFill>
                  <a:srgbClr val="55606E"/>
                </a:solidFill>
                <a:latin typeface="Arial" pitchFamily="34" charset="0"/>
                <a:ea typeface="Arial" pitchFamily="34" charset="-122"/>
                <a:cs typeface="Arial" pitchFamily="34" charset="-120"/>
              </a:rPr>
              <a:t>1,819 of 1,850</a:t>
            </a:r>
            <a:endParaRPr lang="en-US" sz="1150" dirty="0"/>
          </a:p>
        </p:txBody>
      </p:sp>
      <p:sp>
        <p:nvSpPr>
          <p:cNvPr id="32" name="Text 27"/>
          <p:cNvSpPr txBox="1"/>
          <p:nvPr/>
        </p:nvSpPr>
        <p:spPr>
          <a:xfrm>
            <a:off x="9464040" y="3063240"/>
            <a:ext cx="2041855" cy="548640"/>
          </a:xfrm>
          <a:prstGeom prst="rect">
            <a:avLst/>
          </a:prstGeom>
          <a:noFill/>
          <a:ln/>
        </p:spPr>
        <p:txBody>
          <a:bodyPr wrap="square" lIns="0" tIns="0" rIns="0" bIns="0" rtlCol="0" anchor="ctr"/>
          <a:lstStyle/>
          <a:p>
            <a:pPr algn="r" indent="0" marL="0">
              <a:buNone/>
            </a:pPr>
            <a:r>
              <a:rPr lang="en-US" sz="2600" dirty="0">
                <a:solidFill>
                  <a:srgbClr val="0B1526"/>
                </a:solidFill>
                <a:latin typeface="Georgia" pitchFamily="34" charset="0"/>
                <a:ea typeface="Georgia" pitchFamily="34" charset="-122"/>
                <a:cs typeface="Georgia" pitchFamily="34" charset="-120"/>
              </a:rPr>
              <a:t>98.3%</a:t>
            </a:r>
            <a:endParaRPr lang="en-US" sz="2600" dirty="0"/>
          </a:p>
        </p:txBody>
      </p:sp>
      <p:sp>
        <p:nvSpPr>
          <p:cNvPr id="33" name="Shape 28"/>
          <p:cNvSpPr/>
          <p:nvPr/>
        </p:nvSpPr>
        <p:spPr>
          <a:xfrm>
            <a:off x="5897880" y="3721608"/>
            <a:ext cx="5608015" cy="914"/>
          </a:xfrm>
          <a:prstGeom prst="line">
            <a:avLst/>
          </a:prstGeom>
          <a:noFill/>
          <a:ln w="9525">
            <a:solidFill>
              <a:srgbClr val="E2E6EC"/>
            </a:solidFill>
            <a:prstDash val="solid"/>
          </a:ln>
        </p:spPr>
      </p:sp>
      <p:sp>
        <p:nvSpPr>
          <p:cNvPr id="34" name="Shape 29"/>
          <p:cNvSpPr/>
          <p:nvPr/>
        </p:nvSpPr>
        <p:spPr>
          <a:xfrm>
            <a:off x="5897880" y="3858768"/>
            <a:ext cx="502920" cy="502920"/>
          </a:xfrm>
          <a:prstGeom prst="ellipse">
            <a:avLst/>
          </a:prstGeom>
          <a:solidFill>
            <a:srgbClr val="0B1526"/>
          </a:solidFill>
          <a:ln w="12700">
            <a:solidFill>
              <a:srgbClr val="0B1526"/>
            </a:solidFill>
            <a:prstDash val="solid"/>
          </a:ln>
        </p:spPr>
      </p:sp>
      <p:pic>
        <p:nvPicPr>
          <p:cNvPr id="35" name="Image 3" descr="preencoded.png">    </p:cNvPr>
          <p:cNvPicPr>
            <a:picLocks noChangeAspect="1"/>
          </p:cNvPicPr>
          <p:nvPr/>
        </p:nvPicPr>
        <p:blipFill>
          <a:blip r:embed="rId4"/>
          <a:stretch>
            <a:fillRect/>
          </a:stretch>
        </p:blipFill>
        <p:spPr>
          <a:xfrm>
            <a:off x="6033668" y="3994556"/>
            <a:ext cx="231343" cy="231343"/>
          </a:xfrm>
          <a:prstGeom prst="rect">
            <a:avLst/>
          </a:prstGeom>
        </p:spPr>
      </p:pic>
      <p:sp>
        <p:nvSpPr>
          <p:cNvPr id="36" name="Text 30"/>
          <p:cNvSpPr txBox="1"/>
          <p:nvPr/>
        </p:nvSpPr>
        <p:spPr>
          <a:xfrm>
            <a:off x="6611112" y="3858768"/>
            <a:ext cx="2743200" cy="292608"/>
          </a:xfrm>
          <a:prstGeom prst="rect">
            <a:avLst/>
          </a:prstGeom>
          <a:noFill/>
          <a:ln/>
        </p:spPr>
        <p:txBody>
          <a:bodyPr wrap="square" lIns="0" tIns="0" rIns="0" bIns="0" rtlCol="0" anchor="t"/>
          <a:lstStyle/>
          <a:p>
            <a:pPr indent="0" marL="0">
              <a:buNone/>
            </a:pPr>
            <a:r>
              <a:rPr lang="en-US" sz="1450" b="1" dirty="0">
                <a:solidFill>
                  <a:srgbClr val="0F1B2D"/>
                </a:solidFill>
                <a:latin typeface="Arial" pitchFamily="34" charset="0"/>
                <a:ea typeface="Arial" pitchFamily="34" charset="-122"/>
                <a:cs typeface="Arial" pitchFamily="34" charset="-120"/>
              </a:rPr>
              <a:t>Lateral movement</a:t>
            </a:r>
            <a:endParaRPr lang="en-US" sz="1450" dirty="0"/>
          </a:p>
        </p:txBody>
      </p:sp>
      <p:sp>
        <p:nvSpPr>
          <p:cNvPr id="37" name="Text 31"/>
          <p:cNvSpPr txBox="1"/>
          <p:nvPr/>
        </p:nvSpPr>
        <p:spPr>
          <a:xfrm>
            <a:off x="6611112" y="4151376"/>
            <a:ext cx="2926080" cy="256032"/>
          </a:xfrm>
          <a:prstGeom prst="rect">
            <a:avLst/>
          </a:prstGeom>
          <a:noFill/>
          <a:ln/>
        </p:spPr>
        <p:txBody>
          <a:bodyPr wrap="square" lIns="0" tIns="0" rIns="0" bIns="0" rtlCol="0" anchor="t"/>
          <a:lstStyle/>
          <a:p>
            <a:pPr indent="0" marL="0">
              <a:buNone/>
            </a:pPr>
            <a:r>
              <a:rPr lang="en-US" sz="1150" dirty="0">
                <a:solidFill>
                  <a:srgbClr val="55606E"/>
                </a:solidFill>
                <a:latin typeface="Arial" pitchFamily="34" charset="0"/>
                <a:ea typeface="Arial" pitchFamily="34" charset="-122"/>
                <a:cs typeface="Arial" pitchFamily="34" charset="-120"/>
              </a:rPr>
              <a:t>590 of 644</a:t>
            </a:r>
            <a:endParaRPr lang="en-US" sz="1150" dirty="0"/>
          </a:p>
        </p:txBody>
      </p:sp>
      <p:sp>
        <p:nvSpPr>
          <p:cNvPr id="38" name="Text 32"/>
          <p:cNvSpPr txBox="1"/>
          <p:nvPr/>
        </p:nvSpPr>
        <p:spPr>
          <a:xfrm>
            <a:off x="9464040" y="3840480"/>
            <a:ext cx="2041855" cy="548640"/>
          </a:xfrm>
          <a:prstGeom prst="rect">
            <a:avLst/>
          </a:prstGeom>
          <a:noFill/>
          <a:ln/>
        </p:spPr>
        <p:txBody>
          <a:bodyPr wrap="square" lIns="0" tIns="0" rIns="0" bIns="0" rtlCol="0" anchor="ctr"/>
          <a:lstStyle/>
          <a:p>
            <a:pPr algn="r" indent="0" marL="0">
              <a:buNone/>
            </a:pPr>
            <a:r>
              <a:rPr lang="en-US" sz="2600" dirty="0">
                <a:solidFill>
                  <a:srgbClr val="0B1526"/>
                </a:solidFill>
                <a:latin typeface="Georgia" pitchFamily="34" charset="0"/>
                <a:ea typeface="Georgia" pitchFamily="34" charset="-122"/>
                <a:cs typeface="Georgia" pitchFamily="34" charset="-120"/>
              </a:rPr>
              <a:t>91.6%</a:t>
            </a:r>
            <a:endParaRPr lang="en-US" sz="2600" dirty="0"/>
          </a:p>
        </p:txBody>
      </p:sp>
      <p:sp>
        <p:nvSpPr>
          <p:cNvPr id="39" name="Shape 33"/>
          <p:cNvSpPr/>
          <p:nvPr/>
        </p:nvSpPr>
        <p:spPr>
          <a:xfrm>
            <a:off x="5897880" y="4498848"/>
            <a:ext cx="5608015" cy="914"/>
          </a:xfrm>
          <a:prstGeom prst="line">
            <a:avLst/>
          </a:prstGeom>
          <a:noFill/>
          <a:ln w="9525">
            <a:solidFill>
              <a:srgbClr val="E2E6EC"/>
            </a:solidFill>
            <a:prstDash val="solid"/>
          </a:ln>
        </p:spPr>
      </p:sp>
      <p:sp>
        <p:nvSpPr>
          <p:cNvPr id="40" name="Shape 34"/>
          <p:cNvSpPr/>
          <p:nvPr/>
        </p:nvSpPr>
        <p:spPr>
          <a:xfrm>
            <a:off x="5897880" y="4636008"/>
            <a:ext cx="502920" cy="502920"/>
          </a:xfrm>
          <a:prstGeom prst="ellipse">
            <a:avLst/>
          </a:prstGeom>
          <a:solidFill>
            <a:srgbClr val="E0533A"/>
          </a:solidFill>
          <a:ln w="12700">
            <a:solidFill>
              <a:srgbClr val="E0533A"/>
            </a:solidFill>
            <a:prstDash val="solid"/>
          </a:ln>
        </p:spPr>
      </p:sp>
      <p:pic>
        <p:nvPicPr>
          <p:cNvPr id="41" name="Image 4" descr="preencoded.png">    </p:cNvPr>
          <p:cNvPicPr>
            <a:picLocks noChangeAspect="1"/>
          </p:cNvPicPr>
          <p:nvPr/>
        </p:nvPicPr>
        <p:blipFill>
          <a:blip r:embed="rId5"/>
          <a:stretch>
            <a:fillRect/>
          </a:stretch>
        </p:blipFill>
        <p:spPr>
          <a:xfrm>
            <a:off x="6033668" y="4771796"/>
            <a:ext cx="231343" cy="231343"/>
          </a:xfrm>
          <a:prstGeom prst="rect">
            <a:avLst/>
          </a:prstGeom>
        </p:spPr>
      </p:pic>
      <p:sp>
        <p:nvSpPr>
          <p:cNvPr id="42" name="Text 35"/>
          <p:cNvSpPr txBox="1"/>
          <p:nvPr/>
        </p:nvSpPr>
        <p:spPr>
          <a:xfrm>
            <a:off x="6611112" y="4636008"/>
            <a:ext cx="2743200" cy="292608"/>
          </a:xfrm>
          <a:prstGeom prst="rect">
            <a:avLst/>
          </a:prstGeom>
          <a:noFill/>
          <a:ln/>
        </p:spPr>
        <p:txBody>
          <a:bodyPr wrap="square" lIns="0" tIns="0" rIns="0" bIns="0" rtlCol="0" anchor="t"/>
          <a:lstStyle/>
          <a:p>
            <a:pPr indent="0" marL="0">
              <a:buNone/>
            </a:pPr>
            <a:r>
              <a:rPr lang="en-US" sz="1450" b="1" dirty="0">
                <a:solidFill>
                  <a:srgbClr val="0F1B2D"/>
                </a:solidFill>
                <a:latin typeface="Arial" pitchFamily="34" charset="0"/>
                <a:ea typeface="Arial" pitchFamily="34" charset="-122"/>
                <a:cs typeface="Arial" pitchFamily="34" charset="-120"/>
              </a:rPr>
              <a:t>Data exfiltration</a:t>
            </a:r>
            <a:endParaRPr lang="en-US" sz="1450" dirty="0"/>
          </a:p>
        </p:txBody>
      </p:sp>
      <p:sp>
        <p:nvSpPr>
          <p:cNvPr id="43" name="Text 36"/>
          <p:cNvSpPr txBox="1"/>
          <p:nvPr/>
        </p:nvSpPr>
        <p:spPr>
          <a:xfrm>
            <a:off x="6611112" y="4928616"/>
            <a:ext cx="2926080" cy="256032"/>
          </a:xfrm>
          <a:prstGeom prst="rect">
            <a:avLst/>
          </a:prstGeom>
          <a:noFill/>
          <a:ln/>
        </p:spPr>
        <p:txBody>
          <a:bodyPr wrap="square" lIns="0" tIns="0" rIns="0" bIns="0" rtlCol="0" anchor="t"/>
          <a:lstStyle/>
          <a:p>
            <a:pPr indent="0" marL="0">
              <a:buNone/>
            </a:pPr>
            <a:r>
              <a:rPr lang="en-US" sz="1150" dirty="0">
                <a:solidFill>
                  <a:srgbClr val="55606E"/>
                </a:solidFill>
                <a:latin typeface="Arial" pitchFamily="34" charset="0"/>
                <a:ea typeface="Arial" pitchFamily="34" charset="-122"/>
                <a:cs typeface="Arial" pitchFamily="34" charset="-120"/>
              </a:rPr>
              <a:t>only 15 flows in the whole dataset</a:t>
            </a:r>
            <a:endParaRPr lang="en-US" sz="1150" dirty="0"/>
          </a:p>
        </p:txBody>
      </p:sp>
      <p:sp>
        <p:nvSpPr>
          <p:cNvPr id="44" name="Text 37"/>
          <p:cNvSpPr txBox="1"/>
          <p:nvPr/>
        </p:nvSpPr>
        <p:spPr>
          <a:xfrm>
            <a:off x="9464040" y="4617720"/>
            <a:ext cx="2041855" cy="548640"/>
          </a:xfrm>
          <a:prstGeom prst="rect">
            <a:avLst/>
          </a:prstGeom>
          <a:noFill/>
          <a:ln/>
        </p:spPr>
        <p:txBody>
          <a:bodyPr wrap="square" lIns="0" tIns="0" rIns="0" bIns="0" rtlCol="0" anchor="ctr"/>
          <a:lstStyle/>
          <a:p>
            <a:pPr algn="r" indent="0" marL="0">
              <a:buNone/>
            </a:pPr>
            <a:r>
              <a:rPr lang="en-US" sz="2600" dirty="0">
                <a:solidFill>
                  <a:srgbClr val="E0533A"/>
                </a:solidFill>
                <a:latin typeface="Georgia" pitchFamily="34" charset="0"/>
                <a:ea typeface="Georgia" pitchFamily="34" charset="-122"/>
                <a:cs typeface="Georgia" pitchFamily="34" charset="-120"/>
              </a:rPr>
              <a:t>2 of 5</a:t>
            </a:r>
            <a:endParaRPr lang="en-US" sz="2600" dirty="0"/>
          </a:p>
        </p:txBody>
      </p:sp>
      <p:sp>
        <p:nvSpPr>
          <p:cNvPr id="45" name="Shape 38"/>
          <p:cNvSpPr/>
          <p:nvPr/>
        </p:nvSpPr>
        <p:spPr>
          <a:xfrm>
            <a:off x="5897880" y="5486400"/>
            <a:ext cx="5608015" cy="658368"/>
          </a:xfrm>
          <a:prstGeom prst="roundRect">
            <a:avLst>
              <a:gd name="adj" fmla="val 8333"/>
            </a:avLst>
          </a:prstGeom>
          <a:solidFill>
            <a:srgbClr val="EAF1FB"/>
          </a:solidFill>
          <a:ln w="12700">
            <a:solidFill>
              <a:srgbClr val="EAF1FB"/>
            </a:solidFill>
            <a:prstDash val="solid"/>
          </a:ln>
        </p:spPr>
      </p:sp>
      <p:sp>
        <p:nvSpPr>
          <p:cNvPr id="46" name="Text 39"/>
          <p:cNvSpPr txBox="1"/>
          <p:nvPr/>
        </p:nvSpPr>
        <p:spPr>
          <a:xfrm>
            <a:off x="6126480" y="5486400"/>
            <a:ext cx="5150815" cy="658368"/>
          </a:xfrm>
          <a:prstGeom prst="rect">
            <a:avLst/>
          </a:prstGeom>
          <a:noFill/>
          <a:ln/>
        </p:spPr>
        <p:txBody>
          <a:bodyPr wrap="square" lIns="0" tIns="0" rIns="0" bIns="0" rtlCol="0" anchor="ctr"/>
          <a:lstStyle/>
          <a:p>
            <a:pPr indent="0" marL="0">
              <a:buNone/>
            </a:pPr>
            <a:r>
              <a:rPr lang="en-US" sz="1200" dirty="0">
                <a:solidFill>
                  <a:srgbClr val="0F1B2D"/>
                </a:solidFill>
                <a:latin typeface="Arial" pitchFamily="34" charset="0"/>
                <a:ea typeface="Arial" pitchFamily="34" charset="-122"/>
                <a:cs typeface="Arial" pitchFamily="34" charset="-120"/>
              </a:rPr>
              <a:t>Don't rank models on macro F1 here: one exfiltration flow moves it by several points. Without that class: RF 86.1%, XGBoost 86.2%, soft vote 86.3%.</a:t>
            </a:r>
            <a:endParaRPr lang="en-US" sz="1200" dirty="0"/>
          </a:p>
        </p:txBody>
      </p:sp>
      <p:sp>
        <p:nvSpPr>
          <p:cNvPr id="47" name="Text 40"/>
          <p:cNvSpPr txBox="1"/>
          <p:nvPr/>
        </p:nvSpPr>
        <p:spPr>
          <a:xfrm>
            <a:off x="685800" y="6400800"/>
            <a:ext cx="7315200" cy="228600"/>
          </a:xfrm>
          <a:prstGeom prst="rect">
            <a:avLst/>
          </a:prstGeom>
          <a:noFill/>
          <a:ln/>
        </p:spPr>
        <p:txBody>
          <a:bodyPr wrap="square" lIns="0" tIns="0" rIns="0" bIns="0" rtlCol="0" anchor="t"/>
          <a:lstStyle/>
          <a:p>
            <a:pPr indent="0" marL="0">
              <a:buNone/>
            </a:pPr>
            <a:r>
              <a:rPr lang="en-US" sz="900" dirty="0">
                <a:solidFill>
                  <a:srgbClr val="8A94A3"/>
                </a:solidFill>
                <a:latin typeface="Arial" pitchFamily="34" charset="0"/>
                <a:ea typeface="Arial" pitchFamily="34" charset="-122"/>
                <a:cs typeface="Arial" pitchFamily="34" charset="-120"/>
              </a:rPr>
              <a:t>Anomaly detection for Advanced Persistent Threats   |   Mid-term evaluation</a:t>
            </a:r>
            <a:endParaRPr lang="en-US" sz="900" dirty="0"/>
          </a:p>
        </p:txBody>
      </p:sp>
      <p:sp>
        <p:nvSpPr>
          <p:cNvPr id="48" name="Text 41"/>
          <p:cNvSpPr txBox="1"/>
          <p:nvPr/>
        </p:nvSpPr>
        <p:spPr>
          <a:xfrm>
            <a:off x="10591495" y="6400800"/>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Arial" pitchFamily="34" charset="0"/>
                <a:ea typeface="Arial" pitchFamily="34" charset="-122"/>
                <a:cs typeface="Arial"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V="1">
            <a:off x="10087295" y="470002"/>
            <a:ext cx="288950" cy="416966"/>
          </a:xfrm>
          <a:prstGeom prst="line">
            <a:avLst/>
          </a:prstGeom>
          <a:noFill/>
          <a:ln w="9525">
            <a:solidFill>
              <a:srgbClr val="DCE2EA"/>
            </a:solidFill>
            <a:prstDash val="solid"/>
          </a:ln>
        </p:spPr>
      </p:sp>
      <p:sp>
        <p:nvSpPr>
          <p:cNvPr id="3" name="Shape 1"/>
          <p:cNvSpPr/>
          <p:nvPr/>
        </p:nvSpPr>
        <p:spPr>
          <a:xfrm>
            <a:off x="10087295" y="886968"/>
            <a:ext cx="549006" cy="69494"/>
          </a:xfrm>
          <a:prstGeom prst="line">
            <a:avLst/>
          </a:prstGeom>
          <a:noFill/>
          <a:ln w="9525">
            <a:solidFill>
              <a:srgbClr val="DCE2EA"/>
            </a:solidFill>
            <a:prstDash val="solid"/>
          </a:ln>
        </p:spPr>
      </p:sp>
      <p:sp>
        <p:nvSpPr>
          <p:cNvPr id="4" name="Shape 2"/>
          <p:cNvSpPr/>
          <p:nvPr/>
        </p:nvSpPr>
        <p:spPr>
          <a:xfrm>
            <a:off x="10376245" y="470002"/>
            <a:ext cx="549006" cy="156362"/>
          </a:xfrm>
          <a:prstGeom prst="line">
            <a:avLst/>
          </a:prstGeom>
          <a:noFill/>
          <a:ln w="9525">
            <a:solidFill>
              <a:srgbClr val="F2B7A8"/>
            </a:solidFill>
            <a:prstDash val="solid"/>
          </a:ln>
        </p:spPr>
      </p:sp>
      <p:sp>
        <p:nvSpPr>
          <p:cNvPr id="5" name="Shape 3"/>
          <p:cNvSpPr/>
          <p:nvPr/>
        </p:nvSpPr>
        <p:spPr>
          <a:xfrm flipV="1">
            <a:off x="10636301" y="626364"/>
            <a:ext cx="288950" cy="330098"/>
          </a:xfrm>
          <a:prstGeom prst="line">
            <a:avLst/>
          </a:prstGeom>
          <a:noFill/>
          <a:ln w="9525">
            <a:solidFill>
              <a:srgbClr val="F2B7A8"/>
            </a:solidFill>
            <a:prstDash val="solid"/>
          </a:ln>
        </p:spPr>
      </p:sp>
      <p:sp>
        <p:nvSpPr>
          <p:cNvPr id="6" name="Shape 4"/>
          <p:cNvSpPr/>
          <p:nvPr/>
        </p:nvSpPr>
        <p:spPr>
          <a:xfrm flipV="1">
            <a:off x="10925251" y="522122"/>
            <a:ext cx="534558" cy="104242"/>
          </a:xfrm>
          <a:prstGeom prst="line">
            <a:avLst/>
          </a:prstGeom>
          <a:noFill/>
          <a:ln w="9525">
            <a:solidFill>
              <a:srgbClr val="F2B7A8"/>
            </a:solidFill>
            <a:prstDash val="solid"/>
          </a:ln>
        </p:spPr>
      </p:sp>
      <p:sp>
        <p:nvSpPr>
          <p:cNvPr id="7" name="Shape 5"/>
          <p:cNvSpPr/>
          <p:nvPr/>
        </p:nvSpPr>
        <p:spPr>
          <a:xfrm>
            <a:off x="10636301" y="956462"/>
            <a:ext cx="549006" cy="121615"/>
          </a:xfrm>
          <a:prstGeom prst="line">
            <a:avLst/>
          </a:prstGeom>
          <a:noFill/>
          <a:ln w="9525">
            <a:solidFill>
              <a:srgbClr val="DCE2EA"/>
            </a:solidFill>
            <a:prstDash val="solid"/>
          </a:ln>
        </p:spPr>
      </p:sp>
      <p:sp>
        <p:nvSpPr>
          <p:cNvPr id="8" name="Shape 6"/>
          <p:cNvSpPr/>
          <p:nvPr/>
        </p:nvSpPr>
        <p:spPr>
          <a:xfrm flipV="1">
            <a:off x="11185307" y="843534"/>
            <a:ext cx="173370" cy="234544"/>
          </a:xfrm>
          <a:prstGeom prst="line">
            <a:avLst/>
          </a:prstGeom>
          <a:noFill/>
          <a:ln w="9525">
            <a:solidFill>
              <a:srgbClr val="DCE2EA"/>
            </a:solidFill>
            <a:prstDash val="solid"/>
          </a:ln>
        </p:spPr>
      </p:sp>
      <p:sp>
        <p:nvSpPr>
          <p:cNvPr id="9" name="Shape 7"/>
          <p:cNvSpPr/>
          <p:nvPr/>
        </p:nvSpPr>
        <p:spPr>
          <a:xfrm flipH="1">
            <a:off x="11358677" y="522122"/>
            <a:ext cx="101133" cy="321412"/>
          </a:xfrm>
          <a:prstGeom prst="line">
            <a:avLst/>
          </a:prstGeom>
          <a:noFill/>
          <a:ln w="9525">
            <a:solidFill>
              <a:srgbClr val="DCE2EA"/>
            </a:solidFill>
            <a:prstDash val="solid"/>
          </a:ln>
        </p:spPr>
      </p:sp>
      <p:sp>
        <p:nvSpPr>
          <p:cNvPr id="10" name="Shape 8"/>
          <p:cNvSpPr/>
          <p:nvPr/>
        </p:nvSpPr>
        <p:spPr>
          <a:xfrm>
            <a:off x="10055291" y="854964"/>
            <a:ext cx="64008" cy="64008"/>
          </a:xfrm>
          <a:prstGeom prst="ellipse">
            <a:avLst/>
          </a:prstGeom>
          <a:solidFill>
            <a:srgbClr val="C3CCD9"/>
          </a:solidFill>
          <a:ln w="12700">
            <a:solidFill>
              <a:srgbClr val="C3CCD9"/>
            </a:solidFill>
            <a:prstDash val="solid"/>
          </a:ln>
        </p:spPr>
      </p:sp>
      <p:sp>
        <p:nvSpPr>
          <p:cNvPr id="11" name="Shape 9"/>
          <p:cNvSpPr/>
          <p:nvPr/>
        </p:nvSpPr>
        <p:spPr>
          <a:xfrm>
            <a:off x="10335097" y="428854"/>
            <a:ext cx="82296" cy="82296"/>
          </a:xfrm>
          <a:prstGeom prst="ellipse">
            <a:avLst/>
          </a:prstGeom>
          <a:solidFill>
            <a:srgbClr val="C3CCD9"/>
          </a:solidFill>
          <a:ln w="12700">
            <a:solidFill>
              <a:srgbClr val="C3CCD9"/>
            </a:solidFill>
            <a:prstDash val="solid"/>
          </a:ln>
        </p:spPr>
      </p:sp>
      <p:sp>
        <p:nvSpPr>
          <p:cNvPr id="12" name="Shape 10"/>
          <p:cNvSpPr/>
          <p:nvPr/>
        </p:nvSpPr>
        <p:spPr>
          <a:xfrm>
            <a:off x="10599725" y="919886"/>
            <a:ext cx="73152" cy="73152"/>
          </a:xfrm>
          <a:prstGeom prst="ellipse">
            <a:avLst/>
          </a:prstGeom>
          <a:solidFill>
            <a:srgbClr val="C3CCD9"/>
          </a:solidFill>
          <a:ln w="12700">
            <a:solidFill>
              <a:srgbClr val="C3CCD9"/>
            </a:solidFill>
            <a:prstDash val="solid"/>
          </a:ln>
        </p:spPr>
      </p:sp>
      <p:sp>
        <p:nvSpPr>
          <p:cNvPr id="13" name="Shape 11"/>
          <p:cNvSpPr/>
          <p:nvPr/>
        </p:nvSpPr>
        <p:spPr>
          <a:xfrm>
            <a:off x="10806379" y="507492"/>
            <a:ext cx="237744" cy="237744"/>
          </a:xfrm>
          <a:prstGeom prst="ellipse">
            <a:avLst/>
          </a:prstGeom>
          <a:solidFill>
            <a:srgbClr val="E0533A">
              <a:alpha val="18000"/>
            </a:srgbClr>
          </a:solidFill>
          <a:ln w="12700">
            <a:solidFill>
              <a:srgbClr val="E0533A">
                <a:alpha val="18000"/>
              </a:srgbClr>
            </a:solidFill>
            <a:prstDash val="solid"/>
          </a:ln>
        </p:spPr>
      </p:sp>
      <p:sp>
        <p:nvSpPr>
          <p:cNvPr id="14" name="Shape 12"/>
          <p:cNvSpPr/>
          <p:nvPr/>
        </p:nvSpPr>
        <p:spPr>
          <a:xfrm>
            <a:off x="10874959" y="576072"/>
            <a:ext cx="100584" cy="100584"/>
          </a:xfrm>
          <a:prstGeom prst="ellipse">
            <a:avLst/>
          </a:prstGeom>
          <a:solidFill>
            <a:srgbClr val="E0533A"/>
          </a:solidFill>
          <a:ln w="12700">
            <a:solidFill>
              <a:srgbClr val="E0533A"/>
            </a:solidFill>
            <a:prstDash val="solid"/>
          </a:ln>
        </p:spPr>
      </p:sp>
      <p:sp>
        <p:nvSpPr>
          <p:cNvPr id="15" name="Shape 13"/>
          <p:cNvSpPr/>
          <p:nvPr/>
        </p:nvSpPr>
        <p:spPr>
          <a:xfrm>
            <a:off x="11144159" y="1036930"/>
            <a:ext cx="82296" cy="82296"/>
          </a:xfrm>
          <a:prstGeom prst="ellipse">
            <a:avLst/>
          </a:prstGeom>
          <a:solidFill>
            <a:srgbClr val="C3CCD9"/>
          </a:solidFill>
          <a:ln w="12700">
            <a:solidFill>
              <a:srgbClr val="C3CCD9"/>
            </a:solidFill>
            <a:prstDash val="solid"/>
          </a:ln>
        </p:spPr>
      </p:sp>
      <p:sp>
        <p:nvSpPr>
          <p:cNvPr id="16" name="Shape 14"/>
          <p:cNvSpPr/>
          <p:nvPr/>
        </p:nvSpPr>
        <p:spPr>
          <a:xfrm>
            <a:off x="11427805" y="490118"/>
            <a:ext cx="64008" cy="64008"/>
          </a:xfrm>
          <a:prstGeom prst="ellipse">
            <a:avLst/>
          </a:prstGeom>
          <a:solidFill>
            <a:srgbClr val="C3CCD9"/>
          </a:solidFill>
          <a:ln w="12700">
            <a:solidFill>
              <a:srgbClr val="C3CCD9"/>
            </a:solidFill>
            <a:prstDash val="solid"/>
          </a:ln>
        </p:spPr>
      </p:sp>
      <p:sp>
        <p:nvSpPr>
          <p:cNvPr id="17" name="Shape 15"/>
          <p:cNvSpPr/>
          <p:nvPr/>
        </p:nvSpPr>
        <p:spPr>
          <a:xfrm>
            <a:off x="11331245" y="816102"/>
            <a:ext cx="54864" cy="54864"/>
          </a:xfrm>
          <a:prstGeom prst="ellipse">
            <a:avLst/>
          </a:prstGeom>
          <a:solidFill>
            <a:srgbClr val="C3CCD9"/>
          </a:solidFill>
          <a:ln w="12700">
            <a:solidFill>
              <a:srgbClr val="C3CCD9"/>
            </a:solidFill>
            <a:prstDash val="solid"/>
          </a:ln>
        </p:spPr>
      </p:sp>
      <p:sp>
        <p:nvSpPr>
          <p:cNvPr id="18" name="Text 16"/>
          <p:cNvSpPr txBox="1"/>
          <p:nvPr/>
        </p:nvSpPr>
        <p:spPr>
          <a:xfrm>
            <a:off x="685800" y="475488"/>
            <a:ext cx="10820095" cy="256032"/>
          </a:xfrm>
          <a:prstGeom prst="rect">
            <a:avLst/>
          </a:prstGeom>
          <a:noFill/>
          <a:ln/>
        </p:spPr>
        <p:txBody>
          <a:bodyPr wrap="square" lIns="0" tIns="0" rIns="0" bIns="0" rtlCol="0" anchor="t"/>
          <a:lstStyle/>
          <a:p>
            <a:pPr indent="0" marL="0">
              <a:buNone/>
            </a:pPr>
            <a:r>
              <a:rPr lang="en-US" sz="1100" b="1" dirty="0">
                <a:solidFill>
                  <a:srgbClr val="E0533A"/>
                </a:solidFill>
                <a:latin typeface="Arial" pitchFamily="34" charset="0"/>
                <a:ea typeface="Arial" pitchFamily="34" charset="-122"/>
                <a:cs typeface="Arial" pitchFamily="34" charset="-120"/>
              </a:rPr>
              <a:t>03 · RESULTS</a:t>
            </a:r>
            <a:endParaRPr lang="en-US" sz="1100" dirty="0"/>
          </a:p>
        </p:txBody>
      </p:sp>
      <p:sp>
        <p:nvSpPr>
          <p:cNvPr id="19" name="Text 17"/>
          <p:cNvSpPr txBox="1"/>
          <p:nvPr/>
        </p:nvSpPr>
        <p:spPr>
          <a:xfrm>
            <a:off x="685800" y="768096"/>
            <a:ext cx="10820095" cy="822960"/>
          </a:xfrm>
          <a:prstGeom prst="rect">
            <a:avLst/>
          </a:prstGeom>
          <a:noFill/>
          <a:ln/>
        </p:spPr>
        <p:txBody>
          <a:bodyPr wrap="square" lIns="0" tIns="0" rIns="0" bIns="0" rtlCol="0" anchor="t"/>
          <a:lstStyle/>
          <a:p>
            <a:pPr indent="0" marL="0">
              <a:buNone/>
            </a:pPr>
            <a:r>
              <a:rPr lang="en-US" sz="3000" dirty="0">
                <a:solidFill>
                  <a:srgbClr val="0F1B2D"/>
                </a:solidFill>
                <a:latin typeface="Georgia" pitchFamily="34" charset="0"/>
                <a:ea typeface="Georgia" pitchFamily="34" charset="-122"/>
                <a:cs typeface="Georgia" pitchFamily="34" charset="-120"/>
              </a:rPr>
              <a:t>Errors: possible label noise, and real weak spots</a:t>
            </a:r>
            <a:endParaRPr lang="en-US" sz="3000" dirty="0"/>
          </a:p>
        </p:txBody>
      </p:sp>
      <p:sp>
        <p:nvSpPr>
          <p:cNvPr id="20" name="Shape 18"/>
          <p:cNvSpPr/>
          <p:nvPr/>
        </p:nvSpPr>
        <p:spPr>
          <a:xfrm>
            <a:off x="685800" y="1783080"/>
            <a:ext cx="4983480" cy="2103120"/>
          </a:xfrm>
          <a:prstGeom prst="roundRect">
            <a:avLst>
              <a:gd name="adj" fmla="val 2609"/>
            </a:avLst>
          </a:prstGeom>
          <a:solidFill>
            <a:srgbClr val="FDEEEA"/>
          </a:solidFill>
          <a:ln w="12700">
            <a:solidFill>
              <a:srgbClr val="FDEEEA"/>
            </a:solidFill>
            <a:prstDash val="solid"/>
          </a:ln>
        </p:spPr>
      </p:sp>
      <p:sp>
        <p:nvSpPr>
          <p:cNvPr id="21" name="Text 19"/>
          <p:cNvSpPr txBox="1"/>
          <p:nvPr/>
        </p:nvSpPr>
        <p:spPr>
          <a:xfrm>
            <a:off x="1051560" y="1965960"/>
            <a:ext cx="2743200" cy="777240"/>
          </a:xfrm>
          <a:prstGeom prst="rect">
            <a:avLst/>
          </a:prstGeom>
          <a:noFill/>
          <a:ln/>
        </p:spPr>
        <p:txBody>
          <a:bodyPr wrap="square" lIns="0" tIns="0" rIns="0" bIns="0" rtlCol="0" anchor="t"/>
          <a:lstStyle/>
          <a:p>
            <a:pPr indent="0" marL="0">
              <a:buNone/>
            </a:pPr>
            <a:r>
              <a:rPr lang="en-US" sz="4400" dirty="0">
                <a:solidFill>
                  <a:srgbClr val="E0533A"/>
                </a:solidFill>
                <a:latin typeface="Georgia" pitchFamily="34" charset="0"/>
                <a:ea typeface="Georgia" pitchFamily="34" charset="-122"/>
                <a:cs typeface="Georgia" pitchFamily="34" charset="-120"/>
              </a:rPr>
              <a:t>50.6%</a:t>
            </a:r>
            <a:endParaRPr lang="en-US" sz="4400" dirty="0"/>
          </a:p>
        </p:txBody>
      </p:sp>
      <p:sp>
        <p:nvSpPr>
          <p:cNvPr id="22" name="Text 20"/>
          <p:cNvSpPr txBox="1"/>
          <p:nvPr/>
        </p:nvSpPr>
        <p:spPr>
          <a:xfrm>
            <a:off x="1051560" y="2788920"/>
            <a:ext cx="4297680" cy="914400"/>
          </a:xfrm>
          <a:prstGeom prst="rect">
            <a:avLst/>
          </a:prstGeom>
          <a:noFill/>
          <a:ln/>
        </p:spPr>
        <p:txBody>
          <a:bodyPr wrap="square" lIns="0" tIns="0" rIns="0" bIns="0" rtlCol="0" anchor="t"/>
          <a:lstStyle/>
          <a:p>
            <a:pPr indent="0" marL="0">
              <a:buNone/>
            </a:pPr>
            <a:r>
              <a:rPr lang="en-US" sz="1300" dirty="0">
                <a:solidFill>
                  <a:srgbClr val="0F1B2D"/>
                </a:solidFill>
                <a:latin typeface="Arial" pitchFamily="34" charset="0"/>
                <a:ea typeface="Arial" pitchFamily="34" charset="-122"/>
                <a:cs typeface="Arial" pitchFamily="34" charset="-120"/>
              </a:rPr>
              <a:t>of false alarms are benign-labelled flows involving the attacker's hosts: possible label noise, but not proof, since those hosts also appear on attack-free Monday</a:t>
            </a:r>
            <a:endParaRPr lang="en-US" sz="1300" dirty="0"/>
          </a:p>
        </p:txBody>
      </p:sp>
      <p:sp>
        <p:nvSpPr>
          <p:cNvPr id="23" name="Shape 21"/>
          <p:cNvSpPr/>
          <p:nvPr/>
        </p:nvSpPr>
        <p:spPr>
          <a:xfrm>
            <a:off x="685800" y="4069080"/>
            <a:ext cx="4983480" cy="2057400"/>
          </a:xfrm>
          <a:prstGeom prst="roundRect">
            <a:avLst>
              <a:gd name="adj" fmla="val 2667"/>
            </a:avLst>
          </a:prstGeom>
          <a:solidFill>
            <a:srgbClr val="EAF1FB"/>
          </a:solidFill>
          <a:ln w="12700">
            <a:solidFill>
              <a:srgbClr val="EAF1FB"/>
            </a:solidFill>
            <a:prstDash val="solid"/>
          </a:ln>
        </p:spPr>
      </p:sp>
      <p:sp>
        <p:nvSpPr>
          <p:cNvPr id="24" name="Text 22"/>
          <p:cNvSpPr txBox="1"/>
          <p:nvPr/>
        </p:nvSpPr>
        <p:spPr>
          <a:xfrm>
            <a:off x="1051560" y="4251960"/>
            <a:ext cx="2743200" cy="777240"/>
          </a:xfrm>
          <a:prstGeom prst="rect">
            <a:avLst/>
          </a:prstGeom>
          <a:noFill/>
          <a:ln/>
        </p:spPr>
        <p:txBody>
          <a:bodyPr wrap="square" lIns="0" tIns="0" rIns="0" bIns="0" rtlCol="0" anchor="t"/>
          <a:lstStyle/>
          <a:p>
            <a:pPr indent="0" marL="0">
              <a:buNone/>
            </a:pPr>
            <a:r>
              <a:rPr lang="en-US" sz="4400" dirty="0">
                <a:solidFill>
                  <a:srgbClr val="2A78D6"/>
                </a:solidFill>
                <a:latin typeface="Georgia" pitchFamily="34" charset="0"/>
                <a:ea typeface="Georgia" pitchFamily="34" charset="-122"/>
                <a:cs typeface="Georgia" pitchFamily="34" charset="-120"/>
              </a:rPr>
              <a:t>42.2%</a:t>
            </a:r>
            <a:endParaRPr lang="en-US" sz="4400" dirty="0"/>
          </a:p>
        </p:txBody>
      </p:sp>
      <p:sp>
        <p:nvSpPr>
          <p:cNvPr id="25" name="Text 23"/>
          <p:cNvSpPr txBox="1"/>
          <p:nvPr/>
        </p:nvSpPr>
        <p:spPr>
          <a:xfrm>
            <a:off x="1051560" y="5074920"/>
            <a:ext cx="4297680" cy="868680"/>
          </a:xfrm>
          <a:prstGeom prst="rect">
            <a:avLst/>
          </a:prstGeom>
          <a:noFill/>
          <a:ln/>
        </p:spPr>
        <p:txBody>
          <a:bodyPr wrap="square" lIns="0" tIns="0" rIns="0" bIns="0" rtlCol="0" anchor="t"/>
          <a:lstStyle/>
          <a:p>
            <a:pPr indent="0" marL="0">
              <a:buNone/>
            </a:pPr>
            <a:r>
              <a:rPr lang="en-US" sz="1300" dirty="0">
                <a:solidFill>
                  <a:srgbClr val="0F1B2D"/>
                </a:solidFill>
                <a:latin typeface="Arial" pitchFamily="34" charset="0"/>
                <a:ea typeface="Arial" pitchFamily="34" charset="-122"/>
                <a:cs typeface="Arial" pitchFamily="34" charset="-120"/>
              </a:rPr>
              <a:t>of false alarms fall on Monday, when no attacks are labelled at all: genuine false alarms on normal traffic</a:t>
            </a:r>
            <a:endParaRPr lang="en-US" sz="1300" dirty="0"/>
          </a:p>
        </p:txBody>
      </p:sp>
      <p:sp>
        <p:nvSpPr>
          <p:cNvPr id="26" name="Text 24"/>
          <p:cNvSpPr txBox="1"/>
          <p:nvPr/>
        </p:nvSpPr>
        <p:spPr>
          <a:xfrm>
            <a:off x="6016752" y="1783080"/>
            <a:ext cx="5489143" cy="320040"/>
          </a:xfrm>
          <a:prstGeom prst="rect">
            <a:avLst/>
          </a:prstGeom>
          <a:noFill/>
          <a:ln/>
        </p:spPr>
        <p:txBody>
          <a:bodyPr wrap="square" lIns="0" tIns="0" rIns="0" bIns="0" rtlCol="0" anchor="t"/>
          <a:lstStyle/>
          <a:p>
            <a:pPr indent="0" marL="0">
              <a:buNone/>
            </a:pPr>
            <a:r>
              <a:rPr lang="en-US" sz="1400" b="1" dirty="0">
                <a:solidFill>
                  <a:srgbClr val="0F1B2D"/>
                </a:solidFill>
                <a:latin typeface="Arial" pitchFamily="34" charset="0"/>
                <a:ea typeface="Arial" pitchFamily="34" charset="-122"/>
                <a:cs typeface="Arial" pitchFamily="34" charset="-120"/>
              </a:rPr>
              <a:t>Missed APT flows by activity</a:t>
            </a:r>
            <a:pPr indent="0" marL="0">
              <a:buNone/>
            </a:pPr>
            <a:r>
              <a:rPr lang="en-US" sz="1150" dirty="0">
                <a:solidFill>
                  <a:srgbClr val="8A94A3"/>
                </a:solidFill>
                <a:latin typeface="Arial" pitchFamily="34" charset="0"/>
                <a:ea typeface="Arial" pitchFamily="34" charset="-122"/>
                <a:cs typeface="Arial" pitchFamily="34" charset="-120"/>
              </a:rPr>
              <a:t>   ·   most misses: Account Discovery (57 of 127)</a:t>
            </a:r>
            <a:endParaRPr lang="en-US" sz="1400" dirty="0"/>
          </a:p>
        </p:txBody>
      </p:sp>
      <p:pic>
        <p:nvPicPr>
          <p:cNvPr id="27" name="Image 0" descr="Share of APT flows missed by the hybrid, by attack activity">    </p:cNvPr>
          <p:cNvPicPr>
            <a:picLocks noChangeAspect="1"/>
          </p:cNvPicPr>
          <p:nvPr/>
        </p:nvPicPr>
        <p:blipFill>
          <a:blip r:embed="rId1"/>
          <a:stretch>
            <a:fillRect/>
          </a:stretch>
        </p:blipFill>
        <p:spPr>
          <a:xfrm>
            <a:off x="6016752" y="2148840"/>
            <a:ext cx="5486400" cy="4023360"/>
          </a:xfrm>
          <a:prstGeom prst="rect">
            <a:avLst/>
          </a:prstGeom>
        </p:spPr>
      </p:pic>
      <p:sp>
        <p:nvSpPr>
          <p:cNvPr id="28" name="Text 25"/>
          <p:cNvSpPr txBox="1"/>
          <p:nvPr/>
        </p:nvSpPr>
        <p:spPr>
          <a:xfrm>
            <a:off x="685800" y="6400800"/>
            <a:ext cx="7315200" cy="228600"/>
          </a:xfrm>
          <a:prstGeom prst="rect">
            <a:avLst/>
          </a:prstGeom>
          <a:noFill/>
          <a:ln/>
        </p:spPr>
        <p:txBody>
          <a:bodyPr wrap="square" lIns="0" tIns="0" rIns="0" bIns="0" rtlCol="0" anchor="t"/>
          <a:lstStyle/>
          <a:p>
            <a:pPr indent="0" marL="0">
              <a:buNone/>
            </a:pPr>
            <a:r>
              <a:rPr lang="en-US" sz="900" dirty="0">
                <a:solidFill>
                  <a:srgbClr val="8A94A3"/>
                </a:solidFill>
                <a:latin typeface="Arial" pitchFamily="34" charset="0"/>
                <a:ea typeface="Arial" pitchFamily="34" charset="-122"/>
                <a:cs typeface="Arial" pitchFamily="34" charset="-120"/>
              </a:rPr>
              <a:t>Anomaly detection for Advanced Persistent Threats   |   Mid-term evaluation</a:t>
            </a:r>
            <a:endParaRPr lang="en-US" sz="900" dirty="0"/>
          </a:p>
        </p:txBody>
      </p:sp>
      <p:sp>
        <p:nvSpPr>
          <p:cNvPr id="29" name="Text 26"/>
          <p:cNvSpPr txBox="1"/>
          <p:nvPr/>
        </p:nvSpPr>
        <p:spPr>
          <a:xfrm>
            <a:off x="10591495" y="6400800"/>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Arial" pitchFamily="34" charset="0"/>
                <a:ea typeface="Arial" pitchFamily="34" charset="-122"/>
                <a:cs typeface="Arial"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515821" y="914941"/>
            <a:ext cx="277059" cy="946649"/>
          </a:xfrm>
          <a:prstGeom prst="line">
            <a:avLst/>
          </a:prstGeom>
          <a:noFill/>
          <a:ln w="9525">
            <a:solidFill>
              <a:srgbClr val="2C3E5C"/>
            </a:solidFill>
            <a:prstDash val="solid"/>
          </a:ln>
        </p:spPr>
      </p:sp>
      <p:sp>
        <p:nvSpPr>
          <p:cNvPr id="3" name="Shape 1"/>
          <p:cNvSpPr/>
          <p:nvPr/>
        </p:nvSpPr>
        <p:spPr>
          <a:xfrm flipV="1">
            <a:off x="6515821" y="607319"/>
            <a:ext cx="1145935" cy="307622"/>
          </a:xfrm>
          <a:prstGeom prst="line">
            <a:avLst/>
          </a:prstGeom>
          <a:noFill/>
          <a:ln w="9525">
            <a:solidFill>
              <a:srgbClr val="2C3E5C"/>
            </a:solidFill>
            <a:prstDash val="solid"/>
          </a:ln>
        </p:spPr>
      </p:sp>
      <p:sp>
        <p:nvSpPr>
          <p:cNvPr id="4" name="Shape 2"/>
          <p:cNvSpPr/>
          <p:nvPr/>
        </p:nvSpPr>
        <p:spPr>
          <a:xfrm>
            <a:off x="7661756" y="607319"/>
            <a:ext cx="1042580" cy="100068"/>
          </a:xfrm>
          <a:prstGeom prst="line">
            <a:avLst/>
          </a:prstGeom>
          <a:noFill/>
          <a:ln w="9525">
            <a:solidFill>
              <a:srgbClr val="2C3E5C"/>
            </a:solidFill>
            <a:prstDash val="solid"/>
          </a:ln>
        </p:spPr>
      </p:sp>
      <p:sp>
        <p:nvSpPr>
          <p:cNvPr id="5" name="Shape 3"/>
          <p:cNvSpPr/>
          <p:nvPr/>
        </p:nvSpPr>
        <p:spPr>
          <a:xfrm flipH="1">
            <a:off x="8687252" y="707387"/>
            <a:ext cx="17084" cy="700563"/>
          </a:xfrm>
          <a:prstGeom prst="line">
            <a:avLst/>
          </a:prstGeom>
          <a:noFill/>
          <a:ln w="12700">
            <a:solidFill>
              <a:srgbClr val="E0533A">
                <a:alpha val="55000"/>
              </a:srgbClr>
            </a:solidFill>
            <a:prstDash val="solid"/>
          </a:ln>
        </p:spPr>
      </p:sp>
      <p:sp>
        <p:nvSpPr>
          <p:cNvPr id="6" name="Shape 4"/>
          <p:cNvSpPr/>
          <p:nvPr/>
        </p:nvSpPr>
        <p:spPr>
          <a:xfrm>
            <a:off x="9804542" y="977341"/>
            <a:ext cx="617824" cy="92223"/>
          </a:xfrm>
          <a:prstGeom prst="line">
            <a:avLst/>
          </a:prstGeom>
          <a:noFill/>
          <a:ln w="9525">
            <a:solidFill>
              <a:srgbClr val="2C3E5C"/>
            </a:solidFill>
            <a:prstDash val="solid"/>
          </a:ln>
        </p:spPr>
      </p:sp>
      <p:sp>
        <p:nvSpPr>
          <p:cNvPr id="7" name="Shape 5"/>
          <p:cNvSpPr/>
          <p:nvPr/>
        </p:nvSpPr>
        <p:spPr>
          <a:xfrm>
            <a:off x="9804542" y="977341"/>
            <a:ext cx="716046" cy="481486"/>
          </a:xfrm>
          <a:prstGeom prst="line">
            <a:avLst/>
          </a:prstGeom>
          <a:noFill/>
          <a:ln w="9525">
            <a:solidFill>
              <a:srgbClr val="2C3E5C"/>
            </a:solidFill>
            <a:prstDash val="solid"/>
          </a:ln>
        </p:spPr>
      </p:sp>
      <p:sp>
        <p:nvSpPr>
          <p:cNvPr id="8" name="Shape 6"/>
          <p:cNvSpPr/>
          <p:nvPr/>
        </p:nvSpPr>
        <p:spPr>
          <a:xfrm>
            <a:off x="10422366" y="1069563"/>
            <a:ext cx="98222" cy="389263"/>
          </a:xfrm>
          <a:prstGeom prst="line">
            <a:avLst/>
          </a:prstGeom>
          <a:noFill/>
          <a:ln w="9525">
            <a:solidFill>
              <a:srgbClr val="2C3E5C"/>
            </a:solidFill>
            <a:prstDash val="solid"/>
          </a:ln>
        </p:spPr>
      </p:sp>
      <p:sp>
        <p:nvSpPr>
          <p:cNvPr id="9" name="Shape 7"/>
          <p:cNvSpPr/>
          <p:nvPr/>
        </p:nvSpPr>
        <p:spPr>
          <a:xfrm flipH="1">
            <a:off x="10964788" y="814890"/>
            <a:ext cx="662161" cy="803818"/>
          </a:xfrm>
          <a:prstGeom prst="line">
            <a:avLst/>
          </a:prstGeom>
          <a:noFill/>
          <a:ln w="9525">
            <a:solidFill>
              <a:srgbClr val="2C3E5C"/>
            </a:solidFill>
            <a:prstDash val="solid"/>
          </a:ln>
        </p:spPr>
      </p:sp>
      <p:sp>
        <p:nvSpPr>
          <p:cNvPr id="10" name="Shape 8"/>
          <p:cNvSpPr/>
          <p:nvPr/>
        </p:nvSpPr>
        <p:spPr>
          <a:xfrm flipV="1">
            <a:off x="10422366" y="814890"/>
            <a:ext cx="1204583" cy="254673"/>
          </a:xfrm>
          <a:prstGeom prst="line">
            <a:avLst/>
          </a:prstGeom>
          <a:noFill/>
          <a:ln w="9525">
            <a:solidFill>
              <a:srgbClr val="2C3E5C"/>
            </a:solidFill>
            <a:prstDash val="solid"/>
          </a:ln>
        </p:spPr>
      </p:sp>
      <p:sp>
        <p:nvSpPr>
          <p:cNvPr id="11" name="Shape 9"/>
          <p:cNvSpPr/>
          <p:nvPr/>
        </p:nvSpPr>
        <p:spPr>
          <a:xfrm>
            <a:off x="6792880" y="1861590"/>
            <a:ext cx="826485" cy="511415"/>
          </a:xfrm>
          <a:prstGeom prst="line">
            <a:avLst/>
          </a:prstGeom>
          <a:noFill/>
          <a:ln w="9525">
            <a:solidFill>
              <a:srgbClr val="2C3E5C"/>
            </a:solidFill>
            <a:prstDash val="solid"/>
          </a:ln>
        </p:spPr>
      </p:sp>
      <p:sp>
        <p:nvSpPr>
          <p:cNvPr id="12" name="Shape 10"/>
          <p:cNvSpPr/>
          <p:nvPr/>
        </p:nvSpPr>
        <p:spPr>
          <a:xfrm flipH="1">
            <a:off x="8394481" y="1407950"/>
            <a:ext cx="292772" cy="1141601"/>
          </a:xfrm>
          <a:prstGeom prst="line">
            <a:avLst/>
          </a:prstGeom>
          <a:noFill/>
          <a:ln w="12700">
            <a:solidFill>
              <a:srgbClr val="E0533A">
                <a:alpha val="55000"/>
              </a:srgbClr>
            </a:solidFill>
            <a:prstDash val="solid"/>
          </a:ln>
        </p:spPr>
      </p:sp>
      <p:sp>
        <p:nvSpPr>
          <p:cNvPr id="13" name="Shape 11"/>
          <p:cNvSpPr/>
          <p:nvPr/>
        </p:nvSpPr>
        <p:spPr>
          <a:xfrm>
            <a:off x="10520588" y="1458826"/>
            <a:ext cx="444200" cy="159881"/>
          </a:xfrm>
          <a:prstGeom prst="line">
            <a:avLst/>
          </a:prstGeom>
          <a:noFill/>
          <a:ln w="9525">
            <a:solidFill>
              <a:srgbClr val="2C3E5C"/>
            </a:solidFill>
            <a:prstDash val="solid"/>
          </a:ln>
        </p:spPr>
      </p:sp>
      <p:sp>
        <p:nvSpPr>
          <p:cNvPr id="14" name="Shape 12"/>
          <p:cNvSpPr/>
          <p:nvPr/>
        </p:nvSpPr>
        <p:spPr>
          <a:xfrm>
            <a:off x="10422366" y="1069563"/>
            <a:ext cx="542422" cy="549144"/>
          </a:xfrm>
          <a:prstGeom prst="line">
            <a:avLst/>
          </a:prstGeom>
          <a:noFill/>
          <a:ln w="9525">
            <a:solidFill>
              <a:srgbClr val="2C3E5C"/>
            </a:solidFill>
            <a:prstDash val="solid"/>
          </a:ln>
        </p:spPr>
      </p:sp>
      <p:sp>
        <p:nvSpPr>
          <p:cNvPr id="15" name="Shape 13"/>
          <p:cNvSpPr/>
          <p:nvPr/>
        </p:nvSpPr>
        <p:spPr>
          <a:xfrm>
            <a:off x="7619365" y="2373005"/>
            <a:ext cx="775115" cy="176546"/>
          </a:xfrm>
          <a:prstGeom prst="line">
            <a:avLst/>
          </a:prstGeom>
          <a:noFill/>
          <a:ln w="9525">
            <a:solidFill>
              <a:srgbClr val="2C3E5C"/>
            </a:solidFill>
            <a:prstDash val="solid"/>
          </a:ln>
        </p:spPr>
      </p:sp>
      <p:sp>
        <p:nvSpPr>
          <p:cNvPr id="16" name="Shape 14"/>
          <p:cNvSpPr/>
          <p:nvPr/>
        </p:nvSpPr>
        <p:spPr>
          <a:xfrm>
            <a:off x="8394481" y="2549551"/>
            <a:ext cx="30952" cy="679828"/>
          </a:xfrm>
          <a:prstGeom prst="line">
            <a:avLst/>
          </a:prstGeom>
          <a:noFill/>
          <a:ln w="9525">
            <a:solidFill>
              <a:srgbClr val="2C3E5C"/>
            </a:solidFill>
            <a:prstDash val="solid"/>
          </a:ln>
        </p:spPr>
      </p:sp>
      <p:sp>
        <p:nvSpPr>
          <p:cNvPr id="17" name="Shape 15"/>
          <p:cNvSpPr/>
          <p:nvPr/>
        </p:nvSpPr>
        <p:spPr>
          <a:xfrm flipH="1">
            <a:off x="9275770" y="2853794"/>
            <a:ext cx="84906" cy="731213"/>
          </a:xfrm>
          <a:prstGeom prst="line">
            <a:avLst/>
          </a:prstGeom>
          <a:noFill/>
          <a:ln w="9525">
            <a:solidFill>
              <a:srgbClr val="2C3E5C"/>
            </a:solidFill>
            <a:prstDash val="solid"/>
          </a:ln>
        </p:spPr>
      </p:sp>
      <p:sp>
        <p:nvSpPr>
          <p:cNvPr id="18" name="Shape 16"/>
          <p:cNvSpPr/>
          <p:nvPr/>
        </p:nvSpPr>
        <p:spPr>
          <a:xfrm flipV="1">
            <a:off x="9360676" y="2752313"/>
            <a:ext cx="937852" cy="101481"/>
          </a:xfrm>
          <a:prstGeom prst="line">
            <a:avLst/>
          </a:prstGeom>
          <a:noFill/>
          <a:ln w="9525">
            <a:solidFill>
              <a:srgbClr val="2C3E5C"/>
            </a:solidFill>
            <a:prstDash val="solid"/>
          </a:ln>
        </p:spPr>
      </p:sp>
      <p:sp>
        <p:nvSpPr>
          <p:cNvPr id="19" name="Shape 17"/>
          <p:cNvSpPr/>
          <p:nvPr/>
        </p:nvSpPr>
        <p:spPr>
          <a:xfrm>
            <a:off x="10298528" y="2752313"/>
            <a:ext cx="132550" cy="443989"/>
          </a:xfrm>
          <a:prstGeom prst="line">
            <a:avLst/>
          </a:prstGeom>
          <a:noFill/>
          <a:ln w="12700">
            <a:solidFill>
              <a:srgbClr val="E0533A">
                <a:alpha val="55000"/>
              </a:srgbClr>
            </a:solidFill>
            <a:prstDash val="solid"/>
          </a:ln>
        </p:spPr>
      </p:sp>
      <p:sp>
        <p:nvSpPr>
          <p:cNvPr id="20" name="Shape 18"/>
          <p:cNvSpPr/>
          <p:nvPr/>
        </p:nvSpPr>
        <p:spPr>
          <a:xfrm>
            <a:off x="10298528" y="2752313"/>
            <a:ext cx="713014" cy="73097"/>
          </a:xfrm>
          <a:prstGeom prst="line">
            <a:avLst/>
          </a:prstGeom>
          <a:noFill/>
          <a:ln w="9525">
            <a:solidFill>
              <a:srgbClr val="2C3E5C"/>
            </a:solidFill>
            <a:prstDash val="solid"/>
          </a:ln>
        </p:spPr>
      </p:sp>
      <p:sp>
        <p:nvSpPr>
          <p:cNvPr id="21" name="Shape 19"/>
          <p:cNvSpPr/>
          <p:nvPr/>
        </p:nvSpPr>
        <p:spPr>
          <a:xfrm>
            <a:off x="11011542" y="2825410"/>
            <a:ext cx="171653" cy="370086"/>
          </a:xfrm>
          <a:prstGeom prst="line">
            <a:avLst/>
          </a:prstGeom>
          <a:noFill/>
          <a:ln w="9525">
            <a:solidFill>
              <a:srgbClr val="2C3E5C"/>
            </a:solidFill>
            <a:prstDash val="solid"/>
          </a:ln>
        </p:spPr>
      </p:sp>
      <p:sp>
        <p:nvSpPr>
          <p:cNvPr id="22" name="Shape 20"/>
          <p:cNvSpPr/>
          <p:nvPr/>
        </p:nvSpPr>
        <p:spPr>
          <a:xfrm flipH="1">
            <a:off x="10431078" y="2825410"/>
            <a:ext cx="580464" cy="370892"/>
          </a:xfrm>
          <a:prstGeom prst="line">
            <a:avLst/>
          </a:prstGeom>
          <a:noFill/>
          <a:ln w="12700">
            <a:solidFill>
              <a:srgbClr val="E0533A">
                <a:alpha val="55000"/>
              </a:srgbClr>
            </a:solidFill>
            <a:prstDash val="solid"/>
          </a:ln>
        </p:spPr>
      </p:sp>
      <p:sp>
        <p:nvSpPr>
          <p:cNvPr id="23" name="Shape 21"/>
          <p:cNvSpPr/>
          <p:nvPr/>
        </p:nvSpPr>
        <p:spPr>
          <a:xfrm flipH="1">
            <a:off x="6533097" y="3475266"/>
            <a:ext cx="24389" cy="758460"/>
          </a:xfrm>
          <a:prstGeom prst="line">
            <a:avLst/>
          </a:prstGeom>
          <a:noFill/>
          <a:ln w="9525">
            <a:solidFill>
              <a:srgbClr val="2C3E5C"/>
            </a:solidFill>
            <a:prstDash val="solid"/>
          </a:ln>
        </p:spPr>
      </p:sp>
      <p:sp>
        <p:nvSpPr>
          <p:cNvPr id="24" name="Shape 22"/>
          <p:cNvSpPr/>
          <p:nvPr/>
        </p:nvSpPr>
        <p:spPr>
          <a:xfrm>
            <a:off x="6557486" y="3475266"/>
            <a:ext cx="1049274" cy="107222"/>
          </a:xfrm>
          <a:prstGeom prst="line">
            <a:avLst/>
          </a:prstGeom>
          <a:noFill/>
          <a:ln w="9525">
            <a:solidFill>
              <a:srgbClr val="2C3E5C"/>
            </a:solidFill>
            <a:prstDash val="solid"/>
          </a:ln>
        </p:spPr>
      </p:sp>
      <p:sp>
        <p:nvSpPr>
          <p:cNvPr id="25" name="Shape 23"/>
          <p:cNvSpPr/>
          <p:nvPr/>
        </p:nvSpPr>
        <p:spPr>
          <a:xfrm flipV="1">
            <a:off x="7606760" y="3229378"/>
            <a:ext cx="818673" cy="353110"/>
          </a:xfrm>
          <a:prstGeom prst="line">
            <a:avLst/>
          </a:prstGeom>
          <a:noFill/>
          <a:ln w="9525">
            <a:solidFill>
              <a:srgbClr val="2C3E5C"/>
            </a:solidFill>
            <a:prstDash val="solid"/>
          </a:ln>
        </p:spPr>
      </p:sp>
      <p:sp>
        <p:nvSpPr>
          <p:cNvPr id="26" name="Shape 24"/>
          <p:cNvSpPr/>
          <p:nvPr/>
        </p:nvSpPr>
        <p:spPr>
          <a:xfrm flipH="1">
            <a:off x="7520127" y="3582488"/>
            <a:ext cx="86632" cy="929919"/>
          </a:xfrm>
          <a:prstGeom prst="line">
            <a:avLst/>
          </a:prstGeom>
          <a:noFill/>
          <a:ln w="9525">
            <a:solidFill>
              <a:srgbClr val="2C3E5C"/>
            </a:solidFill>
            <a:prstDash val="solid"/>
          </a:ln>
        </p:spPr>
      </p:sp>
      <p:sp>
        <p:nvSpPr>
          <p:cNvPr id="27" name="Shape 25"/>
          <p:cNvSpPr/>
          <p:nvPr/>
        </p:nvSpPr>
        <p:spPr>
          <a:xfrm>
            <a:off x="9275770" y="3585007"/>
            <a:ext cx="473909" cy="559045"/>
          </a:xfrm>
          <a:prstGeom prst="line">
            <a:avLst/>
          </a:prstGeom>
          <a:noFill/>
          <a:ln w="9525">
            <a:solidFill>
              <a:srgbClr val="2C3E5C"/>
            </a:solidFill>
            <a:prstDash val="solid"/>
          </a:ln>
        </p:spPr>
      </p:sp>
      <p:sp>
        <p:nvSpPr>
          <p:cNvPr id="28" name="Shape 26"/>
          <p:cNvSpPr/>
          <p:nvPr/>
        </p:nvSpPr>
        <p:spPr>
          <a:xfrm flipV="1">
            <a:off x="10431078" y="3195496"/>
            <a:ext cx="752117" cy="914"/>
          </a:xfrm>
          <a:prstGeom prst="line">
            <a:avLst/>
          </a:prstGeom>
          <a:noFill/>
          <a:ln w="12700">
            <a:solidFill>
              <a:srgbClr val="E0533A">
                <a:alpha val="55000"/>
              </a:srgbClr>
            </a:solidFill>
            <a:prstDash val="solid"/>
          </a:ln>
        </p:spPr>
      </p:sp>
      <p:sp>
        <p:nvSpPr>
          <p:cNvPr id="29" name="Shape 27"/>
          <p:cNvSpPr/>
          <p:nvPr/>
        </p:nvSpPr>
        <p:spPr>
          <a:xfrm>
            <a:off x="6533097" y="4233726"/>
            <a:ext cx="577482" cy="810873"/>
          </a:xfrm>
          <a:prstGeom prst="line">
            <a:avLst/>
          </a:prstGeom>
          <a:noFill/>
          <a:ln w="9525">
            <a:solidFill>
              <a:srgbClr val="2C3E5C"/>
            </a:solidFill>
            <a:prstDash val="solid"/>
          </a:ln>
        </p:spPr>
      </p:sp>
      <p:sp>
        <p:nvSpPr>
          <p:cNvPr id="30" name="Shape 28"/>
          <p:cNvSpPr/>
          <p:nvPr/>
        </p:nvSpPr>
        <p:spPr>
          <a:xfrm flipH="1">
            <a:off x="7110579" y="4512408"/>
            <a:ext cx="409548" cy="532191"/>
          </a:xfrm>
          <a:prstGeom prst="line">
            <a:avLst/>
          </a:prstGeom>
          <a:noFill/>
          <a:ln w="9525">
            <a:solidFill>
              <a:srgbClr val="2C3E5C"/>
            </a:solidFill>
            <a:prstDash val="solid"/>
          </a:ln>
        </p:spPr>
      </p:sp>
      <p:sp>
        <p:nvSpPr>
          <p:cNvPr id="31" name="Shape 29"/>
          <p:cNvSpPr/>
          <p:nvPr/>
        </p:nvSpPr>
        <p:spPr>
          <a:xfrm flipH="1">
            <a:off x="8811265" y="4485644"/>
            <a:ext cx="26758" cy="585179"/>
          </a:xfrm>
          <a:prstGeom prst="line">
            <a:avLst/>
          </a:prstGeom>
          <a:noFill/>
          <a:ln w="9525">
            <a:solidFill>
              <a:srgbClr val="2C3E5C"/>
            </a:solidFill>
            <a:prstDash val="solid"/>
          </a:ln>
        </p:spPr>
      </p:sp>
      <p:sp>
        <p:nvSpPr>
          <p:cNvPr id="32" name="Shape 30"/>
          <p:cNvSpPr/>
          <p:nvPr/>
        </p:nvSpPr>
        <p:spPr>
          <a:xfrm flipV="1">
            <a:off x="8838023" y="4144052"/>
            <a:ext cx="911655" cy="341593"/>
          </a:xfrm>
          <a:prstGeom prst="line">
            <a:avLst/>
          </a:prstGeom>
          <a:noFill/>
          <a:ln w="9525">
            <a:solidFill>
              <a:srgbClr val="2C3E5C"/>
            </a:solidFill>
            <a:prstDash val="solid"/>
          </a:ln>
        </p:spPr>
      </p:sp>
      <p:sp>
        <p:nvSpPr>
          <p:cNvPr id="33" name="Shape 31"/>
          <p:cNvSpPr/>
          <p:nvPr/>
        </p:nvSpPr>
        <p:spPr>
          <a:xfrm>
            <a:off x="9749678" y="4144052"/>
            <a:ext cx="785833" cy="124337"/>
          </a:xfrm>
          <a:prstGeom prst="line">
            <a:avLst/>
          </a:prstGeom>
          <a:noFill/>
          <a:ln w="9525">
            <a:solidFill>
              <a:srgbClr val="2C3E5C"/>
            </a:solidFill>
            <a:prstDash val="solid"/>
          </a:ln>
        </p:spPr>
      </p:sp>
      <p:sp>
        <p:nvSpPr>
          <p:cNvPr id="34" name="Shape 32"/>
          <p:cNvSpPr/>
          <p:nvPr/>
        </p:nvSpPr>
        <p:spPr>
          <a:xfrm>
            <a:off x="10535511" y="4268388"/>
            <a:ext cx="741706" cy="153559"/>
          </a:xfrm>
          <a:prstGeom prst="line">
            <a:avLst/>
          </a:prstGeom>
          <a:noFill/>
          <a:ln w="9525">
            <a:solidFill>
              <a:srgbClr val="2C3E5C"/>
            </a:solidFill>
            <a:prstDash val="solid"/>
          </a:ln>
        </p:spPr>
      </p:sp>
      <p:sp>
        <p:nvSpPr>
          <p:cNvPr id="35" name="Shape 33"/>
          <p:cNvSpPr/>
          <p:nvPr/>
        </p:nvSpPr>
        <p:spPr>
          <a:xfrm>
            <a:off x="11277217" y="4421948"/>
            <a:ext cx="224219" cy="1050993"/>
          </a:xfrm>
          <a:prstGeom prst="line">
            <a:avLst/>
          </a:prstGeom>
          <a:noFill/>
          <a:ln w="9525">
            <a:solidFill>
              <a:srgbClr val="2C3E5C"/>
            </a:solidFill>
            <a:prstDash val="solid"/>
          </a:ln>
        </p:spPr>
      </p:sp>
      <p:sp>
        <p:nvSpPr>
          <p:cNvPr id="36" name="Shape 34"/>
          <p:cNvSpPr/>
          <p:nvPr/>
        </p:nvSpPr>
        <p:spPr>
          <a:xfrm flipH="1">
            <a:off x="6694596" y="5044599"/>
            <a:ext cx="415982" cy="744302"/>
          </a:xfrm>
          <a:prstGeom prst="line">
            <a:avLst/>
          </a:prstGeom>
          <a:noFill/>
          <a:ln w="9525">
            <a:solidFill>
              <a:srgbClr val="2C3E5C"/>
            </a:solidFill>
            <a:prstDash val="solid"/>
          </a:ln>
        </p:spPr>
      </p:sp>
      <p:sp>
        <p:nvSpPr>
          <p:cNvPr id="37" name="Shape 35"/>
          <p:cNvSpPr/>
          <p:nvPr/>
        </p:nvSpPr>
        <p:spPr>
          <a:xfrm flipH="1">
            <a:off x="7962413" y="5070824"/>
            <a:ext cx="848852" cy="657588"/>
          </a:xfrm>
          <a:prstGeom prst="line">
            <a:avLst/>
          </a:prstGeom>
          <a:noFill/>
          <a:ln w="9525">
            <a:solidFill>
              <a:srgbClr val="2C3E5C"/>
            </a:solidFill>
            <a:prstDash val="solid"/>
          </a:ln>
        </p:spPr>
      </p:sp>
      <p:sp>
        <p:nvSpPr>
          <p:cNvPr id="38" name="Shape 36"/>
          <p:cNvSpPr/>
          <p:nvPr/>
        </p:nvSpPr>
        <p:spPr>
          <a:xfrm>
            <a:off x="10106127" y="5217368"/>
            <a:ext cx="180178" cy="754272"/>
          </a:xfrm>
          <a:prstGeom prst="line">
            <a:avLst/>
          </a:prstGeom>
          <a:noFill/>
          <a:ln w="9525">
            <a:solidFill>
              <a:srgbClr val="2C3E5C"/>
            </a:solidFill>
            <a:prstDash val="solid"/>
          </a:ln>
        </p:spPr>
      </p:sp>
      <p:sp>
        <p:nvSpPr>
          <p:cNvPr id="39" name="Shape 37"/>
          <p:cNvSpPr/>
          <p:nvPr/>
        </p:nvSpPr>
        <p:spPr>
          <a:xfrm flipH="1">
            <a:off x="10106127" y="4268388"/>
            <a:ext cx="429384" cy="948980"/>
          </a:xfrm>
          <a:prstGeom prst="line">
            <a:avLst/>
          </a:prstGeom>
          <a:noFill/>
          <a:ln w="9525">
            <a:solidFill>
              <a:srgbClr val="2C3E5C"/>
            </a:solidFill>
            <a:prstDash val="solid"/>
          </a:ln>
        </p:spPr>
      </p:sp>
      <p:sp>
        <p:nvSpPr>
          <p:cNvPr id="40" name="Shape 38"/>
          <p:cNvSpPr/>
          <p:nvPr/>
        </p:nvSpPr>
        <p:spPr>
          <a:xfrm flipH="1">
            <a:off x="11368442" y="5472940"/>
            <a:ext cx="132994" cy="639508"/>
          </a:xfrm>
          <a:prstGeom prst="line">
            <a:avLst/>
          </a:prstGeom>
          <a:noFill/>
          <a:ln w="9525">
            <a:solidFill>
              <a:srgbClr val="2C3E5C"/>
            </a:solidFill>
            <a:prstDash val="solid"/>
          </a:ln>
        </p:spPr>
      </p:sp>
      <p:sp>
        <p:nvSpPr>
          <p:cNvPr id="41" name="Shape 39"/>
          <p:cNvSpPr/>
          <p:nvPr/>
        </p:nvSpPr>
        <p:spPr>
          <a:xfrm flipV="1">
            <a:off x="6694596" y="5728412"/>
            <a:ext cx="1267817" cy="60488"/>
          </a:xfrm>
          <a:prstGeom prst="line">
            <a:avLst/>
          </a:prstGeom>
          <a:noFill/>
          <a:ln w="9525">
            <a:solidFill>
              <a:srgbClr val="2C3E5C"/>
            </a:solidFill>
            <a:prstDash val="solid"/>
          </a:ln>
        </p:spPr>
      </p:sp>
      <p:sp>
        <p:nvSpPr>
          <p:cNvPr id="42" name="Shape 40"/>
          <p:cNvSpPr/>
          <p:nvPr/>
        </p:nvSpPr>
        <p:spPr>
          <a:xfrm>
            <a:off x="7962413" y="5728412"/>
            <a:ext cx="856860" cy="585899"/>
          </a:xfrm>
          <a:prstGeom prst="line">
            <a:avLst/>
          </a:prstGeom>
          <a:noFill/>
          <a:ln w="9525">
            <a:solidFill>
              <a:srgbClr val="2C3E5C"/>
            </a:solidFill>
            <a:prstDash val="solid"/>
          </a:ln>
        </p:spPr>
      </p:sp>
      <p:sp>
        <p:nvSpPr>
          <p:cNvPr id="43" name="Shape 41"/>
          <p:cNvSpPr/>
          <p:nvPr/>
        </p:nvSpPr>
        <p:spPr>
          <a:xfrm flipV="1">
            <a:off x="8819273" y="6313091"/>
            <a:ext cx="924784" cy="1220"/>
          </a:xfrm>
          <a:prstGeom prst="line">
            <a:avLst/>
          </a:prstGeom>
          <a:noFill/>
          <a:ln w="9525">
            <a:solidFill>
              <a:srgbClr val="2C3E5C"/>
            </a:solidFill>
            <a:prstDash val="solid"/>
          </a:ln>
        </p:spPr>
      </p:sp>
      <p:sp>
        <p:nvSpPr>
          <p:cNvPr id="44" name="Shape 42"/>
          <p:cNvSpPr/>
          <p:nvPr/>
        </p:nvSpPr>
        <p:spPr>
          <a:xfrm flipV="1">
            <a:off x="9744057" y="5971640"/>
            <a:ext cx="542248" cy="341451"/>
          </a:xfrm>
          <a:prstGeom prst="line">
            <a:avLst/>
          </a:prstGeom>
          <a:noFill/>
          <a:ln w="9525">
            <a:solidFill>
              <a:srgbClr val="2C3E5C"/>
            </a:solidFill>
            <a:prstDash val="solid"/>
          </a:ln>
        </p:spPr>
      </p:sp>
      <p:sp>
        <p:nvSpPr>
          <p:cNvPr id="45" name="Shape 43"/>
          <p:cNvSpPr/>
          <p:nvPr/>
        </p:nvSpPr>
        <p:spPr>
          <a:xfrm>
            <a:off x="10286305" y="5971640"/>
            <a:ext cx="1082137" cy="140808"/>
          </a:xfrm>
          <a:prstGeom prst="line">
            <a:avLst/>
          </a:prstGeom>
          <a:noFill/>
          <a:ln w="9525">
            <a:solidFill>
              <a:srgbClr val="2C3E5C"/>
            </a:solidFill>
            <a:prstDash val="solid"/>
          </a:ln>
        </p:spPr>
      </p:sp>
      <p:sp>
        <p:nvSpPr>
          <p:cNvPr id="46" name="Shape 44"/>
          <p:cNvSpPr/>
          <p:nvPr/>
        </p:nvSpPr>
        <p:spPr>
          <a:xfrm>
            <a:off x="6458361" y="857481"/>
            <a:ext cx="114920" cy="114920"/>
          </a:xfrm>
          <a:prstGeom prst="ellipse">
            <a:avLst/>
          </a:prstGeom>
          <a:solidFill>
            <a:srgbClr val="4B6388"/>
          </a:solidFill>
          <a:ln w="12700">
            <a:solidFill>
              <a:srgbClr val="4B6388"/>
            </a:solidFill>
            <a:prstDash val="solid"/>
          </a:ln>
        </p:spPr>
      </p:sp>
      <p:sp>
        <p:nvSpPr>
          <p:cNvPr id="47" name="Shape 45"/>
          <p:cNvSpPr/>
          <p:nvPr/>
        </p:nvSpPr>
        <p:spPr>
          <a:xfrm>
            <a:off x="7625472" y="571036"/>
            <a:ext cx="72568" cy="72568"/>
          </a:xfrm>
          <a:prstGeom prst="ellipse">
            <a:avLst/>
          </a:prstGeom>
          <a:solidFill>
            <a:srgbClr val="4B6388"/>
          </a:solidFill>
          <a:ln w="12700">
            <a:solidFill>
              <a:srgbClr val="4B6388"/>
            </a:solidFill>
            <a:prstDash val="solid"/>
          </a:ln>
        </p:spPr>
      </p:sp>
      <p:sp>
        <p:nvSpPr>
          <p:cNvPr id="48" name="Shape 46"/>
          <p:cNvSpPr/>
          <p:nvPr/>
        </p:nvSpPr>
        <p:spPr>
          <a:xfrm>
            <a:off x="8647090" y="650141"/>
            <a:ext cx="114492" cy="114492"/>
          </a:xfrm>
          <a:prstGeom prst="ellipse">
            <a:avLst/>
          </a:prstGeom>
          <a:solidFill>
            <a:srgbClr val="4B6388"/>
          </a:solidFill>
          <a:ln w="12700">
            <a:solidFill>
              <a:srgbClr val="4B6388"/>
            </a:solidFill>
            <a:prstDash val="solid"/>
          </a:ln>
        </p:spPr>
      </p:sp>
      <p:sp>
        <p:nvSpPr>
          <p:cNvPr id="49" name="Shape 47"/>
          <p:cNvSpPr/>
          <p:nvPr/>
        </p:nvSpPr>
        <p:spPr>
          <a:xfrm>
            <a:off x="9748082" y="920881"/>
            <a:ext cx="112919" cy="112919"/>
          </a:xfrm>
          <a:prstGeom prst="ellipse">
            <a:avLst/>
          </a:prstGeom>
          <a:solidFill>
            <a:srgbClr val="4B6388"/>
          </a:solidFill>
          <a:ln w="12700">
            <a:solidFill>
              <a:srgbClr val="4B6388"/>
            </a:solidFill>
            <a:prstDash val="solid"/>
          </a:ln>
        </p:spPr>
      </p:sp>
      <p:sp>
        <p:nvSpPr>
          <p:cNvPr id="50" name="Shape 48"/>
          <p:cNvSpPr/>
          <p:nvPr/>
        </p:nvSpPr>
        <p:spPr>
          <a:xfrm>
            <a:off x="10381844" y="1029041"/>
            <a:ext cx="81045" cy="81045"/>
          </a:xfrm>
          <a:prstGeom prst="ellipse">
            <a:avLst/>
          </a:prstGeom>
          <a:solidFill>
            <a:srgbClr val="4B6388"/>
          </a:solidFill>
          <a:ln w="12700">
            <a:solidFill>
              <a:srgbClr val="4B6388"/>
            </a:solidFill>
            <a:prstDash val="solid"/>
          </a:ln>
        </p:spPr>
      </p:sp>
      <p:sp>
        <p:nvSpPr>
          <p:cNvPr id="51" name="Shape 49"/>
          <p:cNvSpPr/>
          <p:nvPr/>
        </p:nvSpPr>
        <p:spPr>
          <a:xfrm>
            <a:off x="11577625" y="765567"/>
            <a:ext cx="98647" cy="98647"/>
          </a:xfrm>
          <a:prstGeom prst="ellipse">
            <a:avLst/>
          </a:prstGeom>
          <a:solidFill>
            <a:srgbClr val="4B6388"/>
          </a:solidFill>
          <a:ln w="12700">
            <a:solidFill>
              <a:srgbClr val="4B6388"/>
            </a:solidFill>
            <a:prstDash val="solid"/>
          </a:ln>
        </p:spPr>
      </p:sp>
      <p:sp>
        <p:nvSpPr>
          <p:cNvPr id="52" name="Shape 50"/>
          <p:cNvSpPr/>
          <p:nvPr/>
        </p:nvSpPr>
        <p:spPr>
          <a:xfrm>
            <a:off x="6739270" y="1807979"/>
            <a:ext cx="107221" cy="107221"/>
          </a:xfrm>
          <a:prstGeom prst="ellipse">
            <a:avLst/>
          </a:prstGeom>
          <a:solidFill>
            <a:srgbClr val="4B6388"/>
          </a:solidFill>
          <a:ln w="12700">
            <a:solidFill>
              <a:srgbClr val="4B6388"/>
            </a:solidFill>
            <a:prstDash val="solid"/>
          </a:ln>
        </p:spPr>
      </p:sp>
      <p:sp>
        <p:nvSpPr>
          <p:cNvPr id="53" name="Shape 51"/>
          <p:cNvSpPr/>
          <p:nvPr/>
        </p:nvSpPr>
        <p:spPr>
          <a:xfrm>
            <a:off x="8467796" y="1188494"/>
            <a:ext cx="438912" cy="438912"/>
          </a:xfrm>
          <a:prstGeom prst="ellipse">
            <a:avLst/>
          </a:prstGeom>
          <a:solidFill>
            <a:srgbClr val="E0533A">
              <a:alpha val="20000"/>
            </a:srgbClr>
          </a:solidFill>
          <a:ln w="12700">
            <a:solidFill>
              <a:srgbClr val="E0533A">
                <a:alpha val="20000"/>
              </a:srgbClr>
            </a:solidFill>
            <a:prstDash val="solid"/>
          </a:ln>
        </p:spPr>
      </p:sp>
      <p:sp>
        <p:nvSpPr>
          <p:cNvPr id="54" name="Shape 52"/>
          <p:cNvSpPr/>
          <p:nvPr/>
        </p:nvSpPr>
        <p:spPr>
          <a:xfrm>
            <a:off x="8604956" y="1325654"/>
            <a:ext cx="164592" cy="164592"/>
          </a:xfrm>
          <a:prstGeom prst="ellipse">
            <a:avLst/>
          </a:prstGeom>
          <a:solidFill>
            <a:srgbClr val="E0533A"/>
          </a:solidFill>
          <a:ln w="12700">
            <a:solidFill>
              <a:srgbClr val="E0533A"/>
            </a:solidFill>
            <a:prstDash val="solid"/>
          </a:ln>
        </p:spPr>
      </p:sp>
      <p:sp>
        <p:nvSpPr>
          <p:cNvPr id="55" name="Shape 53"/>
          <p:cNvSpPr/>
          <p:nvPr/>
        </p:nvSpPr>
        <p:spPr>
          <a:xfrm>
            <a:off x="10480357" y="1418595"/>
            <a:ext cx="80462" cy="80462"/>
          </a:xfrm>
          <a:prstGeom prst="ellipse">
            <a:avLst/>
          </a:prstGeom>
          <a:solidFill>
            <a:srgbClr val="4B6388"/>
          </a:solidFill>
          <a:ln w="12700">
            <a:solidFill>
              <a:srgbClr val="4B6388"/>
            </a:solidFill>
            <a:prstDash val="solid"/>
          </a:ln>
        </p:spPr>
      </p:sp>
      <p:sp>
        <p:nvSpPr>
          <p:cNvPr id="56" name="Shape 54"/>
          <p:cNvSpPr/>
          <p:nvPr/>
        </p:nvSpPr>
        <p:spPr>
          <a:xfrm>
            <a:off x="10912363" y="1566283"/>
            <a:ext cx="104849" cy="104849"/>
          </a:xfrm>
          <a:prstGeom prst="ellipse">
            <a:avLst/>
          </a:prstGeom>
          <a:solidFill>
            <a:srgbClr val="4B6388"/>
          </a:solidFill>
          <a:ln w="12700">
            <a:solidFill>
              <a:srgbClr val="4B6388"/>
            </a:solidFill>
            <a:prstDash val="solid"/>
          </a:ln>
        </p:spPr>
      </p:sp>
      <p:sp>
        <p:nvSpPr>
          <p:cNvPr id="57" name="Shape 55"/>
          <p:cNvSpPr/>
          <p:nvPr/>
        </p:nvSpPr>
        <p:spPr>
          <a:xfrm>
            <a:off x="7580142" y="2333781"/>
            <a:ext cx="78447" cy="78447"/>
          </a:xfrm>
          <a:prstGeom prst="ellipse">
            <a:avLst/>
          </a:prstGeom>
          <a:solidFill>
            <a:srgbClr val="4B6388"/>
          </a:solidFill>
          <a:ln w="12700">
            <a:solidFill>
              <a:srgbClr val="4B6388"/>
            </a:solidFill>
            <a:prstDash val="solid"/>
          </a:ln>
        </p:spPr>
      </p:sp>
      <p:sp>
        <p:nvSpPr>
          <p:cNvPr id="58" name="Shape 56"/>
          <p:cNvSpPr/>
          <p:nvPr/>
        </p:nvSpPr>
        <p:spPr>
          <a:xfrm>
            <a:off x="8353647" y="2508717"/>
            <a:ext cx="81667" cy="81667"/>
          </a:xfrm>
          <a:prstGeom prst="ellipse">
            <a:avLst/>
          </a:prstGeom>
          <a:solidFill>
            <a:srgbClr val="4B6388"/>
          </a:solidFill>
          <a:ln w="12700">
            <a:solidFill>
              <a:srgbClr val="4B6388"/>
            </a:solidFill>
            <a:prstDash val="solid"/>
          </a:ln>
        </p:spPr>
      </p:sp>
      <p:sp>
        <p:nvSpPr>
          <p:cNvPr id="59" name="Shape 57"/>
          <p:cNvSpPr/>
          <p:nvPr/>
        </p:nvSpPr>
        <p:spPr>
          <a:xfrm>
            <a:off x="9307095" y="2800213"/>
            <a:ext cx="107162" cy="107162"/>
          </a:xfrm>
          <a:prstGeom prst="ellipse">
            <a:avLst/>
          </a:prstGeom>
          <a:solidFill>
            <a:srgbClr val="4B6388"/>
          </a:solidFill>
          <a:ln w="12700">
            <a:solidFill>
              <a:srgbClr val="4B6388"/>
            </a:solidFill>
            <a:prstDash val="solid"/>
          </a:ln>
        </p:spPr>
      </p:sp>
      <p:sp>
        <p:nvSpPr>
          <p:cNvPr id="60" name="Shape 58"/>
          <p:cNvSpPr/>
          <p:nvPr/>
        </p:nvSpPr>
        <p:spPr>
          <a:xfrm>
            <a:off x="10246485" y="2700270"/>
            <a:ext cx="104086" cy="104086"/>
          </a:xfrm>
          <a:prstGeom prst="ellipse">
            <a:avLst/>
          </a:prstGeom>
          <a:solidFill>
            <a:srgbClr val="4B6388"/>
          </a:solidFill>
          <a:ln w="12700">
            <a:solidFill>
              <a:srgbClr val="4B6388"/>
            </a:solidFill>
            <a:prstDash val="solid"/>
          </a:ln>
        </p:spPr>
      </p:sp>
      <p:sp>
        <p:nvSpPr>
          <p:cNvPr id="61" name="Shape 59"/>
          <p:cNvSpPr/>
          <p:nvPr/>
        </p:nvSpPr>
        <p:spPr>
          <a:xfrm>
            <a:off x="10976394" y="2790262"/>
            <a:ext cx="70296" cy="70296"/>
          </a:xfrm>
          <a:prstGeom prst="ellipse">
            <a:avLst/>
          </a:prstGeom>
          <a:solidFill>
            <a:srgbClr val="4B6388"/>
          </a:solidFill>
          <a:ln w="12700">
            <a:solidFill>
              <a:srgbClr val="4B6388"/>
            </a:solidFill>
            <a:prstDash val="solid"/>
          </a:ln>
        </p:spPr>
      </p:sp>
      <p:sp>
        <p:nvSpPr>
          <p:cNvPr id="62" name="Shape 60"/>
          <p:cNvSpPr/>
          <p:nvPr/>
        </p:nvSpPr>
        <p:spPr>
          <a:xfrm>
            <a:off x="6501938" y="3419718"/>
            <a:ext cx="111096" cy="111096"/>
          </a:xfrm>
          <a:prstGeom prst="ellipse">
            <a:avLst/>
          </a:prstGeom>
          <a:solidFill>
            <a:srgbClr val="4B6388"/>
          </a:solidFill>
          <a:ln w="12700">
            <a:solidFill>
              <a:srgbClr val="4B6388"/>
            </a:solidFill>
            <a:prstDash val="solid"/>
          </a:ln>
        </p:spPr>
      </p:sp>
      <p:sp>
        <p:nvSpPr>
          <p:cNvPr id="63" name="Shape 61"/>
          <p:cNvSpPr/>
          <p:nvPr/>
        </p:nvSpPr>
        <p:spPr>
          <a:xfrm>
            <a:off x="7573128" y="3548856"/>
            <a:ext cx="67264" cy="67264"/>
          </a:xfrm>
          <a:prstGeom prst="ellipse">
            <a:avLst/>
          </a:prstGeom>
          <a:solidFill>
            <a:srgbClr val="4B6388"/>
          </a:solidFill>
          <a:ln w="12700">
            <a:solidFill>
              <a:srgbClr val="4B6388"/>
            </a:solidFill>
            <a:prstDash val="solid"/>
          </a:ln>
        </p:spPr>
      </p:sp>
      <p:sp>
        <p:nvSpPr>
          <p:cNvPr id="64" name="Shape 62"/>
          <p:cNvSpPr/>
          <p:nvPr/>
        </p:nvSpPr>
        <p:spPr>
          <a:xfrm>
            <a:off x="8374023" y="3177969"/>
            <a:ext cx="102819" cy="102819"/>
          </a:xfrm>
          <a:prstGeom prst="ellipse">
            <a:avLst/>
          </a:prstGeom>
          <a:solidFill>
            <a:srgbClr val="4B6388"/>
          </a:solidFill>
          <a:ln w="12700">
            <a:solidFill>
              <a:srgbClr val="4B6388"/>
            </a:solidFill>
            <a:prstDash val="solid"/>
          </a:ln>
        </p:spPr>
      </p:sp>
      <p:sp>
        <p:nvSpPr>
          <p:cNvPr id="65" name="Shape 63"/>
          <p:cNvSpPr/>
          <p:nvPr/>
        </p:nvSpPr>
        <p:spPr>
          <a:xfrm>
            <a:off x="9225622" y="3534860"/>
            <a:ext cx="100295" cy="100295"/>
          </a:xfrm>
          <a:prstGeom prst="ellipse">
            <a:avLst/>
          </a:prstGeom>
          <a:solidFill>
            <a:srgbClr val="4B6388"/>
          </a:solidFill>
          <a:ln w="12700">
            <a:solidFill>
              <a:srgbClr val="4B6388"/>
            </a:solidFill>
            <a:prstDash val="solid"/>
          </a:ln>
        </p:spPr>
      </p:sp>
      <p:sp>
        <p:nvSpPr>
          <p:cNvPr id="66" name="Shape 64"/>
          <p:cNvSpPr/>
          <p:nvPr/>
        </p:nvSpPr>
        <p:spPr>
          <a:xfrm>
            <a:off x="10211622" y="2976846"/>
            <a:ext cx="438912" cy="438912"/>
          </a:xfrm>
          <a:prstGeom prst="ellipse">
            <a:avLst/>
          </a:prstGeom>
          <a:solidFill>
            <a:srgbClr val="E0533A">
              <a:alpha val="20000"/>
            </a:srgbClr>
          </a:solidFill>
          <a:ln w="12700">
            <a:solidFill>
              <a:srgbClr val="E0533A">
                <a:alpha val="20000"/>
              </a:srgbClr>
            </a:solidFill>
            <a:prstDash val="solid"/>
          </a:ln>
        </p:spPr>
      </p:sp>
      <p:sp>
        <p:nvSpPr>
          <p:cNvPr id="67" name="Shape 65"/>
          <p:cNvSpPr/>
          <p:nvPr/>
        </p:nvSpPr>
        <p:spPr>
          <a:xfrm>
            <a:off x="10348782" y="3114006"/>
            <a:ext cx="164592" cy="164592"/>
          </a:xfrm>
          <a:prstGeom prst="ellipse">
            <a:avLst/>
          </a:prstGeom>
          <a:solidFill>
            <a:srgbClr val="E0533A"/>
          </a:solidFill>
          <a:ln w="12700">
            <a:solidFill>
              <a:srgbClr val="E0533A"/>
            </a:solidFill>
            <a:prstDash val="solid"/>
          </a:ln>
        </p:spPr>
      </p:sp>
      <p:sp>
        <p:nvSpPr>
          <p:cNvPr id="68" name="Shape 66"/>
          <p:cNvSpPr/>
          <p:nvPr/>
        </p:nvSpPr>
        <p:spPr>
          <a:xfrm>
            <a:off x="11123474" y="3135776"/>
            <a:ext cx="119441" cy="119441"/>
          </a:xfrm>
          <a:prstGeom prst="ellipse">
            <a:avLst/>
          </a:prstGeom>
          <a:solidFill>
            <a:srgbClr val="4B6388"/>
          </a:solidFill>
          <a:ln w="12700">
            <a:solidFill>
              <a:srgbClr val="4B6388"/>
            </a:solidFill>
            <a:prstDash val="solid"/>
          </a:ln>
        </p:spPr>
      </p:sp>
      <p:sp>
        <p:nvSpPr>
          <p:cNvPr id="69" name="Shape 67"/>
          <p:cNvSpPr/>
          <p:nvPr/>
        </p:nvSpPr>
        <p:spPr>
          <a:xfrm>
            <a:off x="6481051" y="4181680"/>
            <a:ext cx="104091" cy="104091"/>
          </a:xfrm>
          <a:prstGeom prst="ellipse">
            <a:avLst/>
          </a:prstGeom>
          <a:solidFill>
            <a:srgbClr val="4B6388"/>
          </a:solidFill>
          <a:ln w="12700">
            <a:solidFill>
              <a:srgbClr val="4B6388"/>
            </a:solidFill>
            <a:prstDash val="solid"/>
          </a:ln>
        </p:spPr>
      </p:sp>
      <p:sp>
        <p:nvSpPr>
          <p:cNvPr id="70" name="Shape 68"/>
          <p:cNvSpPr/>
          <p:nvPr/>
        </p:nvSpPr>
        <p:spPr>
          <a:xfrm>
            <a:off x="7485370" y="4477650"/>
            <a:ext cx="69515" cy="69515"/>
          </a:xfrm>
          <a:prstGeom prst="ellipse">
            <a:avLst/>
          </a:prstGeom>
          <a:solidFill>
            <a:srgbClr val="4B6388"/>
          </a:solidFill>
          <a:ln w="12700">
            <a:solidFill>
              <a:srgbClr val="4B6388"/>
            </a:solidFill>
            <a:prstDash val="solid"/>
          </a:ln>
        </p:spPr>
      </p:sp>
      <p:sp>
        <p:nvSpPr>
          <p:cNvPr id="71" name="Shape 69"/>
          <p:cNvSpPr/>
          <p:nvPr/>
        </p:nvSpPr>
        <p:spPr>
          <a:xfrm>
            <a:off x="8805526" y="4453147"/>
            <a:ext cx="64995" cy="64995"/>
          </a:xfrm>
          <a:prstGeom prst="ellipse">
            <a:avLst/>
          </a:prstGeom>
          <a:solidFill>
            <a:srgbClr val="4B6388"/>
          </a:solidFill>
          <a:ln w="12700">
            <a:solidFill>
              <a:srgbClr val="4B6388"/>
            </a:solidFill>
            <a:prstDash val="solid"/>
          </a:ln>
        </p:spPr>
      </p:sp>
      <p:sp>
        <p:nvSpPr>
          <p:cNvPr id="72" name="Shape 70"/>
          <p:cNvSpPr/>
          <p:nvPr/>
        </p:nvSpPr>
        <p:spPr>
          <a:xfrm>
            <a:off x="9714594" y="4108968"/>
            <a:ext cx="70168" cy="70168"/>
          </a:xfrm>
          <a:prstGeom prst="ellipse">
            <a:avLst/>
          </a:prstGeom>
          <a:solidFill>
            <a:srgbClr val="4B6388"/>
          </a:solidFill>
          <a:ln w="12700">
            <a:solidFill>
              <a:srgbClr val="4B6388"/>
            </a:solidFill>
            <a:prstDash val="solid"/>
          </a:ln>
        </p:spPr>
      </p:sp>
      <p:sp>
        <p:nvSpPr>
          <p:cNvPr id="73" name="Shape 71"/>
          <p:cNvSpPr/>
          <p:nvPr/>
        </p:nvSpPr>
        <p:spPr>
          <a:xfrm>
            <a:off x="10486602" y="4219479"/>
            <a:ext cx="97819" cy="97819"/>
          </a:xfrm>
          <a:prstGeom prst="ellipse">
            <a:avLst/>
          </a:prstGeom>
          <a:solidFill>
            <a:srgbClr val="4B6388"/>
          </a:solidFill>
          <a:ln w="12700">
            <a:solidFill>
              <a:srgbClr val="4B6388"/>
            </a:solidFill>
            <a:prstDash val="solid"/>
          </a:ln>
        </p:spPr>
      </p:sp>
      <p:sp>
        <p:nvSpPr>
          <p:cNvPr id="74" name="Shape 72"/>
          <p:cNvSpPr/>
          <p:nvPr/>
        </p:nvSpPr>
        <p:spPr>
          <a:xfrm>
            <a:off x="11218461" y="4363191"/>
            <a:ext cx="117513" cy="117513"/>
          </a:xfrm>
          <a:prstGeom prst="ellipse">
            <a:avLst/>
          </a:prstGeom>
          <a:solidFill>
            <a:srgbClr val="4B6388"/>
          </a:solidFill>
          <a:ln w="12700">
            <a:solidFill>
              <a:srgbClr val="4B6388"/>
            </a:solidFill>
            <a:prstDash val="solid"/>
          </a:ln>
        </p:spPr>
      </p:sp>
      <p:sp>
        <p:nvSpPr>
          <p:cNvPr id="75" name="Shape 73"/>
          <p:cNvSpPr/>
          <p:nvPr/>
        </p:nvSpPr>
        <p:spPr>
          <a:xfrm>
            <a:off x="7050056" y="4984076"/>
            <a:ext cx="121046" cy="121046"/>
          </a:xfrm>
          <a:prstGeom prst="ellipse">
            <a:avLst/>
          </a:prstGeom>
          <a:solidFill>
            <a:srgbClr val="4B6388"/>
          </a:solidFill>
          <a:ln w="12700">
            <a:solidFill>
              <a:srgbClr val="4B6388"/>
            </a:solidFill>
            <a:prstDash val="solid"/>
          </a:ln>
        </p:spPr>
      </p:sp>
      <p:sp>
        <p:nvSpPr>
          <p:cNvPr id="76" name="Shape 74"/>
          <p:cNvSpPr/>
          <p:nvPr/>
        </p:nvSpPr>
        <p:spPr>
          <a:xfrm>
            <a:off x="8770405" y="5029963"/>
            <a:ext cx="81722" cy="81722"/>
          </a:xfrm>
          <a:prstGeom prst="ellipse">
            <a:avLst/>
          </a:prstGeom>
          <a:solidFill>
            <a:srgbClr val="4B6388"/>
          </a:solidFill>
          <a:ln w="12700">
            <a:solidFill>
              <a:srgbClr val="4B6388"/>
            </a:solidFill>
            <a:prstDash val="solid"/>
          </a:ln>
        </p:spPr>
      </p:sp>
      <p:sp>
        <p:nvSpPr>
          <p:cNvPr id="77" name="Shape 75"/>
          <p:cNvSpPr/>
          <p:nvPr/>
        </p:nvSpPr>
        <p:spPr>
          <a:xfrm>
            <a:off x="10044054" y="5155295"/>
            <a:ext cx="124146" cy="124146"/>
          </a:xfrm>
          <a:prstGeom prst="ellipse">
            <a:avLst/>
          </a:prstGeom>
          <a:solidFill>
            <a:srgbClr val="4B6388"/>
          </a:solidFill>
          <a:ln w="12700">
            <a:solidFill>
              <a:srgbClr val="4B6388"/>
            </a:solidFill>
            <a:prstDash val="solid"/>
          </a:ln>
        </p:spPr>
      </p:sp>
      <p:sp>
        <p:nvSpPr>
          <p:cNvPr id="78" name="Shape 76"/>
          <p:cNvSpPr/>
          <p:nvPr/>
        </p:nvSpPr>
        <p:spPr>
          <a:xfrm>
            <a:off x="11454750" y="5426254"/>
            <a:ext cx="93372" cy="93372"/>
          </a:xfrm>
          <a:prstGeom prst="ellipse">
            <a:avLst/>
          </a:prstGeom>
          <a:solidFill>
            <a:srgbClr val="4B6388"/>
          </a:solidFill>
          <a:ln w="12700">
            <a:solidFill>
              <a:srgbClr val="4B6388"/>
            </a:solidFill>
            <a:prstDash val="solid"/>
          </a:ln>
        </p:spPr>
      </p:sp>
      <p:sp>
        <p:nvSpPr>
          <p:cNvPr id="79" name="Shape 77"/>
          <p:cNvSpPr/>
          <p:nvPr/>
        </p:nvSpPr>
        <p:spPr>
          <a:xfrm>
            <a:off x="6640742" y="5735046"/>
            <a:ext cx="107708" cy="107708"/>
          </a:xfrm>
          <a:prstGeom prst="ellipse">
            <a:avLst/>
          </a:prstGeom>
          <a:solidFill>
            <a:srgbClr val="4B6388"/>
          </a:solidFill>
          <a:ln w="12700">
            <a:solidFill>
              <a:srgbClr val="4B6388"/>
            </a:solidFill>
            <a:prstDash val="solid"/>
          </a:ln>
        </p:spPr>
      </p:sp>
      <p:sp>
        <p:nvSpPr>
          <p:cNvPr id="80" name="Shape 78"/>
          <p:cNvSpPr/>
          <p:nvPr/>
        </p:nvSpPr>
        <p:spPr>
          <a:xfrm>
            <a:off x="7912089" y="5678088"/>
            <a:ext cx="100648" cy="100648"/>
          </a:xfrm>
          <a:prstGeom prst="ellipse">
            <a:avLst/>
          </a:prstGeom>
          <a:solidFill>
            <a:srgbClr val="4B6388"/>
          </a:solidFill>
          <a:ln w="12700">
            <a:solidFill>
              <a:srgbClr val="4B6388"/>
            </a:solidFill>
            <a:prstDash val="solid"/>
          </a:ln>
        </p:spPr>
      </p:sp>
      <p:sp>
        <p:nvSpPr>
          <p:cNvPr id="81" name="Shape 79"/>
          <p:cNvSpPr/>
          <p:nvPr/>
        </p:nvSpPr>
        <p:spPr>
          <a:xfrm>
            <a:off x="8786029" y="6281068"/>
            <a:ext cx="66488" cy="66488"/>
          </a:xfrm>
          <a:prstGeom prst="ellipse">
            <a:avLst/>
          </a:prstGeom>
          <a:solidFill>
            <a:srgbClr val="4B6388"/>
          </a:solidFill>
          <a:ln w="12700">
            <a:solidFill>
              <a:srgbClr val="4B6388"/>
            </a:solidFill>
            <a:prstDash val="solid"/>
          </a:ln>
        </p:spPr>
      </p:sp>
      <p:sp>
        <p:nvSpPr>
          <p:cNvPr id="82" name="Shape 80"/>
          <p:cNvSpPr/>
          <p:nvPr/>
        </p:nvSpPr>
        <p:spPr>
          <a:xfrm>
            <a:off x="9707754" y="6276788"/>
            <a:ext cx="72606" cy="72606"/>
          </a:xfrm>
          <a:prstGeom prst="ellipse">
            <a:avLst/>
          </a:prstGeom>
          <a:solidFill>
            <a:srgbClr val="4B6388"/>
          </a:solidFill>
          <a:ln w="12700">
            <a:solidFill>
              <a:srgbClr val="4B6388"/>
            </a:solidFill>
            <a:prstDash val="solid"/>
          </a:ln>
        </p:spPr>
      </p:sp>
      <p:sp>
        <p:nvSpPr>
          <p:cNvPr id="83" name="Shape 81"/>
          <p:cNvSpPr/>
          <p:nvPr/>
        </p:nvSpPr>
        <p:spPr>
          <a:xfrm>
            <a:off x="10231289" y="5916625"/>
            <a:ext cx="110031" cy="110031"/>
          </a:xfrm>
          <a:prstGeom prst="ellipse">
            <a:avLst/>
          </a:prstGeom>
          <a:solidFill>
            <a:srgbClr val="4B6388"/>
          </a:solidFill>
          <a:ln w="12700">
            <a:solidFill>
              <a:srgbClr val="4B6388"/>
            </a:solidFill>
            <a:prstDash val="solid"/>
          </a:ln>
        </p:spPr>
      </p:sp>
      <p:sp>
        <p:nvSpPr>
          <p:cNvPr id="84" name="Shape 82"/>
          <p:cNvSpPr/>
          <p:nvPr/>
        </p:nvSpPr>
        <p:spPr>
          <a:xfrm>
            <a:off x="11307968" y="6051975"/>
            <a:ext cx="120947" cy="120947"/>
          </a:xfrm>
          <a:prstGeom prst="ellipse">
            <a:avLst/>
          </a:prstGeom>
          <a:solidFill>
            <a:srgbClr val="4B6388"/>
          </a:solidFill>
          <a:ln w="12700">
            <a:solidFill>
              <a:srgbClr val="4B6388"/>
            </a:solidFill>
            <a:prstDash val="solid"/>
          </a:ln>
        </p:spPr>
      </p:sp>
      <p:sp>
        <p:nvSpPr>
          <p:cNvPr id="85" name="Text 83"/>
          <p:cNvSpPr txBox="1"/>
          <p:nvPr/>
        </p:nvSpPr>
        <p:spPr>
          <a:xfrm>
            <a:off x="685800" y="1600200"/>
            <a:ext cx="2743200" cy="1371600"/>
          </a:xfrm>
          <a:prstGeom prst="rect">
            <a:avLst/>
          </a:prstGeom>
          <a:noFill/>
          <a:ln/>
        </p:spPr>
        <p:txBody>
          <a:bodyPr wrap="square" lIns="0" tIns="0" rIns="0" bIns="0" rtlCol="0" anchor="t"/>
          <a:lstStyle/>
          <a:p>
            <a:pPr indent="0" marL="0">
              <a:buNone/>
            </a:pPr>
            <a:r>
              <a:rPr lang="en-US" sz="9600" dirty="0">
                <a:solidFill>
                  <a:srgbClr val="F08A6E"/>
                </a:solidFill>
                <a:latin typeface="Georgia" pitchFamily="34" charset="0"/>
                <a:ea typeface="Georgia" pitchFamily="34" charset="-122"/>
                <a:cs typeface="Georgia" pitchFamily="34" charset="-120"/>
              </a:rPr>
              <a:t>04</a:t>
            </a:r>
            <a:endParaRPr lang="en-US" sz="9600" dirty="0"/>
          </a:p>
        </p:txBody>
      </p:sp>
      <p:sp>
        <p:nvSpPr>
          <p:cNvPr id="86" name="Text 84"/>
          <p:cNvSpPr txBox="1"/>
          <p:nvPr/>
        </p:nvSpPr>
        <p:spPr>
          <a:xfrm>
            <a:off x="685800" y="3063240"/>
            <a:ext cx="5486400" cy="868680"/>
          </a:xfrm>
          <a:prstGeom prst="rect">
            <a:avLst/>
          </a:prstGeom>
          <a:noFill/>
          <a:ln/>
        </p:spPr>
        <p:txBody>
          <a:bodyPr wrap="square" lIns="0" tIns="0" rIns="0" bIns="0" rtlCol="0" anchor="t"/>
          <a:lstStyle/>
          <a:p>
            <a:pPr indent="0" marL="0">
              <a:buNone/>
            </a:pPr>
            <a:r>
              <a:rPr lang="en-US" sz="4400" dirty="0">
                <a:solidFill>
                  <a:srgbClr val="FFFFFF"/>
                </a:solidFill>
                <a:latin typeface="Georgia" pitchFamily="34" charset="0"/>
                <a:ea typeface="Georgia" pitchFamily="34" charset="-122"/>
                <a:cs typeface="Georgia" pitchFamily="34" charset="-120"/>
              </a:rPr>
              <a:t>Conclusions</a:t>
            </a:r>
            <a:endParaRPr lang="en-US" sz="4400" dirty="0"/>
          </a:p>
        </p:txBody>
      </p:sp>
      <p:sp>
        <p:nvSpPr>
          <p:cNvPr id="87" name="Text 85"/>
          <p:cNvSpPr txBox="1"/>
          <p:nvPr/>
        </p:nvSpPr>
        <p:spPr>
          <a:xfrm>
            <a:off x="685800" y="4023360"/>
            <a:ext cx="5212080" cy="1005840"/>
          </a:xfrm>
          <a:prstGeom prst="rect">
            <a:avLst/>
          </a:prstGeom>
          <a:noFill/>
          <a:ln/>
        </p:spPr>
        <p:txBody>
          <a:bodyPr wrap="square" lIns="0" tIns="0" rIns="0" bIns="0" rtlCol="0" anchor="t"/>
          <a:lstStyle/>
          <a:p>
            <a:pPr indent="0" marL="0">
              <a:buNone/>
            </a:pPr>
            <a:r>
              <a:rPr lang="en-US" sz="1600" dirty="0">
                <a:solidFill>
                  <a:srgbClr val="A9B6C8"/>
                </a:solidFill>
                <a:latin typeface="Arial" pitchFamily="34" charset="0"/>
                <a:ea typeface="Arial" pitchFamily="34" charset="-122"/>
                <a:cs typeface="Arial" pitchFamily="34" charset="-120"/>
              </a:rPr>
              <a:t>What we have shown so far, and the plan for the final evaluation</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V="1">
            <a:off x="10087295" y="470002"/>
            <a:ext cx="288950" cy="416966"/>
          </a:xfrm>
          <a:prstGeom prst="line">
            <a:avLst/>
          </a:prstGeom>
          <a:noFill/>
          <a:ln w="9525">
            <a:solidFill>
              <a:srgbClr val="DCE2EA"/>
            </a:solidFill>
            <a:prstDash val="solid"/>
          </a:ln>
        </p:spPr>
      </p:sp>
      <p:sp>
        <p:nvSpPr>
          <p:cNvPr id="3" name="Shape 1"/>
          <p:cNvSpPr/>
          <p:nvPr/>
        </p:nvSpPr>
        <p:spPr>
          <a:xfrm>
            <a:off x="10087295" y="886968"/>
            <a:ext cx="549006" cy="69494"/>
          </a:xfrm>
          <a:prstGeom prst="line">
            <a:avLst/>
          </a:prstGeom>
          <a:noFill/>
          <a:ln w="9525">
            <a:solidFill>
              <a:srgbClr val="DCE2EA"/>
            </a:solidFill>
            <a:prstDash val="solid"/>
          </a:ln>
        </p:spPr>
      </p:sp>
      <p:sp>
        <p:nvSpPr>
          <p:cNvPr id="4" name="Shape 2"/>
          <p:cNvSpPr/>
          <p:nvPr/>
        </p:nvSpPr>
        <p:spPr>
          <a:xfrm>
            <a:off x="10376245" y="470002"/>
            <a:ext cx="549006" cy="156362"/>
          </a:xfrm>
          <a:prstGeom prst="line">
            <a:avLst/>
          </a:prstGeom>
          <a:noFill/>
          <a:ln w="9525">
            <a:solidFill>
              <a:srgbClr val="F2B7A8"/>
            </a:solidFill>
            <a:prstDash val="solid"/>
          </a:ln>
        </p:spPr>
      </p:sp>
      <p:sp>
        <p:nvSpPr>
          <p:cNvPr id="5" name="Shape 3"/>
          <p:cNvSpPr/>
          <p:nvPr/>
        </p:nvSpPr>
        <p:spPr>
          <a:xfrm flipV="1">
            <a:off x="10636301" y="626364"/>
            <a:ext cx="288950" cy="330098"/>
          </a:xfrm>
          <a:prstGeom prst="line">
            <a:avLst/>
          </a:prstGeom>
          <a:noFill/>
          <a:ln w="9525">
            <a:solidFill>
              <a:srgbClr val="F2B7A8"/>
            </a:solidFill>
            <a:prstDash val="solid"/>
          </a:ln>
        </p:spPr>
      </p:sp>
      <p:sp>
        <p:nvSpPr>
          <p:cNvPr id="6" name="Shape 4"/>
          <p:cNvSpPr/>
          <p:nvPr/>
        </p:nvSpPr>
        <p:spPr>
          <a:xfrm flipV="1">
            <a:off x="10925251" y="522122"/>
            <a:ext cx="534558" cy="104242"/>
          </a:xfrm>
          <a:prstGeom prst="line">
            <a:avLst/>
          </a:prstGeom>
          <a:noFill/>
          <a:ln w="9525">
            <a:solidFill>
              <a:srgbClr val="F2B7A8"/>
            </a:solidFill>
            <a:prstDash val="solid"/>
          </a:ln>
        </p:spPr>
      </p:sp>
      <p:sp>
        <p:nvSpPr>
          <p:cNvPr id="7" name="Shape 5"/>
          <p:cNvSpPr/>
          <p:nvPr/>
        </p:nvSpPr>
        <p:spPr>
          <a:xfrm>
            <a:off x="10636301" y="956462"/>
            <a:ext cx="549006" cy="121615"/>
          </a:xfrm>
          <a:prstGeom prst="line">
            <a:avLst/>
          </a:prstGeom>
          <a:noFill/>
          <a:ln w="9525">
            <a:solidFill>
              <a:srgbClr val="DCE2EA"/>
            </a:solidFill>
            <a:prstDash val="solid"/>
          </a:ln>
        </p:spPr>
      </p:sp>
      <p:sp>
        <p:nvSpPr>
          <p:cNvPr id="8" name="Shape 6"/>
          <p:cNvSpPr/>
          <p:nvPr/>
        </p:nvSpPr>
        <p:spPr>
          <a:xfrm flipV="1">
            <a:off x="11185307" y="843534"/>
            <a:ext cx="173370" cy="234544"/>
          </a:xfrm>
          <a:prstGeom prst="line">
            <a:avLst/>
          </a:prstGeom>
          <a:noFill/>
          <a:ln w="9525">
            <a:solidFill>
              <a:srgbClr val="DCE2EA"/>
            </a:solidFill>
            <a:prstDash val="solid"/>
          </a:ln>
        </p:spPr>
      </p:sp>
      <p:sp>
        <p:nvSpPr>
          <p:cNvPr id="9" name="Shape 7"/>
          <p:cNvSpPr/>
          <p:nvPr/>
        </p:nvSpPr>
        <p:spPr>
          <a:xfrm flipH="1">
            <a:off x="11358677" y="522122"/>
            <a:ext cx="101133" cy="321412"/>
          </a:xfrm>
          <a:prstGeom prst="line">
            <a:avLst/>
          </a:prstGeom>
          <a:noFill/>
          <a:ln w="9525">
            <a:solidFill>
              <a:srgbClr val="DCE2EA"/>
            </a:solidFill>
            <a:prstDash val="solid"/>
          </a:ln>
        </p:spPr>
      </p:sp>
      <p:sp>
        <p:nvSpPr>
          <p:cNvPr id="10" name="Shape 8"/>
          <p:cNvSpPr/>
          <p:nvPr/>
        </p:nvSpPr>
        <p:spPr>
          <a:xfrm>
            <a:off x="10055291" y="854964"/>
            <a:ext cx="64008" cy="64008"/>
          </a:xfrm>
          <a:prstGeom prst="ellipse">
            <a:avLst/>
          </a:prstGeom>
          <a:solidFill>
            <a:srgbClr val="C3CCD9"/>
          </a:solidFill>
          <a:ln w="12700">
            <a:solidFill>
              <a:srgbClr val="C3CCD9"/>
            </a:solidFill>
            <a:prstDash val="solid"/>
          </a:ln>
        </p:spPr>
      </p:sp>
      <p:sp>
        <p:nvSpPr>
          <p:cNvPr id="11" name="Shape 9"/>
          <p:cNvSpPr/>
          <p:nvPr/>
        </p:nvSpPr>
        <p:spPr>
          <a:xfrm>
            <a:off x="10335097" y="428854"/>
            <a:ext cx="82296" cy="82296"/>
          </a:xfrm>
          <a:prstGeom prst="ellipse">
            <a:avLst/>
          </a:prstGeom>
          <a:solidFill>
            <a:srgbClr val="C3CCD9"/>
          </a:solidFill>
          <a:ln w="12700">
            <a:solidFill>
              <a:srgbClr val="C3CCD9"/>
            </a:solidFill>
            <a:prstDash val="solid"/>
          </a:ln>
        </p:spPr>
      </p:sp>
      <p:sp>
        <p:nvSpPr>
          <p:cNvPr id="12" name="Shape 10"/>
          <p:cNvSpPr/>
          <p:nvPr/>
        </p:nvSpPr>
        <p:spPr>
          <a:xfrm>
            <a:off x="10599725" y="919886"/>
            <a:ext cx="73152" cy="73152"/>
          </a:xfrm>
          <a:prstGeom prst="ellipse">
            <a:avLst/>
          </a:prstGeom>
          <a:solidFill>
            <a:srgbClr val="C3CCD9"/>
          </a:solidFill>
          <a:ln w="12700">
            <a:solidFill>
              <a:srgbClr val="C3CCD9"/>
            </a:solidFill>
            <a:prstDash val="solid"/>
          </a:ln>
        </p:spPr>
      </p:sp>
      <p:sp>
        <p:nvSpPr>
          <p:cNvPr id="13" name="Shape 11"/>
          <p:cNvSpPr/>
          <p:nvPr/>
        </p:nvSpPr>
        <p:spPr>
          <a:xfrm>
            <a:off x="10806379" y="507492"/>
            <a:ext cx="237744" cy="237744"/>
          </a:xfrm>
          <a:prstGeom prst="ellipse">
            <a:avLst/>
          </a:prstGeom>
          <a:solidFill>
            <a:srgbClr val="E0533A">
              <a:alpha val="18000"/>
            </a:srgbClr>
          </a:solidFill>
          <a:ln w="12700">
            <a:solidFill>
              <a:srgbClr val="E0533A">
                <a:alpha val="18000"/>
              </a:srgbClr>
            </a:solidFill>
            <a:prstDash val="solid"/>
          </a:ln>
        </p:spPr>
      </p:sp>
      <p:sp>
        <p:nvSpPr>
          <p:cNvPr id="14" name="Shape 12"/>
          <p:cNvSpPr/>
          <p:nvPr/>
        </p:nvSpPr>
        <p:spPr>
          <a:xfrm>
            <a:off x="10874959" y="576072"/>
            <a:ext cx="100584" cy="100584"/>
          </a:xfrm>
          <a:prstGeom prst="ellipse">
            <a:avLst/>
          </a:prstGeom>
          <a:solidFill>
            <a:srgbClr val="E0533A"/>
          </a:solidFill>
          <a:ln w="12700">
            <a:solidFill>
              <a:srgbClr val="E0533A"/>
            </a:solidFill>
            <a:prstDash val="solid"/>
          </a:ln>
        </p:spPr>
      </p:sp>
      <p:sp>
        <p:nvSpPr>
          <p:cNvPr id="15" name="Shape 13"/>
          <p:cNvSpPr/>
          <p:nvPr/>
        </p:nvSpPr>
        <p:spPr>
          <a:xfrm>
            <a:off x="11144159" y="1036930"/>
            <a:ext cx="82296" cy="82296"/>
          </a:xfrm>
          <a:prstGeom prst="ellipse">
            <a:avLst/>
          </a:prstGeom>
          <a:solidFill>
            <a:srgbClr val="C3CCD9"/>
          </a:solidFill>
          <a:ln w="12700">
            <a:solidFill>
              <a:srgbClr val="C3CCD9"/>
            </a:solidFill>
            <a:prstDash val="solid"/>
          </a:ln>
        </p:spPr>
      </p:sp>
      <p:sp>
        <p:nvSpPr>
          <p:cNvPr id="16" name="Shape 14"/>
          <p:cNvSpPr/>
          <p:nvPr/>
        </p:nvSpPr>
        <p:spPr>
          <a:xfrm>
            <a:off x="11427805" y="490118"/>
            <a:ext cx="64008" cy="64008"/>
          </a:xfrm>
          <a:prstGeom prst="ellipse">
            <a:avLst/>
          </a:prstGeom>
          <a:solidFill>
            <a:srgbClr val="C3CCD9"/>
          </a:solidFill>
          <a:ln w="12700">
            <a:solidFill>
              <a:srgbClr val="C3CCD9"/>
            </a:solidFill>
            <a:prstDash val="solid"/>
          </a:ln>
        </p:spPr>
      </p:sp>
      <p:sp>
        <p:nvSpPr>
          <p:cNvPr id="17" name="Shape 15"/>
          <p:cNvSpPr/>
          <p:nvPr/>
        </p:nvSpPr>
        <p:spPr>
          <a:xfrm>
            <a:off x="11331245" y="816102"/>
            <a:ext cx="54864" cy="54864"/>
          </a:xfrm>
          <a:prstGeom prst="ellipse">
            <a:avLst/>
          </a:prstGeom>
          <a:solidFill>
            <a:srgbClr val="C3CCD9"/>
          </a:solidFill>
          <a:ln w="12700">
            <a:solidFill>
              <a:srgbClr val="C3CCD9"/>
            </a:solidFill>
            <a:prstDash val="solid"/>
          </a:ln>
        </p:spPr>
      </p:sp>
      <p:sp>
        <p:nvSpPr>
          <p:cNvPr id="18" name="Text 16"/>
          <p:cNvSpPr txBox="1"/>
          <p:nvPr/>
        </p:nvSpPr>
        <p:spPr>
          <a:xfrm>
            <a:off x="685800" y="475488"/>
            <a:ext cx="10820095" cy="256032"/>
          </a:xfrm>
          <a:prstGeom prst="rect">
            <a:avLst/>
          </a:prstGeom>
          <a:noFill/>
          <a:ln/>
        </p:spPr>
        <p:txBody>
          <a:bodyPr wrap="square" lIns="0" tIns="0" rIns="0" bIns="0" rtlCol="0" anchor="t"/>
          <a:lstStyle/>
          <a:p>
            <a:pPr indent="0" marL="0">
              <a:buNone/>
            </a:pPr>
            <a:r>
              <a:rPr lang="en-US" sz="1100" b="1" dirty="0">
                <a:solidFill>
                  <a:srgbClr val="E0533A"/>
                </a:solidFill>
                <a:latin typeface="Arial" pitchFamily="34" charset="0"/>
                <a:ea typeface="Arial" pitchFamily="34" charset="-122"/>
                <a:cs typeface="Arial" pitchFamily="34" charset="-120"/>
              </a:rPr>
              <a:t>04 · CONCLUSIONS</a:t>
            </a:r>
            <a:endParaRPr lang="en-US" sz="1100" dirty="0"/>
          </a:p>
        </p:txBody>
      </p:sp>
      <p:sp>
        <p:nvSpPr>
          <p:cNvPr id="19" name="Text 17"/>
          <p:cNvSpPr txBox="1"/>
          <p:nvPr/>
        </p:nvSpPr>
        <p:spPr>
          <a:xfrm>
            <a:off x="685800" y="768096"/>
            <a:ext cx="10820095" cy="822960"/>
          </a:xfrm>
          <a:prstGeom prst="rect">
            <a:avLst/>
          </a:prstGeom>
          <a:noFill/>
          <a:ln/>
        </p:spPr>
        <p:txBody>
          <a:bodyPr wrap="square" lIns="0" tIns="0" rIns="0" bIns="0" rtlCol="0" anchor="t"/>
          <a:lstStyle/>
          <a:p>
            <a:pPr indent="0" marL="0">
              <a:buNone/>
            </a:pPr>
            <a:r>
              <a:rPr lang="en-US" sz="3000" dirty="0">
                <a:solidFill>
                  <a:srgbClr val="0F1B2D"/>
                </a:solidFill>
                <a:latin typeface="Georgia" pitchFamily="34" charset="0"/>
                <a:ea typeface="Georgia" pitchFamily="34" charset="-122"/>
                <a:cs typeface="Georgia" pitchFamily="34" charset="-120"/>
              </a:rPr>
              <a:t>What we have shown so far</a:t>
            </a:r>
            <a:endParaRPr lang="en-US" sz="3000" dirty="0"/>
          </a:p>
        </p:txBody>
      </p:sp>
      <p:sp>
        <p:nvSpPr>
          <p:cNvPr id="20" name="Text 18"/>
          <p:cNvSpPr txBox="1"/>
          <p:nvPr/>
        </p:nvSpPr>
        <p:spPr>
          <a:xfrm>
            <a:off x="685800" y="1828800"/>
            <a:ext cx="731520" cy="502920"/>
          </a:xfrm>
          <a:prstGeom prst="rect">
            <a:avLst/>
          </a:prstGeom>
          <a:noFill/>
          <a:ln/>
        </p:spPr>
        <p:txBody>
          <a:bodyPr wrap="square" lIns="0" tIns="0" rIns="0" bIns="0" rtlCol="0" anchor="t"/>
          <a:lstStyle/>
          <a:p>
            <a:pPr indent="0" marL="0">
              <a:buNone/>
            </a:pPr>
            <a:r>
              <a:rPr lang="en-US" sz="2600" dirty="0">
                <a:solidFill>
                  <a:srgbClr val="E0533A"/>
                </a:solidFill>
                <a:latin typeface="Georgia" pitchFamily="34" charset="0"/>
                <a:ea typeface="Georgia" pitchFamily="34" charset="-122"/>
                <a:cs typeface="Georgia" pitchFamily="34" charset="-120"/>
              </a:rPr>
              <a:t>01</a:t>
            </a:r>
            <a:endParaRPr lang="en-US" sz="2600" dirty="0"/>
          </a:p>
        </p:txBody>
      </p:sp>
      <p:sp>
        <p:nvSpPr>
          <p:cNvPr id="21" name="Text 19"/>
          <p:cNvSpPr txBox="1"/>
          <p:nvPr/>
        </p:nvSpPr>
        <p:spPr>
          <a:xfrm>
            <a:off x="1508760" y="1874520"/>
            <a:ext cx="4312768" cy="365760"/>
          </a:xfrm>
          <a:prstGeom prst="rect">
            <a:avLst/>
          </a:prstGeom>
          <a:noFill/>
          <a:ln/>
        </p:spPr>
        <p:txBody>
          <a:bodyPr wrap="square" lIns="0" tIns="0" rIns="0" bIns="0" rtlCol="0" anchor="t"/>
          <a:lstStyle/>
          <a:p>
            <a:pPr indent="0" marL="0">
              <a:buNone/>
            </a:pPr>
            <a:r>
              <a:rPr lang="en-US" sz="1550" b="1" dirty="0">
                <a:solidFill>
                  <a:srgbClr val="0F1B2D"/>
                </a:solidFill>
                <a:latin typeface="Arial" pitchFamily="34" charset="0"/>
                <a:ea typeface="Arial" pitchFamily="34" charset="-122"/>
                <a:cs typeface="Arial" pitchFamily="34" charset="-120"/>
              </a:rPr>
              <a:t>It works on APT data, but not as claimed</a:t>
            </a:r>
            <a:endParaRPr lang="en-US" sz="1550" dirty="0"/>
          </a:p>
        </p:txBody>
      </p:sp>
      <p:sp>
        <p:nvSpPr>
          <p:cNvPr id="22" name="Text 20"/>
          <p:cNvSpPr txBox="1"/>
          <p:nvPr/>
        </p:nvSpPr>
        <p:spPr>
          <a:xfrm>
            <a:off x="1508760" y="2258568"/>
            <a:ext cx="4312768" cy="685800"/>
          </a:xfrm>
          <a:prstGeom prst="rect">
            <a:avLst/>
          </a:prstGeom>
          <a:noFill/>
          <a:ln/>
        </p:spPr>
        <p:txBody>
          <a:bodyPr wrap="square" lIns="0" tIns="0" rIns="0" bIns="0" rtlCol="0" anchor="t"/>
          <a:lstStyle/>
          <a:p>
            <a:pPr indent="0" marL="0">
              <a:buNone/>
            </a:pPr>
            <a:r>
              <a:rPr lang="en-US" sz="1250" dirty="0">
                <a:solidFill>
                  <a:srgbClr val="55606E"/>
                </a:solidFill>
                <a:latin typeface="Arial" pitchFamily="34" charset="0"/>
                <a:ea typeface="Arial" pitchFamily="34" charset="-122"/>
                <a:cs typeface="Arial" pitchFamily="34" charset="-120"/>
              </a:rPr>
              <a:t>AUC ≈ 99%, but the false positive rate is ≈ 7%, not 0.52%</a:t>
            </a:r>
            <a:endParaRPr lang="en-US" sz="1250" dirty="0"/>
          </a:p>
        </p:txBody>
      </p:sp>
      <p:sp>
        <p:nvSpPr>
          <p:cNvPr id="23" name="Text 21"/>
          <p:cNvSpPr txBox="1"/>
          <p:nvPr/>
        </p:nvSpPr>
        <p:spPr>
          <a:xfrm>
            <a:off x="6370168" y="1828800"/>
            <a:ext cx="731520" cy="502920"/>
          </a:xfrm>
          <a:prstGeom prst="rect">
            <a:avLst/>
          </a:prstGeom>
          <a:noFill/>
          <a:ln/>
        </p:spPr>
        <p:txBody>
          <a:bodyPr wrap="square" lIns="0" tIns="0" rIns="0" bIns="0" rtlCol="0" anchor="t"/>
          <a:lstStyle/>
          <a:p>
            <a:pPr indent="0" marL="0">
              <a:buNone/>
            </a:pPr>
            <a:r>
              <a:rPr lang="en-US" sz="2600" dirty="0">
                <a:solidFill>
                  <a:srgbClr val="E0533A"/>
                </a:solidFill>
                <a:latin typeface="Georgia" pitchFamily="34" charset="0"/>
                <a:ea typeface="Georgia" pitchFamily="34" charset="-122"/>
                <a:cs typeface="Georgia" pitchFamily="34" charset="-120"/>
              </a:rPr>
              <a:t>02</a:t>
            </a:r>
            <a:endParaRPr lang="en-US" sz="2600" dirty="0"/>
          </a:p>
        </p:txBody>
      </p:sp>
      <p:sp>
        <p:nvSpPr>
          <p:cNvPr id="24" name="Text 22"/>
          <p:cNvSpPr txBox="1"/>
          <p:nvPr/>
        </p:nvSpPr>
        <p:spPr>
          <a:xfrm>
            <a:off x="7193128" y="1874520"/>
            <a:ext cx="4312768" cy="365760"/>
          </a:xfrm>
          <a:prstGeom prst="rect">
            <a:avLst/>
          </a:prstGeom>
          <a:noFill/>
          <a:ln/>
        </p:spPr>
        <p:txBody>
          <a:bodyPr wrap="square" lIns="0" tIns="0" rIns="0" bIns="0" rtlCol="0" anchor="t"/>
          <a:lstStyle/>
          <a:p>
            <a:pPr indent="0" marL="0">
              <a:buNone/>
            </a:pPr>
            <a:r>
              <a:rPr lang="en-US" sz="1550" b="1" dirty="0">
                <a:solidFill>
                  <a:srgbClr val="0F1B2D"/>
                </a:solidFill>
                <a:latin typeface="Arial" pitchFamily="34" charset="0"/>
                <a:ea typeface="Arial" pitchFamily="34" charset="-122"/>
                <a:cs typeface="Arial" pitchFamily="34" charset="-120"/>
              </a:rPr>
              <a:t>Balancing before splitting inflates scores</a:t>
            </a:r>
            <a:endParaRPr lang="en-US" sz="1550" dirty="0"/>
          </a:p>
        </p:txBody>
      </p:sp>
      <p:sp>
        <p:nvSpPr>
          <p:cNvPr id="25" name="Text 23"/>
          <p:cNvSpPr txBox="1"/>
          <p:nvPr/>
        </p:nvSpPr>
        <p:spPr>
          <a:xfrm>
            <a:off x="7193128" y="2258568"/>
            <a:ext cx="4312768" cy="685800"/>
          </a:xfrm>
          <a:prstGeom prst="rect">
            <a:avLst/>
          </a:prstGeom>
          <a:noFill/>
          <a:ln/>
        </p:spPr>
        <p:txBody>
          <a:bodyPr wrap="square" lIns="0" tIns="0" rIns="0" bIns="0" rtlCol="0" anchor="t"/>
          <a:lstStyle/>
          <a:p>
            <a:pPr indent="0" marL="0">
              <a:buNone/>
            </a:pPr>
            <a:r>
              <a:rPr lang="en-US" sz="1250" dirty="0">
                <a:solidFill>
                  <a:srgbClr val="55606E"/>
                </a:solidFill>
                <a:latin typeface="Arial" pitchFamily="34" charset="0"/>
                <a:ea typeface="Arial" pitchFamily="34" charset="-122"/>
                <a:cs typeface="Arial" pitchFamily="34" charset="-120"/>
              </a:rPr>
              <a:t>F1 97.1% → 88.9%: 5.6 points from the 50/50 test set, 2.6 from leakage</a:t>
            </a:r>
            <a:endParaRPr lang="en-US" sz="1250" dirty="0"/>
          </a:p>
        </p:txBody>
      </p:sp>
      <p:sp>
        <p:nvSpPr>
          <p:cNvPr id="26" name="Shape 24"/>
          <p:cNvSpPr/>
          <p:nvPr/>
        </p:nvSpPr>
        <p:spPr>
          <a:xfrm>
            <a:off x="685800" y="3200400"/>
            <a:ext cx="5135728" cy="914"/>
          </a:xfrm>
          <a:prstGeom prst="line">
            <a:avLst/>
          </a:prstGeom>
          <a:noFill/>
          <a:ln w="9525">
            <a:solidFill>
              <a:srgbClr val="E2E6EC"/>
            </a:solidFill>
            <a:prstDash val="solid"/>
          </a:ln>
        </p:spPr>
      </p:sp>
      <p:sp>
        <p:nvSpPr>
          <p:cNvPr id="27" name="Text 25"/>
          <p:cNvSpPr txBox="1"/>
          <p:nvPr/>
        </p:nvSpPr>
        <p:spPr>
          <a:xfrm>
            <a:off x="685800" y="3337560"/>
            <a:ext cx="731520" cy="502920"/>
          </a:xfrm>
          <a:prstGeom prst="rect">
            <a:avLst/>
          </a:prstGeom>
          <a:noFill/>
          <a:ln/>
        </p:spPr>
        <p:txBody>
          <a:bodyPr wrap="square" lIns="0" tIns="0" rIns="0" bIns="0" rtlCol="0" anchor="t"/>
          <a:lstStyle/>
          <a:p>
            <a:pPr indent="0" marL="0">
              <a:buNone/>
            </a:pPr>
            <a:r>
              <a:rPr lang="en-US" sz="2600" dirty="0">
                <a:solidFill>
                  <a:srgbClr val="E0533A"/>
                </a:solidFill>
                <a:latin typeface="Georgia" pitchFamily="34" charset="0"/>
                <a:ea typeface="Georgia" pitchFamily="34" charset="-122"/>
                <a:cs typeface="Georgia" pitchFamily="34" charset="-120"/>
              </a:rPr>
              <a:t>03</a:t>
            </a:r>
            <a:endParaRPr lang="en-US" sz="2600" dirty="0"/>
          </a:p>
        </p:txBody>
      </p:sp>
      <p:sp>
        <p:nvSpPr>
          <p:cNvPr id="28" name="Text 26"/>
          <p:cNvSpPr txBox="1"/>
          <p:nvPr/>
        </p:nvSpPr>
        <p:spPr>
          <a:xfrm>
            <a:off x="1508760" y="3383280"/>
            <a:ext cx="4312768" cy="365760"/>
          </a:xfrm>
          <a:prstGeom prst="rect">
            <a:avLst/>
          </a:prstGeom>
          <a:noFill/>
          <a:ln/>
        </p:spPr>
        <p:txBody>
          <a:bodyPr wrap="square" lIns="0" tIns="0" rIns="0" bIns="0" rtlCol="0" anchor="t"/>
          <a:lstStyle/>
          <a:p>
            <a:pPr indent="0" marL="0">
              <a:buNone/>
            </a:pPr>
            <a:r>
              <a:rPr lang="en-US" sz="1550" b="1" dirty="0">
                <a:solidFill>
                  <a:srgbClr val="0F1B2D"/>
                </a:solidFill>
                <a:latin typeface="Arial" pitchFamily="34" charset="0"/>
                <a:ea typeface="Arial" pitchFamily="34" charset="-122"/>
                <a:cs typeface="Arial" pitchFamily="34" charset="-120"/>
              </a:rPr>
              <a:t>The published hybrid doesn't beat its parts</a:t>
            </a:r>
            <a:endParaRPr lang="en-US" sz="1550" dirty="0"/>
          </a:p>
        </p:txBody>
      </p:sp>
      <p:sp>
        <p:nvSpPr>
          <p:cNvPr id="29" name="Text 27"/>
          <p:cNvSpPr txBox="1"/>
          <p:nvPr/>
        </p:nvSpPr>
        <p:spPr>
          <a:xfrm>
            <a:off x="1508760" y="3767328"/>
            <a:ext cx="4312768" cy="685800"/>
          </a:xfrm>
          <a:prstGeom prst="rect">
            <a:avLst/>
          </a:prstGeom>
          <a:noFill/>
          <a:ln/>
        </p:spPr>
        <p:txBody>
          <a:bodyPr wrap="square" lIns="0" tIns="0" rIns="0" bIns="0" rtlCol="0" anchor="t"/>
          <a:lstStyle/>
          <a:p>
            <a:pPr indent="0" marL="0">
              <a:buNone/>
            </a:pPr>
            <a:r>
              <a:rPr lang="en-US" sz="1250" dirty="0">
                <a:solidFill>
                  <a:srgbClr val="55606E"/>
                </a:solidFill>
                <a:latin typeface="Arial" pitchFamily="34" charset="0"/>
                <a:ea typeface="Arial" pitchFamily="34" charset="-122"/>
                <a:cs typeface="Arial" pitchFamily="34" charset="-120"/>
              </a:rPr>
              <a:t>A soft vote does slightly better: best mean F1 over 5 seeds, by about 0.2 points</a:t>
            </a:r>
            <a:endParaRPr lang="en-US" sz="1250" dirty="0"/>
          </a:p>
        </p:txBody>
      </p:sp>
      <p:sp>
        <p:nvSpPr>
          <p:cNvPr id="30" name="Shape 28"/>
          <p:cNvSpPr/>
          <p:nvPr/>
        </p:nvSpPr>
        <p:spPr>
          <a:xfrm>
            <a:off x="6370168" y="3200400"/>
            <a:ext cx="5135728" cy="914"/>
          </a:xfrm>
          <a:prstGeom prst="line">
            <a:avLst/>
          </a:prstGeom>
          <a:noFill/>
          <a:ln w="9525">
            <a:solidFill>
              <a:srgbClr val="E2E6EC"/>
            </a:solidFill>
            <a:prstDash val="solid"/>
          </a:ln>
        </p:spPr>
      </p:sp>
      <p:sp>
        <p:nvSpPr>
          <p:cNvPr id="31" name="Text 29"/>
          <p:cNvSpPr txBox="1"/>
          <p:nvPr/>
        </p:nvSpPr>
        <p:spPr>
          <a:xfrm>
            <a:off x="6370168" y="3337560"/>
            <a:ext cx="731520" cy="502920"/>
          </a:xfrm>
          <a:prstGeom prst="rect">
            <a:avLst/>
          </a:prstGeom>
          <a:noFill/>
          <a:ln/>
        </p:spPr>
        <p:txBody>
          <a:bodyPr wrap="square" lIns="0" tIns="0" rIns="0" bIns="0" rtlCol="0" anchor="t"/>
          <a:lstStyle/>
          <a:p>
            <a:pPr indent="0" marL="0">
              <a:buNone/>
            </a:pPr>
            <a:r>
              <a:rPr lang="en-US" sz="2600" dirty="0">
                <a:solidFill>
                  <a:srgbClr val="E0533A"/>
                </a:solidFill>
                <a:latin typeface="Georgia" pitchFamily="34" charset="0"/>
                <a:ea typeface="Georgia" pitchFamily="34" charset="-122"/>
                <a:cs typeface="Georgia" pitchFamily="34" charset="-120"/>
              </a:rPr>
              <a:t>04</a:t>
            </a:r>
            <a:endParaRPr lang="en-US" sz="2600" dirty="0"/>
          </a:p>
        </p:txBody>
      </p:sp>
      <p:sp>
        <p:nvSpPr>
          <p:cNvPr id="32" name="Text 30"/>
          <p:cNvSpPr txBox="1"/>
          <p:nvPr/>
        </p:nvSpPr>
        <p:spPr>
          <a:xfrm>
            <a:off x="7193128" y="3383280"/>
            <a:ext cx="4312768" cy="365760"/>
          </a:xfrm>
          <a:prstGeom prst="rect">
            <a:avLst/>
          </a:prstGeom>
          <a:noFill/>
          <a:ln/>
        </p:spPr>
        <p:txBody>
          <a:bodyPr wrap="square" lIns="0" tIns="0" rIns="0" bIns="0" rtlCol="0" anchor="t"/>
          <a:lstStyle/>
          <a:p>
            <a:pPr indent="0" marL="0">
              <a:buNone/>
            </a:pPr>
            <a:r>
              <a:rPr lang="en-US" sz="1550" b="1" dirty="0">
                <a:solidFill>
                  <a:srgbClr val="0F1B2D"/>
                </a:solidFill>
                <a:latin typeface="Arial" pitchFamily="34" charset="0"/>
                <a:ea typeface="Arial" pitchFamily="34" charset="-122"/>
                <a:cs typeface="Arial" pitchFamily="34" charset="-120"/>
              </a:rPr>
              <a:t>Trees beat deep learning here</a:t>
            </a:r>
            <a:endParaRPr lang="en-US" sz="1550" dirty="0"/>
          </a:p>
        </p:txBody>
      </p:sp>
      <p:sp>
        <p:nvSpPr>
          <p:cNvPr id="33" name="Text 31"/>
          <p:cNvSpPr txBox="1"/>
          <p:nvPr/>
        </p:nvSpPr>
        <p:spPr>
          <a:xfrm>
            <a:off x="7193128" y="3767328"/>
            <a:ext cx="4312768" cy="685800"/>
          </a:xfrm>
          <a:prstGeom prst="rect">
            <a:avLst/>
          </a:prstGeom>
          <a:noFill/>
          <a:ln/>
        </p:spPr>
        <p:txBody>
          <a:bodyPr wrap="square" lIns="0" tIns="0" rIns="0" bIns="0" rtlCol="0" anchor="t"/>
          <a:lstStyle/>
          <a:p>
            <a:pPr indent="0" marL="0">
              <a:buNone/>
            </a:pPr>
            <a:r>
              <a:rPr lang="en-US" sz="1250" dirty="0">
                <a:solidFill>
                  <a:srgbClr val="55606E"/>
                </a:solidFill>
                <a:latin typeface="Arial" pitchFamily="34" charset="0"/>
                <a:ea typeface="Arial" pitchFamily="34" charset="-122"/>
                <a:cs typeface="Arial" pitchFamily="34" charset="-120"/>
              </a:rPr>
              <a:t>CNN, ANN and MLP do not outperform tree ensembles on flow features</a:t>
            </a:r>
            <a:endParaRPr lang="en-US" sz="1250" dirty="0"/>
          </a:p>
        </p:txBody>
      </p:sp>
      <p:sp>
        <p:nvSpPr>
          <p:cNvPr id="34" name="Shape 32"/>
          <p:cNvSpPr/>
          <p:nvPr/>
        </p:nvSpPr>
        <p:spPr>
          <a:xfrm>
            <a:off x="685800" y="4709160"/>
            <a:ext cx="5135728" cy="914"/>
          </a:xfrm>
          <a:prstGeom prst="line">
            <a:avLst/>
          </a:prstGeom>
          <a:noFill/>
          <a:ln w="9525">
            <a:solidFill>
              <a:srgbClr val="E2E6EC"/>
            </a:solidFill>
            <a:prstDash val="solid"/>
          </a:ln>
        </p:spPr>
      </p:sp>
      <p:sp>
        <p:nvSpPr>
          <p:cNvPr id="35" name="Text 33"/>
          <p:cNvSpPr txBox="1"/>
          <p:nvPr/>
        </p:nvSpPr>
        <p:spPr>
          <a:xfrm>
            <a:off x="685800" y="4846320"/>
            <a:ext cx="731520" cy="502920"/>
          </a:xfrm>
          <a:prstGeom prst="rect">
            <a:avLst/>
          </a:prstGeom>
          <a:noFill/>
          <a:ln/>
        </p:spPr>
        <p:txBody>
          <a:bodyPr wrap="square" lIns="0" tIns="0" rIns="0" bIns="0" rtlCol="0" anchor="t"/>
          <a:lstStyle/>
          <a:p>
            <a:pPr indent="0" marL="0">
              <a:buNone/>
            </a:pPr>
            <a:r>
              <a:rPr lang="en-US" sz="2600" dirty="0">
                <a:solidFill>
                  <a:srgbClr val="E0533A"/>
                </a:solidFill>
                <a:latin typeface="Georgia" pitchFamily="34" charset="0"/>
                <a:ea typeface="Georgia" pitchFamily="34" charset="-122"/>
                <a:cs typeface="Georgia" pitchFamily="34" charset="-120"/>
              </a:rPr>
              <a:t>05</a:t>
            </a:r>
            <a:endParaRPr lang="en-US" sz="2600" dirty="0"/>
          </a:p>
        </p:txBody>
      </p:sp>
      <p:sp>
        <p:nvSpPr>
          <p:cNvPr id="36" name="Text 34"/>
          <p:cNvSpPr txBox="1"/>
          <p:nvPr/>
        </p:nvSpPr>
        <p:spPr>
          <a:xfrm>
            <a:off x="1508760" y="4892040"/>
            <a:ext cx="4312768" cy="365760"/>
          </a:xfrm>
          <a:prstGeom prst="rect">
            <a:avLst/>
          </a:prstGeom>
          <a:noFill/>
          <a:ln/>
        </p:spPr>
        <p:txBody>
          <a:bodyPr wrap="square" lIns="0" tIns="0" rIns="0" bIns="0" rtlCol="0" anchor="t"/>
          <a:lstStyle/>
          <a:p>
            <a:pPr indent="0" marL="0">
              <a:buNone/>
            </a:pPr>
            <a:r>
              <a:rPr lang="en-US" sz="1550" b="1" dirty="0">
                <a:solidFill>
                  <a:srgbClr val="0F1B2D"/>
                </a:solidFill>
                <a:latin typeface="Arial" pitchFamily="34" charset="0"/>
                <a:ea typeface="Arial" pitchFamily="34" charset="-122"/>
                <a:cs typeface="Arial" pitchFamily="34" charset="-120"/>
              </a:rPr>
              <a:t>APT stages can be identified</a:t>
            </a:r>
            <a:endParaRPr lang="en-US" sz="1550" dirty="0"/>
          </a:p>
        </p:txBody>
      </p:sp>
      <p:sp>
        <p:nvSpPr>
          <p:cNvPr id="37" name="Text 35"/>
          <p:cNvSpPr txBox="1"/>
          <p:nvPr/>
        </p:nvSpPr>
        <p:spPr>
          <a:xfrm>
            <a:off x="1508760" y="5276088"/>
            <a:ext cx="4312768" cy="685800"/>
          </a:xfrm>
          <a:prstGeom prst="rect">
            <a:avLst/>
          </a:prstGeom>
          <a:noFill/>
          <a:ln/>
        </p:spPr>
        <p:txBody>
          <a:bodyPr wrap="square" lIns="0" tIns="0" rIns="0" bIns="0" rtlCol="0" anchor="t"/>
          <a:lstStyle/>
          <a:p>
            <a:pPr indent="0" marL="0">
              <a:buNone/>
            </a:pPr>
            <a:r>
              <a:rPr lang="en-US" sz="1250" dirty="0">
                <a:solidFill>
                  <a:srgbClr val="55606E"/>
                </a:solidFill>
                <a:latin typeface="Arial" pitchFamily="34" charset="0"/>
                <a:ea typeface="Arial" pitchFamily="34" charset="-122"/>
                <a:cs typeface="Arial" pitchFamily="34" charset="-120"/>
              </a:rPr>
              <a:t>Recon 98%, foothold 98%, lateral 92%; exfiltration has too little data</a:t>
            </a:r>
            <a:endParaRPr lang="en-US" sz="1250" dirty="0"/>
          </a:p>
        </p:txBody>
      </p:sp>
      <p:sp>
        <p:nvSpPr>
          <p:cNvPr id="38" name="Shape 36"/>
          <p:cNvSpPr/>
          <p:nvPr/>
        </p:nvSpPr>
        <p:spPr>
          <a:xfrm>
            <a:off x="6370168" y="4709160"/>
            <a:ext cx="5135728" cy="914"/>
          </a:xfrm>
          <a:prstGeom prst="line">
            <a:avLst/>
          </a:prstGeom>
          <a:noFill/>
          <a:ln w="9525">
            <a:solidFill>
              <a:srgbClr val="E2E6EC"/>
            </a:solidFill>
            <a:prstDash val="solid"/>
          </a:ln>
        </p:spPr>
      </p:sp>
      <p:sp>
        <p:nvSpPr>
          <p:cNvPr id="39" name="Text 37"/>
          <p:cNvSpPr txBox="1"/>
          <p:nvPr/>
        </p:nvSpPr>
        <p:spPr>
          <a:xfrm>
            <a:off x="6370168" y="4846320"/>
            <a:ext cx="731520" cy="502920"/>
          </a:xfrm>
          <a:prstGeom prst="rect">
            <a:avLst/>
          </a:prstGeom>
          <a:noFill/>
          <a:ln/>
        </p:spPr>
        <p:txBody>
          <a:bodyPr wrap="square" lIns="0" tIns="0" rIns="0" bIns="0" rtlCol="0" anchor="t"/>
          <a:lstStyle/>
          <a:p>
            <a:pPr indent="0" marL="0">
              <a:buNone/>
            </a:pPr>
            <a:r>
              <a:rPr lang="en-US" sz="2600" dirty="0">
                <a:solidFill>
                  <a:srgbClr val="E0533A"/>
                </a:solidFill>
                <a:latin typeface="Georgia" pitchFamily="34" charset="0"/>
                <a:ea typeface="Georgia" pitchFamily="34" charset="-122"/>
                <a:cs typeface="Georgia" pitchFamily="34" charset="-120"/>
              </a:rPr>
              <a:t>06</a:t>
            </a:r>
            <a:endParaRPr lang="en-US" sz="2600" dirty="0"/>
          </a:p>
        </p:txBody>
      </p:sp>
      <p:sp>
        <p:nvSpPr>
          <p:cNvPr id="40" name="Text 38"/>
          <p:cNvSpPr txBox="1"/>
          <p:nvPr/>
        </p:nvSpPr>
        <p:spPr>
          <a:xfrm>
            <a:off x="7193128" y="4892040"/>
            <a:ext cx="4312768" cy="365760"/>
          </a:xfrm>
          <a:prstGeom prst="rect">
            <a:avLst/>
          </a:prstGeom>
          <a:noFill/>
          <a:ln/>
        </p:spPr>
        <p:txBody>
          <a:bodyPr wrap="square" lIns="0" tIns="0" rIns="0" bIns="0" rtlCol="0" anchor="t"/>
          <a:lstStyle/>
          <a:p>
            <a:pPr indent="0" marL="0">
              <a:buNone/>
            </a:pPr>
            <a:r>
              <a:rPr lang="en-US" sz="1550" b="1" dirty="0">
                <a:solidFill>
                  <a:srgbClr val="0F1B2D"/>
                </a:solidFill>
                <a:latin typeface="Arial" pitchFamily="34" charset="0"/>
                <a:ea typeface="Arial" pitchFamily="34" charset="-122"/>
                <a:cs typeface="Arial" pitchFamily="34" charset="-120"/>
              </a:rPr>
              <a:t>Weak spots are known</a:t>
            </a:r>
            <a:endParaRPr lang="en-US" sz="1550" dirty="0"/>
          </a:p>
        </p:txBody>
      </p:sp>
      <p:sp>
        <p:nvSpPr>
          <p:cNvPr id="41" name="Text 39"/>
          <p:cNvSpPr txBox="1"/>
          <p:nvPr/>
        </p:nvSpPr>
        <p:spPr>
          <a:xfrm>
            <a:off x="7193128" y="5276088"/>
            <a:ext cx="4312768" cy="685800"/>
          </a:xfrm>
          <a:prstGeom prst="rect">
            <a:avLst/>
          </a:prstGeom>
          <a:noFill/>
          <a:ln/>
        </p:spPr>
        <p:txBody>
          <a:bodyPr wrap="square" lIns="0" tIns="0" rIns="0" bIns="0" rtlCol="0" anchor="t"/>
          <a:lstStyle/>
          <a:p>
            <a:pPr indent="0" marL="0">
              <a:buNone/>
            </a:pPr>
            <a:r>
              <a:rPr lang="en-US" sz="1250" dirty="0">
                <a:solidFill>
                  <a:srgbClr val="55606E"/>
                </a:solidFill>
                <a:latin typeface="Arial" pitchFamily="34" charset="0"/>
                <a:ea typeface="Arial" pitchFamily="34" charset="-122"/>
                <a:cs typeface="Arial" pitchFamily="34" charset="-120"/>
              </a:rPr>
              <a:t>Most misses are account discovery; rare steps (SQLi, CSRF, privilege escalation) are missed most often</a:t>
            </a:r>
            <a:endParaRPr lang="en-US" sz="1250" dirty="0"/>
          </a:p>
        </p:txBody>
      </p:sp>
      <p:sp>
        <p:nvSpPr>
          <p:cNvPr id="42" name="Text 40"/>
          <p:cNvSpPr txBox="1"/>
          <p:nvPr/>
        </p:nvSpPr>
        <p:spPr>
          <a:xfrm>
            <a:off x="685800" y="6400800"/>
            <a:ext cx="7315200" cy="228600"/>
          </a:xfrm>
          <a:prstGeom prst="rect">
            <a:avLst/>
          </a:prstGeom>
          <a:noFill/>
          <a:ln/>
        </p:spPr>
        <p:txBody>
          <a:bodyPr wrap="square" lIns="0" tIns="0" rIns="0" bIns="0" rtlCol="0" anchor="t"/>
          <a:lstStyle/>
          <a:p>
            <a:pPr indent="0" marL="0">
              <a:buNone/>
            </a:pPr>
            <a:r>
              <a:rPr lang="en-US" sz="900" dirty="0">
                <a:solidFill>
                  <a:srgbClr val="8A94A3"/>
                </a:solidFill>
                <a:latin typeface="Arial" pitchFamily="34" charset="0"/>
                <a:ea typeface="Arial" pitchFamily="34" charset="-122"/>
                <a:cs typeface="Arial" pitchFamily="34" charset="-120"/>
              </a:rPr>
              <a:t>Anomaly detection for Advanced Persistent Threats   |   Mid-term evaluation</a:t>
            </a:r>
            <a:endParaRPr lang="en-US" sz="900" dirty="0"/>
          </a:p>
        </p:txBody>
      </p:sp>
      <p:sp>
        <p:nvSpPr>
          <p:cNvPr id="43" name="Text 41"/>
          <p:cNvSpPr txBox="1"/>
          <p:nvPr/>
        </p:nvSpPr>
        <p:spPr>
          <a:xfrm>
            <a:off x="10591495" y="6400800"/>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Arial" pitchFamily="34" charset="0"/>
                <a:ea typeface="Arial" pitchFamily="34" charset="-122"/>
                <a:cs typeface="Arial"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V="1">
            <a:off x="10087295" y="470002"/>
            <a:ext cx="288950" cy="416966"/>
          </a:xfrm>
          <a:prstGeom prst="line">
            <a:avLst/>
          </a:prstGeom>
          <a:noFill/>
          <a:ln w="9525">
            <a:solidFill>
              <a:srgbClr val="DCE2EA"/>
            </a:solidFill>
            <a:prstDash val="solid"/>
          </a:ln>
        </p:spPr>
      </p:sp>
      <p:sp>
        <p:nvSpPr>
          <p:cNvPr id="3" name="Shape 1"/>
          <p:cNvSpPr/>
          <p:nvPr/>
        </p:nvSpPr>
        <p:spPr>
          <a:xfrm>
            <a:off x="10087295" y="886968"/>
            <a:ext cx="549006" cy="69494"/>
          </a:xfrm>
          <a:prstGeom prst="line">
            <a:avLst/>
          </a:prstGeom>
          <a:noFill/>
          <a:ln w="9525">
            <a:solidFill>
              <a:srgbClr val="DCE2EA"/>
            </a:solidFill>
            <a:prstDash val="solid"/>
          </a:ln>
        </p:spPr>
      </p:sp>
      <p:sp>
        <p:nvSpPr>
          <p:cNvPr id="4" name="Shape 2"/>
          <p:cNvSpPr/>
          <p:nvPr/>
        </p:nvSpPr>
        <p:spPr>
          <a:xfrm>
            <a:off x="10376245" y="470002"/>
            <a:ext cx="549006" cy="156362"/>
          </a:xfrm>
          <a:prstGeom prst="line">
            <a:avLst/>
          </a:prstGeom>
          <a:noFill/>
          <a:ln w="9525">
            <a:solidFill>
              <a:srgbClr val="F2B7A8"/>
            </a:solidFill>
            <a:prstDash val="solid"/>
          </a:ln>
        </p:spPr>
      </p:sp>
      <p:sp>
        <p:nvSpPr>
          <p:cNvPr id="5" name="Shape 3"/>
          <p:cNvSpPr/>
          <p:nvPr/>
        </p:nvSpPr>
        <p:spPr>
          <a:xfrm flipV="1">
            <a:off x="10636301" y="626364"/>
            <a:ext cx="288950" cy="330098"/>
          </a:xfrm>
          <a:prstGeom prst="line">
            <a:avLst/>
          </a:prstGeom>
          <a:noFill/>
          <a:ln w="9525">
            <a:solidFill>
              <a:srgbClr val="F2B7A8"/>
            </a:solidFill>
            <a:prstDash val="solid"/>
          </a:ln>
        </p:spPr>
      </p:sp>
      <p:sp>
        <p:nvSpPr>
          <p:cNvPr id="6" name="Shape 4"/>
          <p:cNvSpPr/>
          <p:nvPr/>
        </p:nvSpPr>
        <p:spPr>
          <a:xfrm flipV="1">
            <a:off x="10925251" y="522122"/>
            <a:ext cx="534558" cy="104242"/>
          </a:xfrm>
          <a:prstGeom prst="line">
            <a:avLst/>
          </a:prstGeom>
          <a:noFill/>
          <a:ln w="9525">
            <a:solidFill>
              <a:srgbClr val="F2B7A8"/>
            </a:solidFill>
            <a:prstDash val="solid"/>
          </a:ln>
        </p:spPr>
      </p:sp>
      <p:sp>
        <p:nvSpPr>
          <p:cNvPr id="7" name="Shape 5"/>
          <p:cNvSpPr/>
          <p:nvPr/>
        </p:nvSpPr>
        <p:spPr>
          <a:xfrm>
            <a:off x="10636301" y="956462"/>
            <a:ext cx="549006" cy="121615"/>
          </a:xfrm>
          <a:prstGeom prst="line">
            <a:avLst/>
          </a:prstGeom>
          <a:noFill/>
          <a:ln w="9525">
            <a:solidFill>
              <a:srgbClr val="DCE2EA"/>
            </a:solidFill>
            <a:prstDash val="solid"/>
          </a:ln>
        </p:spPr>
      </p:sp>
      <p:sp>
        <p:nvSpPr>
          <p:cNvPr id="8" name="Shape 6"/>
          <p:cNvSpPr/>
          <p:nvPr/>
        </p:nvSpPr>
        <p:spPr>
          <a:xfrm flipV="1">
            <a:off x="11185307" y="843534"/>
            <a:ext cx="173370" cy="234544"/>
          </a:xfrm>
          <a:prstGeom prst="line">
            <a:avLst/>
          </a:prstGeom>
          <a:noFill/>
          <a:ln w="9525">
            <a:solidFill>
              <a:srgbClr val="DCE2EA"/>
            </a:solidFill>
            <a:prstDash val="solid"/>
          </a:ln>
        </p:spPr>
      </p:sp>
      <p:sp>
        <p:nvSpPr>
          <p:cNvPr id="9" name="Shape 7"/>
          <p:cNvSpPr/>
          <p:nvPr/>
        </p:nvSpPr>
        <p:spPr>
          <a:xfrm flipH="1">
            <a:off x="11358677" y="522122"/>
            <a:ext cx="101133" cy="321412"/>
          </a:xfrm>
          <a:prstGeom prst="line">
            <a:avLst/>
          </a:prstGeom>
          <a:noFill/>
          <a:ln w="9525">
            <a:solidFill>
              <a:srgbClr val="DCE2EA"/>
            </a:solidFill>
            <a:prstDash val="solid"/>
          </a:ln>
        </p:spPr>
      </p:sp>
      <p:sp>
        <p:nvSpPr>
          <p:cNvPr id="10" name="Shape 8"/>
          <p:cNvSpPr/>
          <p:nvPr/>
        </p:nvSpPr>
        <p:spPr>
          <a:xfrm>
            <a:off x="10055291" y="854964"/>
            <a:ext cx="64008" cy="64008"/>
          </a:xfrm>
          <a:prstGeom prst="ellipse">
            <a:avLst/>
          </a:prstGeom>
          <a:solidFill>
            <a:srgbClr val="C3CCD9"/>
          </a:solidFill>
          <a:ln w="12700">
            <a:solidFill>
              <a:srgbClr val="C3CCD9"/>
            </a:solidFill>
            <a:prstDash val="solid"/>
          </a:ln>
        </p:spPr>
      </p:sp>
      <p:sp>
        <p:nvSpPr>
          <p:cNvPr id="11" name="Shape 9"/>
          <p:cNvSpPr/>
          <p:nvPr/>
        </p:nvSpPr>
        <p:spPr>
          <a:xfrm>
            <a:off x="10335097" y="428854"/>
            <a:ext cx="82296" cy="82296"/>
          </a:xfrm>
          <a:prstGeom prst="ellipse">
            <a:avLst/>
          </a:prstGeom>
          <a:solidFill>
            <a:srgbClr val="C3CCD9"/>
          </a:solidFill>
          <a:ln w="12700">
            <a:solidFill>
              <a:srgbClr val="C3CCD9"/>
            </a:solidFill>
            <a:prstDash val="solid"/>
          </a:ln>
        </p:spPr>
      </p:sp>
      <p:sp>
        <p:nvSpPr>
          <p:cNvPr id="12" name="Shape 10"/>
          <p:cNvSpPr/>
          <p:nvPr/>
        </p:nvSpPr>
        <p:spPr>
          <a:xfrm>
            <a:off x="10599725" y="919886"/>
            <a:ext cx="73152" cy="73152"/>
          </a:xfrm>
          <a:prstGeom prst="ellipse">
            <a:avLst/>
          </a:prstGeom>
          <a:solidFill>
            <a:srgbClr val="C3CCD9"/>
          </a:solidFill>
          <a:ln w="12700">
            <a:solidFill>
              <a:srgbClr val="C3CCD9"/>
            </a:solidFill>
            <a:prstDash val="solid"/>
          </a:ln>
        </p:spPr>
      </p:sp>
      <p:sp>
        <p:nvSpPr>
          <p:cNvPr id="13" name="Shape 11"/>
          <p:cNvSpPr/>
          <p:nvPr/>
        </p:nvSpPr>
        <p:spPr>
          <a:xfrm>
            <a:off x="10806379" y="507492"/>
            <a:ext cx="237744" cy="237744"/>
          </a:xfrm>
          <a:prstGeom prst="ellipse">
            <a:avLst/>
          </a:prstGeom>
          <a:solidFill>
            <a:srgbClr val="E0533A">
              <a:alpha val="18000"/>
            </a:srgbClr>
          </a:solidFill>
          <a:ln w="12700">
            <a:solidFill>
              <a:srgbClr val="E0533A">
                <a:alpha val="18000"/>
              </a:srgbClr>
            </a:solidFill>
            <a:prstDash val="solid"/>
          </a:ln>
        </p:spPr>
      </p:sp>
      <p:sp>
        <p:nvSpPr>
          <p:cNvPr id="14" name="Shape 12"/>
          <p:cNvSpPr/>
          <p:nvPr/>
        </p:nvSpPr>
        <p:spPr>
          <a:xfrm>
            <a:off x="10874959" y="576072"/>
            <a:ext cx="100584" cy="100584"/>
          </a:xfrm>
          <a:prstGeom prst="ellipse">
            <a:avLst/>
          </a:prstGeom>
          <a:solidFill>
            <a:srgbClr val="E0533A"/>
          </a:solidFill>
          <a:ln w="12700">
            <a:solidFill>
              <a:srgbClr val="E0533A"/>
            </a:solidFill>
            <a:prstDash val="solid"/>
          </a:ln>
        </p:spPr>
      </p:sp>
      <p:sp>
        <p:nvSpPr>
          <p:cNvPr id="15" name="Shape 13"/>
          <p:cNvSpPr/>
          <p:nvPr/>
        </p:nvSpPr>
        <p:spPr>
          <a:xfrm>
            <a:off x="11144159" y="1036930"/>
            <a:ext cx="82296" cy="82296"/>
          </a:xfrm>
          <a:prstGeom prst="ellipse">
            <a:avLst/>
          </a:prstGeom>
          <a:solidFill>
            <a:srgbClr val="C3CCD9"/>
          </a:solidFill>
          <a:ln w="12700">
            <a:solidFill>
              <a:srgbClr val="C3CCD9"/>
            </a:solidFill>
            <a:prstDash val="solid"/>
          </a:ln>
        </p:spPr>
      </p:sp>
      <p:sp>
        <p:nvSpPr>
          <p:cNvPr id="16" name="Shape 14"/>
          <p:cNvSpPr/>
          <p:nvPr/>
        </p:nvSpPr>
        <p:spPr>
          <a:xfrm>
            <a:off x="11427805" y="490118"/>
            <a:ext cx="64008" cy="64008"/>
          </a:xfrm>
          <a:prstGeom prst="ellipse">
            <a:avLst/>
          </a:prstGeom>
          <a:solidFill>
            <a:srgbClr val="C3CCD9"/>
          </a:solidFill>
          <a:ln w="12700">
            <a:solidFill>
              <a:srgbClr val="C3CCD9"/>
            </a:solidFill>
            <a:prstDash val="solid"/>
          </a:ln>
        </p:spPr>
      </p:sp>
      <p:sp>
        <p:nvSpPr>
          <p:cNvPr id="17" name="Shape 15"/>
          <p:cNvSpPr/>
          <p:nvPr/>
        </p:nvSpPr>
        <p:spPr>
          <a:xfrm>
            <a:off x="11331245" y="816102"/>
            <a:ext cx="54864" cy="54864"/>
          </a:xfrm>
          <a:prstGeom prst="ellipse">
            <a:avLst/>
          </a:prstGeom>
          <a:solidFill>
            <a:srgbClr val="C3CCD9"/>
          </a:solidFill>
          <a:ln w="12700">
            <a:solidFill>
              <a:srgbClr val="C3CCD9"/>
            </a:solidFill>
            <a:prstDash val="solid"/>
          </a:ln>
        </p:spPr>
      </p:sp>
      <p:sp>
        <p:nvSpPr>
          <p:cNvPr id="18" name="Text 16"/>
          <p:cNvSpPr txBox="1"/>
          <p:nvPr/>
        </p:nvSpPr>
        <p:spPr>
          <a:xfrm>
            <a:off x="685800" y="475488"/>
            <a:ext cx="10820095" cy="256032"/>
          </a:xfrm>
          <a:prstGeom prst="rect">
            <a:avLst/>
          </a:prstGeom>
          <a:noFill/>
          <a:ln/>
        </p:spPr>
        <p:txBody>
          <a:bodyPr wrap="square" lIns="0" tIns="0" rIns="0" bIns="0" rtlCol="0" anchor="t"/>
          <a:lstStyle/>
          <a:p>
            <a:pPr indent="0" marL="0">
              <a:buNone/>
            </a:pPr>
            <a:r>
              <a:rPr lang="en-US" sz="1100" b="1" dirty="0">
                <a:solidFill>
                  <a:srgbClr val="E0533A"/>
                </a:solidFill>
                <a:latin typeface="Arial" pitchFamily="34" charset="0"/>
                <a:ea typeface="Arial" pitchFamily="34" charset="-122"/>
                <a:cs typeface="Arial" pitchFamily="34" charset="-120"/>
              </a:rPr>
              <a:t>04 · CONCLUSIONS</a:t>
            </a:r>
            <a:endParaRPr lang="en-US" sz="1100" dirty="0"/>
          </a:p>
        </p:txBody>
      </p:sp>
      <p:sp>
        <p:nvSpPr>
          <p:cNvPr id="19" name="Text 17"/>
          <p:cNvSpPr txBox="1"/>
          <p:nvPr/>
        </p:nvSpPr>
        <p:spPr>
          <a:xfrm>
            <a:off x="685800" y="768096"/>
            <a:ext cx="10820095" cy="822960"/>
          </a:xfrm>
          <a:prstGeom prst="rect">
            <a:avLst/>
          </a:prstGeom>
          <a:noFill/>
          <a:ln/>
        </p:spPr>
        <p:txBody>
          <a:bodyPr wrap="square" lIns="0" tIns="0" rIns="0" bIns="0" rtlCol="0" anchor="t"/>
          <a:lstStyle/>
          <a:p>
            <a:pPr indent="0" marL="0">
              <a:buNone/>
            </a:pPr>
            <a:r>
              <a:rPr lang="en-US" sz="3000" dirty="0">
                <a:solidFill>
                  <a:srgbClr val="0F1B2D"/>
                </a:solidFill>
                <a:latin typeface="Georgia" pitchFamily="34" charset="0"/>
                <a:ea typeface="Georgia" pitchFamily="34" charset="-122"/>
                <a:cs typeface="Georgia" pitchFamily="34" charset="-120"/>
              </a:rPr>
              <a:t>Plan for the final evaluation</a:t>
            </a:r>
            <a:endParaRPr lang="en-US" sz="3000" dirty="0"/>
          </a:p>
        </p:txBody>
      </p:sp>
      <p:sp>
        <p:nvSpPr>
          <p:cNvPr id="20" name="Shape 18"/>
          <p:cNvSpPr/>
          <p:nvPr/>
        </p:nvSpPr>
        <p:spPr>
          <a:xfrm>
            <a:off x="2038312" y="2514600"/>
            <a:ext cx="8115071" cy="914"/>
          </a:xfrm>
          <a:prstGeom prst="line">
            <a:avLst/>
          </a:prstGeom>
          <a:noFill/>
          <a:ln w="19050">
            <a:solidFill>
              <a:srgbClr val="E2E6EC"/>
            </a:solidFill>
            <a:prstDash val="solid"/>
          </a:ln>
        </p:spPr>
      </p:sp>
      <p:sp>
        <p:nvSpPr>
          <p:cNvPr id="21" name="Shape 19"/>
          <p:cNvSpPr/>
          <p:nvPr/>
        </p:nvSpPr>
        <p:spPr>
          <a:xfrm>
            <a:off x="1603972" y="2080260"/>
            <a:ext cx="868680" cy="868680"/>
          </a:xfrm>
          <a:prstGeom prst="ellipse">
            <a:avLst/>
          </a:prstGeom>
          <a:solidFill>
            <a:srgbClr val="E0533A"/>
          </a:solidFill>
          <a:ln w="12700">
            <a:solidFill>
              <a:srgbClr val="E0533A"/>
            </a:solidFill>
            <a:prstDash val="solid"/>
          </a:ln>
        </p:spPr>
      </p:sp>
      <p:pic>
        <p:nvPicPr>
          <p:cNvPr id="22" name="Image 0" descr="preencoded.png">    </p:cNvPr>
          <p:cNvPicPr>
            <a:picLocks noChangeAspect="1"/>
          </p:cNvPicPr>
          <p:nvPr/>
        </p:nvPicPr>
        <p:blipFill>
          <a:blip r:embed="rId1"/>
          <a:stretch>
            <a:fillRect/>
          </a:stretch>
        </p:blipFill>
        <p:spPr>
          <a:xfrm>
            <a:off x="1838515" y="2314804"/>
            <a:ext cx="399593" cy="399593"/>
          </a:xfrm>
          <a:prstGeom prst="rect">
            <a:avLst/>
          </a:prstGeom>
        </p:spPr>
      </p:pic>
      <p:sp>
        <p:nvSpPr>
          <p:cNvPr id="23" name="Text 20"/>
          <p:cNvSpPr txBox="1"/>
          <p:nvPr/>
        </p:nvSpPr>
        <p:spPr>
          <a:xfrm>
            <a:off x="941032" y="3154680"/>
            <a:ext cx="2194560" cy="256032"/>
          </a:xfrm>
          <a:prstGeom prst="rect">
            <a:avLst/>
          </a:prstGeom>
          <a:noFill/>
          <a:ln/>
        </p:spPr>
        <p:txBody>
          <a:bodyPr wrap="square" lIns="0" tIns="0" rIns="0" bIns="0" rtlCol="0" anchor="t"/>
          <a:lstStyle/>
          <a:p>
            <a:pPr algn="ctr" indent="0" marL="0">
              <a:buNone/>
            </a:pPr>
            <a:r>
              <a:rPr lang="en-US" sz="1000" b="1" dirty="0">
                <a:solidFill>
                  <a:srgbClr val="E0533A"/>
                </a:solidFill>
                <a:latin typeface="Arial" pitchFamily="34" charset="0"/>
                <a:ea typeface="Arial" pitchFamily="34" charset="-122"/>
                <a:cs typeface="Arial" pitchFamily="34" charset="-120"/>
              </a:rPr>
              <a:t>STEP 1</a:t>
            </a:r>
            <a:endParaRPr lang="en-US" sz="1000" dirty="0"/>
          </a:p>
        </p:txBody>
      </p:sp>
      <p:sp>
        <p:nvSpPr>
          <p:cNvPr id="24" name="Text 21"/>
          <p:cNvSpPr txBox="1"/>
          <p:nvPr/>
        </p:nvSpPr>
        <p:spPr>
          <a:xfrm>
            <a:off x="803872" y="3429000"/>
            <a:ext cx="2468880" cy="365760"/>
          </a:xfrm>
          <a:prstGeom prst="rect">
            <a:avLst/>
          </a:prstGeom>
          <a:noFill/>
          <a:ln/>
        </p:spPr>
        <p:txBody>
          <a:bodyPr wrap="square" lIns="0" tIns="0" rIns="0" bIns="0" rtlCol="0" anchor="t"/>
          <a:lstStyle/>
          <a:p>
            <a:pPr algn="ctr" indent="0" marL="0">
              <a:buNone/>
            </a:pPr>
            <a:r>
              <a:rPr lang="en-US" sz="1600" b="1" dirty="0">
                <a:solidFill>
                  <a:srgbClr val="0F1B2D"/>
                </a:solidFill>
                <a:latin typeface="Arial" pitchFamily="34" charset="0"/>
                <a:ea typeface="Arial" pitchFamily="34" charset="-122"/>
                <a:cs typeface="Arial" pitchFamily="34" charset="-120"/>
              </a:rPr>
              <a:t>Second APT dataset</a:t>
            </a:r>
            <a:endParaRPr lang="en-US" sz="1600" dirty="0"/>
          </a:p>
        </p:txBody>
      </p:sp>
      <p:sp>
        <p:nvSpPr>
          <p:cNvPr id="25" name="Text 22"/>
          <p:cNvSpPr txBox="1"/>
          <p:nvPr/>
        </p:nvSpPr>
        <p:spPr>
          <a:xfrm>
            <a:off x="849592" y="3840480"/>
            <a:ext cx="2377440" cy="822960"/>
          </a:xfrm>
          <a:prstGeom prst="rect">
            <a:avLst/>
          </a:prstGeom>
          <a:noFill/>
          <a:ln/>
        </p:spPr>
        <p:txBody>
          <a:bodyPr wrap="square" lIns="0" tIns="0" rIns="0" bIns="0" rtlCol="0" anchor="t"/>
          <a:lstStyle/>
          <a:p>
            <a:pPr algn="ctr" indent="0" marL="0">
              <a:buNone/>
            </a:pPr>
            <a:r>
              <a:rPr lang="en-US" sz="1250" dirty="0">
                <a:solidFill>
                  <a:srgbClr val="55606E"/>
                </a:solidFill>
                <a:latin typeface="Arial" pitchFamily="34" charset="0"/>
                <a:ea typeface="Arial" pitchFamily="34" charset="-122"/>
                <a:cs typeface="Arial" pitchFamily="34" charset="-120"/>
              </a:rPr>
              <a:t>Validate on Unraveled (2023) or SCVIC-APT-2021</a:t>
            </a:r>
            <a:endParaRPr lang="en-US" sz="1250" dirty="0"/>
          </a:p>
        </p:txBody>
      </p:sp>
      <p:sp>
        <p:nvSpPr>
          <p:cNvPr id="26" name="Shape 23"/>
          <p:cNvSpPr/>
          <p:nvPr/>
        </p:nvSpPr>
        <p:spPr>
          <a:xfrm>
            <a:off x="4308996" y="2080260"/>
            <a:ext cx="868680" cy="868680"/>
          </a:xfrm>
          <a:prstGeom prst="ellipse">
            <a:avLst/>
          </a:prstGeom>
          <a:solidFill>
            <a:srgbClr val="0B1526"/>
          </a:solidFill>
          <a:ln w="12700">
            <a:solidFill>
              <a:srgbClr val="0B1526"/>
            </a:solidFill>
            <a:prstDash val="solid"/>
          </a:ln>
        </p:spPr>
      </p:sp>
      <p:pic>
        <p:nvPicPr>
          <p:cNvPr id="27" name="Image 1" descr="preencoded.png">    </p:cNvPr>
          <p:cNvPicPr>
            <a:picLocks noChangeAspect="1"/>
          </p:cNvPicPr>
          <p:nvPr/>
        </p:nvPicPr>
        <p:blipFill>
          <a:blip r:embed="rId2"/>
          <a:stretch>
            <a:fillRect/>
          </a:stretch>
        </p:blipFill>
        <p:spPr>
          <a:xfrm>
            <a:off x="4543539" y="2314804"/>
            <a:ext cx="399593" cy="399593"/>
          </a:xfrm>
          <a:prstGeom prst="rect">
            <a:avLst/>
          </a:prstGeom>
        </p:spPr>
      </p:pic>
      <p:sp>
        <p:nvSpPr>
          <p:cNvPr id="28" name="Text 24"/>
          <p:cNvSpPr txBox="1"/>
          <p:nvPr/>
        </p:nvSpPr>
        <p:spPr>
          <a:xfrm>
            <a:off x="3646056" y="3154680"/>
            <a:ext cx="2194560" cy="256032"/>
          </a:xfrm>
          <a:prstGeom prst="rect">
            <a:avLst/>
          </a:prstGeom>
          <a:noFill/>
          <a:ln/>
        </p:spPr>
        <p:txBody>
          <a:bodyPr wrap="square" lIns="0" tIns="0" rIns="0" bIns="0" rtlCol="0" anchor="t"/>
          <a:lstStyle/>
          <a:p>
            <a:pPr algn="ctr" indent="0" marL="0">
              <a:buNone/>
            </a:pPr>
            <a:r>
              <a:rPr lang="en-US" sz="1000" b="1" dirty="0">
                <a:solidFill>
                  <a:srgbClr val="E0533A"/>
                </a:solidFill>
                <a:latin typeface="Arial" pitchFamily="34" charset="0"/>
                <a:ea typeface="Arial" pitchFamily="34" charset="-122"/>
                <a:cs typeface="Arial" pitchFamily="34" charset="-120"/>
              </a:rPr>
              <a:t>STEP 2</a:t>
            </a:r>
            <a:endParaRPr lang="en-US" sz="1000" dirty="0"/>
          </a:p>
        </p:txBody>
      </p:sp>
      <p:sp>
        <p:nvSpPr>
          <p:cNvPr id="29" name="Text 25"/>
          <p:cNvSpPr txBox="1"/>
          <p:nvPr/>
        </p:nvSpPr>
        <p:spPr>
          <a:xfrm>
            <a:off x="3508896" y="3429000"/>
            <a:ext cx="2468880" cy="365760"/>
          </a:xfrm>
          <a:prstGeom prst="rect">
            <a:avLst/>
          </a:prstGeom>
          <a:noFill/>
          <a:ln/>
        </p:spPr>
        <p:txBody>
          <a:bodyPr wrap="square" lIns="0" tIns="0" rIns="0" bIns="0" rtlCol="0" anchor="t"/>
          <a:lstStyle/>
          <a:p>
            <a:pPr algn="ctr" indent="0" marL="0">
              <a:buNone/>
            </a:pPr>
            <a:r>
              <a:rPr lang="en-US" sz="1600" b="1" dirty="0">
                <a:solidFill>
                  <a:srgbClr val="0F1B2D"/>
                </a:solidFill>
                <a:latin typeface="Arial" pitchFamily="34" charset="0"/>
                <a:ea typeface="Arial" pitchFamily="34" charset="-122"/>
                <a:cs typeface="Arial" pitchFamily="34" charset="-120"/>
              </a:rPr>
              <a:t>Time-based evaluation</a:t>
            </a:r>
            <a:endParaRPr lang="en-US" sz="1600" dirty="0"/>
          </a:p>
        </p:txBody>
      </p:sp>
      <p:sp>
        <p:nvSpPr>
          <p:cNvPr id="30" name="Text 26"/>
          <p:cNvSpPr txBox="1"/>
          <p:nvPr/>
        </p:nvSpPr>
        <p:spPr>
          <a:xfrm>
            <a:off x="3554616" y="3840480"/>
            <a:ext cx="2377440" cy="822960"/>
          </a:xfrm>
          <a:prstGeom prst="rect">
            <a:avLst/>
          </a:prstGeom>
          <a:noFill/>
          <a:ln/>
        </p:spPr>
        <p:txBody>
          <a:bodyPr wrap="square" lIns="0" tIns="0" rIns="0" bIns="0" rtlCol="0" anchor="t"/>
          <a:lstStyle/>
          <a:p>
            <a:pPr algn="ctr" indent="0" marL="0">
              <a:buNone/>
            </a:pPr>
            <a:r>
              <a:rPr lang="en-US" sz="1250" dirty="0">
                <a:solidFill>
                  <a:srgbClr val="55606E"/>
                </a:solidFill>
                <a:latin typeface="Arial" pitchFamily="34" charset="0"/>
                <a:ea typeface="Arial" pitchFamily="34" charset="-122"/>
                <a:cs typeface="Arial" pitchFamily="34" charset="-120"/>
              </a:rPr>
              <a:t>Train on earlier days, test on later days: an unseen campaign</a:t>
            </a:r>
            <a:endParaRPr lang="en-US" sz="1250" dirty="0"/>
          </a:p>
        </p:txBody>
      </p:sp>
      <p:sp>
        <p:nvSpPr>
          <p:cNvPr id="31" name="Shape 27"/>
          <p:cNvSpPr/>
          <p:nvPr/>
        </p:nvSpPr>
        <p:spPr>
          <a:xfrm>
            <a:off x="7014019" y="2080260"/>
            <a:ext cx="868680" cy="868680"/>
          </a:xfrm>
          <a:prstGeom prst="ellipse">
            <a:avLst/>
          </a:prstGeom>
          <a:solidFill>
            <a:srgbClr val="0B1526"/>
          </a:solidFill>
          <a:ln w="12700">
            <a:solidFill>
              <a:srgbClr val="0B1526"/>
            </a:solidFill>
            <a:prstDash val="solid"/>
          </a:ln>
        </p:spPr>
      </p:sp>
      <p:pic>
        <p:nvPicPr>
          <p:cNvPr id="32" name="Image 2" descr="preencoded.png">    </p:cNvPr>
          <p:cNvPicPr>
            <a:picLocks noChangeAspect="1"/>
          </p:cNvPicPr>
          <p:nvPr/>
        </p:nvPicPr>
        <p:blipFill>
          <a:blip r:embed="rId3"/>
          <a:stretch>
            <a:fillRect/>
          </a:stretch>
        </p:blipFill>
        <p:spPr>
          <a:xfrm>
            <a:off x="7248563" y="2314804"/>
            <a:ext cx="399593" cy="399593"/>
          </a:xfrm>
          <a:prstGeom prst="rect">
            <a:avLst/>
          </a:prstGeom>
        </p:spPr>
      </p:pic>
      <p:sp>
        <p:nvSpPr>
          <p:cNvPr id="33" name="Text 28"/>
          <p:cNvSpPr txBox="1"/>
          <p:nvPr/>
        </p:nvSpPr>
        <p:spPr>
          <a:xfrm>
            <a:off x="6351079" y="3154680"/>
            <a:ext cx="2194560" cy="256032"/>
          </a:xfrm>
          <a:prstGeom prst="rect">
            <a:avLst/>
          </a:prstGeom>
          <a:noFill/>
          <a:ln/>
        </p:spPr>
        <p:txBody>
          <a:bodyPr wrap="square" lIns="0" tIns="0" rIns="0" bIns="0" rtlCol="0" anchor="t"/>
          <a:lstStyle/>
          <a:p>
            <a:pPr algn="ctr" indent="0" marL="0">
              <a:buNone/>
            </a:pPr>
            <a:r>
              <a:rPr lang="en-US" sz="1000" b="1" dirty="0">
                <a:solidFill>
                  <a:srgbClr val="E0533A"/>
                </a:solidFill>
                <a:latin typeface="Arial" pitchFamily="34" charset="0"/>
                <a:ea typeface="Arial" pitchFamily="34" charset="-122"/>
                <a:cs typeface="Arial" pitchFamily="34" charset="-120"/>
              </a:rPr>
              <a:t>STEP 3</a:t>
            </a:r>
            <a:endParaRPr lang="en-US" sz="1000" dirty="0"/>
          </a:p>
        </p:txBody>
      </p:sp>
      <p:sp>
        <p:nvSpPr>
          <p:cNvPr id="34" name="Text 29"/>
          <p:cNvSpPr txBox="1"/>
          <p:nvPr/>
        </p:nvSpPr>
        <p:spPr>
          <a:xfrm>
            <a:off x="6213919" y="3429000"/>
            <a:ext cx="2468880" cy="365760"/>
          </a:xfrm>
          <a:prstGeom prst="rect">
            <a:avLst/>
          </a:prstGeom>
          <a:noFill/>
          <a:ln/>
        </p:spPr>
        <p:txBody>
          <a:bodyPr wrap="square" lIns="0" tIns="0" rIns="0" bIns="0" rtlCol="0" anchor="t"/>
          <a:lstStyle/>
          <a:p>
            <a:pPr algn="ctr" indent="0" marL="0">
              <a:buNone/>
            </a:pPr>
            <a:r>
              <a:rPr lang="en-US" sz="1600" b="1" dirty="0">
                <a:solidFill>
                  <a:srgbClr val="0F1B2D"/>
                </a:solidFill>
                <a:latin typeface="Arial" pitchFamily="34" charset="0"/>
                <a:ea typeface="Arial" pitchFamily="34" charset="-122"/>
                <a:cs typeface="Arial" pitchFamily="34" charset="-120"/>
              </a:rPr>
              <a:t>Improve the hybrid</a:t>
            </a:r>
            <a:endParaRPr lang="en-US" sz="1600" dirty="0"/>
          </a:p>
        </p:txBody>
      </p:sp>
      <p:sp>
        <p:nvSpPr>
          <p:cNvPr id="35" name="Text 30"/>
          <p:cNvSpPr txBox="1"/>
          <p:nvPr/>
        </p:nvSpPr>
        <p:spPr>
          <a:xfrm>
            <a:off x="6259639" y="3840480"/>
            <a:ext cx="2377440" cy="822960"/>
          </a:xfrm>
          <a:prstGeom prst="rect">
            <a:avLst/>
          </a:prstGeom>
          <a:noFill/>
          <a:ln/>
        </p:spPr>
        <p:txBody>
          <a:bodyPr wrap="square" lIns="0" tIns="0" rIns="0" bIns="0" rtlCol="0" anchor="t"/>
          <a:lstStyle/>
          <a:p>
            <a:pPr algn="ctr" indent="0" marL="0">
              <a:buNone/>
            </a:pPr>
            <a:r>
              <a:rPr lang="en-US" sz="1250" dirty="0">
                <a:solidFill>
                  <a:srgbClr val="55606E"/>
                </a:solidFill>
                <a:latin typeface="Arial" pitchFamily="34" charset="0"/>
                <a:ea typeface="Arial" pitchFamily="34" charset="-122"/>
                <a:cs typeface="Arial" pitchFamily="34" charset="-120"/>
              </a:rPr>
              <a:t>Tune model weights and threshold; handle rare stages better</a:t>
            </a:r>
            <a:endParaRPr lang="en-US" sz="1250" dirty="0"/>
          </a:p>
        </p:txBody>
      </p:sp>
      <p:sp>
        <p:nvSpPr>
          <p:cNvPr id="36" name="Shape 31"/>
          <p:cNvSpPr/>
          <p:nvPr/>
        </p:nvSpPr>
        <p:spPr>
          <a:xfrm>
            <a:off x="9719043" y="2080260"/>
            <a:ext cx="868680" cy="868680"/>
          </a:xfrm>
          <a:prstGeom prst="ellipse">
            <a:avLst/>
          </a:prstGeom>
          <a:solidFill>
            <a:srgbClr val="0B1526"/>
          </a:solidFill>
          <a:ln w="12700">
            <a:solidFill>
              <a:srgbClr val="0B1526"/>
            </a:solidFill>
            <a:prstDash val="solid"/>
          </a:ln>
        </p:spPr>
      </p:sp>
      <p:pic>
        <p:nvPicPr>
          <p:cNvPr id="37" name="Image 3" descr="preencoded.png">    </p:cNvPr>
          <p:cNvPicPr>
            <a:picLocks noChangeAspect="1"/>
          </p:cNvPicPr>
          <p:nvPr/>
        </p:nvPicPr>
        <p:blipFill>
          <a:blip r:embed="rId4"/>
          <a:stretch>
            <a:fillRect/>
          </a:stretch>
        </p:blipFill>
        <p:spPr>
          <a:xfrm>
            <a:off x="9953587" y="2314804"/>
            <a:ext cx="399593" cy="399593"/>
          </a:xfrm>
          <a:prstGeom prst="rect">
            <a:avLst/>
          </a:prstGeom>
        </p:spPr>
      </p:pic>
      <p:sp>
        <p:nvSpPr>
          <p:cNvPr id="38" name="Text 32"/>
          <p:cNvSpPr txBox="1"/>
          <p:nvPr/>
        </p:nvSpPr>
        <p:spPr>
          <a:xfrm>
            <a:off x="9056103" y="3154680"/>
            <a:ext cx="2194560" cy="256032"/>
          </a:xfrm>
          <a:prstGeom prst="rect">
            <a:avLst/>
          </a:prstGeom>
          <a:noFill/>
          <a:ln/>
        </p:spPr>
        <p:txBody>
          <a:bodyPr wrap="square" lIns="0" tIns="0" rIns="0" bIns="0" rtlCol="0" anchor="t"/>
          <a:lstStyle/>
          <a:p>
            <a:pPr algn="ctr" indent="0" marL="0">
              <a:buNone/>
            </a:pPr>
            <a:r>
              <a:rPr lang="en-US" sz="1000" b="1" dirty="0">
                <a:solidFill>
                  <a:srgbClr val="E0533A"/>
                </a:solidFill>
                <a:latin typeface="Arial" pitchFamily="34" charset="0"/>
                <a:ea typeface="Arial" pitchFamily="34" charset="-122"/>
                <a:cs typeface="Arial" pitchFamily="34" charset="-120"/>
              </a:rPr>
              <a:t>STEP 4</a:t>
            </a:r>
            <a:endParaRPr lang="en-US" sz="1000" dirty="0"/>
          </a:p>
        </p:txBody>
      </p:sp>
      <p:sp>
        <p:nvSpPr>
          <p:cNvPr id="39" name="Text 33"/>
          <p:cNvSpPr txBox="1"/>
          <p:nvPr/>
        </p:nvSpPr>
        <p:spPr>
          <a:xfrm>
            <a:off x="8918943" y="3429000"/>
            <a:ext cx="2468880" cy="365760"/>
          </a:xfrm>
          <a:prstGeom prst="rect">
            <a:avLst/>
          </a:prstGeom>
          <a:noFill/>
          <a:ln/>
        </p:spPr>
        <p:txBody>
          <a:bodyPr wrap="square" lIns="0" tIns="0" rIns="0" bIns="0" rtlCol="0" anchor="t"/>
          <a:lstStyle/>
          <a:p>
            <a:pPr algn="ctr" indent="0" marL="0">
              <a:buNone/>
            </a:pPr>
            <a:r>
              <a:rPr lang="en-US" sz="1600" b="1" dirty="0">
                <a:solidFill>
                  <a:srgbClr val="0F1B2D"/>
                </a:solidFill>
                <a:latin typeface="Arial" pitchFamily="34" charset="0"/>
                <a:ea typeface="Arial" pitchFamily="34" charset="-122"/>
                <a:cs typeface="Arial" pitchFamily="34" charset="-120"/>
              </a:rPr>
              <a:t>Explainability</a:t>
            </a:r>
            <a:endParaRPr lang="en-US" sz="1600" dirty="0"/>
          </a:p>
        </p:txBody>
      </p:sp>
      <p:sp>
        <p:nvSpPr>
          <p:cNvPr id="40" name="Text 34"/>
          <p:cNvSpPr txBox="1"/>
          <p:nvPr/>
        </p:nvSpPr>
        <p:spPr>
          <a:xfrm>
            <a:off x="8964663" y="3840480"/>
            <a:ext cx="2377440" cy="822960"/>
          </a:xfrm>
          <a:prstGeom prst="rect">
            <a:avLst/>
          </a:prstGeom>
          <a:noFill/>
          <a:ln/>
        </p:spPr>
        <p:txBody>
          <a:bodyPr wrap="square" lIns="0" tIns="0" rIns="0" bIns="0" rtlCol="0" anchor="t"/>
          <a:lstStyle/>
          <a:p>
            <a:pPr algn="ctr" indent="0" marL="0">
              <a:buNone/>
            </a:pPr>
            <a:r>
              <a:rPr lang="en-US" sz="1250" dirty="0">
                <a:solidFill>
                  <a:srgbClr val="55606E"/>
                </a:solidFill>
                <a:latin typeface="Arial" pitchFamily="34" charset="0"/>
                <a:ea typeface="Arial" pitchFamily="34" charset="-122"/>
                <a:cs typeface="Arial" pitchFamily="34" charset="-120"/>
              </a:rPr>
              <a:t>SHAP analysis of the hybrid, as in the paper's Figures 25–26</a:t>
            </a:r>
            <a:endParaRPr lang="en-US" sz="1250" dirty="0"/>
          </a:p>
        </p:txBody>
      </p:sp>
      <p:sp>
        <p:nvSpPr>
          <p:cNvPr id="41" name="Shape 35"/>
          <p:cNvSpPr/>
          <p:nvPr/>
        </p:nvSpPr>
        <p:spPr>
          <a:xfrm>
            <a:off x="685800" y="5257800"/>
            <a:ext cx="10820095" cy="731520"/>
          </a:xfrm>
          <a:prstGeom prst="roundRect">
            <a:avLst>
              <a:gd name="adj" fmla="val 7500"/>
            </a:avLst>
          </a:prstGeom>
          <a:solidFill>
            <a:srgbClr val="E7F4ED"/>
          </a:solidFill>
          <a:ln w="12700">
            <a:solidFill>
              <a:srgbClr val="E7F4ED"/>
            </a:solidFill>
            <a:prstDash val="solid"/>
          </a:ln>
        </p:spPr>
      </p:sp>
      <p:pic>
        <p:nvPicPr>
          <p:cNvPr id="42" name="Image 4" descr="preencoded.png">    </p:cNvPr>
          <p:cNvPicPr>
            <a:picLocks noChangeAspect="1"/>
          </p:cNvPicPr>
          <p:nvPr/>
        </p:nvPicPr>
        <p:blipFill>
          <a:blip r:embed="rId5"/>
          <a:stretch>
            <a:fillRect/>
          </a:stretch>
        </p:blipFill>
        <p:spPr>
          <a:xfrm>
            <a:off x="960120" y="5449824"/>
            <a:ext cx="347472" cy="347472"/>
          </a:xfrm>
          <a:prstGeom prst="rect">
            <a:avLst/>
          </a:prstGeom>
        </p:spPr>
      </p:pic>
      <p:sp>
        <p:nvSpPr>
          <p:cNvPr id="43" name="Text 36"/>
          <p:cNvSpPr txBox="1"/>
          <p:nvPr/>
        </p:nvSpPr>
        <p:spPr>
          <a:xfrm>
            <a:off x="1463040" y="5257800"/>
            <a:ext cx="9814255" cy="731520"/>
          </a:xfrm>
          <a:prstGeom prst="rect">
            <a:avLst/>
          </a:prstGeom>
          <a:noFill/>
          <a:ln/>
        </p:spPr>
        <p:txBody>
          <a:bodyPr wrap="square" lIns="0" tIns="0" rIns="0" bIns="0" rtlCol="0" anchor="ctr"/>
          <a:lstStyle/>
          <a:p>
            <a:pPr indent="0" marL="0">
              <a:buNone/>
            </a:pPr>
            <a:r>
              <a:rPr lang="en-US" sz="1350" b="1" dirty="0">
                <a:solidFill>
                  <a:srgbClr val="1E8A5F"/>
                </a:solidFill>
                <a:latin typeface="Arial" pitchFamily="34" charset="0"/>
                <a:ea typeface="Arial" pitchFamily="34" charset="-122"/>
                <a:cs typeface="Arial" pitchFamily="34" charset="-120"/>
              </a:rPr>
              <a:t>Already in place: </a:t>
            </a:r>
            <a:pPr indent="0" marL="0">
              <a:buNone/>
            </a:pPr>
            <a:r>
              <a:rPr lang="en-US" sz="1350" dirty="0">
                <a:solidFill>
                  <a:srgbClr val="0F1B2D"/>
                </a:solidFill>
                <a:latin typeface="Arial" pitchFamily="34" charset="0"/>
                <a:ea typeface="Arial" pitchFamily="34" charset="-122"/>
                <a:cs typeface="Arial" pitchFamily="34" charset="-120"/>
              </a:rPr>
              <a:t>reproducible code for every experiment, results for all 15 models, figures and a full written report.</a:t>
            </a:r>
            <a:endParaRPr lang="en-US" sz="1350" dirty="0"/>
          </a:p>
        </p:txBody>
      </p:sp>
      <p:sp>
        <p:nvSpPr>
          <p:cNvPr id="44" name="Text 37"/>
          <p:cNvSpPr txBox="1"/>
          <p:nvPr/>
        </p:nvSpPr>
        <p:spPr>
          <a:xfrm>
            <a:off x="685800" y="6400800"/>
            <a:ext cx="7315200" cy="228600"/>
          </a:xfrm>
          <a:prstGeom prst="rect">
            <a:avLst/>
          </a:prstGeom>
          <a:noFill/>
          <a:ln/>
        </p:spPr>
        <p:txBody>
          <a:bodyPr wrap="square" lIns="0" tIns="0" rIns="0" bIns="0" rtlCol="0" anchor="t"/>
          <a:lstStyle/>
          <a:p>
            <a:pPr indent="0" marL="0">
              <a:buNone/>
            </a:pPr>
            <a:r>
              <a:rPr lang="en-US" sz="900" dirty="0">
                <a:solidFill>
                  <a:srgbClr val="8A94A3"/>
                </a:solidFill>
                <a:latin typeface="Arial" pitchFamily="34" charset="0"/>
                <a:ea typeface="Arial" pitchFamily="34" charset="-122"/>
                <a:cs typeface="Arial" pitchFamily="34" charset="-120"/>
              </a:rPr>
              <a:t>Anomaly detection for Advanced Persistent Threats   |   Mid-term evaluation</a:t>
            </a:r>
            <a:endParaRPr lang="en-US" sz="900" dirty="0"/>
          </a:p>
        </p:txBody>
      </p:sp>
      <p:sp>
        <p:nvSpPr>
          <p:cNvPr id="45" name="Text 38"/>
          <p:cNvSpPr txBox="1"/>
          <p:nvPr/>
        </p:nvSpPr>
        <p:spPr>
          <a:xfrm>
            <a:off x="10591495" y="6400800"/>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Arial" pitchFamily="34" charset="0"/>
                <a:ea typeface="Arial" pitchFamily="34" charset="-122"/>
                <a:cs typeface="Arial"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V="1">
            <a:off x="10087295" y="470002"/>
            <a:ext cx="288950" cy="416966"/>
          </a:xfrm>
          <a:prstGeom prst="line">
            <a:avLst/>
          </a:prstGeom>
          <a:noFill/>
          <a:ln w="9525">
            <a:solidFill>
              <a:srgbClr val="DCE2EA"/>
            </a:solidFill>
            <a:prstDash val="solid"/>
          </a:ln>
        </p:spPr>
      </p:sp>
      <p:sp>
        <p:nvSpPr>
          <p:cNvPr id="3" name="Shape 1"/>
          <p:cNvSpPr/>
          <p:nvPr/>
        </p:nvSpPr>
        <p:spPr>
          <a:xfrm>
            <a:off x="10087295" y="886968"/>
            <a:ext cx="549006" cy="69494"/>
          </a:xfrm>
          <a:prstGeom prst="line">
            <a:avLst/>
          </a:prstGeom>
          <a:noFill/>
          <a:ln w="9525">
            <a:solidFill>
              <a:srgbClr val="DCE2EA"/>
            </a:solidFill>
            <a:prstDash val="solid"/>
          </a:ln>
        </p:spPr>
      </p:sp>
      <p:sp>
        <p:nvSpPr>
          <p:cNvPr id="4" name="Shape 2"/>
          <p:cNvSpPr/>
          <p:nvPr/>
        </p:nvSpPr>
        <p:spPr>
          <a:xfrm>
            <a:off x="10376245" y="470002"/>
            <a:ext cx="549006" cy="156362"/>
          </a:xfrm>
          <a:prstGeom prst="line">
            <a:avLst/>
          </a:prstGeom>
          <a:noFill/>
          <a:ln w="9525">
            <a:solidFill>
              <a:srgbClr val="F2B7A8"/>
            </a:solidFill>
            <a:prstDash val="solid"/>
          </a:ln>
        </p:spPr>
      </p:sp>
      <p:sp>
        <p:nvSpPr>
          <p:cNvPr id="5" name="Shape 3"/>
          <p:cNvSpPr/>
          <p:nvPr/>
        </p:nvSpPr>
        <p:spPr>
          <a:xfrm flipV="1">
            <a:off x="10636301" y="626364"/>
            <a:ext cx="288950" cy="330098"/>
          </a:xfrm>
          <a:prstGeom prst="line">
            <a:avLst/>
          </a:prstGeom>
          <a:noFill/>
          <a:ln w="9525">
            <a:solidFill>
              <a:srgbClr val="F2B7A8"/>
            </a:solidFill>
            <a:prstDash val="solid"/>
          </a:ln>
        </p:spPr>
      </p:sp>
      <p:sp>
        <p:nvSpPr>
          <p:cNvPr id="6" name="Shape 4"/>
          <p:cNvSpPr/>
          <p:nvPr/>
        </p:nvSpPr>
        <p:spPr>
          <a:xfrm flipV="1">
            <a:off x="10925251" y="522122"/>
            <a:ext cx="534558" cy="104242"/>
          </a:xfrm>
          <a:prstGeom prst="line">
            <a:avLst/>
          </a:prstGeom>
          <a:noFill/>
          <a:ln w="9525">
            <a:solidFill>
              <a:srgbClr val="F2B7A8"/>
            </a:solidFill>
            <a:prstDash val="solid"/>
          </a:ln>
        </p:spPr>
      </p:sp>
      <p:sp>
        <p:nvSpPr>
          <p:cNvPr id="7" name="Shape 5"/>
          <p:cNvSpPr/>
          <p:nvPr/>
        </p:nvSpPr>
        <p:spPr>
          <a:xfrm>
            <a:off x="10636301" y="956462"/>
            <a:ext cx="549006" cy="121615"/>
          </a:xfrm>
          <a:prstGeom prst="line">
            <a:avLst/>
          </a:prstGeom>
          <a:noFill/>
          <a:ln w="9525">
            <a:solidFill>
              <a:srgbClr val="DCE2EA"/>
            </a:solidFill>
            <a:prstDash val="solid"/>
          </a:ln>
        </p:spPr>
      </p:sp>
      <p:sp>
        <p:nvSpPr>
          <p:cNvPr id="8" name="Shape 6"/>
          <p:cNvSpPr/>
          <p:nvPr/>
        </p:nvSpPr>
        <p:spPr>
          <a:xfrm flipV="1">
            <a:off x="11185307" y="843534"/>
            <a:ext cx="173370" cy="234544"/>
          </a:xfrm>
          <a:prstGeom prst="line">
            <a:avLst/>
          </a:prstGeom>
          <a:noFill/>
          <a:ln w="9525">
            <a:solidFill>
              <a:srgbClr val="DCE2EA"/>
            </a:solidFill>
            <a:prstDash val="solid"/>
          </a:ln>
        </p:spPr>
      </p:sp>
      <p:sp>
        <p:nvSpPr>
          <p:cNvPr id="9" name="Shape 7"/>
          <p:cNvSpPr/>
          <p:nvPr/>
        </p:nvSpPr>
        <p:spPr>
          <a:xfrm flipH="1">
            <a:off x="11358677" y="522122"/>
            <a:ext cx="101133" cy="321412"/>
          </a:xfrm>
          <a:prstGeom prst="line">
            <a:avLst/>
          </a:prstGeom>
          <a:noFill/>
          <a:ln w="9525">
            <a:solidFill>
              <a:srgbClr val="DCE2EA"/>
            </a:solidFill>
            <a:prstDash val="solid"/>
          </a:ln>
        </p:spPr>
      </p:sp>
      <p:sp>
        <p:nvSpPr>
          <p:cNvPr id="10" name="Shape 8"/>
          <p:cNvSpPr/>
          <p:nvPr/>
        </p:nvSpPr>
        <p:spPr>
          <a:xfrm>
            <a:off x="10055291" y="854964"/>
            <a:ext cx="64008" cy="64008"/>
          </a:xfrm>
          <a:prstGeom prst="ellipse">
            <a:avLst/>
          </a:prstGeom>
          <a:solidFill>
            <a:srgbClr val="C3CCD9"/>
          </a:solidFill>
          <a:ln w="12700">
            <a:solidFill>
              <a:srgbClr val="C3CCD9"/>
            </a:solidFill>
            <a:prstDash val="solid"/>
          </a:ln>
        </p:spPr>
      </p:sp>
      <p:sp>
        <p:nvSpPr>
          <p:cNvPr id="11" name="Shape 9"/>
          <p:cNvSpPr/>
          <p:nvPr/>
        </p:nvSpPr>
        <p:spPr>
          <a:xfrm>
            <a:off x="10335097" y="428854"/>
            <a:ext cx="82296" cy="82296"/>
          </a:xfrm>
          <a:prstGeom prst="ellipse">
            <a:avLst/>
          </a:prstGeom>
          <a:solidFill>
            <a:srgbClr val="C3CCD9"/>
          </a:solidFill>
          <a:ln w="12700">
            <a:solidFill>
              <a:srgbClr val="C3CCD9"/>
            </a:solidFill>
            <a:prstDash val="solid"/>
          </a:ln>
        </p:spPr>
      </p:sp>
      <p:sp>
        <p:nvSpPr>
          <p:cNvPr id="12" name="Shape 10"/>
          <p:cNvSpPr/>
          <p:nvPr/>
        </p:nvSpPr>
        <p:spPr>
          <a:xfrm>
            <a:off x="10599725" y="919886"/>
            <a:ext cx="73152" cy="73152"/>
          </a:xfrm>
          <a:prstGeom prst="ellipse">
            <a:avLst/>
          </a:prstGeom>
          <a:solidFill>
            <a:srgbClr val="C3CCD9"/>
          </a:solidFill>
          <a:ln w="12700">
            <a:solidFill>
              <a:srgbClr val="C3CCD9"/>
            </a:solidFill>
            <a:prstDash val="solid"/>
          </a:ln>
        </p:spPr>
      </p:sp>
      <p:sp>
        <p:nvSpPr>
          <p:cNvPr id="13" name="Shape 11"/>
          <p:cNvSpPr/>
          <p:nvPr/>
        </p:nvSpPr>
        <p:spPr>
          <a:xfrm>
            <a:off x="10806379" y="507492"/>
            <a:ext cx="237744" cy="237744"/>
          </a:xfrm>
          <a:prstGeom prst="ellipse">
            <a:avLst/>
          </a:prstGeom>
          <a:solidFill>
            <a:srgbClr val="E0533A">
              <a:alpha val="18000"/>
            </a:srgbClr>
          </a:solidFill>
          <a:ln w="12700">
            <a:solidFill>
              <a:srgbClr val="E0533A">
                <a:alpha val="18000"/>
              </a:srgbClr>
            </a:solidFill>
            <a:prstDash val="solid"/>
          </a:ln>
        </p:spPr>
      </p:sp>
      <p:sp>
        <p:nvSpPr>
          <p:cNvPr id="14" name="Shape 12"/>
          <p:cNvSpPr/>
          <p:nvPr/>
        </p:nvSpPr>
        <p:spPr>
          <a:xfrm>
            <a:off x="10874959" y="576072"/>
            <a:ext cx="100584" cy="100584"/>
          </a:xfrm>
          <a:prstGeom prst="ellipse">
            <a:avLst/>
          </a:prstGeom>
          <a:solidFill>
            <a:srgbClr val="E0533A"/>
          </a:solidFill>
          <a:ln w="12700">
            <a:solidFill>
              <a:srgbClr val="E0533A"/>
            </a:solidFill>
            <a:prstDash val="solid"/>
          </a:ln>
        </p:spPr>
      </p:sp>
      <p:sp>
        <p:nvSpPr>
          <p:cNvPr id="15" name="Shape 13"/>
          <p:cNvSpPr/>
          <p:nvPr/>
        </p:nvSpPr>
        <p:spPr>
          <a:xfrm>
            <a:off x="11144159" y="1036930"/>
            <a:ext cx="82296" cy="82296"/>
          </a:xfrm>
          <a:prstGeom prst="ellipse">
            <a:avLst/>
          </a:prstGeom>
          <a:solidFill>
            <a:srgbClr val="C3CCD9"/>
          </a:solidFill>
          <a:ln w="12700">
            <a:solidFill>
              <a:srgbClr val="C3CCD9"/>
            </a:solidFill>
            <a:prstDash val="solid"/>
          </a:ln>
        </p:spPr>
      </p:sp>
      <p:sp>
        <p:nvSpPr>
          <p:cNvPr id="16" name="Shape 14"/>
          <p:cNvSpPr/>
          <p:nvPr/>
        </p:nvSpPr>
        <p:spPr>
          <a:xfrm>
            <a:off x="11427805" y="490118"/>
            <a:ext cx="64008" cy="64008"/>
          </a:xfrm>
          <a:prstGeom prst="ellipse">
            <a:avLst/>
          </a:prstGeom>
          <a:solidFill>
            <a:srgbClr val="C3CCD9"/>
          </a:solidFill>
          <a:ln w="12700">
            <a:solidFill>
              <a:srgbClr val="C3CCD9"/>
            </a:solidFill>
            <a:prstDash val="solid"/>
          </a:ln>
        </p:spPr>
      </p:sp>
      <p:sp>
        <p:nvSpPr>
          <p:cNvPr id="17" name="Shape 15"/>
          <p:cNvSpPr/>
          <p:nvPr/>
        </p:nvSpPr>
        <p:spPr>
          <a:xfrm>
            <a:off x="11331245" y="816102"/>
            <a:ext cx="54864" cy="54864"/>
          </a:xfrm>
          <a:prstGeom prst="ellipse">
            <a:avLst/>
          </a:prstGeom>
          <a:solidFill>
            <a:srgbClr val="C3CCD9"/>
          </a:solidFill>
          <a:ln w="12700">
            <a:solidFill>
              <a:srgbClr val="C3CCD9"/>
            </a:solidFill>
            <a:prstDash val="solid"/>
          </a:ln>
        </p:spPr>
      </p:sp>
      <p:sp>
        <p:nvSpPr>
          <p:cNvPr id="18" name="Text 16"/>
          <p:cNvSpPr txBox="1"/>
          <p:nvPr/>
        </p:nvSpPr>
        <p:spPr>
          <a:xfrm>
            <a:off x="685800" y="475488"/>
            <a:ext cx="10820095" cy="256032"/>
          </a:xfrm>
          <a:prstGeom prst="rect">
            <a:avLst/>
          </a:prstGeom>
          <a:noFill/>
          <a:ln/>
        </p:spPr>
        <p:txBody>
          <a:bodyPr wrap="square" lIns="0" tIns="0" rIns="0" bIns="0" rtlCol="0" anchor="t"/>
          <a:lstStyle/>
          <a:p>
            <a:pPr indent="0" marL="0">
              <a:buNone/>
            </a:pPr>
            <a:r>
              <a:rPr lang="en-US" sz="1100" b="1" dirty="0">
                <a:solidFill>
                  <a:srgbClr val="E0533A"/>
                </a:solidFill>
                <a:latin typeface="Arial" pitchFamily="34" charset="0"/>
                <a:ea typeface="Arial" pitchFamily="34" charset="-122"/>
                <a:cs typeface="Arial" pitchFamily="34" charset="-120"/>
              </a:rPr>
              <a:t>REFERENCES</a:t>
            </a:r>
            <a:endParaRPr lang="en-US" sz="1100" dirty="0"/>
          </a:p>
        </p:txBody>
      </p:sp>
      <p:sp>
        <p:nvSpPr>
          <p:cNvPr id="19" name="Text 17"/>
          <p:cNvSpPr txBox="1"/>
          <p:nvPr/>
        </p:nvSpPr>
        <p:spPr>
          <a:xfrm>
            <a:off x="685800" y="768096"/>
            <a:ext cx="10820095" cy="822960"/>
          </a:xfrm>
          <a:prstGeom prst="rect">
            <a:avLst/>
          </a:prstGeom>
          <a:noFill/>
          <a:ln/>
        </p:spPr>
        <p:txBody>
          <a:bodyPr wrap="square" lIns="0" tIns="0" rIns="0" bIns="0" rtlCol="0" anchor="t"/>
          <a:lstStyle/>
          <a:p>
            <a:pPr indent="0" marL="0">
              <a:buNone/>
            </a:pPr>
            <a:r>
              <a:rPr lang="en-US" sz="3000" dirty="0">
                <a:solidFill>
                  <a:srgbClr val="0F1B2D"/>
                </a:solidFill>
                <a:latin typeface="Georgia" pitchFamily="34" charset="0"/>
                <a:ea typeface="Georgia" pitchFamily="34" charset="-122"/>
                <a:cs typeface="Georgia" pitchFamily="34" charset="-120"/>
              </a:rPr>
              <a:t>References</a:t>
            </a:r>
            <a:endParaRPr lang="en-US" sz="3000" dirty="0"/>
          </a:p>
        </p:txBody>
      </p:sp>
      <p:sp>
        <p:nvSpPr>
          <p:cNvPr id="20" name="Text 18"/>
          <p:cNvSpPr txBox="1"/>
          <p:nvPr/>
        </p:nvSpPr>
        <p:spPr>
          <a:xfrm>
            <a:off x="685800" y="1783080"/>
            <a:ext cx="10820095" cy="4480560"/>
          </a:xfrm>
          <a:prstGeom prst="rect">
            <a:avLst/>
          </a:prstGeom>
          <a:noFill/>
          <a:ln/>
        </p:spPr>
        <p:txBody>
          <a:bodyPr wrap="square" lIns="0" tIns="0" rIns="0" bIns="0" rtlCol="0" anchor="t"/>
          <a:lstStyle/>
          <a:p>
            <a:pPr marL="342900" indent="-342900">
              <a:spcAft>
                <a:spcPts val="900"/>
              </a:spcAft>
              <a:buSzPct val="100000"/>
              <a:buFont typeface="+mj-lt"/>
              <a:buAutoNum type="arabicPeriod" startAt="1"/>
            </a:pPr>
            <a:r>
              <a:rPr lang="en-US" sz="1200" dirty="0">
                <a:solidFill>
                  <a:srgbClr val="0F1B2D"/>
                </a:solidFill>
                <a:latin typeface="Arial" pitchFamily="34" charset="0"/>
                <a:ea typeface="Arial" pitchFamily="34" charset="-122"/>
                <a:cs typeface="Arial" pitchFamily="34" charset="-120"/>
              </a:rPr>
              <a:t>N. Saini, V. Bhat Kasaragod, K. Prakasha, A. K. Das. A hybrid ensemble machine learning model for detecting APT attacks based on network behavior anomaly detection. Concurrency and Computation: Practice and Experience, 35(28):e7865, 2023. doi:10.1002/cpe.7865</a:t>
            </a:r>
            <a:endParaRPr lang="en-US" sz="1200" dirty="0"/>
          </a:p>
          <a:p>
            <a:pPr marL="342900" indent="-342900">
              <a:spcAft>
                <a:spcPts val="900"/>
              </a:spcAft>
              <a:buSzPct val="100000"/>
              <a:buFont typeface="+mj-lt"/>
              <a:buAutoNum type="arabicPeriod" startAt="1"/>
            </a:pPr>
            <a:r>
              <a:rPr lang="en-US" sz="1200" dirty="0">
                <a:solidFill>
                  <a:srgbClr val="0F1B2D"/>
                </a:solidFill>
                <a:latin typeface="Arial" pitchFamily="34" charset="0"/>
                <a:ea typeface="Arial" pitchFamily="34" charset="-122"/>
                <a:cs typeface="Arial" pitchFamily="34" charset="-120"/>
              </a:rPr>
              <a:t>S. Myneni, A. Chowdhary, A. Sabur, S. Sengupta, G. Agrawal, D. Huang, M. Kang. DAPT 2020 – Constructing a benchmark dataset for advanced persistent threats. Deployable Machine Learning for Security Defense (MLHat 2020), Springer CCIS, 2020. doi:10.1007/978-3-030-59621-7_8</a:t>
            </a:r>
            <a:endParaRPr lang="en-US" sz="1200" dirty="0"/>
          </a:p>
          <a:p>
            <a:pPr marL="342900" indent="-342900">
              <a:spcAft>
                <a:spcPts val="900"/>
              </a:spcAft>
              <a:buSzPct val="100000"/>
              <a:buFont typeface="+mj-lt"/>
              <a:buAutoNum type="arabicPeriod" startAt="1"/>
            </a:pPr>
            <a:r>
              <a:rPr lang="en-US" sz="1200" dirty="0">
                <a:solidFill>
                  <a:srgbClr val="0F1B2D"/>
                </a:solidFill>
                <a:latin typeface="Arial" pitchFamily="34" charset="0"/>
                <a:ea typeface="Arial" pitchFamily="34" charset="-122"/>
                <a:cs typeface="Arial" pitchFamily="34" charset="-120"/>
              </a:rPr>
              <a:t>DAPT2020 dataset. kaggle.com/datasets/sowmyamyneni/dapt2020</a:t>
            </a:r>
            <a:endParaRPr lang="en-US" sz="1200" dirty="0"/>
          </a:p>
          <a:p>
            <a:pPr marL="342900" indent="-342900">
              <a:spcAft>
                <a:spcPts val="900"/>
              </a:spcAft>
              <a:buSzPct val="100000"/>
              <a:buFont typeface="+mj-lt"/>
              <a:buAutoNum type="arabicPeriod" startAt="1"/>
            </a:pPr>
            <a:r>
              <a:rPr lang="en-US" sz="1200" dirty="0">
                <a:solidFill>
                  <a:srgbClr val="0F1B2D"/>
                </a:solidFill>
                <a:latin typeface="Arial" pitchFamily="34" charset="0"/>
                <a:ea typeface="Arial" pitchFamily="34" charset="-122"/>
                <a:cs typeface="Arial" pitchFamily="34" charset="-120"/>
              </a:rPr>
              <a:t>N. V. Chawla, K. W. Bowyer, L. O. Hall, W. P. Kegelmeyer. SMOTE: Synthetic minority over-sampling technique. Journal of Artificial Intelligence Research, 16:321–357, 2002.</a:t>
            </a:r>
            <a:endParaRPr lang="en-US" sz="1200" dirty="0"/>
          </a:p>
          <a:p>
            <a:pPr marL="342900" indent="-342900">
              <a:spcAft>
                <a:spcPts val="900"/>
              </a:spcAft>
              <a:buSzPct val="100000"/>
              <a:buFont typeface="+mj-lt"/>
              <a:buAutoNum type="arabicPeriod" startAt="1"/>
            </a:pPr>
            <a:r>
              <a:rPr lang="en-US" sz="1200" dirty="0">
                <a:solidFill>
                  <a:srgbClr val="0F1B2D"/>
                </a:solidFill>
                <a:latin typeface="Arial" pitchFamily="34" charset="0"/>
                <a:ea typeface="Arial" pitchFamily="34" charset="-122"/>
                <a:cs typeface="Arial" pitchFamily="34" charset="-120"/>
              </a:rPr>
              <a:t>G. E. Batista, R. C. Prati, M. C. Monard. A study of the behavior of several methods for balancing machine learning training data. ACM SIGKDD Explorations, 6(1):20–29, 2004.</a:t>
            </a:r>
            <a:endParaRPr lang="en-US" sz="1200" dirty="0"/>
          </a:p>
          <a:p>
            <a:pPr marL="342900" indent="-342900">
              <a:spcAft>
                <a:spcPts val="900"/>
              </a:spcAft>
              <a:buSzPct val="100000"/>
              <a:buFont typeface="+mj-lt"/>
              <a:buAutoNum type="arabicPeriod" startAt="1"/>
            </a:pPr>
            <a:r>
              <a:rPr lang="en-US" sz="1200" dirty="0">
                <a:solidFill>
                  <a:srgbClr val="0F1B2D"/>
                </a:solidFill>
                <a:latin typeface="Arial" pitchFamily="34" charset="0"/>
                <a:ea typeface="Arial" pitchFamily="34" charset="-122"/>
                <a:cs typeface="Arial" pitchFamily="34" charset="-120"/>
              </a:rPr>
              <a:t>L. Breiman. Random forests. Machine Learning, 45:5–32, 2001.</a:t>
            </a:r>
            <a:endParaRPr lang="en-US" sz="1200" dirty="0"/>
          </a:p>
          <a:p>
            <a:pPr marL="342900" indent="-342900">
              <a:spcAft>
                <a:spcPts val="900"/>
              </a:spcAft>
              <a:buSzPct val="100000"/>
              <a:buFont typeface="+mj-lt"/>
              <a:buAutoNum type="arabicPeriod" startAt="1"/>
            </a:pPr>
            <a:r>
              <a:rPr lang="en-US" sz="1200" dirty="0">
                <a:solidFill>
                  <a:srgbClr val="0F1B2D"/>
                </a:solidFill>
                <a:latin typeface="Arial" pitchFamily="34" charset="0"/>
                <a:ea typeface="Arial" pitchFamily="34" charset="-122"/>
                <a:cs typeface="Arial" pitchFamily="34" charset="-120"/>
              </a:rPr>
              <a:t>T. Chen, C. Guestrin. XGBoost: A scalable tree boosting system. Proceedings of ACM SIGKDD, 2016.</a:t>
            </a:r>
            <a:endParaRPr lang="en-US" sz="1200" dirty="0"/>
          </a:p>
          <a:p>
            <a:pPr marL="342900" indent="-342900">
              <a:spcAft>
                <a:spcPts val="900"/>
              </a:spcAft>
              <a:buSzPct val="100000"/>
              <a:buFont typeface="+mj-lt"/>
              <a:buAutoNum type="arabicPeriod" startAt="1"/>
            </a:pPr>
            <a:r>
              <a:rPr lang="en-US" sz="1200" dirty="0">
                <a:solidFill>
                  <a:srgbClr val="0F1B2D"/>
                </a:solidFill>
                <a:latin typeface="Arial" pitchFamily="34" charset="0"/>
                <a:ea typeface="Arial" pitchFamily="34" charset="-122"/>
                <a:cs typeface="Arial" pitchFamily="34" charset="-120"/>
              </a:rPr>
              <a:t>DSRL-APT-2023: A new synthetic dataset for advanced persistent threats. The ISC International Journal of Information Security (ISeCure), 17(2):107–116, 2025. (DAPT2020 benign count)</a:t>
            </a:r>
            <a:endParaRPr lang="en-US" sz="1200" dirty="0"/>
          </a:p>
        </p:txBody>
      </p:sp>
      <p:sp>
        <p:nvSpPr>
          <p:cNvPr id="21" name="Text 19"/>
          <p:cNvSpPr txBox="1"/>
          <p:nvPr/>
        </p:nvSpPr>
        <p:spPr>
          <a:xfrm>
            <a:off x="685800" y="6400800"/>
            <a:ext cx="7315200" cy="228600"/>
          </a:xfrm>
          <a:prstGeom prst="rect">
            <a:avLst/>
          </a:prstGeom>
          <a:noFill/>
          <a:ln/>
        </p:spPr>
        <p:txBody>
          <a:bodyPr wrap="square" lIns="0" tIns="0" rIns="0" bIns="0" rtlCol="0" anchor="t"/>
          <a:lstStyle/>
          <a:p>
            <a:pPr indent="0" marL="0">
              <a:buNone/>
            </a:pPr>
            <a:r>
              <a:rPr lang="en-US" sz="900" dirty="0">
                <a:solidFill>
                  <a:srgbClr val="8A94A3"/>
                </a:solidFill>
                <a:latin typeface="Arial" pitchFamily="34" charset="0"/>
                <a:ea typeface="Arial" pitchFamily="34" charset="-122"/>
                <a:cs typeface="Arial" pitchFamily="34" charset="-120"/>
              </a:rPr>
              <a:t>Anomaly detection for Advanced Persistent Threats   |   Mid-term evaluation</a:t>
            </a:r>
            <a:endParaRPr lang="en-US" sz="900" dirty="0"/>
          </a:p>
        </p:txBody>
      </p:sp>
      <p:sp>
        <p:nvSpPr>
          <p:cNvPr id="22" name="Text 20"/>
          <p:cNvSpPr txBox="1"/>
          <p:nvPr/>
        </p:nvSpPr>
        <p:spPr>
          <a:xfrm>
            <a:off x="10591495" y="6400800"/>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Arial" pitchFamily="34" charset="0"/>
                <a:ea typeface="Arial" pitchFamily="34" charset="-122"/>
                <a:cs typeface="Arial"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997568" y="1108585"/>
            <a:ext cx="339251" cy="535553"/>
          </a:xfrm>
          <a:prstGeom prst="line">
            <a:avLst/>
          </a:prstGeom>
          <a:noFill/>
          <a:ln w="9525">
            <a:solidFill>
              <a:srgbClr val="2C3E5C"/>
            </a:solidFill>
            <a:prstDash val="solid"/>
          </a:ln>
        </p:spPr>
      </p:sp>
      <p:sp>
        <p:nvSpPr>
          <p:cNvPr id="3" name="Shape 1"/>
          <p:cNvSpPr/>
          <p:nvPr/>
        </p:nvSpPr>
        <p:spPr>
          <a:xfrm flipV="1">
            <a:off x="6997568" y="871335"/>
            <a:ext cx="906965" cy="237250"/>
          </a:xfrm>
          <a:prstGeom prst="line">
            <a:avLst/>
          </a:prstGeom>
          <a:noFill/>
          <a:ln w="9525">
            <a:solidFill>
              <a:srgbClr val="2C3E5C"/>
            </a:solidFill>
            <a:prstDash val="solid"/>
          </a:ln>
        </p:spPr>
      </p:sp>
      <p:sp>
        <p:nvSpPr>
          <p:cNvPr id="4" name="Shape 2"/>
          <p:cNvSpPr/>
          <p:nvPr/>
        </p:nvSpPr>
        <p:spPr>
          <a:xfrm>
            <a:off x="7904533" y="871335"/>
            <a:ext cx="239104" cy="736086"/>
          </a:xfrm>
          <a:prstGeom prst="line">
            <a:avLst/>
          </a:prstGeom>
          <a:noFill/>
          <a:ln w="9525">
            <a:solidFill>
              <a:srgbClr val="2C3E5C"/>
            </a:solidFill>
            <a:prstDash val="solid"/>
          </a:ln>
        </p:spPr>
      </p:sp>
      <p:sp>
        <p:nvSpPr>
          <p:cNvPr id="5" name="Shape 3"/>
          <p:cNvSpPr/>
          <p:nvPr/>
        </p:nvSpPr>
        <p:spPr>
          <a:xfrm flipV="1">
            <a:off x="7904533" y="667019"/>
            <a:ext cx="989824" cy="204316"/>
          </a:xfrm>
          <a:prstGeom prst="line">
            <a:avLst/>
          </a:prstGeom>
          <a:noFill/>
          <a:ln w="9525">
            <a:solidFill>
              <a:srgbClr val="2C3E5C"/>
            </a:solidFill>
            <a:prstDash val="solid"/>
          </a:ln>
        </p:spPr>
      </p:sp>
      <p:sp>
        <p:nvSpPr>
          <p:cNvPr id="6" name="Shape 4"/>
          <p:cNvSpPr/>
          <p:nvPr/>
        </p:nvSpPr>
        <p:spPr>
          <a:xfrm>
            <a:off x="8894357" y="667019"/>
            <a:ext cx="993653" cy="351353"/>
          </a:xfrm>
          <a:prstGeom prst="line">
            <a:avLst/>
          </a:prstGeom>
          <a:noFill/>
          <a:ln w="9525">
            <a:solidFill>
              <a:srgbClr val="2C3E5C"/>
            </a:solidFill>
            <a:prstDash val="solid"/>
          </a:ln>
        </p:spPr>
      </p:sp>
      <p:sp>
        <p:nvSpPr>
          <p:cNvPr id="7" name="Shape 5"/>
          <p:cNvSpPr/>
          <p:nvPr/>
        </p:nvSpPr>
        <p:spPr>
          <a:xfrm>
            <a:off x="9888010" y="1018372"/>
            <a:ext cx="318907" cy="157625"/>
          </a:xfrm>
          <a:prstGeom prst="line">
            <a:avLst/>
          </a:prstGeom>
          <a:noFill/>
          <a:ln w="9525">
            <a:solidFill>
              <a:srgbClr val="2C3E5C"/>
            </a:solidFill>
            <a:prstDash val="solid"/>
          </a:ln>
        </p:spPr>
      </p:sp>
      <p:sp>
        <p:nvSpPr>
          <p:cNvPr id="8" name="Shape 6"/>
          <p:cNvSpPr/>
          <p:nvPr/>
        </p:nvSpPr>
        <p:spPr>
          <a:xfrm>
            <a:off x="9888010" y="1018372"/>
            <a:ext cx="350452" cy="644002"/>
          </a:xfrm>
          <a:prstGeom prst="line">
            <a:avLst/>
          </a:prstGeom>
          <a:noFill/>
          <a:ln w="9525">
            <a:solidFill>
              <a:srgbClr val="2C3E5C"/>
            </a:solidFill>
            <a:prstDash val="solid"/>
          </a:ln>
        </p:spPr>
      </p:sp>
      <p:sp>
        <p:nvSpPr>
          <p:cNvPr id="9" name="Shape 7"/>
          <p:cNvSpPr/>
          <p:nvPr/>
        </p:nvSpPr>
        <p:spPr>
          <a:xfrm>
            <a:off x="10206917" y="1175998"/>
            <a:ext cx="31545" cy="486377"/>
          </a:xfrm>
          <a:prstGeom prst="line">
            <a:avLst/>
          </a:prstGeom>
          <a:noFill/>
          <a:ln w="9525">
            <a:solidFill>
              <a:srgbClr val="2C3E5C"/>
            </a:solidFill>
            <a:prstDash val="solid"/>
          </a:ln>
        </p:spPr>
      </p:sp>
      <p:sp>
        <p:nvSpPr>
          <p:cNvPr id="10" name="Shape 8"/>
          <p:cNvSpPr/>
          <p:nvPr/>
        </p:nvSpPr>
        <p:spPr>
          <a:xfrm>
            <a:off x="11531883" y="918277"/>
            <a:ext cx="90883" cy="1110908"/>
          </a:xfrm>
          <a:prstGeom prst="line">
            <a:avLst/>
          </a:prstGeom>
          <a:noFill/>
          <a:ln w="12700">
            <a:solidFill>
              <a:srgbClr val="E0533A">
                <a:alpha val="55000"/>
              </a:srgbClr>
            </a:solidFill>
            <a:prstDash val="solid"/>
          </a:ln>
        </p:spPr>
      </p:sp>
      <p:sp>
        <p:nvSpPr>
          <p:cNvPr id="11" name="Shape 9"/>
          <p:cNvSpPr/>
          <p:nvPr/>
        </p:nvSpPr>
        <p:spPr>
          <a:xfrm flipV="1">
            <a:off x="10206917" y="918277"/>
            <a:ext cx="1324967" cy="257720"/>
          </a:xfrm>
          <a:prstGeom prst="line">
            <a:avLst/>
          </a:prstGeom>
          <a:noFill/>
          <a:ln w="9525">
            <a:solidFill>
              <a:srgbClr val="2C3E5C"/>
            </a:solidFill>
            <a:prstDash val="solid"/>
          </a:ln>
        </p:spPr>
      </p:sp>
      <p:sp>
        <p:nvSpPr>
          <p:cNvPr id="12" name="Shape 10"/>
          <p:cNvSpPr/>
          <p:nvPr/>
        </p:nvSpPr>
        <p:spPr>
          <a:xfrm flipV="1">
            <a:off x="7336819" y="1607421"/>
            <a:ext cx="806817" cy="36717"/>
          </a:xfrm>
          <a:prstGeom prst="line">
            <a:avLst/>
          </a:prstGeom>
          <a:noFill/>
          <a:ln w="9525">
            <a:solidFill>
              <a:srgbClr val="2C3E5C"/>
            </a:solidFill>
            <a:prstDash val="solid"/>
          </a:ln>
        </p:spPr>
      </p:sp>
      <p:sp>
        <p:nvSpPr>
          <p:cNvPr id="13" name="Shape 11"/>
          <p:cNvSpPr/>
          <p:nvPr/>
        </p:nvSpPr>
        <p:spPr>
          <a:xfrm>
            <a:off x="9153297" y="1975864"/>
            <a:ext cx="270535" cy="712051"/>
          </a:xfrm>
          <a:prstGeom prst="line">
            <a:avLst/>
          </a:prstGeom>
          <a:noFill/>
          <a:ln w="9525">
            <a:solidFill>
              <a:srgbClr val="2C3E5C"/>
            </a:solidFill>
            <a:prstDash val="solid"/>
          </a:ln>
        </p:spPr>
      </p:sp>
      <p:sp>
        <p:nvSpPr>
          <p:cNvPr id="14" name="Shape 12"/>
          <p:cNvSpPr/>
          <p:nvPr/>
        </p:nvSpPr>
        <p:spPr>
          <a:xfrm flipH="1">
            <a:off x="8752147" y="1975864"/>
            <a:ext cx="401150" cy="717211"/>
          </a:xfrm>
          <a:prstGeom prst="line">
            <a:avLst/>
          </a:prstGeom>
          <a:noFill/>
          <a:ln w="9525">
            <a:solidFill>
              <a:srgbClr val="2C3E5C"/>
            </a:solidFill>
            <a:prstDash val="solid"/>
          </a:ln>
        </p:spPr>
      </p:sp>
      <p:sp>
        <p:nvSpPr>
          <p:cNvPr id="15" name="Shape 13"/>
          <p:cNvSpPr/>
          <p:nvPr/>
        </p:nvSpPr>
        <p:spPr>
          <a:xfrm flipH="1">
            <a:off x="11149437" y="2029186"/>
            <a:ext cx="473329" cy="689083"/>
          </a:xfrm>
          <a:prstGeom prst="line">
            <a:avLst/>
          </a:prstGeom>
          <a:noFill/>
          <a:ln w="12700">
            <a:solidFill>
              <a:srgbClr val="E0533A">
                <a:alpha val="55000"/>
              </a:srgbClr>
            </a:solidFill>
            <a:prstDash val="solid"/>
          </a:ln>
        </p:spPr>
      </p:sp>
      <p:sp>
        <p:nvSpPr>
          <p:cNvPr id="16" name="Shape 14"/>
          <p:cNvSpPr/>
          <p:nvPr/>
        </p:nvSpPr>
        <p:spPr>
          <a:xfrm flipH="1">
            <a:off x="7318260" y="2455786"/>
            <a:ext cx="474599" cy="709846"/>
          </a:xfrm>
          <a:prstGeom prst="line">
            <a:avLst/>
          </a:prstGeom>
          <a:noFill/>
          <a:ln w="9525">
            <a:solidFill>
              <a:srgbClr val="2C3E5C"/>
            </a:solidFill>
            <a:prstDash val="solid"/>
          </a:ln>
        </p:spPr>
      </p:sp>
      <p:sp>
        <p:nvSpPr>
          <p:cNvPr id="17" name="Shape 15"/>
          <p:cNvSpPr/>
          <p:nvPr/>
        </p:nvSpPr>
        <p:spPr>
          <a:xfrm flipH="1">
            <a:off x="7792859" y="1607421"/>
            <a:ext cx="350778" cy="848365"/>
          </a:xfrm>
          <a:prstGeom prst="line">
            <a:avLst/>
          </a:prstGeom>
          <a:noFill/>
          <a:ln w="9525">
            <a:solidFill>
              <a:srgbClr val="2C3E5C"/>
            </a:solidFill>
            <a:prstDash val="solid"/>
          </a:ln>
        </p:spPr>
      </p:sp>
      <p:sp>
        <p:nvSpPr>
          <p:cNvPr id="18" name="Shape 16"/>
          <p:cNvSpPr/>
          <p:nvPr/>
        </p:nvSpPr>
        <p:spPr>
          <a:xfrm flipV="1">
            <a:off x="8752147" y="2687915"/>
            <a:ext cx="671685" cy="5160"/>
          </a:xfrm>
          <a:prstGeom prst="line">
            <a:avLst/>
          </a:prstGeom>
          <a:noFill/>
          <a:ln w="9525">
            <a:solidFill>
              <a:srgbClr val="2C3E5C"/>
            </a:solidFill>
            <a:prstDash val="solid"/>
          </a:ln>
        </p:spPr>
      </p:sp>
      <p:sp>
        <p:nvSpPr>
          <p:cNvPr id="19" name="Shape 17"/>
          <p:cNvSpPr/>
          <p:nvPr/>
        </p:nvSpPr>
        <p:spPr>
          <a:xfrm>
            <a:off x="9423832" y="2687915"/>
            <a:ext cx="147478" cy="554338"/>
          </a:xfrm>
          <a:prstGeom prst="line">
            <a:avLst/>
          </a:prstGeom>
          <a:noFill/>
          <a:ln w="9525">
            <a:solidFill>
              <a:srgbClr val="2C3E5C"/>
            </a:solidFill>
            <a:prstDash val="solid"/>
          </a:ln>
        </p:spPr>
      </p:sp>
      <p:sp>
        <p:nvSpPr>
          <p:cNvPr id="20" name="Shape 18"/>
          <p:cNvSpPr/>
          <p:nvPr/>
        </p:nvSpPr>
        <p:spPr>
          <a:xfrm>
            <a:off x="10469432" y="2397497"/>
            <a:ext cx="680005" cy="320772"/>
          </a:xfrm>
          <a:prstGeom prst="line">
            <a:avLst/>
          </a:prstGeom>
          <a:noFill/>
          <a:ln w="9525">
            <a:solidFill>
              <a:srgbClr val="2C3E5C"/>
            </a:solidFill>
            <a:prstDash val="solid"/>
          </a:ln>
        </p:spPr>
      </p:sp>
      <p:sp>
        <p:nvSpPr>
          <p:cNvPr id="21" name="Shape 19"/>
          <p:cNvSpPr/>
          <p:nvPr/>
        </p:nvSpPr>
        <p:spPr>
          <a:xfrm>
            <a:off x="10238462" y="1662375"/>
            <a:ext cx="230970" cy="735122"/>
          </a:xfrm>
          <a:prstGeom prst="line">
            <a:avLst/>
          </a:prstGeom>
          <a:noFill/>
          <a:ln w="9525">
            <a:solidFill>
              <a:srgbClr val="2C3E5C"/>
            </a:solidFill>
            <a:prstDash val="solid"/>
          </a:ln>
        </p:spPr>
      </p:sp>
      <p:sp>
        <p:nvSpPr>
          <p:cNvPr id="22" name="Shape 20"/>
          <p:cNvSpPr/>
          <p:nvPr/>
        </p:nvSpPr>
        <p:spPr>
          <a:xfrm>
            <a:off x="7318260" y="3165632"/>
            <a:ext cx="505747" cy="474985"/>
          </a:xfrm>
          <a:prstGeom prst="line">
            <a:avLst/>
          </a:prstGeom>
          <a:noFill/>
          <a:ln w="9525">
            <a:solidFill>
              <a:srgbClr val="2C3E5C"/>
            </a:solidFill>
            <a:prstDash val="solid"/>
          </a:ln>
        </p:spPr>
      </p:sp>
      <p:sp>
        <p:nvSpPr>
          <p:cNvPr id="23" name="Shape 21"/>
          <p:cNvSpPr/>
          <p:nvPr/>
        </p:nvSpPr>
        <p:spPr>
          <a:xfrm>
            <a:off x="7824006" y="3640617"/>
            <a:ext cx="206564" cy="825665"/>
          </a:xfrm>
          <a:prstGeom prst="line">
            <a:avLst/>
          </a:prstGeom>
          <a:noFill/>
          <a:ln w="9525">
            <a:solidFill>
              <a:srgbClr val="2C3E5C"/>
            </a:solidFill>
            <a:prstDash val="solid"/>
          </a:ln>
        </p:spPr>
      </p:sp>
      <p:sp>
        <p:nvSpPr>
          <p:cNvPr id="24" name="Shape 22"/>
          <p:cNvSpPr/>
          <p:nvPr/>
        </p:nvSpPr>
        <p:spPr>
          <a:xfrm flipV="1">
            <a:off x="8998122" y="3242253"/>
            <a:ext cx="573188" cy="397622"/>
          </a:xfrm>
          <a:prstGeom prst="line">
            <a:avLst/>
          </a:prstGeom>
          <a:noFill/>
          <a:ln w="9525">
            <a:solidFill>
              <a:srgbClr val="2C3E5C"/>
            </a:solidFill>
            <a:prstDash val="solid"/>
          </a:ln>
        </p:spPr>
      </p:sp>
      <p:sp>
        <p:nvSpPr>
          <p:cNvPr id="25" name="Shape 23"/>
          <p:cNvSpPr/>
          <p:nvPr/>
        </p:nvSpPr>
        <p:spPr>
          <a:xfrm flipH="1">
            <a:off x="8743972" y="3639875"/>
            <a:ext cx="254150" cy="862163"/>
          </a:xfrm>
          <a:prstGeom prst="line">
            <a:avLst/>
          </a:prstGeom>
          <a:noFill/>
          <a:ln w="9525">
            <a:solidFill>
              <a:srgbClr val="2C3E5C"/>
            </a:solidFill>
            <a:prstDash val="solid"/>
          </a:ln>
        </p:spPr>
      </p:sp>
      <p:sp>
        <p:nvSpPr>
          <p:cNvPr id="26" name="Shape 24"/>
          <p:cNvSpPr/>
          <p:nvPr/>
        </p:nvSpPr>
        <p:spPr>
          <a:xfrm>
            <a:off x="9571310" y="3242253"/>
            <a:ext cx="718522" cy="324456"/>
          </a:xfrm>
          <a:prstGeom prst="line">
            <a:avLst/>
          </a:prstGeom>
          <a:noFill/>
          <a:ln w="9525">
            <a:solidFill>
              <a:srgbClr val="2C3E5C"/>
            </a:solidFill>
            <a:prstDash val="solid"/>
          </a:ln>
        </p:spPr>
      </p:sp>
      <p:sp>
        <p:nvSpPr>
          <p:cNvPr id="27" name="Shape 25"/>
          <p:cNvSpPr/>
          <p:nvPr/>
        </p:nvSpPr>
        <p:spPr>
          <a:xfrm>
            <a:off x="10289832" y="3566709"/>
            <a:ext cx="1000440" cy="180479"/>
          </a:xfrm>
          <a:prstGeom prst="line">
            <a:avLst/>
          </a:prstGeom>
          <a:noFill/>
          <a:ln w="9525">
            <a:solidFill>
              <a:srgbClr val="2C3E5C"/>
            </a:solidFill>
            <a:prstDash val="solid"/>
          </a:ln>
        </p:spPr>
      </p:sp>
      <p:sp>
        <p:nvSpPr>
          <p:cNvPr id="28" name="Shape 26"/>
          <p:cNvSpPr/>
          <p:nvPr/>
        </p:nvSpPr>
        <p:spPr>
          <a:xfrm>
            <a:off x="11290272" y="3747188"/>
            <a:ext cx="30071" cy="237161"/>
          </a:xfrm>
          <a:prstGeom prst="line">
            <a:avLst/>
          </a:prstGeom>
          <a:noFill/>
          <a:ln w="12700">
            <a:solidFill>
              <a:srgbClr val="E0533A">
                <a:alpha val="55000"/>
              </a:srgbClr>
            </a:solidFill>
            <a:prstDash val="solid"/>
          </a:ln>
        </p:spPr>
      </p:sp>
      <p:sp>
        <p:nvSpPr>
          <p:cNvPr id="29" name="Shape 27"/>
          <p:cNvSpPr/>
          <p:nvPr/>
        </p:nvSpPr>
        <p:spPr>
          <a:xfrm flipH="1">
            <a:off x="6919630" y="3640617"/>
            <a:ext cx="904376" cy="485451"/>
          </a:xfrm>
          <a:prstGeom prst="line">
            <a:avLst/>
          </a:prstGeom>
          <a:noFill/>
          <a:ln w="9525">
            <a:solidFill>
              <a:srgbClr val="2C3E5C"/>
            </a:solidFill>
            <a:prstDash val="solid"/>
          </a:ln>
        </p:spPr>
      </p:sp>
      <p:sp>
        <p:nvSpPr>
          <p:cNvPr id="30" name="Shape 28"/>
          <p:cNvSpPr/>
          <p:nvPr/>
        </p:nvSpPr>
        <p:spPr>
          <a:xfrm flipH="1">
            <a:off x="6919630" y="3165632"/>
            <a:ext cx="398630" cy="960436"/>
          </a:xfrm>
          <a:prstGeom prst="line">
            <a:avLst/>
          </a:prstGeom>
          <a:noFill/>
          <a:ln w="9525">
            <a:solidFill>
              <a:srgbClr val="2C3E5C"/>
            </a:solidFill>
            <a:prstDash val="solid"/>
          </a:ln>
        </p:spPr>
      </p:sp>
      <p:sp>
        <p:nvSpPr>
          <p:cNvPr id="31" name="Shape 29"/>
          <p:cNvSpPr/>
          <p:nvPr/>
        </p:nvSpPr>
        <p:spPr>
          <a:xfrm flipH="1">
            <a:off x="7880226" y="4466282"/>
            <a:ext cx="150344" cy="456205"/>
          </a:xfrm>
          <a:prstGeom prst="line">
            <a:avLst/>
          </a:prstGeom>
          <a:noFill/>
          <a:ln w="9525">
            <a:solidFill>
              <a:srgbClr val="2C3E5C"/>
            </a:solidFill>
            <a:prstDash val="solid"/>
          </a:ln>
        </p:spPr>
      </p:sp>
      <p:sp>
        <p:nvSpPr>
          <p:cNvPr id="32" name="Shape 30"/>
          <p:cNvSpPr/>
          <p:nvPr/>
        </p:nvSpPr>
        <p:spPr>
          <a:xfrm>
            <a:off x="8030570" y="4466282"/>
            <a:ext cx="713402" cy="35756"/>
          </a:xfrm>
          <a:prstGeom prst="line">
            <a:avLst/>
          </a:prstGeom>
          <a:noFill/>
          <a:ln w="9525">
            <a:solidFill>
              <a:srgbClr val="2C3E5C"/>
            </a:solidFill>
            <a:prstDash val="solid"/>
          </a:ln>
        </p:spPr>
      </p:sp>
      <p:sp>
        <p:nvSpPr>
          <p:cNvPr id="33" name="Shape 31"/>
          <p:cNvSpPr/>
          <p:nvPr/>
        </p:nvSpPr>
        <p:spPr>
          <a:xfrm>
            <a:off x="8743972" y="4502038"/>
            <a:ext cx="109040" cy="312804"/>
          </a:xfrm>
          <a:prstGeom prst="line">
            <a:avLst/>
          </a:prstGeom>
          <a:noFill/>
          <a:ln w="9525">
            <a:solidFill>
              <a:srgbClr val="2C3E5C"/>
            </a:solidFill>
            <a:prstDash val="solid"/>
          </a:ln>
        </p:spPr>
      </p:sp>
      <p:sp>
        <p:nvSpPr>
          <p:cNvPr id="34" name="Shape 32"/>
          <p:cNvSpPr/>
          <p:nvPr/>
        </p:nvSpPr>
        <p:spPr>
          <a:xfrm>
            <a:off x="9706424" y="4594632"/>
            <a:ext cx="1155" cy="306139"/>
          </a:xfrm>
          <a:prstGeom prst="line">
            <a:avLst/>
          </a:prstGeom>
          <a:noFill/>
          <a:ln w="9525">
            <a:solidFill>
              <a:srgbClr val="2C3E5C"/>
            </a:solidFill>
            <a:prstDash val="solid"/>
          </a:ln>
        </p:spPr>
      </p:sp>
      <p:sp>
        <p:nvSpPr>
          <p:cNvPr id="35" name="Shape 33"/>
          <p:cNvSpPr/>
          <p:nvPr/>
        </p:nvSpPr>
        <p:spPr>
          <a:xfrm flipH="1">
            <a:off x="8853012" y="4594632"/>
            <a:ext cx="853412" cy="220210"/>
          </a:xfrm>
          <a:prstGeom prst="line">
            <a:avLst/>
          </a:prstGeom>
          <a:noFill/>
          <a:ln w="9525">
            <a:solidFill>
              <a:srgbClr val="2C3E5C"/>
            </a:solidFill>
            <a:prstDash val="solid"/>
          </a:ln>
        </p:spPr>
      </p:sp>
      <p:sp>
        <p:nvSpPr>
          <p:cNvPr id="36" name="Shape 34"/>
          <p:cNvSpPr/>
          <p:nvPr/>
        </p:nvSpPr>
        <p:spPr>
          <a:xfrm>
            <a:off x="10289832" y="3566709"/>
            <a:ext cx="1030512" cy="417640"/>
          </a:xfrm>
          <a:prstGeom prst="line">
            <a:avLst/>
          </a:prstGeom>
          <a:noFill/>
          <a:ln w="12700">
            <a:solidFill>
              <a:srgbClr val="E0533A">
                <a:alpha val="55000"/>
              </a:srgbClr>
            </a:solidFill>
            <a:prstDash val="solid"/>
          </a:ln>
        </p:spPr>
      </p:sp>
      <p:sp>
        <p:nvSpPr>
          <p:cNvPr id="37" name="Shape 35"/>
          <p:cNvSpPr/>
          <p:nvPr/>
        </p:nvSpPr>
        <p:spPr>
          <a:xfrm flipV="1">
            <a:off x="6889268" y="4922487"/>
            <a:ext cx="990957" cy="288721"/>
          </a:xfrm>
          <a:prstGeom prst="line">
            <a:avLst/>
          </a:prstGeom>
          <a:noFill/>
          <a:ln w="9525">
            <a:solidFill>
              <a:srgbClr val="2C3E5C"/>
            </a:solidFill>
            <a:prstDash val="solid"/>
          </a:ln>
        </p:spPr>
      </p:sp>
      <p:sp>
        <p:nvSpPr>
          <p:cNvPr id="38" name="Shape 36"/>
          <p:cNvSpPr/>
          <p:nvPr/>
        </p:nvSpPr>
        <p:spPr>
          <a:xfrm>
            <a:off x="6889268" y="5211209"/>
            <a:ext cx="594298" cy="906503"/>
          </a:xfrm>
          <a:prstGeom prst="line">
            <a:avLst/>
          </a:prstGeom>
          <a:noFill/>
          <a:ln w="9525">
            <a:solidFill>
              <a:srgbClr val="2C3E5C"/>
            </a:solidFill>
            <a:prstDash val="solid"/>
          </a:ln>
        </p:spPr>
      </p:sp>
      <p:sp>
        <p:nvSpPr>
          <p:cNvPr id="39" name="Shape 37"/>
          <p:cNvSpPr/>
          <p:nvPr/>
        </p:nvSpPr>
        <p:spPr>
          <a:xfrm flipH="1">
            <a:off x="7880226" y="4502038"/>
            <a:ext cx="863746" cy="420449"/>
          </a:xfrm>
          <a:prstGeom prst="line">
            <a:avLst/>
          </a:prstGeom>
          <a:noFill/>
          <a:ln w="9525">
            <a:solidFill>
              <a:srgbClr val="2C3E5C"/>
            </a:solidFill>
            <a:prstDash val="solid"/>
          </a:ln>
        </p:spPr>
      </p:sp>
      <p:sp>
        <p:nvSpPr>
          <p:cNvPr id="40" name="Shape 38"/>
          <p:cNvSpPr/>
          <p:nvPr/>
        </p:nvSpPr>
        <p:spPr>
          <a:xfrm>
            <a:off x="8853012" y="4814842"/>
            <a:ext cx="854567" cy="85929"/>
          </a:xfrm>
          <a:prstGeom prst="line">
            <a:avLst/>
          </a:prstGeom>
          <a:noFill/>
          <a:ln w="9525">
            <a:solidFill>
              <a:srgbClr val="2C3E5C"/>
            </a:solidFill>
            <a:prstDash val="solid"/>
          </a:ln>
        </p:spPr>
      </p:sp>
      <p:sp>
        <p:nvSpPr>
          <p:cNvPr id="41" name="Shape 39"/>
          <p:cNvSpPr/>
          <p:nvPr/>
        </p:nvSpPr>
        <p:spPr>
          <a:xfrm>
            <a:off x="10819209" y="5074879"/>
            <a:ext cx="341415" cy="308013"/>
          </a:xfrm>
          <a:prstGeom prst="line">
            <a:avLst/>
          </a:prstGeom>
          <a:noFill/>
          <a:ln w="9525">
            <a:solidFill>
              <a:srgbClr val="2C3E5C"/>
            </a:solidFill>
            <a:prstDash val="solid"/>
          </a:ln>
        </p:spPr>
      </p:sp>
      <p:sp>
        <p:nvSpPr>
          <p:cNvPr id="42" name="Shape 40"/>
          <p:cNvSpPr/>
          <p:nvPr/>
        </p:nvSpPr>
        <p:spPr>
          <a:xfrm flipH="1">
            <a:off x="10319396" y="5074879"/>
            <a:ext cx="499813" cy="964926"/>
          </a:xfrm>
          <a:prstGeom prst="line">
            <a:avLst/>
          </a:prstGeom>
          <a:noFill/>
          <a:ln w="9525">
            <a:solidFill>
              <a:srgbClr val="2C3E5C"/>
            </a:solidFill>
            <a:prstDash val="solid"/>
          </a:ln>
        </p:spPr>
      </p:sp>
      <p:sp>
        <p:nvSpPr>
          <p:cNvPr id="43" name="Shape 41"/>
          <p:cNvSpPr/>
          <p:nvPr/>
        </p:nvSpPr>
        <p:spPr>
          <a:xfrm flipH="1">
            <a:off x="10319396" y="5382892"/>
            <a:ext cx="841228" cy="656913"/>
          </a:xfrm>
          <a:prstGeom prst="line">
            <a:avLst/>
          </a:prstGeom>
          <a:noFill/>
          <a:ln w="9525">
            <a:solidFill>
              <a:srgbClr val="2C3E5C"/>
            </a:solidFill>
            <a:prstDash val="solid"/>
          </a:ln>
        </p:spPr>
      </p:sp>
      <p:sp>
        <p:nvSpPr>
          <p:cNvPr id="44" name="Shape 42"/>
          <p:cNvSpPr/>
          <p:nvPr/>
        </p:nvSpPr>
        <p:spPr>
          <a:xfrm>
            <a:off x="7483567" y="6117711"/>
            <a:ext cx="394495" cy="197638"/>
          </a:xfrm>
          <a:prstGeom prst="line">
            <a:avLst/>
          </a:prstGeom>
          <a:noFill/>
          <a:ln w="9525">
            <a:solidFill>
              <a:srgbClr val="2C3E5C"/>
            </a:solidFill>
            <a:prstDash val="solid"/>
          </a:ln>
        </p:spPr>
      </p:sp>
      <p:sp>
        <p:nvSpPr>
          <p:cNvPr id="45" name="Shape 43"/>
          <p:cNvSpPr/>
          <p:nvPr/>
        </p:nvSpPr>
        <p:spPr>
          <a:xfrm flipV="1">
            <a:off x="7878062" y="5955748"/>
            <a:ext cx="1023924" cy="359601"/>
          </a:xfrm>
          <a:prstGeom prst="line">
            <a:avLst/>
          </a:prstGeom>
          <a:noFill/>
          <a:ln w="9525">
            <a:solidFill>
              <a:srgbClr val="2C3E5C"/>
            </a:solidFill>
            <a:prstDash val="solid"/>
          </a:ln>
        </p:spPr>
      </p:sp>
      <p:sp>
        <p:nvSpPr>
          <p:cNvPr id="46" name="Shape 44"/>
          <p:cNvSpPr/>
          <p:nvPr/>
        </p:nvSpPr>
        <p:spPr>
          <a:xfrm>
            <a:off x="8901986" y="5955748"/>
            <a:ext cx="566360" cy="293116"/>
          </a:xfrm>
          <a:prstGeom prst="line">
            <a:avLst/>
          </a:prstGeom>
          <a:noFill/>
          <a:ln w="9525">
            <a:solidFill>
              <a:srgbClr val="2C3E5C"/>
            </a:solidFill>
            <a:prstDash val="solid"/>
          </a:ln>
        </p:spPr>
      </p:sp>
      <p:sp>
        <p:nvSpPr>
          <p:cNvPr id="47" name="Shape 45"/>
          <p:cNvSpPr/>
          <p:nvPr/>
        </p:nvSpPr>
        <p:spPr>
          <a:xfrm flipV="1">
            <a:off x="9468346" y="6039805"/>
            <a:ext cx="851049" cy="209059"/>
          </a:xfrm>
          <a:prstGeom prst="line">
            <a:avLst/>
          </a:prstGeom>
          <a:noFill/>
          <a:ln w="9525">
            <a:solidFill>
              <a:srgbClr val="2C3E5C"/>
            </a:solidFill>
            <a:prstDash val="solid"/>
          </a:ln>
        </p:spPr>
      </p:sp>
      <p:sp>
        <p:nvSpPr>
          <p:cNvPr id="48" name="Shape 46"/>
          <p:cNvSpPr/>
          <p:nvPr/>
        </p:nvSpPr>
        <p:spPr>
          <a:xfrm>
            <a:off x="6940027" y="1051045"/>
            <a:ext cx="115082" cy="115082"/>
          </a:xfrm>
          <a:prstGeom prst="ellipse">
            <a:avLst/>
          </a:prstGeom>
          <a:solidFill>
            <a:srgbClr val="4B6388"/>
          </a:solidFill>
          <a:ln w="12700">
            <a:solidFill>
              <a:srgbClr val="4B6388"/>
            </a:solidFill>
            <a:prstDash val="solid"/>
          </a:ln>
        </p:spPr>
      </p:sp>
      <p:sp>
        <p:nvSpPr>
          <p:cNvPr id="49" name="Shape 47"/>
          <p:cNvSpPr/>
          <p:nvPr/>
        </p:nvSpPr>
        <p:spPr>
          <a:xfrm>
            <a:off x="7866125" y="832928"/>
            <a:ext cx="76815" cy="76815"/>
          </a:xfrm>
          <a:prstGeom prst="ellipse">
            <a:avLst/>
          </a:prstGeom>
          <a:solidFill>
            <a:srgbClr val="4B6388"/>
          </a:solidFill>
          <a:ln w="12700">
            <a:solidFill>
              <a:srgbClr val="4B6388"/>
            </a:solidFill>
            <a:prstDash val="solid"/>
          </a:ln>
        </p:spPr>
      </p:sp>
      <p:sp>
        <p:nvSpPr>
          <p:cNvPr id="50" name="Shape 48"/>
          <p:cNvSpPr/>
          <p:nvPr/>
        </p:nvSpPr>
        <p:spPr>
          <a:xfrm>
            <a:off x="8854571" y="627234"/>
            <a:ext cx="79571" cy="79571"/>
          </a:xfrm>
          <a:prstGeom prst="ellipse">
            <a:avLst/>
          </a:prstGeom>
          <a:solidFill>
            <a:srgbClr val="4B6388"/>
          </a:solidFill>
          <a:ln w="12700">
            <a:solidFill>
              <a:srgbClr val="4B6388"/>
            </a:solidFill>
            <a:prstDash val="solid"/>
          </a:ln>
        </p:spPr>
      </p:sp>
      <p:sp>
        <p:nvSpPr>
          <p:cNvPr id="51" name="Shape 49"/>
          <p:cNvSpPr/>
          <p:nvPr/>
        </p:nvSpPr>
        <p:spPr>
          <a:xfrm>
            <a:off x="9854108" y="984471"/>
            <a:ext cx="67803" cy="67803"/>
          </a:xfrm>
          <a:prstGeom prst="ellipse">
            <a:avLst/>
          </a:prstGeom>
          <a:solidFill>
            <a:srgbClr val="4B6388"/>
          </a:solidFill>
          <a:ln w="12700">
            <a:solidFill>
              <a:srgbClr val="4B6388"/>
            </a:solidFill>
            <a:prstDash val="solid"/>
          </a:ln>
        </p:spPr>
      </p:sp>
      <p:sp>
        <p:nvSpPr>
          <p:cNvPr id="52" name="Shape 50"/>
          <p:cNvSpPr/>
          <p:nvPr/>
        </p:nvSpPr>
        <p:spPr>
          <a:xfrm>
            <a:off x="10147415" y="1116496"/>
            <a:ext cx="119004" cy="119004"/>
          </a:xfrm>
          <a:prstGeom prst="ellipse">
            <a:avLst/>
          </a:prstGeom>
          <a:solidFill>
            <a:srgbClr val="4B6388"/>
          </a:solidFill>
          <a:ln w="12700">
            <a:solidFill>
              <a:srgbClr val="4B6388"/>
            </a:solidFill>
            <a:prstDash val="solid"/>
          </a:ln>
        </p:spPr>
      </p:sp>
      <p:sp>
        <p:nvSpPr>
          <p:cNvPr id="53" name="Shape 51"/>
          <p:cNvSpPr/>
          <p:nvPr/>
        </p:nvSpPr>
        <p:spPr>
          <a:xfrm>
            <a:off x="11480289" y="866683"/>
            <a:ext cx="103189" cy="103189"/>
          </a:xfrm>
          <a:prstGeom prst="ellipse">
            <a:avLst/>
          </a:prstGeom>
          <a:solidFill>
            <a:srgbClr val="4B6388"/>
          </a:solidFill>
          <a:ln w="12700">
            <a:solidFill>
              <a:srgbClr val="4B6388"/>
            </a:solidFill>
            <a:prstDash val="solid"/>
          </a:ln>
        </p:spPr>
      </p:sp>
      <p:sp>
        <p:nvSpPr>
          <p:cNvPr id="54" name="Shape 52"/>
          <p:cNvSpPr/>
          <p:nvPr/>
        </p:nvSpPr>
        <p:spPr>
          <a:xfrm>
            <a:off x="7300437" y="1607756"/>
            <a:ext cx="72764" cy="72764"/>
          </a:xfrm>
          <a:prstGeom prst="ellipse">
            <a:avLst/>
          </a:prstGeom>
          <a:solidFill>
            <a:srgbClr val="4B6388"/>
          </a:solidFill>
          <a:ln w="12700">
            <a:solidFill>
              <a:srgbClr val="4B6388"/>
            </a:solidFill>
            <a:prstDash val="solid"/>
          </a:ln>
        </p:spPr>
      </p:sp>
      <p:sp>
        <p:nvSpPr>
          <p:cNvPr id="55" name="Shape 53"/>
          <p:cNvSpPr/>
          <p:nvPr/>
        </p:nvSpPr>
        <p:spPr>
          <a:xfrm>
            <a:off x="8098418" y="1562203"/>
            <a:ext cx="90437" cy="90437"/>
          </a:xfrm>
          <a:prstGeom prst="ellipse">
            <a:avLst/>
          </a:prstGeom>
          <a:solidFill>
            <a:srgbClr val="4B6388"/>
          </a:solidFill>
          <a:ln w="12700">
            <a:solidFill>
              <a:srgbClr val="4B6388"/>
            </a:solidFill>
            <a:prstDash val="solid"/>
          </a:ln>
        </p:spPr>
      </p:sp>
      <p:sp>
        <p:nvSpPr>
          <p:cNvPr id="56" name="Shape 54"/>
          <p:cNvSpPr/>
          <p:nvPr/>
        </p:nvSpPr>
        <p:spPr>
          <a:xfrm>
            <a:off x="9116215" y="1938781"/>
            <a:ext cx="74164" cy="74164"/>
          </a:xfrm>
          <a:prstGeom prst="ellipse">
            <a:avLst/>
          </a:prstGeom>
          <a:solidFill>
            <a:srgbClr val="4B6388"/>
          </a:solidFill>
          <a:ln w="12700">
            <a:solidFill>
              <a:srgbClr val="4B6388"/>
            </a:solidFill>
            <a:prstDash val="solid"/>
          </a:ln>
        </p:spPr>
      </p:sp>
      <p:sp>
        <p:nvSpPr>
          <p:cNvPr id="57" name="Shape 55"/>
          <p:cNvSpPr/>
          <p:nvPr/>
        </p:nvSpPr>
        <p:spPr>
          <a:xfrm>
            <a:off x="10186128" y="1610041"/>
            <a:ext cx="104667" cy="104667"/>
          </a:xfrm>
          <a:prstGeom prst="ellipse">
            <a:avLst/>
          </a:prstGeom>
          <a:solidFill>
            <a:srgbClr val="4B6388"/>
          </a:solidFill>
          <a:ln w="12700">
            <a:solidFill>
              <a:srgbClr val="4B6388"/>
            </a:solidFill>
            <a:prstDash val="solid"/>
          </a:ln>
        </p:spPr>
      </p:sp>
      <p:sp>
        <p:nvSpPr>
          <p:cNvPr id="58" name="Shape 56"/>
          <p:cNvSpPr/>
          <p:nvPr/>
        </p:nvSpPr>
        <p:spPr>
          <a:xfrm>
            <a:off x="11403310" y="1809730"/>
            <a:ext cx="438912" cy="438912"/>
          </a:xfrm>
          <a:prstGeom prst="ellipse">
            <a:avLst/>
          </a:prstGeom>
          <a:solidFill>
            <a:srgbClr val="E0533A">
              <a:alpha val="20000"/>
            </a:srgbClr>
          </a:solidFill>
          <a:ln w="12700">
            <a:solidFill>
              <a:srgbClr val="E0533A">
                <a:alpha val="20000"/>
              </a:srgbClr>
            </a:solidFill>
            <a:prstDash val="solid"/>
          </a:ln>
        </p:spPr>
      </p:sp>
      <p:sp>
        <p:nvSpPr>
          <p:cNvPr id="59" name="Shape 57"/>
          <p:cNvSpPr/>
          <p:nvPr/>
        </p:nvSpPr>
        <p:spPr>
          <a:xfrm>
            <a:off x="11540470" y="1946890"/>
            <a:ext cx="164592" cy="164592"/>
          </a:xfrm>
          <a:prstGeom prst="ellipse">
            <a:avLst/>
          </a:prstGeom>
          <a:solidFill>
            <a:srgbClr val="E0533A"/>
          </a:solidFill>
          <a:ln w="12700">
            <a:solidFill>
              <a:srgbClr val="E0533A"/>
            </a:solidFill>
            <a:prstDash val="solid"/>
          </a:ln>
        </p:spPr>
      </p:sp>
      <p:sp>
        <p:nvSpPr>
          <p:cNvPr id="60" name="Shape 58"/>
          <p:cNvSpPr/>
          <p:nvPr/>
        </p:nvSpPr>
        <p:spPr>
          <a:xfrm>
            <a:off x="7738055" y="2400982"/>
            <a:ext cx="109608" cy="109608"/>
          </a:xfrm>
          <a:prstGeom prst="ellipse">
            <a:avLst/>
          </a:prstGeom>
          <a:solidFill>
            <a:srgbClr val="4B6388"/>
          </a:solidFill>
          <a:ln w="12700">
            <a:solidFill>
              <a:srgbClr val="4B6388"/>
            </a:solidFill>
            <a:prstDash val="solid"/>
          </a:ln>
        </p:spPr>
      </p:sp>
      <p:sp>
        <p:nvSpPr>
          <p:cNvPr id="61" name="Shape 59"/>
          <p:cNvSpPr/>
          <p:nvPr/>
        </p:nvSpPr>
        <p:spPr>
          <a:xfrm>
            <a:off x="8706298" y="2647226"/>
            <a:ext cx="91698" cy="91698"/>
          </a:xfrm>
          <a:prstGeom prst="ellipse">
            <a:avLst/>
          </a:prstGeom>
          <a:solidFill>
            <a:srgbClr val="4B6388"/>
          </a:solidFill>
          <a:ln w="12700">
            <a:solidFill>
              <a:srgbClr val="4B6388"/>
            </a:solidFill>
            <a:prstDash val="solid"/>
          </a:ln>
        </p:spPr>
      </p:sp>
      <p:sp>
        <p:nvSpPr>
          <p:cNvPr id="62" name="Shape 60"/>
          <p:cNvSpPr/>
          <p:nvPr/>
        </p:nvSpPr>
        <p:spPr>
          <a:xfrm>
            <a:off x="9377144" y="2641226"/>
            <a:ext cx="93377" cy="93377"/>
          </a:xfrm>
          <a:prstGeom prst="ellipse">
            <a:avLst/>
          </a:prstGeom>
          <a:solidFill>
            <a:srgbClr val="4B6388"/>
          </a:solidFill>
          <a:ln w="12700">
            <a:solidFill>
              <a:srgbClr val="4B6388"/>
            </a:solidFill>
            <a:prstDash val="solid"/>
          </a:ln>
        </p:spPr>
      </p:sp>
      <p:sp>
        <p:nvSpPr>
          <p:cNvPr id="63" name="Shape 61"/>
          <p:cNvSpPr/>
          <p:nvPr/>
        </p:nvSpPr>
        <p:spPr>
          <a:xfrm>
            <a:off x="10422983" y="2351047"/>
            <a:ext cx="92899" cy="92899"/>
          </a:xfrm>
          <a:prstGeom prst="ellipse">
            <a:avLst/>
          </a:prstGeom>
          <a:solidFill>
            <a:srgbClr val="4B6388"/>
          </a:solidFill>
          <a:ln w="12700">
            <a:solidFill>
              <a:srgbClr val="4B6388"/>
            </a:solidFill>
            <a:prstDash val="solid"/>
          </a:ln>
        </p:spPr>
      </p:sp>
      <p:sp>
        <p:nvSpPr>
          <p:cNvPr id="64" name="Shape 62"/>
          <p:cNvSpPr/>
          <p:nvPr/>
        </p:nvSpPr>
        <p:spPr>
          <a:xfrm>
            <a:off x="11106080" y="2674911"/>
            <a:ext cx="86714" cy="86714"/>
          </a:xfrm>
          <a:prstGeom prst="ellipse">
            <a:avLst/>
          </a:prstGeom>
          <a:solidFill>
            <a:srgbClr val="4B6388"/>
          </a:solidFill>
          <a:ln w="12700">
            <a:solidFill>
              <a:srgbClr val="4B6388"/>
            </a:solidFill>
            <a:prstDash val="solid"/>
          </a:ln>
        </p:spPr>
      </p:sp>
      <p:sp>
        <p:nvSpPr>
          <p:cNvPr id="65" name="Shape 63"/>
          <p:cNvSpPr/>
          <p:nvPr/>
        </p:nvSpPr>
        <p:spPr>
          <a:xfrm>
            <a:off x="7278029" y="3125401"/>
            <a:ext cx="80462" cy="80462"/>
          </a:xfrm>
          <a:prstGeom prst="ellipse">
            <a:avLst/>
          </a:prstGeom>
          <a:solidFill>
            <a:srgbClr val="4B6388"/>
          </a:solidFill>
          <a:ln w="12700">
            <a:solidFill>
              <a:srgbClr val="4B6388"/>
            </a:solidFill>
            <a:prstDash val="solid"/>
          </a:ln>
        </p:spPr>
      </p:sp>
      <p:sp>
        <p:nvSpPr>
          <p:cNvPr id="66" name="Shape 64"/>
          <p:cNvSpPr/>
          <p:nvPr/>
        </p:nvSpPr>
        <p:spPr>
          <a:xfrm>
            <a:off x="7784390" y="3601000"/>
            <a:ext cx="79234" cy="79234"/>
          </a:xfrm>
          <a:prstGeom prst="ellipse">
            <a:avLst/>
          </a:prstGeom>
          <a:solidFill>
            <a:srgbClr val="4B6388"/>
          </a:solidFill>
          <a:ln w="12700">
            <a:solidFill>
              <a:srgbClr val="4B6388"/>
            </a:solidFill>
            <a:prstDash val="solid"/>
          </a:ln>
        </p:spPr>
      </p:sp>
      <p:sp>
        <p:nvSpPr>
          <p:cNvPr id="67" name="Shape 65"/>
          <p:cNvSpPr/>
          <p:nvPr/>
        </p:nvSpPr>
        <p:spPr>
          <a:xfrm>
            <a:off x="8941875" y="3583627"/>
            <a:ext cx="112495" cy="112495"/>
          </a:xfrm>
          <a:prstGeom prst="ellipse">
            <a:avLst/>
          </a:prstGeom>
          <a:solidFill>
            <a:srgbClr val="4B6388"/>
          </a:solidFill>
          <a:ln w="12700">
            <a:solidFill>
              <a:srgbClr val="4B6388"/>
            </a:solidFill>
            <a:prstDash val="solid"/>
          </a:ln>
        </p:spPr>
      </p:sp>
      <p:sp>
        <p:nvSpPr>
          <p:cNvPr id="68" name="Shape 66"/>
          <p:cNvSpPr/>
          <p:nvPr/>
        </p:nvSpPr>
        <p:spPr>
          <a:xfrm>
            <a:off x="9527360" y="3198302"/>
            <a:ext cx="87901" cy="87901"/>
          </a:xfrm>
          <a:prstGeom prst="ellipse">
            <a:avLst/>
          </a:prstGeom>
          <a:solidFill>
            <a:srgbClr val="4B6388"/>
          </a:solidFill>
          <a:ln w="12700">
            <a:solidFill>
              <a:srgbClr val="4B6388"/>
            </a:solidFill>
            <a:prstDash val="solid"/>
          </a:ln>
        </p:spPr>
      </p:sp>
      <p:sp>
        <p:nvSpPr>
          <p:cNvPr id="69" name="Shape 67"/>
          <p:cNvSpPr/>
          <p:nvPr/>
        </p:nvSpPr>
        <p:spPr>
          <a:xfrm>
            <a:off x="10233349" y="3510226"/>
            <a:ext cx="112967" cy="112967"/>
          </a:xfrm>
          <a:prstGeom prst="ellipse">
            <a:avLst/>
          </a:prstGeom>
          <a:solidFill>
            <a:srgbClr val="4B6388"/>
          </a:solidFill>
          <a:ln w="12700">
            <a:solidFill>
              <a:srgbClr val="4B6388"/>
            </a:solidFill>
            <a:prstDash val="solid"/>
          </a:ln>
        </p:spPr>
      </p:sp>
      <p:sp>
        <p:nvSpPr>
          <p:cNvPr id="70" name="Shape 68"/>
          <p:cNvSpPr/>
          <p:nvPr/>
        </p:nvSpPr>
        <p:spPr>
          <a:xfrm>
            <a:off x="11249628" y="3706543"/>
            <a:ext cx="81290" cy="81290"/>
          </a:xfrm>
          <a:prstGeom prst="ellipse">
            <a:avLst/>
          </a:prstGeom>
          <a:solidFill>
            <a:srgbClr val="4B6388"/>
          </a:solidFill>
          <a:ln w="12700">
            <a:solidFill>
              <a:srgbClr val="4B6388"/>
            </a:solidFill>
            <a:prstDash val="solid"/>
          </a:ln>
        </p:spPr>
      </p:sp>
      <p:sp>
        <p:nvSpPr>
          <p:cNvPr id="71" name="Shape 69"/>
          <p:cNvSpPr/>
          <p:nvPr/>
        </p:nvSpPr>
        <p:spPr>
          <a:xfrm>
            <a:off x="6856717" y="4063155"/>
            <a:ext cx="125826" cy="125826"/>
          </a:xfrm>
          <a:prstGeom prst="ellipse">
            <a:avLst/>
          </a:prstGeom>
          <a:solidFill>
            <a:srgbClr val="4B6388"/>
          </a:solidFill>
          <a:ln w="12700">
            <a:solidFill>
              <a:srgbClr val="4B6388"/>
            </a:solidFill>
            <a:prstDash val="solid"/>
          </a:ln>
        </p:spPr>
      </p:sp>
      <p:sp>
        <p:nvSpPr>
          <p:cNvPr id="72" name="Shape 70"/>
          <p:cNvSpPr/>
          <p:nvPr/>
        </p:nvSpPr>
        <p:spPr>
          <a:xfrm>
            <a:off x="7986446" y="4422158"/>
            <a:ext cx="88247" cy="88247"/>
          </a:xfrm>
          <a:prstGeom prst="ellipse">
            <a:avLst/>
          </a:prstGeom>
          <a:solidFill>
            <a:srgbClr val="4B6388"/>
          </a:solidFill>
          <a:ln w="12700">
            <a:solidFill>
              <a:srgbClr val="4B6388"/>
            </a:solidFill>
            <a:prstDash val="solid"/>
          </a:ln>
        </p:spPr>
      </p:sp>
      <p:sp>
        <p:nvSpPr>
          <p:cNvPr id="73" name="Shape 71"/>
          <p:cNvSpPr/>
          <p:nvPr/>
        </p:nvSpPr>
        <p:spPr>
          <a:xfrm>
            <a:off x="8697387" y="4455453"/>
            <a:ext cx="93170" cy="93170"/>
          </a:xfrm>
          <a:prstGeom prst="ellipse">
            <a:avLst/>
          </a:prstGeom>
          <a:solidFill>
            <a:srgbClr val="4B6388"/>
          </a:solidFill>
          <a:ln w="12700">
            <a:solidFill>
              <a:srgbClr val="4B6388"/>
            </a:solidFill>
            <a:prstDash val="solid"/>
          </a:ln>
        </p:spPr>
      </p:sp>
      <p:sp>
        <p:nvSpPr>
          <p:cNvPr id="74" name="Shape 72"/>
          <p:cNvSpPr/>
          <p:nvPr/>
        </p:nvSpPr>
        <p:spPr>
          <a:xfrm>
            <a:off x="9667443" y="4555651"/>
            <a:ext cx="77962" cy="77962"/>
          </a:xfrm>
          <a:prstGeom prst="ellipse">
            <a:avLst/>
          </a:prstGeom>
          <a:solidFill>
            <a:srgbClr val="4B6388"/>
          </a:solidFill>
          <a:ln w="12700">
            <a:solidFill>
              <a:srgbClr val="4B6388"/>
            </a:solidFill>
            <a:prstDash val="solid"/>
          </a:ln>
        </p:spPr>
      </p:sp>
      <p:sp>
        <p:nvSpPr>
          <p:cNvPr id="75" name="Shape 73"/>
          <p:cNvSpPr/>
          <p:nvPr/>
        </p:nvSpPr>
        <p:spPr>
          <a:xfrm>
            <a:off x="11100888" y="3764893"/>
            <a:ext cx="438912" cy="438912"/>
          </a:xfrm>
          <a:prstGeom prst="ellipse">
            <a:avLst/>
          </a:prstGeom>
          <a:solidFill>
            <a:srgbClr val="E0533A">
              <a:alpha val="20000"/>
            </a:srgbClr>
          </a:solidFill>
          <a:ln w="12700">
            <a:solidFill>
              <a:srgbClr val="E0533A">
                <a:alpha val="20000"/>
              </a:srgbClr>
            </a:solidFill>
            <a:prstDash val="solid"/>
          </a:ln>
        </p:spPr>
      </p:sp>
      <p:sp>
        <p:nvSpPr>
          <p:cNvPr id="76" name="Shape 74"/>
          <p:cNvSpPr/>
          <p:nvPr/>
        </p:nvSpPr>
        <p:spPr>
          <a:xfrm>
            <a:off x="11238048" y="3902053"/>
            <a:ext cx="164592" cy="164592"/>
          </a:xfrm>
          <a:prstGeom prst="ellipse">
            <a:avLst/>
          </a:prstGeom>
          <a:solidFill>
            <a:srgbClr val="E0533A"/>
          </a:solidFill>
          <a:ln w="12700">
            <a:solidFill>
              <a:srgbClr val="E0533A"/>
            </a:solidFill>
            <a:prstDash val="solid"/>
          </a:ln>
        </p:spPr>
      </p:sp>
      <p:sp>
        <p:nvSpPr>
          <p:cNvPr id="77" name="Shape 75"/>
          <p:cNvSpPr/>
          <p:nvPr/>
        </p:nvSpPr>
        <p:spPr>
          <a:xfrm>
            <a:off x="6847143" y="5169083"/>
            <a:ext cx="84251" cy="84251"/>
          </a:xfrm>
          <a:prstGeom prst="ellipse">
            <a:avLst/>
          </a:prstGeom>
          <a:solidFill>
            <a:srgbClr val="4B6388"/>
          </a:solidFill>
          <a:ln w="12700">
            <a:solidFill>
              <a:srgbClr val="4B6388"/>
            </a:solidFill>
            <a:prstDash val="solid"/>
          </a:ln>
        </p:spPr>
      </p:sp>
      <p:sp>
        <p:nvSpPr>
          <p:cNvPr id="78" name="Shape 76"/>
          <p:cNvSpPr/>
          <p:nvPr/>
        </p:nvSpPr>
        <p:spPr>
          <a:xfrm>
            <a:off x="7837222" y="4879483"/>
            <a:ext cx="86008" cy="86008"/>
          </a:xfrm>
          <a:prstGeom prst="ellipse">
            <a:avLst/>
          </a:prstGeom>
          <a:solidFill>
            <a:srgbClr val="4B6388"/>
          </a:solidFill>
          <a:ln w="12700">
            <a:solidFill>
              <a:srgbClr val="4B6388"/>
            </a:solidFill>
            <a:prstDash val="solid"/>
          </a:ln>
        </p:spPr>
      </p:sp>
      <p:sp>
        <p:nvSpPr>
          <p:cNvPr id="79" name="Shape 77"/>
          <p:cNvSpPr/>
          <p:nvPr/>
        </p:nvSpPr>
        <p:spPr>
          <a:xfrm>
            <a:off x="8795407" y="4757237"/>
            <a:ext cx="115210" cy="115210"/>
          </a:xfrm>
          <a:prstGeom prst="ellipse">
            <a:avLst/>
          </a:prstGeom>
          <a:solidFill>
            <a:srgbClr val="4B6388"/>
          </a:solidFill>
          <a:ln w="12700">
            <a:solidFill>
              <a:srgbClr val="4B6388"/>
            </a:solidFill>
            <a:prstDash val="solid"/>
          </a:ln>
        </p:spPr>
      </p:sp>
      <p:sp>
        <p:nvSpPr>
          <p:cNvPr id="80" name="Shape 78"/>
          <p:cNvSpPr/>
          <p:nvPr/>
        </p:nvSpPr>
        <p:spPr>
          <a:xfrm>
            <a:off x="9661731" y="4854923"/>
            <a:ext cx="91695" cy="91695"/>
          </a:xfrm>
          <a:prstGeom prst="ellipse">
            <a:avLst/>
          </a:prstGeom>
          <a:solidFill>
            <a:srgbClr val="4B6388"/>
          </a:solidFill>
          <a:ln w="12700">
            <a:solidFill>
              <a:srgbClr val="4B6388"/>
            </a:solidFill>
            <a:prstDash val="solid"/>
          </a:ln>
        </p:spPr>
      </p:sp>
      <p:sp>
        <p:nvSpPr>
          <p:cNvPr id="81" name="Shape 79"/>
          <p:cNvSpPr/>
          <p:nvPr/>
        </p:nvSpPr>
        <p:spPr>
          <a:xfrm>
            <a:off x="10772325" y="5027994"/>
            <a:ext cx="93769" cy="93769"/>
          </a:xfrm>
          <a:prstGeom prst="ellipse">
            <a:avLst/>
          </a:prstGeom>
          <a:solidFill>
            <a:srgbClr val="4B6388"/>
          </a:solidFill>
          <a:ln w="12700">
            <a:solidFill>
              <a:srgbClr val="4B6388"/>
            </a:solidFill>
            <a:prstDash val="solid"/>
          </a:ln>
        </p:spPr>
      </p:sp>
      <p:sp>
        <p:nvSpPr>
          <p:cNvPr id="82" name="Shape 80"/>
          <p:cNvSpPr/>
          <p:nvPr/>
        </p:nvSpPr>
        <p:spPr>
          <a:xfrm>
            <a:off x="11124486" y="5346754"/>
            <a:ext cx="72275" cy="72275"/>
          </a:xfrm>
          <a:prstGeom prst="ellipse">
            <a:avLst/>
          </a:prstGeom>
          <a:solidFill>
            <a:srgbClr val="4B6388"/>
          </a:solidFill>
          <a:ln w="12700">
            <a:solidFill>
              <a:srgbClr val="4B6388"/>
            </a:solidFill>
            <a:prstDash val="solid"/>
          </a:ln>
        </p:spPr>
      </p:sp>
      <p:sp>
        <p:nvSpPr>
          <p:cNvPr id="83" name="Shape 81"/>
          <p:cNvSpPr/>
          <p:nvPr/>
        </p:nvSpPr>
        <p:spPr>
          <a:xfrm>
            <a:off x="7428122" y="6062267"/>
            <a:ext cx="110889" cy="110889"/>
          </a:xfrm>
          <a:prstGeom prst="ellipse">
            <a:avLst/>
          </a:prstGeom>
          <a:solidFill>
            <a:srgbClr val="4B6388"/>
          </a:solidFill>
          <a:ln w="12700">
            <a:solidFill>
              <a:srgbClr val="4B6388"/>
            </a:solidFill>
            <a:prstDash val="solid"/>
          </a:ln>
        </p:spPr>
      </p:sp>
      <p:sp>
        <p:nvSpPr>
          <p:cNvPr id="84" name="Shape 82"/>
          <p:cNvSpPr/>
          <p:nvPr/>
        </p:nvSpPr>
        <p:spPr>
          <a:xfrm>
            <a:off x="7838698" y="6275986"/>
            <a:ext cx="78727" cy="78727"/>
          </a:xfrm>
          <a:prstGeom prst="ellipse">
            <a:avLst/>
          </a:prstGeom>
          <a:solidFill>
            <a:srgbClr val="4B6388"/>
          </a:solidFill>
          <a:ln w="12700">
            <a:solidFill>
              <a:srgbClr val="4B6388"/>
            </a:solidFill>
            <a:prstDash val="solid"/>
          </a:ln>
        </p:spPr>
      </p:sp>
      <p:sp>
        <p:nvSpPr>
          <p:cNvPr id="85" name="Shape 83"/>
          <p:cNvSpPr/>
          <p:nvPr/>
        </p:nvSpPr>
        <p:spPr>
          <a:xfrm>
            <a:off x="8858464" y="5912225"/>
            <a:ext cx="87045" cy="87045"/>
          </a:xfrm>
          <a:prstGeom prst="ellipse">
            <a:avLst/>
          </a:prstGeom>
          <a:solidFill>
            <a:srgbClr val="4B6388"/>
          </a:solidFill>
          <a:ln w="12700">
            <a:solidFill>
              <a:srgbClr val="4B6388"/>
            </a:solidFill>
            <a:prstDash val="solid"/>
          </a:ln>
        </p:spPr>
      </p:sp>
      <p:sp>
        <p:nvSpPr>
          <p:cNvPr id="86" name="Shape 84"/>
          <p:cNvSpPr/>
          <p:nvPr/>
        </p:nvSpPr>
        <p:spPr>
          <a:xfrm>
            <a:off x="9429456" y="6209974"/>
            <a:ext cx="77781" cy="77781"/>
          </a:xfrm>
          <a:prstGeom prst="ellipse">
            <a:avLst/>
          </a:prstGeom>
          <a:solidFill>
            <a:srgbClr val="4B6388"/>
          </a:solidFill>
          <a:ln w="12700">
            <a:solidFill>
              <a:srgbClr val="4B6388"/>
            </a:solidFill>
            <a:prstDash val="solid"/>
          </a:ln>
        </p:spPr>
      </p:sp>
      <p:sp>
        <p:nvSpPr>
          <p:cNvPr id="87" name="Shape 85"/>
          <p:cNvSpPr/>
          <p:nvPr/>
        </p:nvSpPr>
        <p:spPr>
          <a:xfrm>
            <a:off x="10280035" y="6000444"/>
            <a:ext cx="78722" cy="78722"/>
          </a:xfrm>
          <a:prstGeom prst="ellipse">
            <a:avLst/>
          </a:prstGeom>
          <a:solidFill>
            <a:srgbClr val="4B6388"/>
          </a:solidFill>
          <a:ln w="12700">
            <a:solidFill>
              <a:srgbClr val="4B6388"/>
            </a:solidFill>
            <a:prstDash val="solid"/>
          </a:ln>
        </p:spPr>
      </p:sp>
      <p:sp>
        <p:nvSpPr>
          <p:cNvPr id="88" name="Text 86"/>
          <p:cNvSpPr txBox="1"/>
          <p:nvPr/>
        </p:nvSpPr>
        <p:spPr>
          <a:xfrm>
            <a:off x="685800" y="2103120"/>
            <a:ext cx="5943600" cy="1097280"/>
          </a:xfrm>
          <a:prstGeom prst="rect">
            <a:avLst/>
          </a:prstGeom>
          <a:noFill/>
          <a:ln/>
        </p:spPr>
        <p:txBody>
          <a:bodyPr wrap="square" lIns="0" tIns="0" rIns="0" bIns="0" rtlCol="0" anchor="t"/>
          <a:lstStyle/>
          <a:p>
            <a:pPr indent="0" marL="0">
              <a:buNone/>
            </a:pPr>
            <a:r>
              <a:rPr lang="en-US" sz="6000" dirty="0">
                <a:solidFill>
                  <a:srgbClr val="FFFFFF"/>
                </a:solidFill>
                <a:latin typeface="Georgia" pitchFamily="34" charset="0"/>
                <a:ea typeface="Georgia" pitchFamily="34" charset="-122"/>
                <a:cs typeface="Georgia" pitchFamily="34" charset="-120"/>
              </a:rPr>
              <a:t>Thank you</a:t>
            </a:r>
            <a:endParaRPr lang="en-US" sz="6000" dirty="0"/>
          </a:p>
        </p:txBody>
      </p:sp>
      <p:sp>
        <p:nvSpPr>
          <p:cNvPr id="89" name="Text 87"/>
          <p:cNvSpPr txBox="1"/>
          <p:nvPr/>
        </p:nvSpPr>
        <p:spPr>
          <a:xfrm>
            <a:off x="685800" y="3246120"/>
            <a:ext cx="5943600" cy="457200"/>
          </a:xfrm>
          <a:prstGeom prst="rect">
            <a:avLst/>
          </a:prstGeom>
          <a:noFill/>
          <a:ln/>
        </p:spPr>
        <p:txBody>
          <a:bodyPr wrap="square" lIns="0" tIns="0" rIns="0" bIns="0" rtlCol="0" anchor="t"/>
          <a:lstStyle/>
          <a:p>
            <a:pPr indent="0" marL="0">
              <a:buNone/>
            </a:pPr>
            <a:r>
              <a:rPr lang="en-US" sz="2200" dirty="0">
                <a:solidFill>
                  <a:srgbClr val="A9B6C8"/>
                </a:solidFill>
                <a:latin typeface="Arial" pitchFamily="34" charset="0"/>
                <a:ea typeface="Arial" pitchFamily="34" charset="-122"/>
                <a:cs typeface="Arial" pitchFamily="34" charset="-120"/>
              </a:rPr>
              <a:t>Questions and discussion</a:t>
            </a:r>
            <a:endParaRPr lang="en-US" sz="2200" dirty="0"/>
          </a:p>
        </p:txBody>
      </p:sp>
      <p:sp>
        <p:nvSpPr>
          <p:cNvPr id="90" name="Text 88"/>
          <p:cNvSpPr txBox="1"/>
          <p:nvPr/>
        </p:nvSpPr>
        <p:spPr>
          <a:xfrm>
            <a:off x="685800" y="4754880"/>
            <a:ext cx="5669280" cy="822960"/>
          </a:xfrm>
          <a:prstGeom prst="rect">
            <a:avLst/>
          </a:prstGeom>
          <a:noFill/>
          <a:ln/>
        </p:spPr>
        <p:txBody>
          <a:bodyPr wrap="square" lIns="0" tIns="0" rIns="0" bIns="0" rtlCol="0" anchor="t"/>
          <a:lstStyle/>
          <a:p>
            <a:pPr indent="0" marL="0">
              <a:buNone/>
            </a:pPr>
            <a:r>
              <a:rPr lang="en-US" sz="1300" dirty="0">
                <a:solidFill>
                  <a:srgbClr val="6F7F96"/>
                </a:solidFill>
                <a:latin typeface="Arial" pitchFamily="34" charset="0"/>
                <a:ea typeface="Arial" pitchFamily="34" charset="-122"/>
                <a:cs typeface="Arial" pitchFamily="34" charset="-120"/>
              </a:rPr>
              <a:t>On real APT traffic the hybrid ranks threats well (AUC ≈ 99%), but raises ≈ 7% false alarms, and the paper's protocol inflates its reported results.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Project 16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Anomaly Detection Using Machine Learning for Advanced Persistent Threats</dc:title>
  <dc:subject>Mid-term evaluation</dc:subject>
  <dc:creator>Ashish</dc:creator>
  <cp:lastModifiedBy>Ashish</cp:lastModifiedBy>
  <cp:revision>1</cp:revision>
  <dcterms:created xsi:type="dcterms:W3CDTF">2026-09-30T19:21:09Z</dcterms:created>
  <dcterms:modified xsi:type="dcterms:W3CDTF">2026-09-30T19:21:09Z</dcterms:modified>
</cp:coreProperties>
</file>