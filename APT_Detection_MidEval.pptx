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0:00 -&gt; 0:40 of 20:00 ]
Good morning. We are presenting Project 16: anomaly detection using machine learning for Advanced Persistent Threats, or APTs.
Our reference paper is Saini and colleagues, published in 2023 in Concurrency and Computation: Practice and Experience. It proposes a hybrid Random Forest plus XGBoost model for detecting APT attacks.
In this mid-term evaluation we will show that we have implemented the complete method, moved it to a dataset that genuinely contains APT attacks, and tested whether the paper's claims hold up.
TRANSITION: Here is how the talk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0:40 -&gt; 1:20 of 20:00 ]
The talk has four parts.
First, background: the paper, what makes an APT different from ordinary attacks, and why the paper's datasets are a problem.
Second, data and method: the DAPT2020 dataset, the pipeline, the hybrid model, and a flaw we found in the paper's evaluation.
Third, five results.
Fourth, our conclusions and the plan for the final evaluation.
One question runs through all of it: does the paper's hybrid model really detect APTs?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1:20 -&gt; 1:30 of 20:00 ]
Let's start with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on this slide  |  clock 1:30 -&gt; 2:45 of 20:00 ]
The paper proposes a hybrid ensemble of two tree-based models, Random Forest and XGBoost, combined with a Python library called combo.
It compares this hybrid against thirteen other models, from K-nearest neighbours and SVMs to deep learning models such as CNN and MLP, on four public intrusion-detection datasets: CSE-CIC-IDS2018, CIC-IDS2017, NSL-KDD and UNSW-NB15.
The headline claim: 98.92 percent accuracy with a false positive rate of only 0.52 percent on CSE-CIC-IDS2018, and the hybrid beats every other model.
Our task had three parts: implement the method completely, test it on a genuine APT dataset, and check whether the claims hold. Keep the false positive rate in mind: in a real security operations centre, false alarms are what analysts drown in.
TRANSITION: To see why the dataset matters, we first need to be clear about what an APT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on this slide  |  clock 2:45 -&gt; 3:50 of 20:00 ]
An Advanced Persistent Threat is not a single attack; it is a campaign that moves through stages.
Reconnaissance: the attacker scans and maps the target.
Establishing a foothold: exploiting a weakness, for example SQL injection, and planting a backdoor.
Lateral movement: spreading inside the internal network and escalating privileges.
Data exfiltration: quietly sending the stolen data out.
Three properties make APTs hard to detect: they are low and slow, spread over days or months; they deliberately blend in with normal traffic; and they are persistent, aiming for long-term access.
So if we want to claim we detect APTs, the data we test on must contain this kind of multi-stage campaign.
TRANSITION: That is exactly where the paper falls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on this slide  |  clock 3:50 -&gt; 5:20 of 20:00 ]
This table compares the paper's datasets, on the left, with the one we used, on the right.
None of the paper's datasets was built around an APT campaign, and none labels flows with an APT stage. Their attacks are generic: DoS, brute force, botnets, web attacks, probes and exploits, recorded as isolated events. NSL-KDD is even based on traffic from 1998.
DAPT2020 was published in 2020 by researchers at Arizona State University specifically for APT research. A red team ran a full APT campaign over five days, and every network flow is labelled with its stage: reconnaissance, foothold, lateral movement or exfiltration.
Importantly, DAPT2020 uses the same 76 CICFlowMeter features as CIC-IDS2017 and 2018, the paper's main datasets. So the paper's method runs on it without any change, and our results are directly comparable to the paper's.
HAND-OFF POINT (next speaker): data and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5:20 -&gt; 5:30 of 20:00 ]
Part two: the data and our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5:30 -&gt; 6:30 of 20:00 ]
DAPT2020 contains 86,691 labelled network flows, each described by 76 flow features, captured over five days from a public web server and a private network.
The chart shows how many flows belong to each stage after cleaning. Note that the axis is logarithmic. Benign traffic dominates with over 62,000 flows. Reconnaissance has about 10,000, foothold about 6,000, lateral movement about 2,000, and data exfiltration, in red, has only 15 flows in the entire dataset.
This extreme imbalance matters later: the most damaging stage of an APT is also the one with the least data.
TRANSITION: Before using the data, we had to fix several problems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6:30 -&gt; 7:30 of 20:00 ]
We found four problems.
The most serious: one of the ten CSV files has no header row. A standard loader silently treats its first flow as the header and misaligns the file, which loses 2,314 flows: 94 percent of all Lateral Movement.
Second, benign traffic is labelled in three different ways, which we unified. Third, 5,257 duplicate flows and 12 constant columns, which we removed, as the paper prescribes. Fourth, only 15 exfiltration flows.
As a sanity check: after our fixes the benign count is 63,712 flows, exactly the figure reported for DAPT2020, which confirms the data is loaded correctly.
TRANSITION: With clean data, we implemented the paper's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on this slide  |  clock 7:30 -&gt; 8:45 of 20:00 ]
We followed the paper's Section 3.2 and Algorithm 1 step by step.
One, clean: drop identifiers such as IP addresses, ports and timestamps, because they identify machines rather than behaviour, and remove missing values, duplicates and constant columns.
Two, balance the classes with SMOTETomek, which creates synthetic minority samples and removes borderline pairs. This step is highlighted in red; we will come back to it.
Three, split 70 percent training, 30 percent test.
Four, select features: drop any feature more than 90 percent correlated with another, then keep the top 30 by mutual information.
Five, train the hybrid and the 13 baselines.
Six, evaluate with the paper's eight metrics.
Interestingly, the most informative feature is destination port, exactly as in the paper.
TRANSITION: Now let's look inside the hybrid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on this slide  |  clock 8:45 -&gt; 10:00 of 20:00 ]
The hybrid combines two tree ensembles. Random Forest uses bagging: 100 independent trees that vote. XGBoost uses boosting: 100 trees built one after another, each correcting the previous one's errors, with learning rate 1.0 and depth 4, as in the paper.
The paper combines them with the combo library's aggregator using the "average" method, and describes this as averaging the two models.
But when we read the library's source code, we found that the prediction step averages the two models' 0-or-1 labels and outputs APT when the average is at least 0.5. With two models, that means a flow is flagged as APT if either model flags it: an OR rule. This catches more attacks, but raises more false alarms.
We reproduce this exactly, and we also test a soft-vote version that averages probabilities.
TRANSITION: While reproducing the paper, we found a more serious issue in how it evaluates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on this slide  |  clock 10:00 -&gt; 11:30 of 20:00 ]
The paper balances the data with SMOTETomek before splitting it into training and test sets. It states this explicitly in Section 3.2.
The top row shows the consequence. SMOTE creates synthetic attack flows by interpolating between real ones, and only then is the data split. So the test set contains synthetic flows built from flows that are in the training set: the model is partly tested on near-copies of what it trained on.
There is a second problem. After balancing, the test set is fifty-fifty, while real traffic here is 77 percent benign. A balanced test set hides how many false alarms a model raises, because there are artificially few benign flows to raise them on.
Our fix, in the bottom row, changes only one thing: we split first, and balance the training data only. The test set is untouched real traffic. Because everything else is identical, any difference between the two is caused by the leak.
TRANSITION: This gives us our experimental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11:30 -&gt; 12:10 of 20:00 ]
We ran three experiments. First, a replication using exactly the paper's protocol. Second, the correction: the same pipeline, leakage-free, repeated over five random seeds for the key models. Third, an extension the paper's datasets cannot support: predicting the APT stage of each flow, five classes.
In total we compare fifteen models: the hybrid as published, a soft-vote variant, ten classical models, and three deep learning models trained on the GPU.
HAND-OFF POINT (next speaker):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12:10 -&gt; 12:20 of 20:00 ]
Part three: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on this slide  |  clock 12:20 -&gt; 13:35 of 20:00 ]
First: how does the paper's model do on real APT traffic?
On the left, the paper's claim: 98.92 percent accuracy, F1 98.90, false positive rate 0.52 percent.
In the middle, our replication on DAPT2020 with the paper's own protocol: accuracy drops to 96.43 percent and the false positive rate rises to 6.14 percent.
On the right, the realistic leakage-free version: accuracy 94.68 percent, F1 89.46 percent, false positive rate 5.99 percent.
So the hybrid still ranks APT flows very well, with an AUC of about 99 percent, but on APT traffic it raises roughly twelve times more false alarms than claimed, and F1 falls by seven points once the leak is removed. APT traffic is designed to look normal, so it is much harder than the DoS and brute-force attacks in the paper's datasets.
TRANSITION: Is this specific to the hybrid? Here are all fifteen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13:35 -&gt; 14:35 of 20:00 ]
Grey bars are the paper's protocol, blue bars the leakage-free protocol, sorted by the realistic F1 score.
Every single model drops, by between 7 and 20 F1 points, when the test set is real traffic. So the inflation is not specific to the hybrid; it comes from the evaluation protocol.
The ranking is consistent. The tree ensembles lead: the hybrid, Random Forest and XGBoost are all around 89.5 percent. Deep learning does not help on these tabular features, which agrees with the paper's own table. And simple models collapse: Naive Bayes raises alarms on 32 percent of benign flows.
TRANSITION: The paper claims the hybrid beats everything. Let's test that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on this slide  |  clock 14:35 -&gt; 15:50 of 20:00 ]
Here we compare the hybrid with its own two components, over five random splits, showing mean and standard deviation.
On F1, all four are between 89.1 and 89.5 percent, and the differences are within run-to-run noise. So the hybrid is statistically tied with Random Forest and with XGBoost alone.
What the OR rule actually does is trade false alarms for recall: the hybrid catches the most APT flows, 96 percent versus about 93, but its false positive rate is 5.9 percent versus about 4.8.
Where the hybrid does win is ranking: its AUC is consistently the highest, 99.04 percent. So combining the two models' probabilities is slightly better; it is the fixed OR decision rule that costs precision.
TRANSITION: Because DAPT2020 labels stages, we can go further than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15:50 -&gt; 16:50 of 20:00 ]
In this extension, the model predicts which APT stage each flow belongs to. The confusion matrix shows actual stages as rows and predicted stages as columns.
Reconnaissance is recognised 96.5 percent of the time, establishing a foothold 98.2 percent, and lateral movement 90 percent.
Data exfiltration is the weak point: only 2 of the 5 test flows are recognised. With 15 exfiltration flows in the entire dataset, there is simply too little data to learn it.
Overall, Random Forest has the best macro F1 at 78.9 percent, and 97 percent of APT flows are flagged as some APT stage.
TRANSITION: Finally, we analysed where the errors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16:50 -&gt; 17:50 of 20:00 ]
Two findings.
First, false alarms. 54.9 percent of the hybrid's false alarms are flows labelled benign that go to or from the attacker's own machines, mostly during the reconnaissance capture. That strongly suggests label noise in DAPT2020 itself. On benign traffic that does not involve an attacker host, the false positive rate is only 3.07 percent.
Second, missed attacks, on the right. High-volume activities such as scans and brute force are almost always caught. The misses concentrate in rare, low-volume steps, in red: CSRF, command injection, privilege escalation and SQL injection. These quiet steps are exactly the APT-like behaviour, and they remain the hard part.
HAND-OFF POINT (next speaker):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17:50 -&gt; 18:00 of 20:00 ]
Part four: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18:00 -&gt; 19:00 of 20:00 ]
To summarise what we have shown.
One: the paper's method works on real APT data, but not as claimed: AUC around 99 percent, but a false positive rate of about 6 percent rather than 0.52.
Two: the paper's protocol inflates its results. Balancing before splitting raises F1 from 89.5 to 96.5 percent and makes missed attacks look three times rarer than they are.
Three: the hybrid is tied with its own components; its OR rule trades false alarms for recall.
Four: tree ensembles beat deep learning on these features.
Five: APT stages can be identified, except exfiltration.
Six: rare, quiet attack steps remain the hard part, and the dataset has some label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19:00 -&gt; 19:40 of 20:00 ]
For the final evaluation we propose four steps.
Validate on a second APT dataset, such as Unraveled or SCVIC-APT-2021.
Evaluate over time: train on earlier days and test on later ones, which simulates an unseen campaign and removes the remaining optimism of a random split.
Improve the hybrid, for example by tuning its weights and decision threshold, and handling rare stages better.
Add explainability with SHAP, as the paper does.
All code, results and figures are already in place and fully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19:40 -&gt; 19:50 of 20:00 ]
Our main references are listed here: the paper, the DAPT2020 dataset paper, and the core methods: SMOTE, SMOTETomek, Random Forest and XGBoost.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19:50 -&gt; 20:00 of 20:00 ]
Thank you for listening. We are happy to take questions.
----- LIKELY QUESTIONS (Q&amp;A, not part of the 20 minutes) -----
Q: Why didn't you also use the paper's datasets?
A: They are general intrusion datasets with no APT campaign. DAPT2020 uses the same CICFlowMeter features as CIC-IDS2017/2018, so the comparison is direct. We can add CSE-CIC-IDS2018 as a control in the final evaluation.
Q: Are you sure the paper balances before splitting?
A: Yes. Section 3.2 says the dataset was balanced with SMOTETomek and then divided into training and testing. Its confusion matrix has 15,583 test rows: 30 percent of the balanced total. We changed only the order of those two steps.
Q: Why is the false positive rate so much higher than in the paper?
A: APT traffic is built to look normal. Also, about half of the false alarms involve the attacker's own hosts but are labelled benign, which points to label noise. Excluding those, FPR is about 3 percent.
Q: How do you know the hybrid is an OR rule?
A: We read the combo library's source: SimpleClassifierAggregator.predict() averages the base models' predicted labels and applies a 0.5 threshold with "&gt;=". With two models, one vote is enough.
Q: Why DAPT2020 and not a newer dataset?
A: It is the most widely used APT network benchmark and has the same features as the paper's main datasets. SCVIC-APT-2021 is paywalled, Unraveled is semi-synthetic, and CICAPT-IIoT targets industrial IoT. We plan to add a second dataset for the final evaluation.
Q: Is 15 exfiltration flows enough?
A: No, and we say so: exfiltration results rest on 5 test flows and should not be over-interpreted.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05741" y="955184"/>
            <a:ext cx="748326" cy="692069"/>
          </a:xfrm>
          <a:prstGeom prst="line">
            <a:avLst/>
          </a:prstGeom>
          <a:noFill/>
          <a:ln w="9525">
            <a:solidFill>
              <a:srgbClr val="2C3E5C"/>
            </a:solidFill>
            <a:prstDash val="solid"/>
          </a:ln>
        </p:spPr>
      </p:sp>
      <p:sp>
        <p:nvSpPr>
          <p:cNvPr id="3" name="Shape 1"/>
          <p:cNvSpPr/>
          <p:nvPr/>
        </p:nvSpPr>
        <p:spPr>
          <a:xfrm flipV="1">
            <a:off x="7205741" y="907570"/>
            <a:ext cx="1053336" cy="47614"/>
          </a:xfrm>
          <a:prstGeom prst="line">
            <a:avLst/>
          </a:prstGeom>
          <a:noFill/>
          <a:ln w="9525">
            <a:solidFill>
              <a:srgbClr val="2C3E5C"/>
            </a:solidFill>
            <a:prstDash val="solid"/>
          </a:ln>
        </p:spPr>
      </p:sp>
      <p:sp>
        <p:nvSpPr>
          <p:cNvPr id="4" name="Shape 2"/>
          <p:cNvSpPr/>
          <p:nvPr/>
        </p:nvSpPr>
        <p:spPr>
          <a:xfrm flipH="1">
            <a:off x="7954066" y="907570"/>
            <a:ext cx="305010" cy="739683"/>
          </a:xfrm>
          <a:prstGeom prst="line">
            <a:avLst/>
          </a:prstGeom>
          <a:noFill/>
          <a:ln w="9525">
            <a:solidFill>
              <a:srgbClr val="2C3E5C"/>
            </a:solidFill>
            <a:prstDash val="solid"/>
          </a:ln>
        </p:spPr>
      </p:sp>
      <p:sp>
        <p:nvSpPr>
          <p:cNvPr id="5" name="Shape 3"/>
          <p:cNvSpPr/>
          <p:nvPr/>
        </p:nvSpPr>
        <p:spPr>
          <a:xfrm>
            <a:off x="8259077" y="907570"/>
            <a:ext cx="353187" cy="889203"/>
          </a:xfrm>
          <a:prstGeom prst="line">
            <a:avLst/>
          </a:prstGeom>
          <a:noFill/>
          <a:ln w="9525">
            <a:solidFill>
              <a:srgbClr val="2C3E5C"/>
            </a:solidFill>
            <a:prstDash val="solid"/>
          </a:ln>
        </p:spPr>
      </p:sp>
      <p:sp>
        <p:nvSpPr>
          <p:cNvPr id="6" name="Shape 4"/>
          <p:cNvSpPr/>
          <p:nvPr/>
        </p:nvSpPr>
        <p:spPr>
          <a:xfrm flipV="1">
            <a:off x="9772504" y="827385"/>
            <a:ext cx="996307" cy="20615"/>
          </a:xfrm>
          <a:prstGeom prst="line">
            <a:avLst/>
          </a:prstGeom>
          <a:noFill/>
          <a:ln w="9525">
            <a:solidFill>
              <a:srgbClr val="2C3E5C"/>
            </a:solidFill>
            <a:prstDash val="solid"/>
          </a:ln>
        </p:spPr>
      </p:sp>
      <p:sp>
        <p:nvSpPr>
          <p:cNvPr id="7" name="Shape 5"/>
          <p:cNvSpPr/>
          <p:nvPr/>
        </p:nvSpPr>
        <p:spPr>
          <a:xfrm flipH="1">
            <a:off x="9645554" y="848000"/>
            <a:ext cx="126950" cy="1116667"/>
          </a:xfrm>
          <a:prstGeom prst="line">
            <a:avLst/>
          </a:prstGeom>
          <a:noFill/>
          <a:ln w="9525">
            <a:solidFill>
              <a:srgbClr val="2C3E5C"/>
            </a:solidFill>
            <a:prstDash val="solid"/>
          </a:ln>
        </p:spPr>
      </p:sp>
      <p:sp>
        <p:nvSpPr>
          <p:cNvPr id="8" name="Shape 6"/>
          <p:cNvSpPr/>
          <p:nvPr/>
        </p:nvSpPr>
        <p:spPr>
          <a:xfrm>
            <a:off x="10768811" y="827385"/>
            <a:ext cx="441335" cy="602007"/>
          </a:xfrm>
          <a:prstGeom prst="line">
            <a:avLst/>
          </a:prstGeom>
          <a:noFill/>
          <a:ln w="9525">
            <a:solidFill>
              <a:srgbClr val="2C3E5C"/>
            </a:solidFill>
            <a:prstDash val="solid"/>
          </a:ln>
        </p:spPr>
      </p:sp>
      <p:sp>
        <p:nvSpPr>
          <p:cNvPr id="9" name="Shape 7"/>
          <p:cNvSpPr/>
          <p:nvPr/>
        </p:nvSpPr>
        <p:spPr>
          <a:xfrm flipV="1">
            <a:off x="10768811" y="651345"/>
            <a:ext cx="729575" cy="176040"/>
          </a:xfrm>
          <a:prstGeom prst="line">
            <a:avLst/>
          </a:prstGeom>
          <a:noFill/>
          <a:ln w="9525">
            <a:solidFill>
              <a:srgbClr val="2C3E5C"/>
            </a:solidFill>
            <a:prstDash val="solid"/>
          </a:ln>
        </p:spPr>
      </p:sp>
      <p:sp>
        <p:nvSpPr>
          <p:cNvPr id="10" name="Shape 8"/>
          <p:cNvSpPr/>
          <p:nvPr/>
        </p:nvSpPr>
        <p:spPr>
          <a:xfrm flipH="1">
            <a:off x="11210146" y="651345"/>
            <a:ext cx="288240" cy="778047"/>
          </a:xfrm>
          <a:prstGeom prst="line">
            <a:avLst/>
          </a:prstGeom>
          <a:noFill/>
          <a:ln w="9525">
            <a:solidFill>
              <a:srgbClr val="2C3E5C"/>
            </a:solidFill>
            <a:prstDash val="solid"/>
          </a:ln>
        </p:spPr>
      </p:sp>
      <p:sp>
        <p:nvSpPr>
          <p:cNvPr id="11" name="Shape 9"/>
          <p:cNvSpPr/>
          <p:nvPr/>
        </p:nvSpPr>
        <p:spPr>
          <a:xfrm>
            <a:off x="7954066" y="1647254"/>
            <a:ext cx="658197" cy="149520"/>
          </a:xfrm>
          <a:prstGeom prst="line">
            <a:avLst/>
          </a:prstGeom>
          <a:noFill/>
          <a:ln w="9525">
            <a:solidFill>
              <a:srgbClr val="2C3E5C"/>
            </a:solidFill>
            <a:prstDash val="solid"/>
          </a:ln>
        </p:spPr>
      </p:sp>
      <p:sp>
        <p:nvSpPr>
          <p:cNvPr id="12" name="Shape 10"/>
          <p:cNvSpPr/>
          <p:nvPr/>
        </p:nvSpPr>
        <p:spPr>
          <a:xfrm>
            <a:off x="8612264" y="1796773"/>
            <a:ext cx="147344" cy="819445"/>
          </a:xfrm>
          <a:prstGeom prst="line">
            <a:avLst/>
          </a:prstGeom>
          <a:noFill/>
          <a:ln w="9525">
            <a:solidFill>
              <a:srgbClr val="2C3E5C"/>
            </a:solidFill>
            <a:prstDash val="solid"/>
          </a:ln>
        </p:spPr>
      </p:sp>
      <p:sp>
        <p:nvSpPr>
          <p:cNvPr id="13" name="Shape 11"/>
          <p:cNvSpPr/>
          <p:nvPr/>
        </p:nvSpPr>
        <p:spPr>
          <a:xfrm>
            <a:off x="9645554" y="1964667"/>
            <a:ext cx="286388" cy="372897"/>
          </a:xfrm>
          <a:prstGeom prst="line">
            <a:avLst/>
          </a:prstGeom>
          <a:noFill/>
          <a:ln w="9525">
            <a:solidFill>
              <a:srgbClr val="2C3E5C"/>
            </a:solidFill>
            <a:prstDash val="solid"/>
          </a:ln>
        </p:spPr>
      </p:sp>
      <p:sp>
        <p:nvSpPr>
          <p:cNvPr id="14" name="Shape 12"/>
          <p:cNvSpPr/>
          <p:nvPr/>
        </p:nvSpPr>
        <p:spPr>
          <a:xfrm>
            <a:off x="8612264" y="1796773"/>
            <a:ext cx="1033290" cy="167894"/>
          </a:xfrm>
          <a:prstGeom prst="line">
            <a:avLst/>
          </a:prstGeom>
          <a:noFill/>
          <a:ln w="9525">
            <a:solidFill>
              <a:srgbClr val="2C3E5C"/>
            </a:solidFill>
            <a:prstDash val="solid"/>
          </a:ln>
        </p:spPr>
      </p:sp>
      <p:sp>
        <p:nvSpPr>
          <p:cNvPr id="15" name="Shape 13"/>
          <p:cNvSpPr/>
          <p:nvPr/>
        </p:nvSpPr>
        <p:spPr>
          <a:xfrm flipV="1">
            <a:off x="10718710" y="1429392"/>
            <a:ext cx="491436" cy="177545"/>
          </a:xfrm>
          <a:prstGeom prst="line">
            <a:avLst/>
          </a:prstGeom>
          <a:noFill/>
          <a:ln w="12700">
            <a:solidFill>
              <a:srgbClr val="E0533A">
                <a:alpha val="55000"/>
              </a:srgbClr>
            </a:solidFill>
            <a:prstDash val="solid"/>
          </a:ln>
        </p:spPr>
      </p:sp>
      <p:sp>
        <p:nvSpPr>
          <p:cNvPr id="16" name="Shape 14"/>
          <p:cNvSpPr/>
          <p:nvPr/>
        </p:nvSpPr>
        <p:spPr>
          <a:xfrm flipH="1">
            <a:off x="10718710" y="827385"/>
            <a:ext cx="50102" cy="779552"/>
          </a:xfrm>
          <a:prstGeom prst="line">
            <a:avLst/>
          </a:prstGeom>
          <a:noFill/>
          <a:ln w="12700">
            <a:solidFill>
              <a:srgbClr val="E0533A">
                <a:alpha val="55000"/>
              </a:srgbClr>
            </a:solidFill>
            <a:prstDash val="solid"/>
          </a:ln>
        </p:spPr>
      </p:sp>
      <p:sp>
        <p:nvSpPr>
          <p:cNvPr id="17" name="Shape 15"/>
          <p:cNvSpPr/>
          <p:nvPr/>
        </p:nvSpPr>
        <p:spPr>
          <a:xfrm flipH="1">
            <a:off x="7505966" y="1647254"/>
            <a:ext cx="448100" cy="794658"/>
          </a:xfrm>
          <a:prstGeom prst="line">
            <a:avLst/>
          </a:prstGeom>
          <a:noFill/>
          <a:ln w="9525">
            <a:solidFill>
              <a:srgbClr val="2C3E5C"/>
            </a:solidFill>
            <a:prstDash val="solid"/>
          </a:ln>
        </p:spPr>
      </p:sp>
      <p:sp>
        <p:nvSpPr>
          <p:cNvPr id="18" name="Shape 16"/>
          <p:cNvSpPr/>
          <p:nvPr/>
        </p:nvSpPr>
        <p:spPr>
          <a:xfrm>
            <a:off x="7505966" y="2441912"/>
            <a:ext cx="516056" cy="1004824"/>
          </a:xfrm>
          <a:prstGeom prst="line">
            <a:avLst/>
          </a:prstGeom>
          <a:noFill/>
          <a:ln w="9525">
            <a:solidFill>
              <a:srgbClr val="2C3E5C"/>
            </a:solidFill>
            <a:prstDash val="solid"/>
          </a:ln>
        </p:spPr>
      </p:sp>
      <p:sp>
        <p:nvSpPr>
          <p:cNvPr id="19" name="Shape 17"/>
          <p:cNvSpPr/>
          <p:nvPr/>
        </p:nvSpPr>
        <p:spPr>
          <a:xfrm>
            <a:off x="8759608" y="2616218"/>
            <a:ext cx="103799" cy="971881"/>
          </a:xfrm>
          <a:prstGeom prst="line">
            <a:avLst/>
          </a:prstGeom>
          <a:noFill/>
          <a:ln w="9525">
            <a:solidFill>
              <a:srgbClr val="2C3E5C"/>
            </a:solidFill>
            <a:prstDash val="solid"/>
          </a:ln>
        </p:spPr>
      </p:sp>
      <p:sp>
        <p:nvSpPr>
          <p:cNvPr id="20" name="Shape 18"/>
          <p:cNvSpPr/>
          <p:nvPr/>
        </p:nvSpPr>
        <p:spPr>
          <a:xfrm>
            <a:off x="9931942" y="2337564"/>
            <a:ext cx="821290" cy="164037"/>
          </a:xfrm>
          <a:prstGeom prst="line">
            <a:avLst/>
          </a:prstGeom>
          <a:noFill/>
          <a:ln w="9525">
            <a:solidFill>
              <a:srgbClr val="2C3E5C"/>
            </a:solidFill>
            <a:prstDash val="solid"/>
          </a:ln>
        </p:spPr>
      </p:sp>
      <p:sp>
        <p:nvSpPr>
          <p:cNvPr id="21" name="Shape 19"/>
          <p:cNvSpPr/>
          <p:nvPr/>
        </p:nvSpPr>
        <p:spPr>
          <a:xfrm>
            <a:off x="10718710" y="1606937"/>
            <a:ext cx="34522" cy="894663"/>
          </a:xfrm>
          <a:prstGeom prst="line">
            <a:avLst/>
          </a:prstGeom>
          <a:noFill/>
          <a:ln w="12700">
            <a:solidFill>
              <a:srgbClr val="E0533A">
                <a:alpha val="55000"/>
              </a:srgbClr>
            </a:solidFill>
            <a:prstDash val="solid"/>
          </a:ln>
        </p:spPr>
      </p:sp>
      <p:sp>
        <p:nvSpPr>
          <p:cNvPr id="22" name="Shape 20"/>
          <p:cNvSpPr/>
          <p:nvPr/>
        </p:nvSpPr>
        <p:spPr>
          <a:xfrm>
            <a:off x="8022022" y="3446736"/>
            <a:ext cx="841385" cy="141363"/>
          </a:xfrm>
          <a:prstGeom prst="line">
            <a:avLst/>
          </a:prstGeom>
          <a:noFill/>
          <a:ln w="9525">
            <a:solidFill>
              <a:srgbClr val="2C3E5C"/>
            </a:solidFill>
            <a:prstDash val="solid"/>
          </a:ln>
        </p:spPr>
      </p:sp>
      <p:sp>
        <p:nvSpPr>
          <p:cNvPr id="23" name="Shape 21"/>
          <p:cNvSpPr/>
          <p:nvPr/>
        </p:nvSpPr>
        <p:spPr>
          <a:xfrm flipH="1">
            <a:off x="7969833" y="3446736"/>
            <a:ext cx="52189" cy="1007594"/>
          </a:xfrm>
          <a:prstGeom prst="line">
            <a:avLst/>
          </a:prstGeom>
          <a:noFill/>
          <a:ln w="9525">
            <a:solidFill>
              <a:srgbClr val="2C3E5C"/>
            </a:solidFill>
            <a:prstDash val="solid"/>
          </a:ln>
        </p:spPr>
      </p:sp>
      <p:sp>
        <p:nvSpPr>
          <p:cNvPr id="24" name="Shape 22"/>
          <p:cNvSpPr/>
          <p:nvPr/>
        </p:nvSpPr>
        <p:spPr>
          <a:xfrm>
            <a:off x="8863407" y="3588099"/>
            <a:ext cx="35397" cy="586619"/>
          </a:xfrm>
          <a:prstGeom prst="line">
            <a:avLst/>
          </a:prstGeom>
          <a:noFill/>
          <a:ln w="9525">
            <a:solidFill>
              <a:srgbClr val="2C3E5C"/>
            </a:solidFill>
            <a:prstDash val="solid"/>
          </a:ln>
        </p:spPr>
      </p:sp>
      <p:sp>
        <p:nvSpPr>
          <p:cNvPr id="25" name="Shape 23"/>
          <p:cNvSpPr/>
          <p:nvPr/>
        </p:nvSpPr>
        <p:spPr>
          <a:xfrm>
            <a:off x="8863407" y="3588099"/>
            <a:ext cx="608979" cy="430898"/>
          </a:xfrm>
          <a:prstGeom prst="line">
            <a:avLst/>
          </a:prstGeom>
          <a:noFill/>
          <a:ln w="9525">
            <a:solidFill>
              <a:srgbClr val="2C3E5C"/>
            </a:solidFill>
            <a:prstDash val="solid"/>
          </a:ln>
        </p:spPr>
      </p:sp>
      <p:sp>
        <p:nvSpPr>
          <p:cNvPr id="26" name="Shape 24"/>
          <p:cNvSpPr/>
          <p:nvPr/>
        </p:nvSpPr>
        <p:spPr>
          <a:xfrm>
            <a:off x="10233423" y="3391327"/>
            <a:ext cx="387941" cy="632359"/>
          </a:xfrm>
          <a:prstGeom prst="line">
            <a:avLst/>
          </a:prstGeom>
          <a:noFill/>
          <a:ln w="9525">
            <a:solidFill>
              <a:srgbClr val="2C3E5C"/>
            </a:solidFill>
            <a:prstDash val="solid"/>
          </a:ln>
        </p:spPr>
      </p:sp>
      <p:sp>
        <p:nvSpPr>
          <p:cNvPr id="27" name="Shape 25"/>
          <p:cNvSpPr/>
          <p:nvPr/>
        </p:nvSpPr>
        <p:spPr>
          <a:xfrm flipH="1">
            <a:off x="9472386" y="3391327"/>
            <a:ext cx="761038" cy="627670"/>
          </a:xfrm>
          <a:prstGeom prst="line">
            <a:avLst/>
          </a:prstGeom>
          <a:noFill/>
          <a:ln w="9525">
            <a:solidFill>
              <a:srgbClr val="2C3E5C"/>
            </a:solidFill>
            <a:prstDash val="solid"/>
          </a:ln>
        </p:spPr>
      </p:sp>
      <p:sp>
        <p:nvSpPr>
          <p:cNvPr id="28" name="Shape 26"/>
          <p:cNvSpPr/>
          <p:nvPr/>
        </p:nvSpPr>
        <p:spPr>
          <a:xfrm flipH="1">
            <a:off x="10621365" y="3380222"/>
            <a:ext cx="1080097" cy="643463"/>
          </a:xfrm>
          <a:prstGeom prst="line">
            <a:avLst/>
          </a:prstGeom>
          <a:noFill/>
          <a:ln w="9525">
            <a:solidFill>
              <a:srgbClr val="2C3E5C"/>
            </a:solidFill>
            <a:prstDash val="solid"/>
          </a:ln>
        </p:spPr>
      </p:sp>
      <p:sp>
        <p:nvSpPr>
          <p:cNvPr id="29" name="Shape 27"/>
          <p:cNvSpPr/>
          <p:nvPr/>
        </p:nvSpPr>
        <p:spPr>
          <a:xfrm flipH="1">
            <a:off x="11294596" y="3380222"/>
            <a:ext cx="406865" cy="1194910"/>
          </a:xfrm>
          <a:prstGeom prst="line">
            <a:avLst/>
          </a:prstGeom>
          <a:noFill/>
          <a:ln w="12700">
            <a:solidFill>
              <a:srgbClr val="E0533A">
                <a:alpha val="55000"/>
              </a:srgbClr>
            </a:solidFill>
            <a:prstDash val="solid"/>
          </a:ln>
        </p:spPr>
      </p:sp>
      <p:sp>
        <p:nvSpPr>
          <p:cNvPr id="30" name="Shape 28"/>
          <p:cNvSpPr/>
          <p:nvPr/>
        </p:nvSpPr>
        <p:spPr>
          <a:xfrm>
            <a:off x="7087029" y="3971246"/>
            <a:ext cx="882804" cy="483084"/>
          </a:xfrm>
          <a:prstGeom prst="line">
            <a:avLst/>
          </a:prstGeom>
          <a:noFill/>
          <a:ln w="9525">
            <a:solidFill>
              <a:srgbClr val="2C3E5C"/>
            </a:solidFill>
            <a:prstDash val="solid"/>
          </a:ln>
        </p:spPr>
      </p:sp>
      <p:sp>
        <p:nvSpPr>
          <p:cNvPr id="31" name="Shape 29"/>
          <p:cNvSpPr/>
          <p:nvPr/>
        </p:nvSpPr>
        <p:spPr>
          <a:xfrm flipH="1">
            <a:off x="7087029" y="3446736"/>
            <a:ext cx="934993" cy="524510"/>
          </a:xfrm>
          <a:prstGeom prst="line">
            <a:avLst/>
          </a:prstGeom>
          <a:noFill/>
          <a:ln w="9525">
            <a:solidFill>
              <a:srgbClr val="2C3E5C"/>
            </a:solidFill>
            <a:prstDash val="solid"/>
          </a:ln>
        </p:spPr>
      </p:sp>
      <p:sp>
        <p:nvSpPr>
          <p:cNvPr id="32" name="Shape 30"/>
          <p:cNvSpPr/>
          <p:nvPr/>
        </p:nvSpPr>
        <p:spPr>
          <a:xfrm>
            <a:off x="7969833" y="4454330"/>
            <a:ext cx="112471" cy="628593"/>
          </a:xfrm>
          <a:prstGeom prst="line">
            <a:avLst/>
          </a:prstGeom>
          <a:noFill/>
          <a:ln w="9525">
            <a:solidFill>
              <a:srgbClr val="2C3E5C"/>
            </a:solidFill>
            <a:prstDash val="solid"/>
          </a:ln>
        </p:spPr>
      </p:sp>
      <p:sp>
        <p:nvSpPr>
          <p:cNvPr id="33" name="Shape 31"/>
          <p:cNvSpPr/>
          <p:nvPr/>
        </p:nvSpPr>
        <p:spPr>
          <a:xfrm flipH="1">
            <a:off x="7272762" y="4454330"/>
            <a:ext cx="697071" cy="612303"/>
          </a:xfrm>
          <a:prstGeom prst="line">
            <a:avLst/>
          </a:prstGeom>
          <a:noFill/>
          <a:ln w="9525">
            <a:solidFill>
              <a:srgbClr val="2C3E5C"/>
            </a:solidFill>
            <a:prstDash val="solid"/>
          </a:ln>
        </p:spPr>
      </p:sp>
      <p:sp>
        <p:nvSpPr>
          <p:cNvPr id="34" name="Shape 32"/>
          <p:cNvSpPr/>
          <p:nvPr/>
        </p:nvSpPr>
        <p:spPr>
          <a:xfrm flipV="1">
            <a:off x="8898804" y="4018997"/>
            <a:ext cx="573582" cy="155721"/>
          </a:xfrm>
          <a:prstGeom prst="line">
            <a:avLst/>
          </a:prstGeom>
          <a:noFill/>
          <a:ln w="9525">
            <a:solidFill>
              <a:srgbClr val="2C3E5C"/>
            </a:solidFill>
            <a:prstDash val="solid"/>
          </a:ln>
        </p:spPr>
      </p:sp>
      <p:sp>
        <p:nvSpPr>
          <p:cNvPr id="35" name="Shape 33"/>
          <p:cNvSpPr/>
          <p:nvPr/>
        </p:nvSpPr>
        <p:spPr>
          <a:xfrm>
            <a:off x="10621365" y="4023686"/>
            <a:ext cx="673232" cy="551447"/>
          </a:xfrm>
          <a:prstGeom prst="line">
            <a:avLst/>
          </a:prstGeom>
          <a:noFill/>
          <a:ln w="12700">
            <a:solidFill>
              <a:srgbClr val="E0533A">
                <a:alpha val="55000"/>
              </a:srgbClr>
            </a:solidFill>
            <a:prstDash val="solid"/>
          </a:ln>
        </p:spPr>
      </p:sp>
      <p:sp>
        <p:nvSpPr>
          <p:cNvPr id="36" name="Shape 34"/>
          <p:cNvSpPr/>
          <p:nvPr/>
        </p:nvSpPr>
        <p:spPr>
          <a:xfrm>
            <a:off x="7272762" y="5066632"/>
            <a:ext cx="809543" cy="16291"/>
          </a:xfrm>
          <a:prstGeom prst="line">
            <a:avLst/>
          </a:prstGeom>
          <a:noFill/>
          <a:ln w="9525">
            <a:solidFill>
              <a:srgbClr val="2C3E5C"/>
            </a:solidFill>
            <a:prstDash val="solid"/>
          </a:ln>
        </p:spPr>
      </p:sp>
      <p:sp>
        <p:nvSpPr>
          <p:cNvPr id="37" name="Shape 35"/>
          <p:cNvSpPr/>
          <p:nvPr/>
        </p:nvSpPr>
        <p:spPr>
          <a:xfrm flipH="1">
            <a:off x="7215511" y="5066632"/>
            <a:ext cx="57251" cy="919193"/>
          </a:xfrm>
          <a:prstGeom prst="line">
            <a:avLst/>
          </a:prstGeom>
          <a:noFill/>
          <a:ln w="9525">
            <a:solidFill>
              <a:srgbClr val="2C3E5C"/>
            </a:solidFill>
            <a:prstDash val="solid"/>
          </a:ln>
        </p:spPr>
      </p:sp>
      <p:sp>
        <p:nvSpPr>
          <p:cNvPr id="38" name="Shape 36"/>
          <p:cNvSpPr/>
          <p:nvPr/>
        </p:nvSpPr>
        <p:spPr>
          <a:xfrm flipH="1">
            <a:off x="8871787" y="4174718"/>
            <a:ext cx="27017" cy="618657"/>
          </a:xfrm>
          <a:prstGeom prst="line">
            <a:avLst/>
          </a:prstGeom>
          <a:noFill/>
          <a:ln w="9525">
            <a:solidFill>
              <a:srgbClr val="2C3E5C"/>
            </a:solidFill>
            <a:prstDash val="solid"/>
          </a:ln>
        </p:spPr>
      </p:sp>
      <p:sp>
        <p:nvSpPr>
          <p:cNvPr id="39" name="Shape 37"/>
          <p:cNvSpPr/>
          <p:nvPr/>
        </p:nvSpPr>
        <p:spPr>
          <a:xfrm>
            <a:off x="8871787" y="4793375"/>
            <a:ext cx="695431" cy="271400"/>
          </a:xfrm>
          <a:prstGeom prst="line">
            <a:avLst/>
          </a:prstGeom>
          <a:noFill/>
          <a:ln w="9525">
            <a:solidFill>
              <a:srgbClr val="2C3E5C"/>
            </a:solidFill>
            <a:prstDash val="solid"/>
          </a:ln>
        </p:spPr>
      </p:sp>
      <p:sp>
        <p:nvSpPr>
          <p:cNvPr id="40" name="Shape 38"/>
          <p:cNvSpPr/>
          <p:nvPr/>
        </p:nvSpPr>
        <p:spPr>
          <a:xfrm>
            <a:off x="9567218" y="5064775"/>
            <a:ext cx="198884" cy="981952"/>
          </a:xfrm>
          <a:prstGeom prst="line">
            <a:avLst/>
          </a:prstGeom>
          <a:noFill/>
          <a:ln w="9525">
            <a:solidFill>
              <a:srgbClr val="2C3E5C"/>
            </a:solidFill>
            <a:prstDash val="solid"/>
          </a:ln>
        </p:spPr>
      </p:sp>
      <p:sp>
        <p:nvSpPr>
          <p:cNvPr id="41" name="Shape 39"/>
          <p:cNvSpPr/>
          <p:nvPr/>
        </p:nvSpPr>
        <p:spPr>
          <a:xfrm flipH="1">
            <a:off x="7215511" y="5082923"/>
            <a:ext cx="866793" cy="902903"/>
          </a:xfrm>
          <a:prstGeom prst="line">
            <a:avLst/>
          </a:prstGeom>
          <a:noFill/>
          <a:ln w="9525">
            <a:solidFill>
              <a:srgbClr val="2C3E5C"/>
            </a:solidFill>
            <a:prstDash val="solid"/>
          </a:ln>
        </p:spPr>
      </p:sp>
      <p:sp>
        <p:nvSpPr>
          <p:cNvPr id="42" name="Shape 40"/>
          <p:cNvSpPr/>
          <p:nvPr/>
        </p:nvSpPr>
        <p:spPr>
          <a:xfrm flipV="1">
            <a:off x="8943895" y="6046727"/>
            <a:ext cx="822207" cy="190647"/>
          </a:xfrm>
          <a:prstGeom prst="line">
            <a:avLst/>
          </a:prstGeom>
          <a:noFill/>
          <a:ln w="9525">
            <a:solidFill>
              <a:srgbClr val="2C3E5C"/>
            </a:solidFill>
            <a:prstDash val="solid"/>
          </a:ln>
        </p:spPr>
      </p:sp>
      <p:sp>
        <p:nvSpPr>
          <p:cNvPr id="43" name="Shape 41"/>
          <p:cNvSpPr/>
          <p:nvPr/>
        </p:nvSpPr>
        <p:spPr>
          <a:xfrm flipH="1">
            <a:off x="8943895" y="5064775"/>
            <a:ext cx="623323" cy="1172599"/>
          </a:xfrm>
          <a:prstGeom prst="line">
            <a:avLst/>
          </a:prstGeom>
          <a:noFill/>
          <a:ln w="9525">
            <a:solidFill>
              <a:srgbClr val="2C3E5C"/>
            </a:solidFill>
            <a:prstDash val="solid"/>
          </a:ln>
        </p:spPr>
      </p:sp>
      <p:sp>
        <p:nvSpPr>
          <p:cNvPr id="44" name="Shape 42"/>
          <p:cNvSpPr/>
          <p:nvPr/>
        </p:nvSpPr>
        <p:spPr>
          <a:xfrm flipV="1">
            <a:off x="9766102" y="5700768"/>
            <a:ext cx="763661" cy="345959"/>
          </a:xfrm>
          <a:prstGeom prst="line">
            <a:avLst/>
          </a:prstGeom>
          <a:noFill/>
          <a:ln w="9525">
            <a:solidFill>
              <a:srgbClr val="2C3E5C"/>
            </a:solidFill>
            <a:prstDash val="solid"/>
          </a:ln>
        </p:spPr>
      </p:sp>
      <p:sp>
        <p:nvSpPr>
          <p:cNvPr id="45" name="Shape 43"/>
          <p:cNvSpPr/>
          <p:nvPr/>
        </p:nvSpPr>
        <p:spPr>
          <a:xfrm>
            <a:off x="10529763" y="5700768"/>
            <a:ext cx="948024" cy="612014"/>
          </a:xfrm>
          <a:prstGeom prst="line">
            <a:avLst/>
          </a:prstGeom>
          <a:noFill/>
          <a:ln w="9525">
            <a:solidFill>
              <a:srgbClr val="2C3E5C"/>
            </a:solidFill>
            <a:prstDash val="solid"/>
          </a:ln>
        </p:spPr>
      </p:sp>
      <p:sp>
        <p:nvSpPr>
          <p:cNvPr id="46" name="Shape 44"/>
          <p:cNvSpPr/>
          <p:nvPr/>
        </p:nvSpPr>
        <p:spPr>
          <a:xfrm>
            <a:off x="9766102" y="6046727"/>
            <a:ext cx="1711685" cy="266055"/>
          </a:xfrm>
          <a:prstGeom prst="line">
            <a:avLst/>
          </a:prstGeom>
          <a:noFill/>
          <a:ln w="9525">
            <a:solidFill>
              <a:srgbClr val="2C3E5C"/>
            </a:solidFill>
            <a:prstDash val="solid"/>
          </a:ln>
        </p:spPr>
      </p:sp>
      <p:sp>
        <p:nvSpPr>
          <p:cNvPr id="47" name="Shape 45"/>
          <p:cNvSpPr/>
          <p:nvPr/>
        </p:nvSpPr>
        <p:spPr>
          <a:xfrm>
            <a:off x="7150997" y="900440"/>
            <a:ext cx="109488" cy="109488"/>
          </a:xfrm>
          <a:prstGeom prst="ellipse">
            <a:avLst/>
          </a:prstGeom>
          <a:solidFill>
            <a:srgbClr val="4B6388"/>
          </a:solidFill>
          <a:ln w="12700">
            <a:solidFill>
              <a:srgbClr val="4B6388"/>
            </a:solidFill>
            <a:prstDash val="solid"/>
          </a:ln>
        </p:spPr>
      </p:sp>
      <p:sp>
        <p:nvSpPr>
          <p:cNvPr id="48" name="Shape 46"/>
          <p:cNvSpPr/>
          <p:nvPr/>
        </p:nvSpPr>
        <p:spPr>
          <a:xfrm>
            <a:off x="8222750" y="871243"/>
            <a:ext cx="72654" cy="72654"/>
          </a:xfrm>
          <a:prstGeom prst="ellipse">
            <a:avLst/>
          </a:prstGeom>
          <a:solidFill>
            <a:srgbClr val="4B6388"/>
          </a:solidFill>
          <a:ln w="12700">
            <a:solidFill>
              <a:srgbClr val="4B6388"/>
            </a:solidFill>
            <a:prstDash val="solid"/>
          </a:ln>
        </p:spPr>
      </p:sp>
      <p:sp>
        <p:nvSpPr>
          <p:cNvPr id="49" name="Shape 47"/>
          <p:cNvSpPr/>
          <p:nvPr/>
        </p:nvSpPr>
        <p:spPr>
          <a:xfrm>
            <a:off x="9736099" y="811595"/>
            <a:ext cx="72810" cy="72810"/>
          </a:xfrm>
          <a:prstGeom prst="ellipse">
            <a:avLst/>
          </a:prstGeom>
          <a:solidFill>
            <a:srgbClr val="4B6388"/>
          </a:solidFill>
          <a:ln w="12700">
            <a:solidFill>
              <a:srgbClr val="4B6388"/>
            </a:solidFill>
            <a:prstDash val="solid"/>
          </a:ln>
        </p:spPr>
      </p:sp>
      <p:sp>
        <p:nvSpPr>
          <p:cNvPr id="50" name="Shape 48"/>
          <p:cNvSpPr/>
          <p:nvPr/>
        </p:nvSpPr>
        <p:spPr>
          <a:xfrm>
            <a:off x="10716103" y="774677"/>
            <a:ext cx="105417" cy="105417"/>
          </a:xfrm>
          <a:prstGeom prst="ellipse">
            <a:avLst/>
          </a:prstGeom>
          <a:solidFill>
            <a:srgbClr val="4B6388"/>
          </a:solidFill>
          <a:ln w="12700">
            <a:solidFill>
              <a:srgbClr val="4B6388"/>
            </a:solidFill>
            <a:prstDash val="solid"/>
          </a:ln>
        </p:spPr>
      </p:sp>
      <p:sp>
        <p:nvSpPr>
          <p:cNvPr id="51" name="Shape 49"/>
          <p:cNvSpPr/>
          <p:nvPr/>
        </p:nvSpPr>
        <p:spPr>
          <a:xfrm>
            <a:off x="11435271" y="588230"/>
            <a:ext cx="126229" cy="126229"/>
          </a:xfrm>
          <a:prstGeom prst="ellipse">
            <a:avLst/>
          </a:prstGeom>
          <a:solidFill>
            <a:srgbClr val="4B6388"/>
          </a:solidFill>
          <a:ln w="12700">
            <a:solidFill>
              <a:srgbClr val="4B6388"/>
            </a:solidFill>
            <a:prstDash val="solid"/>
          </a:ln>
        </p:spPr>
      </p:sp>
      <p:sp>
        <p:nvSpPr>
          <p:cNvPr id="52" name="Shape 50"/>
          <p:cNvSpPr/>
          <p:nvPr/>
        </p:nvSpPr>
        <p:spPr>
          <a:xfrm>
            <a:off x="7911070" y="1604257"/>
            <a:ext cx="85993" cy="85993"/>
          </a:xfrm>
          <a:prstGeom prst="ellipse">
            <a:avLst/>
          </a:prstGeom>
          <a:solidFill>
            <a:srgbClr val="4B6388"/>
          </a:solidFill>
          <a:ln w="12700">
            <a:solidFill>
              <a:srgbClr val="4B6388"/>
            </a:solidFill>
            <a:prstDash val="solid"/>
          </a:ln>
        </p:spPr>
      </p:sp>
      <p:sp>
        <p:nvSpPr>
          <p:cNvPr id="53" name="Shape 51"/>
          <p:cNvSpPr/>
          <p:nvPr/>
        </p:nvSpPr>
        <p:spPr>
          <a:xfrm>
            <a:off x="8550640" y="1735149"/>
            <a:ext cx="123248" cy="123248"/>
          </a:xfrm>
          <a:prstGeom prst="ellipse">
            <a:avLst/>
          </a:prstGeom>
          <a:solidFill>
            <a:srgbClr val="4B6388"/>
          </a:solidFill>
          <a:ln w="12700">
            <a:solidFill>
              <a:srgbClr val="4B6388"/>
            </a:solidFill>
            <a:prstDash val="solid"/>
          </a:ln>
        </p:spPr>
      </p:sp>
      <p:sp>
        <p:nvSpPr>
          <p:cNvPr id="54" name="Shape 52"/>
          <p:cNvSpPr/>
          <p:nvPr/>
        </p:nvSpPr>
        <p:spPr>
          <a:xfrm>
            <a:off x="9601499" y="1920613"/>
            <a:ext cx="88109" cy="88109"/>
          </a:xfrm>
          <a:prstGeom prst="ellipse">
            <a:avLst/>
          </a:prstGeom>
          <a:solidFill>
            <a:srgbClr val="4B6388"/>
          </a:solidFill>
          <a:ln w="12700">
            <a:solidFill>
              <a:srgbClr val="4B6388"/>
            </a:solidFill>
            <a:prstDash val="solid"/>
          </a:ln>
        </p:spPr>
      </p:sp>
      <p:sp>
        <p:nvSpPr>
          <p:cNvPr id="55" name="Shape 53"/>
          <p:cNvSpPr/>
          <p:nvPr/>
        </p:nvSpPr>
        <p:spPr>
          <a:xfrm>
            <a:off x="10499254" y="138748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0636414" y="1524641"/>
            <a:ext cx="164592" cy="164592"/>
          </a:xfrm>
          <a:prstGeom prst="ellipse">
            <a:avLst/>
          </a:prstGeom>
          <a:solidFill>
            <a:srgbClr val="E0533A"/>
          </a:solidFill>
          <a:ln w="12700">
            <a:solidFill>
              <a:srgbClr val="E0533A"/>
            </a:solidFill>
            <a:prstDash val="solid"/>
          </a:ln>
        </p:spPr>
      </p:sp>
      <p:sp>
        <p:nvSpPr>
          <p:cNvPr id="57" name="Shape 55"/>
          <p:cNvSpPr/>
          <p:nvPr/>
        </p:nvSpPr>
        <p:spPr>
          <a:xfrm>
            <a:off x="11153797" y="1373043"/>
            <a:ext cx="112698" cy="112698"/>
          </a:xfrm>
          <a:prstGeom prst="ellipse">
            <a:avLst/>
          </a:prstGeom>
          <a:solidFill>
            <a:srgbClr val="4B6388"/>
          </a:solidFill>
          <a:ln w="12700">
            <a:solidFill>
              <a:srgbClr val="4B6388"/>
            </a:solidFill>
            <a:prstDash val="solid"/>
          </a:ln>
        </p:spPr>
      </p:sp>
      <p:sp>
        <p:nvSpPr>
          <p:cNvPr id="58" name="Shape 56"/>
          <p:cNvSpPr/>
          <p:nvPr/>
        </p:nvSpPr>
        <p:spPr>
          <a:xfrm>
            <a:off x="7453037" y="2388983"/>
            <a:ext cx="105858" cy="105858"/>
          </a:xfrm>
          <a:prstGeom prst="ellipse">
            <a:avLst/>
          </a:prstGeom>
          <a:solidFill>
            <a:srgbClr val="4B6388"/>
          </a:solidFill>
          <a:ln w="12700">
            <a:solidFill>
              <a:srgbClr val="4B6388"/>
            </a:solidFill>
            <a:prstDash val="solid"/>
          </a:ln>
        </p:spPr>
      </p:sp>
      <p:sp>
        <p:nvSpPr>
          <p:cNvPr id="59" name="Shape 57"/>
          <p:cNvSpPr/>
          <p:nvPr/>
        </p:nvSpPr>
        <p:spPr>
          <a:xfrm>
            <a:off x="8725321" y="2581932"/>
            <a:ext cx="68574" cy="68574"/>
          </a:xfrm>
          <a:prstGeom prst="ellipse">
            <a:avLst/>
          </a:prstGeom>
          <a:solidFill>
            <a:srgbClr val="4B6388"/>
          </a:solidFill>
          <a:ln w="12700">
            <a:solidFill>
              <a:srgbClr val="4B6388"/>
            </a:solidFill>
            <a:prstDash val="solid"/>
          </a:ln>
        </p:spPr>
      </p:sp>
      <p:sp>
        <p:nvSpPr>
          <p:cNvPr id="60" name="Shape 58"/>
          <p:cNvSpPr/>
          <p:nvPr/>
        </p:nvSpPr>
        <p:spPr>
          <a:xfrm>
            <a:off x="9890764" y="2296385"/>
            <a:ext cx="82357" cy="82357"/>
          </a:xfrm>
          <a:prstGeom prst="ellipse">
            <a:avLst/>
          </a:prstGeom>
          <a:solidFill>
            <a:srgbClr val="4B6388"/>
          </a:solidFill>
          <a:ln w="12700">
            <a:solidFill>
              <a:srgbClr val="4B6388"/>
            </a:solidFill>
            <a:prstDash val="solid"/>
          </a:ln>
        </p:spPr>
      </p:sp>
      <p:sp>
        <p:nvSpPr>
          <p:cNvPr id="61" name="Shape 59"/>
          <p:cNvSpPr/>
          <p:nvPr/>
        </p:nvSpPr>
        <p:spPr>
          <a:xfrm>
            <a:off x="10699977" y="2448345"/>
            <a:ext cx="106510" cy="106510"/>
          </a:xfrm>
          <a:prstGeom prst="ellipse">
            <a:avLst/>
          </a:prstGeom>
          <a:solidFill>
            <a:srgbClr val="4B6388"/>
          </a:solidFill>
          <a:ln w="12700">
            <a:solidFill>
              <a:srgbClr val="4B6388"/>
            </a:solidFill>
            <a:prstDash val="solid"/>
          </a:ln>
        </p:spPr>
      </p:sp>
      <p:sp>
        <p:nvSpPr>
          <p:cNvPr id="62" name="Shape 60"/>
          <p:cNvSpPr/>
          <p:nvPr/>
        </p:nvSpPr>
        <p:spPr>
          <a:xfrm>
            <a:off x="7974260" y="3398974"/>
            <a:ext cx="95524" cy="95524"/>
          </a:xfrm>
          <a:prstGeom prst="ellipse">
            <a:avLst/>
          </a:prstGeom>
          <a:solidFill>
            <a:srgbClr val="4B6388"/>
          </a:solidFill>
          <a:ln w="12700">
            <a:solidFill>
              <a:srgbClr val="4B6388"/>
            </a:solidFill>
            <a:prstDash val="solid"/>
          </a:ln>
        </p:spPr>
      </p:sp>
      <p:sp>
        <p:nvSpPr>
          <p:cNvPr id="63" name="Shape 61"/>
          <p:cNvSpPr/>
          <p:nvPr/>
        </p:nvSpPr>
        <p:spPr>
          <a:xfrm>
            <a:off x="8811311" y="3536003"/>
            <a:ext cx="104192" cy="104192"/>
          </a:xfrm>
          <a:prstGeom prst="ellipse">
            <a:avLst/>
          </a:prstGeom>
          <a:solidFill>
            <a:srgbClr val="4B6388"/>
          </a:solidFill>
          <a:ln w="12700">
            <a:solidFill>
              <a:srgbClr val="4B6388"/>
            </a:solidFill>
            <a:prstDash val="solid"/>
          </a:ln>
        </p:spPr>
      </p:sp>
      <p:sp>
        <p:nvSpPr>
          <p:cNvPr id="64" name="Shape 62"/>
          <p:cNvSpPr/>
          <p:nvPr/>
        </p:nvSpPr>
        <p:spPr>
          <a:xfrm>
            <a:off x="10194212" y="3352115"/>
            <a:ext cx="78424" cy="78424"/>
          </a:xfrm>
          <a:prstGeom prst="ellipse">
            <a:avLst/>
          </a:prstGeom>
          <a:solidFill>
            <a:srgbClr val="4B6388"/>
          </a:solidFill>
          <a:ln w="12700">
            <a:solidFill>
              <a:srgbClr val="4B6388"/>
            </a:solidFill>
            <a:prstDash val="solid"/>
          </a:ln>
        </p:spPr>
      </p:sp>
      <p:sp>
        <p:nvSpPr>
          <p:cNvPr id="65" name="Shape 63"/>
          <p:cNvSpPr/>
          <p:nvPr/>
        </p:nvSpPr>
        <p:spPr>
          <a:xfrm>
            <a:off x="11646475" y="3325236"/>
            <a:ext cx="109973" cy="109973"/>
          </a:xfrm>
          <a:prstGeom prst="ellipse">
            <a:avLst/>
          </a:prstGeom>
          <a:solidFill>
            <a:srgbClr val="4B6388"/>
          </a:solidFill>
          <a:ln w="12700">
            <a:solidFill>
              <a:srgbClr val="4B6388"/>
            </a:solidFill>
            <a:prstDash val="solid"/>
          </a:ln>
        </p:spPr>
      </p:sp>
      <p:sp>
        <p:nvSpPr>
          <p:cNvPr id="66" name="Shape 64"/>
          <p:cNvSpPr/>
          <p:nvPr/>
        </p:nvSpPr>
        <p:spPr>
          <a:xfrm>
            <a:off x="7044947" y="3929163"/>
            <a:ext cx="84165" cy="84165"/>
          </a:xfrm>
          <a:prstGeom prst="ellipse">
            <a:avLst/>
          </a:prstGeom>
          <a:solidFill>
            <a:srgbClr val="4B6388"/>
          </a:solidFill>
          <a:ln w="12700">
            <a:solidFill>
              <a:srgbClr val="4B6388"/>
            </a:solidFill>
            <a:prstDash val="solid"/>
          </a:ln>
        </p:spPr>
      </p:sp>
      <p:sp>
        <p:nvSpPr>
          <p:cNvPr id="67" name="Shape 65"/>
          <p:cNvSpPr/>
          <p:nvPr/>
        </p:nvSpPr>
        <p:spPr>
          <a:xfrm>
            <a:off x="7934885" y="4419381"/>
            <a:ext cx="69897" cy="69897"/>
          </a:xfrm>
          <a:prstGeom prst="ellipse">
            <a:avLst/>
          </a:prstGeom>
          <a:solidFill>
            <a:srgbClr val="4B6388"/>
          </a:solidFill>
          <a:ln w="12700">
            <a:solidFill>
              <a:srgbClr val="4B6388"/>
            </a:solidFill>
            <a:prstDash val="solid"/>
          </a:ln>
        </p:spPr>
      </p:sp>
      <p:sp>
        <p:nvSpPr>
          <p:cNvPr id="68" name="Shape 66"/>
          <p:cNvSpPr/>
          <p:nvPr/>
        </p:nvSpPr>
        <p:spPr>
          <a:xfrm>
            <a:off x="8849072" y="4124986"/>
            <a:ext cx="99464" cy="99464"/>
          </a:xfrm>
          <a:prstGeom prst="ellipse">
            <a:avLst/>
          </a:prstGeom>
          <a:solidFill>
            <a:srgbClr val="4B6388"/>
          </a:solidFill>
          <a:ln w="12700">
            <a:solidFill>
              <a:srgbClr val="4B6388"/>
            </a:solidFill>
            <a:prstDash val="solid"/>
          </a:ln>
        </p:spPr>
      </p:sp>
      <p:sp>
        <p:nvSpPr>
          <p:cNvPr id="69" name="Shape 67"/>
          <p:cNvSpPr/>
          <p:nvPr/>
        </p:nvSpPr>
        <p:spPr>
          <a:xfrm>
            <a:off x="9428191" y="3974802"/>
            <a:ext cx="88390" cy="88390"/>
          </a:xfrm>
          <a:prstGeom prst="ellipse">
            <a:avLst/>
          </a:prstGeom>
          <a:solidFill>
            <a:srgbClr val="4B6388"/>
          </a:solidFill>
          <a:ln w="12700">
            <a:solidFill>
              <a:srgbClr val="4B6388"/>
            </a:solidFill>
            <a:prstDash val="solid"/>
          </a:ln>
        </p:spPr>
      </p:sp>
      <p:sp>
        <p:nvSpPr>
          <p:cNvPr id="70" name="Shape 68"/>
          <p:cNvSpPr/>
          <p:nvPr/>
        </p:nvSpPr>
        <p:spPr>
          <a:xfrm>
            <a:off x="10583566" y="3985887"/>
            <a:ext cx="75598" cy="75598"/>
          </a:xfrm>
          <a:prstGeom prst="ellipse">
            <a:avLst/>
          </a:prstGeom>
          <a:solidFill>
            <a:srgbClr val="4B6388"/>
          </a:solidFill>
          <a:ln w="12700">
            <a:solidFill>
              <a:srgbClr val="4B6388"/>
            </a:solidFill>
            <a:prstDash val="solid"/>
          </a:ln>
        </p:spPr>
      </p:sp>
      <p:sp>
        <p:nvSpPr>
          <p:cNvPr id="71" name="Shape 69"/>
          <p:cNvSpPr/>
          <p:nvPr/>
        </p:nvSpPr>
        <p:spPr>
          <a:xfrm>
            <a:off x="11075140" y="4355677"/>
            <a:ext cx="438912" cy="438912"/>
          </a:xfrm>
          <a:prstGeom prst="ellipse">
            <a:avLst/>
          </a:prstGeom>
          <a:solidFill>
            <a:srgbClr val="E0533A">
              <a:alpha val="20000"/>
            </a:srgbClr>
          </a:solidFill>
          <a:ln w="12700">
            <a:solidFill>
              <a:srgbClr val="E0533A">
                <a:alpha val="20000"/>
              </a:srgbClr>
            </a:solidFill>
            <a:prstDash val="solid"/>
          </a:ln>
        </p:spPr>
      </p:sp>
      <p:sp>
        <p:nvSpPr>
          <p:cNvPr id="72" name="Shape 70"/>
          <p:cNvSpPr/>
          <p:nvPr/>
        </p:nvSpPr>
        <p:spPr>
          <a:xfrm>
            <a:off x="11212300" y="4492837"/>
            <a:ext cx="164592" cy="164592"/>
          </a:xfrm>
          <a:prstGeom prst="ellipse">
            <a:avLst/>
          </a:prstGeom>
          <a:solidFill>
            <a:srgbClr val="E0533A"/>
          </a:solidFill>
          <a:ln w="12700">
            <a:solidFill>
              <a:srgbClr val="E0533A"/>
            </a:solidFill>
            <a:prstDash val="solid"/>
          </a:ln>
        </p:spPr>
      </p:sp>
      <p:sp>
        <p:nvSpPr>
          <p:cNvPr id="73" name="Shape 71"/>
          <p:cNvSpPr/>
          <p:nvPr/>
        </p:nvSpPr>
        <p:spPr>
          <a:xfrm>
            <a:off x="7214623" y="5008493"/>
            <a:ext cx="116279" cy="116279"/>
          </a:xfrm>
          <a:prstGeom prst="ellipse">
            <a:avLst/>
          </a:prstGeom>
          <a:solidFill>
            <a:srgbClr val="4B6388"/>
          </a:solidFill>
          <a:ln w="12700">
            <a:solidFill>
              <a:srgbClr val="4B6388"/>
            </a:solidFill>
            <a:prstDash val="solid"/>
          </a:ln>
        </p:spPr>
      </p:sp>
      <p:sp>
        <p:nvSpPr>
          <p:cNvPr id="74" name="Shape 72"/>
          <p:cNvSpPr/>
          <p:nvPr/>
        </p:nvSpPr>
        <p:spPr>
          <a:xfrm>
            <a:off x="8020373" y="5020992"/>
            <a:ext cx="123863" cy="123863"/>
          </a:xfrm>
          <a:prstGeom prst="ellipse">
            <a:avLst/>
          </a:prstGeom>
          <a:solidFill>
            <a:srgbClr val="4B6388"/>
          </a:solidFill>
          <a:ln w="12700">
            <a:solidFill>
              <a:srgbClr val="4B6388"/>
            </a:solidFill>
            <a:prstDash val="solid"/>
          </a:ln>
        </p:spPr>
      </p:sp>
      <p:sp>
        <p:nvSpPr>
          <p:cNvPr id="75" name="Shape 73"/>
          <p:cNvSpPr/>
          <p:nvPr/>
        </p:nvSpPr>
        <p:spPr>
          <a:xfrm>
            <a:off x="8815761" y="4737348"/>
            <a:ext cx="112053" cy="112053"/>
          </a:xfrm>
          <a:prstGeom prst="ellipse">
            <a:avLst/>
          </a:prstGeom>
          <a:solidFill>
            <a:srgbClr val="4B6388"/>
          </a:solidFill>
          <a:ln w="12700">
            <a:solidFill>
              <a:srgbClr val="4B6388"/>
            </a:solidFill>
            <a:prstDash val="solid"/>
          </a:ln>
        </p:spPr>
      </p:sp>
      <p:sp>
        <p:nvSpPr>
          <p:cNvPr id="76" name="Shape 74"/>
          <p:cNvSpPr/>
          <p:nvPr/>
        </p:nvSpPr>
        <p:spPr>
          <a:xfrm>
            <a:off x="9535053" y="5032609"/>
            <a:ext cx="64331" cy="64331"/>
          </a:xfrm>
          <a:prstGeom prst="ellipse">
            <a:avLst/>
          </a:prstGeom>
          <a:solidFill>
            <a:srgbClr val="4B6388"/>
          </a:solidFill>
          <a:ln w="12700">
            <a:solidFill>
              <a:srgbClr val="4B6388"/>
            </a:solidFill>
            <a:prstDash val="solid"/>
          </a:ln>
        </p:spPr>
      </p:sp>
      <p:sp>
        <p:nvSpPr>
          <p:cNvPr id="77" name="Shape 75"/>
          <p:cNvSpPr/>
          <p:nvPr/>
        </p:nvSpPr>
        <p:spPr>
          <a:xfrm>
            <a:off x="7169649" y="5939964"/>
            <a:ext cx="91725" cy="91725"/>
          </a:xfrm>
          <a:prstGeom prst="ellipse">
            <a:avLst/>
          </a:prstGeom>
          <a:solidFill>
            <a:srgbClr val="4B6388"/>
          </a:solidFill>
          <a:ln w="12700">
            <a:solidFill>
              <a:srgbClr val="4B6388"/>
            </a:solidFill>
            <a:prstDash val="solid"/>
          </a:ln>
        </p:spPr>
      </p:sp>
      <p:sp>
        <p:nvSpPr>
          <p:cNvPr id="78" name="Shape 76"/>
          <p:cNvSpPr/>
          <p:nvPr/>
        </p:nvSpPr>
        <p:spPr>
          <a:xfrm>
            <a:off x="8884675" y="6178154"/>
            <a:ext cx="118440" cy="118440"/>
          </a:xfrm>
          <a:prstGeom prst="ellipse">
            <a:avLst/>
          </a:prstGeom>
          <a:solidFill>
            <a:srgbClr val="4B6388"/>
          </a:solidFill>
          <a:ln w="12700">
            <a:solidFill>
              <a:srgbClr val="4B6388"/>
            </a:solidFill>
            <a:prstDash val="solid"/>
          </a:ln>
        </p:spPr>
      </p:sp>
      <p:sp>
        <p:nvSpPr>
          <p:cNvPr id="79" name="Shape 77"/>
          <p:cNvSpPr/>
          <p:nvPr/>
        </p:nvSpPr>
        <p:spPr>
          <a:xfrm>
            <a:off x="9715879" y="5996504"/>
            <a:ext cx="100446" cy="100446"/>
          </a:xfrm>
          <a:prstGeom prst="ellipse">
            <a:avLst/>
          </a:prstGeom>
          <a:solidFill>
            <a:srgbClr val="4B6388"/>
          </a:solidFill>
          <a:ln w="12700">
            <a:solidFill>
              <a:srgbClr val="4B6388"/>
            </a:solidFill>
            <a:prstDash val="solid"/>
          </a:ln>
        </p:spPr>
      </p:sp>
      <p:sp>
        <p:nvSpPr>
          <p:cNvPr id="80" name="Shape 78"/>
          <p:cNvSpPr/>
          <p:nvPr/>
        </p:nvSpPr>
        <p:spPr>
          <a:xfrm>
            <a:off x="10475348" y="5646353"/>
            <a:ext cx="108831" cy="108831"/>
          </a:xfrm>
          <a:prstGeom prst="ellipse">
            <a:avLst/>
          </a:prstGeom>
          <a:solidFill>
            <a:srgbClr val="4B6388"/>
          </a:solidFill>
          <a:ln w="12700">
            <a:solidFill>
              <a:srgbClr val="4B6388"/>
            </a:solidFill>
            <a:prstDash val="solid"/>
          </a:ln>
        </p:spPr>
      </p:sp>
      <p:sp>
        <p:nvSpPr>
          <p:cNvPr id="81" name="Shape 79"/>
          <p:cNvSpPr/>
          <p:nvPr/>
        </p:nvSpPr>
        <p:spPr>
          <a:xfrm>
            <a:off x="11425664" y="6260658"/>
            <a:ext cx="104248" cy="104248"/>
          </a:xfrm>
          <a:prstGeom prst="ellipse">
            <a:avLst/>
          </a:prstGeom>
          <a:solidFill>
            <a:srgbClr val="4B6388"/>
          </a:solidFill>
          <a:ln w="12700">
            <a:solidFill>
              <a:srgbClr val="4B6388"/>
            </a:solidFill>
            <a:prstDash val="solid"/>
          </a:ln>
        </p:spPr>
      </p:sp>
      <p:sp>
        <p:nvSpPr>
          <p:cNvPr id="82" name="Text 80"/>
          <p:cNvSpPr txBox="1"/>
          <p:nvPr/>
        </p:nvSpPr>
        <p:spPr>
          <a:xfrm>
            <a:off x="685800" y="1097280"/>
            <a:ext cx="6035040" cy="274320"/>
          </a:xfrm>
          <a:prstGeom prst="rect">
            <a:avLst/>
          </a:prstGeom>
          <a:noFill/>
          <a:ln/>
        </p:spPr>
        <p:txBody>
          <a:bodyPr wrap="square" lIns="0" tIns="0" rIns="0" bIns="0" rtlCol="0" anchor="t"/>
          <a:lstStyle/>
          <a:p>
            <a:pPr indent="0" marL="0">
              <a:buNone/>
            </a:pPr>
            <a:r>
              <a:rPr lang="en-US" sz="1200" b="1" dirty="0">
                <a:solidFill>
                  <a:srgbClr val="F08A6E"/>
                </a:solidFill>
                <a:latin typeface="Arial" pitchFamily="34" charset="0"/>
                <a:ea typeface="Arial" pitchFamily="34" charset="-122"/>
                <a:cs typeface="Arial" pitchFamily="34" charset="-120"/>
              </a:rPr>
              <a:t>MID-TERM EVALUATION   ·   PROJECT 16</a:t>
            </a:r>
            <a:endParaRPr lang="en-US" sz="1200" dirty="0"/>
          </a:p>
        </p:txBody>
      </p:sp>
      <p:sp>
        <p:nvSpPr>
          <p:cNvPr id="83" name="Text 81"/>
          <p:cNvSpPr txBox="1"/>
          <p:nvPr/>
        </p:nvSpPr>
        <p:spPr>
          <a:xfrm>
            <a:off x="685800" y="1554480"/>
            <a:ext cx="6035040" cy="2514600"/>
          </a:xfrm>
          <a:prstGeom prst="rect">
            <a:avLst/>
          </a:prstGeom>
          <a:noFill/>
          <a:ln/>
        </p:spPr>
        <p:txBody>
          <a:bodyPr wrap="square" lIns="0" tIns="0" rIns="0" bIns="0" rtlCol="0" anchor="t"/>
          <a:lstStyle/>
          <a:p>
            <a:pPr indent="0" marL="0">
              <a:buNone/>
            </a:pPr>
            <a:r>
              <a:rPr lang="en-US" sz="3800" dirty="0">
                <a:solidFill>
                  <a:srgbClr val="FFFFFF"/>
                </a:solidFill>
                <a:latin typeface="Georgia" pitchFamily="34" charset="0"/>
                <a:ea typeface="Georgia" pitchFamily="34" charset="-122"/>
                <a:cs typeface="Georgia" pitchFamily="34" charset="-120"/>
              </a:rPr>
              <a:t>Anomaly Detection Using Machine Learning for Advanced Persistent Threats (APT)</a:t>
            </a:r>
            <a:endParaRPr lang="en-US" sz="3800" dirty="0"/>
          </a:p>
        </p:txBody>
      </p:sp>
      <p:sp>
        <p:nvSpPr>
          <p:cNvPr id="84" name="Text 82"/>
          <p:cNvSpPr txBox="1"/>
          <p:nvPr/>
        </p:nvSpPr>
        <p:spPr>
          <a:xfrm>
            <a:off x="685800" y="4206240"/>
            <a:ext cx="5760720" cy="86868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A hybrid Random Forest + XGBoost ensemble, re-implemented and evaluated on the APT-specific DAPT2020 dataset</a:t>
            </a:r>
            <a:endParaRPr lang="en-US" sz="1600" dirty="0"/>
          </a:p>
        </p:txBody>
      </p:sp>
      <p:sp>
        <p:nvSpPr>
          <p:cNvPr id="85" name="Text 83"/>
          <p:cNvSpPr txBox="1"/>
          <p:nvPr/>
        </p:nvSpPr>
        <p:spPr>
          <a:xfrm>
            <a:off x="685800" y="5715000"/>
            <a:ext cx="5852160" cy="502920"/>
          </a:xfrm>
          <a:prstGeom prst="rect">
            <a:avLst/>
          </a:prstGeom>
          <a:noFill/>
          <a:ln/>
        </p:spPr>
        <p:txBody>
          <a:bodyPr wrap="square" lIns="0" tIns="0" rIns="0" bIns="0" rtlCol="0" anchor="t"/>
          <a:lstStyle/>
          <a:p>
            <a:pPr indent="0" marL="0">
              <a:buNone/>
            </a:pPr>
            <a:r>
              <a:rPr lang="en-US" sz="1050" dirty="0">
                <a:solidFill>
                  <a:srgbClr val="6F7F96"/>
                </a:solidFill>
                <a:latin typeface="Arial" pitchFamily="34" charset="0"/>
                <a:ea typeface="Arial" pitchFamily="34" charset="-122"/>
                <a:cs typeface="Arial" pitchFamily="34" charset="-120"/>
              </a:rPr>
              <a:t>Based on: Saini N., Bhat Kasaragod V., Prakasha K., Das A.K. Concurrency and Computation: Practice and Experience, 35(28), e7865, 2023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234440"/>
            <a:ext cx="3657600" cy="82296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Agenda</a:t>
            </a:r>
            <a:endParaRPr lang="en-US" sz="4000" dirty="0"/>
          </a:p>
        </p:txBody>
      </p:sp>
      <p:sp>
        <p:nvSpPr>
          <p:cNvPr id="3" name="Text 1"/>
          <p:cNvSpPr txBox="1"/>
          <p:nvPr/>
        </p:nvSpPr>
        <p:spPr>
          <a:xfrm>
            <a:off x="685800" y="2194560"/>
            <a:ext cx="3383280" cy="1097280"/>
          </a:xfrm>
          <a:prstGeom prst="rect">
            <a:avLst/>
          </a:prstGeom>
          <a:noFill/>
          <a:ln/>
        </p:spPr>
        <p:txBody>
          <a:bodyPr wrap="square" lIns="0" tIns="0" rIns="0" bIns="0" rtlCol="0" anchor="t"/>
          <a:lstStyle/>
          <a:p>
            <a:pPr indent="0" marL="0">
              <a:buNone/>
            </a:pPr>
            <a:r>
              <a:rPr lang="en-US" sz="1500" i="1" dirty="0">
                <a:solidFill>
                  <a:srgbClr val="55606E"/>
                </a:solidFill>
                <a:latin typeface="Arial" pitchFamily="34" charset="0"/>
                <a:ea typeface="Arial" pitchFamily="34" charset="-122"/>
                <a:cs typeface="Arial" pitchFamily="34" charset="-120"/>
              </a:rPr>
              <a:t>Four parts, one question: does the paper's hybrid model really detect APTs?</a:t>
            </a:r>
            <a:endParaRPr lang="en-US" sz="1500" dirty="0"/>
          </a:p>
        </p:txBody>
      </p:sp>
      <p:sp>
        <p:nvSpPr>
          <p:cNvPr id="4" name="Text 2"/>
          <p:cNvSpPr txBox="1"/>
          <p:nvPr/>
        </p:nvSpPr>
        <p:spPr>
          <a:xfrm>
            <a:off x="4846320" y="109728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01</a:t>
            </a:r>
            <a:endParaRPr lang="en-US" sz="3000" dirty="0"/>
          </a:p>
        </p:txBody>
      </p:sp>
      <p:sp>
        <p:nvSpPr>
          <p:cNvPr id="5" name="Text 3"/>
          <p:cNvSpPr txBox="1"/>
          <p:nvPr/>
        </p:nvSpPr>
        <p:spPr>
          <a:xfrm>
            <a:off x="5852160" y="114300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Background</a:t>
            </a:r>
            <a:endParaRPr lang="en-US" sz="2000" dirty="0"/>
          </a:p>
        </p:txBody>
      </p:sp>
      <p:sp>
        <p:nvSpPr>
          <p:cNvPr id="6" name="Text 4"/>
          <p:cNvSpPr txBox="1"/>
          <p:nvPr/>
        </p:nvSpPr>
        <p:spPr>
          <a:xfrm>
            <a:off x="5852160" y="157276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The paper, what makes an APT different, and why its datasets fall short</a:t>
            </a:r>
            <a:endParaRPr lang="en-US" sz="1300" dirty="0"/>
          </a:p>
        </p:txBody>
      </p:sp>
      <p:sp>
        <p:nvSpPr>
          <p:cNvPr id="7" name="Shape 5"/>
          <p:cNvSpPr/>
          <p:nvPr/>
        </p:nvSpPr>
        <p:spPr>
          <a:xfrm>
            <a:off x="4846320" y="2167128"/>
            <a:ext cx="6659575" cy="914"/>
          </a:xfrm>
          <a:prstGeom prst="line">
            <a:avLst/>
          </a:prstGeom>
          <a:noFill/>
          <a:ln w="9525">
            <a:solidFill>
              <a:srgbClr val="E2E6EC"/>
            </a:solidFill>
            <a:prstDash val="solid"/>
          </a:ln>
        </p:spPr>
      </p:sp>
      <p:sp>
        <p:nvSpPr>
          <p:cNvPr id="8" name="Text 6"/>
          <p:cNvSpPr txBox="1"/>
          <p:nvPr/>
        </p:nvSpPr>
        <p:spPr>
          <a:xfrm>
            <a:off x="4846320" y="228600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02</a:t>
            </a:r>
            <a:endParaRPr lang="en-US" sz="3000" dirty="0"/>
          </a:p>
        </p:txBody>
      </p:sp>
      <p:sp>
        <p:nvSpPr>
          <p:cNvPr id="9" name="Text 7"/>
          <p:cNvSpPr txBox="1"/>
          <p:nvPr/>
        </p:nvSpPr>
        <p:spPr>
          <a:xfrm>
            <a:off x="5852160" y="233172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Data &amp; method</a:t>
            </a:r>
            <a:endParaRPr lang="en-US" sz="2000" dirty="0"/>
          </a:p>
        </p:txBody>
      </p:sp>
      <p:sp>
        <p:nvSpPr>
          <p:cNvPr id="10" name="Text 8"/>
          <p:cNvSpPr txBox="1"/>
          <p:nvPr/>
        </p:nvSpPr>
        <p:spPr>
          <a:xfrm>
            <a:off x="5852160" y="276148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DAPT2020, the pipeline, the hybrid model and a flaw in the protocol</a:t>
            </a:r>
            <a:endParaRPr lang="en-US" sz="1300" dirty="0"/>
          </a:p>
        </p:txBody>
      </p:sp>
      <p:sp>
        <p:nvSpPr>
          <p:cNvPr id="11" name="Shape 9"/>
          <p:cNvSpPr/>
          <p:nvPr/>
        </p:nvSpPr>
        <p:spPr>
          <a:xfrm>
            <a:off x="4846320" y="3355848"/>
            <a:ext cx="6659575" cy="914"/>
          </a:xfrm>
          <a:prstGeom prst="line">
            <a:avLst/>
          </a:prstGeom>
          <a:noFill/>
          <a:ln w="9525">
            <a:solidFill>
              <a:srgbClr val="E2E6EC"/>
            </a:solidFill>
            <a:prstDash val="solid"/>
          </a:ln>
        </p:spPr>
      </p:sp>
      <p:sp>
        <p:nvSpPr>
          <p:cNvPr id="12" name="Text 10"/>
          <p:cNvSpPr txBox="1"/>
          <p:nvPr/>
        </p:nvSpPr>
        <p:spPr>
          <a:xfrm>
            <a:off x="4846320" y="347472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03</a:t>
            </a:r>
            <a:endParaRPr lang="en-US" sz="3000" dirty="0"/>
          </a:p>
        </p:txBody>
      </p:sp>
      <p:sp>
        <p:nvSpPr>
          <p:cNvPr id="13" name="Text 11"/>
          <p:cNvSpPr txBox="1"/>
          <p:nvPr/>
        </p:nvSpPr>
        <p:spPr>
          <a:xfrm>
            <a:off x="5852160" y="352044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Results</a:t>
            </a:r>
            <a:endParaRPr lang="en-US" sz="2000" dirty="0"/>
          </a:p>
        </p:txBody>
      </p:sp>
      <p:sp>
        <p:nvSpPr>
          <p:cNvPr id="14" name="Text 12"/>
          <p:cNvSpPr txBox="1"/>
          <p:nvPr/>
        </p:nvSpPr>
        <p:spPr>
          <a:xfrm>
            <a:off x="5852160" y="395020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Five results on real APT traffic, including 15 models and 5 random seeds</a:t>
            </a:r>
            <a:endParaRPr lang="en-US" sz="1300" dirty="0"/>
          </a:p>
        </p:txBody>
      </p:sp>
      <p:sp>
        <p:nvSpPr>
          <p:cNvPr id="15" name="Shape 13"/>
          <p:cNvSpPr/>
          <p:nvPr/>
        </p:nvSpPr>
        <p:spPr>
          <a:xfrm>
            <a:off x="4846320" y="4544568"/>
            <a:ext cx="6659575" cy="914"/>
          </a:xfrm>
          <a:prstGeom prst="line">
            <a:avLst/>
          </a:prstGeom>
          <a:noFill/>
          <a:ln w="9525">
            <a:solidFill>
              <a:srgbClr val="E2E6EC"/>
            </a:solidFill>
            <a:prstDash val="solid"/>
          </a:ln>
        </p:spPr>
      </p:sp>
      <p:sp>
        <p:nvSpPr>
          <p:cNvPr id="16" name="Text 14"/>
          <p:cNvSpPr txBox="1"/>
          <p:nvPr/>
        </p:nvSpPr>
        <p:spPr>
          <a:xfrm>
            <a:off x="4846320" y="466344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04</a:t>
            </a:r>
            <a:endParaRPr lang="en-US" sz="3000" dirty="0"/>
          </a:p>
        </p:txBody>
      </p:sp>
      <p:sp>
        <p:nvSpPr>
          <p:cNvPr id="17" name="Text 15"/>
          <p:cNvSpPr txBox="1"/>
          <p:nvPr/>
        </p:nvSpPr>
        <p:spPr>
          <a:xfrm>
            <a:off x="5852160" y="470916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Conclusions</a:t>
            </a:r>
            <a:endParaRPr lang="en-US" sz="2000" dirty="0"/>
          </a:p>
        </p:txBody>
      </p:sp>
      <p:sp>
        <p:nvSpPr>
          <p:cNvPr id="18" name="Text 16"/>
          <p:cNvSpPr txBox="1"/>
          <p:nvPr/>
        </p:nvSpPr>
        <p:spPr>
          <a:xfrm>
            <a:off x="5852160" y="513892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What we have shown so far and the plan for the final evaluation</a:t>
            </a:r>
            <a:endParaRPr lang="en-US" sz="1300" dirty="0"/>
          </a:p>
        </p:txBody>
      </p:sp>
      <p:sp>
        <p:nvSpPr>
          <p:cNvPr id="19" name="Text 1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0" name="Text 1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724324" y="693081"/>
            <a:ext cx="928311" cy="419835"/>
          </a:xfrm>
          <a:prstGeom prst="line">
            <a:avLst/>
          </a:prstGeom>
          <a:noFill/>
          <a:ln w="9525">
            <a:solidFill>
              <a:srgbClr val="2C3E5C"/>
            </a:solidFill>
            <a:prstDash val="solid"/>
          </a:ln>
        </p:spPr>
      </p:sp>
      <p:sp>
        <p:nvSpPr>
          <p:cNvPr id="3" name="Shape 1"/>
          <p:cNvSpPr/>
          <p:nvPr/>
        </p:nvSpPr>
        <p:spPr>
          <a:xfrm flipH="1">
            <a:off x="6437404" y="693081"/>
            <a:ext cx="286919" cy="1003812"/>
          </a:xfrm>
          <a:prstGeom prst="line">
            <a:avLst/>
          </a:prstGeom>
          <a:noFill/>
          <a:ln w="9525">
            <a:solidFill>
              <a:srgbClr val="2C3E5C"/>
            </a:solidFill>
            <a:prstDash val="solid"/>
          </a:ln>
        </p:spPr>
      </p:sp>
      <p:sp>
        <p:nvSpPr>
          <p:cNvPr id="4" name="Shape 2"/>
          <p:cNvSpPr/>
          <p:nvPr/>
        </p:nvSpPr>
        <p:spPr>
          <a:xfrm>
            <a:off x="7652634" y="1112917"/>
            <a:ext cx="52930" cy="568127"/>
          </a:xfrm>
          <a:prstGeom prst="line">
            <a:avLst/>
          </a:prstGeom>
          <a:noFill/>
          <a:ln w="9525">
            <a:solidFill>
              <a:srgbClr val="2C3E5C"/>
            </a:solidFill>
            <a:prstDash val="solid"/>
          </a:ln>
        </p:spPr>
      </p:sp>
      <p:sp>
        <p:nvSpPr>
          <p:cNvPr id="5" name="Shape 3"/>
          <p:cNvSpPr/>
          <p:nvPr/>
        </p:nvSpPr>
        <p:spPr>
          <a:xfrm flipV="1">
            <a:off x="7652634" y="803133"/>
            <a:ext cx="811815" cy="309784"/>
          </a:xfrm>
          <a:prstGeom prst="line">
            <a:avLst/>
          </a:prstGeom>
          <a:noFill/>
          <a:ln w="9525">
            <a:solidFill>
              <a:srgbClr val="2C3E5C"/>
            </a:solidFill>
            <a:prstDash val="solid"/>
          </a:ln>
        </p:spPr>
      </p:sp>
      <p:sp>
        <p:nvSpPr>
          <p:cNvPr id="6" name="Shape 4"/>
          <p:cNvSpPr/>
          <p:nvPr/>
        </p:nvSpPr>
        <p:spPr>
          <a:xfrm flipV="1">
            <a:off x="8464450" y="732343"/>
            <a:ext cx="792931" cy="70790"/>
          </a:xfrm>
          <a:prstGeom prst="line">
            <a:avLst/>
          </a:prstGeom>
          <a:noFill/>
          <a:ln w="9525">
            <a:solidFill>
              <a:srgbClr val="2C3E5C"/>
            </a:solidFill>
            <a:prstDash val="solid"/>
          </a:ln>
        </p:spPr>
      </p:sp>
      <p:sp>
        <p:nvSpPr>
          <p:cNvPr id="7" name="Shape 5"/>
          <p:cNvSpPr/>
          <p:nvPr/>
        </p:nvSpPr>
        <p:spPr>
          <a:xfrm flipV="1">
            <a:off x="9257381" y="564562"/>
            <a:ext cx="1016479" cy="167781"/>
          </a:xfrm>
          <a:prstGeom prst="line">
            <a:avLst/>
          </a:prstGeom>
          <a:noFill/>
          <a:ln w="9525">
            <a:solidFill>
              <a:srgbClr val="2C3E5C"/>
            </a:solidFill>
            <a:prstDash val="solid"/>
          </a:ln>
        </p:spPr>
      </p:sp>
      <p:sp>
        <p:nvSpPr>
          <p:cNvPr id="8" name="Shape 6"/>
          <p:cNvSpPr/>
          <p:nvPr/>
        </p:nvSpPr>
        <p:spPr>
          <a:xfrm>
            <a:off x="10273859" y="564562"/>
            <a:ext cx="809812" cy="315465"/>
          </a:xfrm>
          <a:prstGeom prst="line">
            <a:avLst/>
          </a:prstGeom>
          <a:noFill/>
          <a:ln w="12700">
            <a:solidFill>
              <a:srgbClr val="E0533A">
                <a:alpha val="55000"/>
              </a:srgbClr>
            </a:solidFill>
            <a:prstDash val="solid"/>
          </a:ln>
        </p:spPr>
      </p:sp>
      <p:sp>
        <p:nvSpPr>
          <p:cNvPr id="9" name="Shape 7"/>
          <p:cNvSpPr/>
          <p:nvPr/>
        </p:nvSpPr>
        <p:spPr>
          <a:xfrm>
            <a:off x="10273859" y="564562"/>
            <a:ext cx="180642" cy="921854"/>
          </a:xfrm>
          <a:prstGeom prst="line">
            <a:avLst/>
          </a:prstGeom>
          <a:noFill/>
          <a:ln w="9525">
            <a:solidFill>
              <a:srgbClr val="2C3E5C"/>
            </a:solidFill>
            <a:prstDash val="solid"/>
          </a:ln>
        </p:spPr>
      </p:sp>
      <p:sp>
        <p:nvSpPr>
          <p:cNvPr id="10" name="Shape 8"/>
          <p:cNvSpPr/>
          <p:nvPr/>
        </p:nvSpPr>
        <p:spPr>
          <a:xfrm>
            <a:off x="11083671" y="880027"/>
            <a:ext cx="127185" cy="694656"/>
          </a:xfrm>
          <a:prstGeom prst="line">
            <a:avLst/>
          </a:prstGeom>
          <a:noFill/>
          <a:ln w="12700">
            <a:solidFill>
              <a:srgbClr val="E0533A">
                <a:alpha val="55000"/>
              </a:srgbClr>
            </a:solidFill>
            <a:prstDash val="solid"/>
          </a:ln>
        </p:spPr>
      </p:sp>
      <p:sp>
        <p:nvSpPr>
          <p:cNvPr id="11" name="Shape 9"/>
          <p:cNvSpPr/>
          <p:nvPr/>
        </p:nvSpPr>
        <p:spPr>
          <a:xfrm>
            <a:off x="6437404" y="1696893"/>
            <a:ext cx="271152" cy="793144"/>
          </a:xfrm>
          <a:prstGeom prst="line">
            <a:avLst/>
          </a:prstGeom>
          <a:noFill/>
          <a:ln w="9525">
            <a:solidFill>
              <a:srgbClr val="2C3E5C"/>
            </a:solidFill>
            <a:prstDash val="solid"/>
          </a:ln>
        </p:spPr>
      </p:sp>
      <p:sp>
        <p:nvSpPr>
          <p:cNvPr id="12" name="Shape 10"/>
          <p:cNvSpPr/>
          <p:nvPr/>
        </p:nvSpPr>
        <p:spPr>
          <a:xfrm>
            <a:off x="7705564" y="1681044"/>
            <a:ext cx="23395" cy="1060546"/>
          </a:xfrm>
          <a:prstGeom prst="line">
            <a:avLst/>
          </a:prstGeom>
          <a:noFill/>
          <a:ln w="9525">
            <a:solidFill>
              <a:srgbClr val="2C3E5C"/>
            </a:solidFill>
            <a:prstDash val="solid"/>
          </a:ln>
        </p:spPr>
      </p:sp>
      <p:sp>
        <p:nvSpPr>
          <p:cNvPr id="13" name="Shape 11"/>
          <p:cNvSpPr/>
          <p:nvPr/>
        </p:nvSpPr>
        <p:spPr>
          <a:xfrm flipH="1">
            <a:off x="9584973" y="1979448"/>
            <a:ext cx="119031" cy="330665"/>
          </a:xfrm>
          <a:prstGeom prst="line">
            <a:avLst/>
          </a:prstGeom>
          <a:noFill/>
          <a:ln w="9525">
            <a:solidFill>
              <a:srgbClr val="2C3E5C"/>
            </a:solidFill>
            <a:prstDash val="solid"/>
          </a:ln>
        </p:spPr>
      </p:sp>
      <p:sp>
        <p:nvSpPr>
          <p:cNvPr id="14" name="Shape 12"/>
          <p:cNvSpPr/>
          <p:nvPr/>
        </p:nvSpPr>
        <p:spPr>
          <a:xfrm>
            <a:off x="9704004" y="1979448"/>
            <a:ext cx="366415" cy="312572"/>
          </a:xfrm>
          <a:prstGeom prst="line">
            <a:avLst/>
          </a:prstGeom>
          <a:noFill/>
          <a:ln w="9525">
            <a:solidFill>
              <a:srgbClr val="2C3E5C"/>
            </a:solidFill>
            <a:prstDash val="solid"/>
          </a:ln>
        </p:spPr>
      </p:sp>
      <p:sp>
        <p:nvSpPr>
          <p:cNvPr id="15" name="Shape 13"/>
          <p:cNvSpPr/>
          <p:nvPr/>
        </p:nvSpPr>
        <p:spPr>
          <a:xfrm>
            <a:off x="10454501" y="1486416"/>
            <a:ext cx="756355" cy="88267"/>
          </a:xfrm>
          <a:prstGeom prst="line">
            <a:avLst/>
          </a:prstGeom>
          <a:noFill/>
          <a:ln w="9525">
            <a:solidFill>
              <a:srgbClr val="2C3E5C"/>
            </a:solidFill>
            <a:prstDash val="solid"/>
          </a:ln>
        </p:spPr>
      </p:sp>
      <p:sp>
        <p:nvSpPr>
          <p:cNvPr id="16" name="Shape 14"/>
          <p:cNvSpPr/>
          <p:nvPr/>
        </p:nvSpPr>
        <p:spPr>
          <a:xfrm flipH="1">
            <a:off x="10454501" y="880027"/>
            <a:ext cx="629170" cy="606389"/>
          </a:xfrm>
          <a:prstGeom prst="line">
            <a:avLst/>
          </a:prstGeom>
          <a:noFill/>
          <a:ln w="12700">
            <a:solidFill>
              <a:srgbClr val="E0533A">
                <a:alpha val="55000"/>
              </a:srgbClr>
            </a:solidFill>
            <a:prstDash val="solid"/>
          </a:ln>
        </p:spPr>
      </p:sp>
      <p:sp>
        <p:nvSpPr>
          <p:cNvPr id="17" name="Shape 15"/>
          <p:cNvSpPr/>
          <p:nvPr/>
        </p:nvSpPr>
        <p:spPr>
          <a:xfrm>
            <a:off x="6708556" y="2490037"/>
            <a:ext cx="623782" cy="611111"/>
          </a:xfrm>
          <a:prstGeom prst="line">
            <a:avLst/>
          </a:prstGeom>
          <a:noFill/>
          <a:ln w="12700">
            <a:solidFill>
              <a:srgbClr val="E0533A">
                <a:alpha val="55000"/>
              </a:srgbClr>
            </a:solidFill>
            <a:prstDash val="solid"/>
          </a:ln>
        </p:spPr>
      </p:sp>
      <p:sp>
        <p:nvSpPr>
          <p:cNvPr id="18" name="Shape 16"/>
          <p:cNvSpPr/>
          <p:nvPr/>
        </p:nvSpPr>
        <p:spPr>
          <a:xfrm flipH="1">
            <a:off x="7332338" y="2741590"/>
            <a:ext cx="396621" cy="359558"/>
          </a:xfrm>
          <a:prstGeom prst="line">
            <a:avLst/>
          </a:prstGeom>
          <a:noFill/>
          <a:ln w="12700">
            <a:solidFill>
              <a:srgbClr val="E0533A">
                <a:alpha val="55000"/>
              </a:srgbClr>
            </a:solidFill>
            <a:prstDash val="solid"/>
          </a:ln>
        </p:spPr>
      </p:sp>
      <p:sp>
        <p:nvSpPr>
          <p:cNvPr id="19" name="Shape 17"/>
          <p:cNvSpPr/>
          <p:nvPr/>
        </p:nvSpPr>
        <p:spPr>
          <a:xfrm>
            <a:off x="6708556" y="2490037"/>
            <a:ext cx="1020403" cy="251553"/>
          </a:xfrm>
          <a:prstGeom prst="line">
            <a:avLst/>
          </a:prstGeom>
          <a:noFill/>
          <a:ln w="9525">
            <a:solidFill>
              <a:srgbClr val="2C3E5C"/>
            </a:solidFill>
            <a:prstDash val="solid"/>
          </a:ln>
        </p:spPr>
      </p:sp>
      <p:sp>
        <p:nvSpPr>
          <p:cNvPr id="20" name="Shape 18"/>
          <p:cNvSpPr/>
          <p:nvPr/>
        </p:nvSpPr>
        <p:spPr>
          <a:xfrm flipV="1">
            <a:off x="8840915" y="2310113"/>
            <a:ext cx="744058" cy="547424"/>
          </a:xfrm>
          <a:prstGeom prst="line">
            <a:avLst/>
          </a:prstGeom>
          <a:noFill/>
          <a:ln w="9525">
            <a:solidFill>
              <a:srgbClr val="2C3E5C"/>
            </a:solidFill>
            <a:prstDash val="solid"/>
          </a:ln>
        </p:spPr>
      </p:sp>
      <p:sp>
        <p:nvSpPr>
          <p:cNvPr id="21" name="Shape 19"/>
          <p:cNvSpPr/>
          <p:nvPr/>
        </p:nvSpPr>
        <p:spPr>
          <a:xfrm>
            <a:off x="8840915" y="2857537"/>
            <a:ext cx="716153" cy="745180"/>
          </a:xfrm>
          <a:prstGeom prst="line">
            <a:avLst/>
          </a:prstGeom>
          <a:noFill/>
          <a:ln w="9525">
            <a:solidFill>
              <a:srgbClr val="2C3E5C"/>
            </a:solidFill>
            <a:prstDash val="solid"/>
          </a:ln>
        </p:spPr>
      </p:sp>
      <p:sp>
        <p:nvSpPr>
          <p:cNvPr id="22" name="Shape 20"/>
          <p:cNvSpPr/>
          <p:nvPr/>
        </p:nvSpPr>
        <p:spPr>
          <a:xfrm flipV="1">
            <a:off x="9584973" y="2292019"/>
            <a:ext cx="485446" cy="18094"/>
          </a:xfrm>
          <a:prstGeom prst="line">
            <a:avLst/>
          </a:prstGeom>
          <a:noFill/>
          <a:ln w="9525">
            <a:solidFill>
              <a:srgbClr val="2C3E5C"/>
            </a:solidFill>
            <a:prstDash val="solid"/>
          </a:ln>
        </p:spPr>
      </p:sp>
      <p:sp>
        <p:nvSpPr>
          <p:cNvPr id="23" name="Shape 21"/>
          <p:cNvSpPr/>
          <p:nvPr/>
        </p:nvSpPr>
        <p:spPr>
          <a:xfrm>
            <a:off x="11218349" y="2763714"/>
            <a:ext cx="420044" cy="496625"/>
          </a:xfrm>
          <a:prstGeom prst="line">
            <a:avLst/>
          </a:prstGeom>
          <a:noFill/>
          <a:ln w="9525">
            <a:solidFill>
              <a:srgbClr val="2C3E5C"/>
            </a:solidFill>
            <a:prstDash val="solid"/>
          </a:ln>
        </p:spPr>
      </p:sp>
      <p:sp>
        <p:nvSpPr>
          <p:cNvPr id="24" name="Shape 22"/>
          <p:cNvSpPr/>
          <p:nvPr/>
        </p:nvSpPr>
        <p:spPr>
          <a:xfrm flipH="1">
            <a:off x="10731348" y="2763714"/>
            <a:ext cx="487002" cy="468275"/>
          </a:xfrm>
          <a:prstGeom prst="line">
            <a:avLst/>
          </a:prstGeom>
          <a:noFill/>
          <a:ln w="9525">
            <a:solidFill>
              <a:srgbClr val="2C3E5C"/>
            </a:solidFill>
            <a:prstDash val="solid"/>
          </a:ln>
        </p:spPr>
      </p:sp>
      <p:sp>
        <p:nvSpPr>
          <p:cNvPr id="25" name="Shape 23"/>
          <p:cNvSpPr/>
          <p:nvPr/>
        </p:nvSpPr>
        <p:spPr>
          <a:xfrm flipH="1">
            <a:off x="6407188" y="3538530"/>
            <a:ext cx="148444" cy="467365"/>
          </a:xfrm>
          <a:prstGeom prst="line">
            <a:avLst/>
          </a:prstGeom>
          <a:noFill/>
          <a:ln w="9525">
            <a:solidFill>
              <a:srgbClr val="2C3E5C"/>
            </a:solidFill>
            <a:prstDash val="solid"/>
          </a:ln>
        </p:spPr>
      </p:sp>
      <p:sp>
        <p:nvSpPr>
          <p:cNvPr id="26" name="Shape 24"/>
          <p:cNvSpPr/>
          <p:nvPr/>
        </p:nvSpPr>
        <p:spPr>
          <a:xfrm flipV="1">
            <a:off x="6555632" y="3101149"/>
            <a:ext cx="776706" cy="437381"/>
          </a:xfrm>
          <a:prstGeom prst="line">
            <a:avLst/>
          </a:prstGeom>
          <a:noFill/>
          <a:ln w="12700">
            <a:solidFill>
              <a:srgbClr val="E0533A">
                <a:alpha val="55000"/>
              </a:srgbClr>
            </a:solidFill>
            <a:prstDash val="solid"/>
          </a:ln>
        </p:spPr>
      </p:sp>
      <p:sp>
        <p:nvSpPr>
          <p:cNvPr id="27" name="Shape 25"/>
          <p:cNvSpPr/>
          <p:nvPr/>
        </p:nvSpPr>
        <p:spPr>
          <a:xfrm>
            <a:off x="9557068" y="3602717"/>
            <a:ext cx="133671" cy="515754"/>
          </a:xfrm>
          <a:prstGeom prst="line">
            <a:avLst/>
          </a:prstGeom>
          <a:noFill/>
          <a:ln w="9525">
            <a:solidFill>
              <a:srgbClr val="2C3E5C"/>
            </a:solidFill>
            <a:prstDash val="solid"/>
          </a:ln>
        </p:spPr>
      </p:sp>
      <p:sp>
        <p:nvSpPr>
          <p:cNvPr id="28" name="Shape 26"/>
          <p:cNvSpPr/>
          <p:nvPr/>
        </p:nvSpPr>
        <p:spPr>
          <a:xfrm>
            <a:off x="9557068" y="3602717"/>
            <a:ext cx="587494" cy="728329"/>
          </a:xfrm>
          <a:prstGeom prst="line">
            <a:avLst/>
          </a:prstGeom>
          <a:noFill/>
          <a:ln w="9525">
            <a:solidFill>
              <a:srgbClr val="2C3E5C"/>
            </a:solidFill>
            <a:prstDash val="solid"/>
          </a:ln>
        </p:spPr>
      </p:sp>
      <p:sp>
        <p:nvSpPr>
          <p:cNvPr id="29" name="Shape 27"/>
          <p:cNvSpPr/>
          <p:nvPr/>
        </p:nvSpPr>
        <p:spPr>
          <a:xfrm>
            <a:off x="10731348" y="3231988"/>
            <a:ext cx="907045" cy="28350"/>
          </a:xfrm>
          <a:prstGeom prst="line">
            <a:avLst/>
          </a:prstGeom>
          <a:noFill/>
          <a:ln w="9525">
            <a:solidFill>
              <a:srgbClr val="2C3E5C"/>
            </a:solidFill>
            <a:prstDash val="solid"/>
          </a:ln>
        </p:spPr>
      </p:sp>
      <p:sp>
        <p:nvSpPr>
          <p:cNvPr id="30" name="Shape 28"/>
          <p:cNvSpPr/>
          <p:nvPr/>
        </p:nvSpPr>
        <p:spPr>
          <a:xfrm>
            <a:off x="6407188" y="4005895"/>
            <a:ext cx="253837" cy="1088980"/>
          </a:xfrm>
          <a:prstGeom prst="line">
            <a:avLst/>
          </a:prstGeom>
          <a:noFill/>
          <a:ln w="9525">
            <a:solidFill>
              <a:srgbClr val="2C3E5C"/>
            </a:solidFill>
            <a:prstDash val="solid"/>
          </a:ln>
        </p:spPr>
      </p:sp>
      <p:sp>
        <p:nvSpPr>
          <p:cNvPr id="31" name="Shape 29"/>
          <p:cNvSpPr/>
          <p:nvPr/>
        </p:nvSpPr>
        <p:spPr>
          <a:xfrm flipH="1">
            <a:off x="7550885" y="4444202"/>
            <a:ext cx="351778" cy="500081"/>
          </a:xfrm>
          <a:prstGeom prst="line">
            <a:avLst/>
          </a:prstGeom>
          <a:noFill/>
          <a:ln w="9525">
            <a:solidFill>
              <a:srgbClr val="2C3E5C"/>
            </a:solidFill>
            <a:prstDash val="solid"/>
          </a:ln>
        </p:spPr>
      </p:sp>
      <p:sp>
        <p:nvSpPr>
          <p:cNvPr id="32" name="Shape 30"/>
          <p:cNvSpPr/>
          <p:nvPr/>
        </p:nvSpPr>
        <p:spPr>
          <a:xfrm flipV="1">
            <a:off x="7902663" y="4101021"/>
            <a:ext cx="540350" cy="343181"/>
          </a:xfrm>
          <a:prstGeom prst="line">
            <a:avLst/>
          </a:prstGeom>
          <a:noFill/>
          <a:ln w="9525">
            <a:solidFill>
              <a:srgbClr val="2C3E5C"/>
            </a:solidFill>
            <a:prstDash val="solid"/>
          </a:ln>
        </p:spPr>
      </p:sp>
      <p:sp>
        <p:nvSpPr>
          <p:cNvPr id="33" name="Shape 31"/>
          <p:cNvSpPr/>
          <p:nvPr/>
        </p:nvSpPr>
        <p:spPr>
          <a:xfrm>
            <a:off x="8443013" y="4101021"/>
            <a:ext cx="376346" cy="1105569"/>
          </a:xfrm>
          <a:prstGeom prst="line">
            <a:avLst/>
          </a:prstGeom>
          <a:noFill/>
          <a:ln w="9525">
            <a:solidFill>
              <a:srgbClr val="2C3E5C"/>
            </a:solidFill>
            <a:prstDash val="solid"/>
          </a:ln>
        </p:spPr>
      </p:sp>
      <p:sp>
        <p:nvSpPr>
          <p:cNvPr id="34" name="Shape 32"/>
          <p:cNvSpPr/>
          <p:nvPr/>
        </p:nvSpPr>
        <p:spPr>
          <a:xfrm>
            <a:off x="9690740" y="4118471"/>
            <a:ext cx="453822" cy="212575"/>
          </a:xfrm>
          <a:prstGeom prst="line">
            <a:avLst/>
          </a:prstGeom>
          <a:noFill/>
          <a:ln w="9525">
            <a:solidFill>
              <a:srgbClr val="2C3E5C"/>
            </a:solidFill>
            <a:prstDash val="solid"/>
          </a:ln>
        </p:spPr>
      </p:sp>
      <p:sp>
        <p:nvSpPr>
          <p:cNvPr id="35" name="Shape 33"/>
          <p:cNvSpPr/>
          <p:nvPr/>
        </p:nvSpPr>
        <p:spPr>
          <a:xfrm flipV="1">
            <a:off x="10144562" y="4330483"/>
            <a:ext cx="827788" cy="914"/>
          </a:xfrm>
          <a:prstGeom prst="line">
            <a:avLst/>
          </a:prstGeom>
          <a:noFill/>
          <a:ln w="9525">
            <a:solidFill>
              <a:srgbClr val="2C3E5C"/>
            </a:solidFill>
            <a:prstDash val="solid"/>
          </a:ln>
        </p:spPr>
      </p:sp>
      <p:sp>
        <p:nvSpPr>
          <p:cNvPr id="36" name="Shape 34"/>
          <p:cNvSpPr/>
          <p:nvPr/>
        </p:nvSpPr>
        <p:spPr>
          <a:xfrm>
            <a:off x="10731348" y="3231988"/>
            <a:ext cx="241003" cy="1098494"/>
          </a:xfrm>
          <a:prstGeom prst="line">
            <a:avLst/>
          </a:prstGeom>
          <a:noFill/>
          <a:ln w="9525">
            <a:solidFill>
              <a:srgbClr val="2C3E5C"/>
            </a:solidFill>
            <a:prstDash val="solid"/>
          </a:ln>
        </p:spPr>
      </p:sp>
      <p:sp>
        <p:nvSpPr>
          <p:cNvPr id="37" name="Shape 35"/>
          <p:cNvSpPr/>
          <p:nvPr/>
        </p:nvSpPr>
        <p:spPr>
          <a:xfrm>
            <a:off x="6661025" y="5094875"/>
            <a:ext cx="208860" cy="759512"/>
          </a:xfrm>
          <a:prstGeom prst="line">
            <a:avLst/>
          </a:prstGeom>
          <a:noFill/>
          <a:ln w="9525">
            <a:solidFill>
              <a:srgbClr val="2C3E5C"/>
            </a:solidFill>
            <a:prstDash val="solid"/>
          </a:ln>
        </p:spPr>
      </p:sp>
      <p:sp>
        <p:nvSpPr>
          <p:cNvPr id="38" name="Shape 36"/>
          <p:cNvSpPr/>
          <p:nvPr/>
        </p:nvSpPr>
        <p:spPr>
          <a:xfrm flipV="1">
            <a:off x="6661025" y="4944283"/>
            <a:ext cx="889860" cy="150592"/>
          </a:xfrm>
          <a:prstGeom prst="line">
            <a:avLst/>
          </a:prstGeom>
          <a:noFill/>
          <a:ln w="9525">
            <a:solidFill>
              <a:srgbClr val="2C3E5C"/>
            </a:solidFill>
            <a:prstDash val="solid"/>
          </a:ln>
        </p:spPr>
      </p:sp>
      <p:sp>
        <p:nvSpPr>
          <p:cNvPr id="39" name="Shape 37"/>
          <p:cNvSpPr/>
          <p:nvPr/>
        </p:nvSpPr>
        <p:spPr>
          <a:xfrm flipV="1">
            <a:off x="8819359" y="4842491"/>
            <a:ext cx="635927" cy="364098"/>
          </a:xfrm>
          <a:prstGeom prst="line">
            <a:avLst/>
          </a:prstGeom>
          <a:noFill/>
          <a:ln w="9525">
            <a:solidFill>
              <a:srgbClr val="2C3E5C"/>
            </a:solidFill>
            <a:prstDash val="solid"/>
          </a:ln>
        </p:spPr>
      </p:sp>
      <p:sp>
        <p:nvSpPr>
          <p:cNvPr id="40" name="Shape 38"/>
          <p:cNvSpPr/>
          <p:nvPr/>
        </p:nvSpPr>
        <p:spPr>
          <a:xfrm flipH="1">
            <a:off x="8537081" y="5206589"/>
            <a:ext cx="282278" cy="785703"/>
          </a:xfrm>
          <a:prstGeom prst="line">
            <a:avLst/>
          </a:prstGeom>
          <a:noFill/>
          <a:ln w="9525">
            <a:solidFill>
              <a:srgbClr val="2C3E5C"/>
            </a:solidFill>
            <a:prstDash val="solid"/>
          </a:ln>
        </p:spPr>
      </p:sp>
      <p:sp>
        <p:nvSpPr>
          <p:cNvPr id="41" name="Shape 39"/>
          <p:cNvSpPr/>
          <p:nvPr/>
        </p:nvSpPr>
        <p:spPr>
          <a:xfrm>
            <a:off x="9455287" y="4842491"/>
            <a:ext cx="574190" cy="434935"/>
          </a:xfrm>
          <a:prstGeom prst="line">
            <a:avLst/>
          </a:prstGeom>
          <a:noFill/>
          <a:ln w="9525">
            <a:solidFill>
              <a:srgbClr val="2C3E5C"/>
            </a:solidFill>
            <a:prstDash val="solid"/>
          </a:ln>
        </p:spPr>
      </p:sp>
      <p:sp>
        <p:nvSpPr>
          <p:cNvPr id="42" name="Shape 40"/>
          <p:cNvSpPr/>
          <p:nvPr/>
        </p:nvSpPr>
        <p:spPr>
          <a:xfrm flipH="1">
            <a:off x="9780859" y="5277426"/>
            <a:ext cx="248618" cy="404534"/>
          </a:xfrm>
          <a:prstGeom prst="line">
            <a:avLst/>
          </a:prstGeom>
          <a:noFill/>
          <a:ln w="9525">
            <a:solidFill>
              <a:srgbClr val="2C3E5C"/>
            </a:solidFill>
            <a:prstDash val="solid"/>
          </a:ln>
        </p:spPr>
      </p:sp>
      <p:sp>
        <p:nvSpPr>
          <p:cNvPr id="43" name="Shape 41"/>
          <p:cNvSpPr/>
          <p:nvPr/>
        </p:nvSpPr>
        <p:spPr>
          <a:xfrm flipV="1">
            <a:off x="6869885" y="5825527"/>
            <a:ext cx="1051305" cy="28860"/>
          </a:xfrm>
          <a:prstGeom prst="line">
            <a:avLst/>
          </a:prstGeom>
          <a:noFill/>
          <a:ln w="9525">
            <a:solidFill>
              <a:srgbClr val="2C3E5C"/>
            </a:solidFill>
            <a:prstDash val="solid"/>
          </a:ln>
        </p:spPr>
      </p:sp>
      <p:sp>
        <p:nvSpPr>
          <p:cNvPr id="44" name="Shape 42"/>
          <p:cNvSpPr/>
          <p:nvPr/>
        </p:nvSpPr>
        <p:spPr>
          <a:xfrm>
            <a:off x="7921191" y="5825527"/>
            <a:ext cx="615891" cy="166766"/>
          </a:xfrm>
          <a:prstGeom prst="line">
            <a:avLst/>
          </a:prstGeom>
          <a:noFill/>
          <a:ln w="9525">
            <a:solidFill>
              <a:srgbClr val="2C3E5C"/>
            </a:solidFill>
            <a:prstDash val="solid"/>
          </a:ln>
        </p:spPr>
      </p:sp>
      <p:sp>
        <p:nvSpPr>
          <p:cNvPr id="45" name="Shape 43"/>
          <p:cNvSpPr/>
          <p:nvPr/>
        </p:nvSpPr>
        <p:spPr>
          <a:xfrm>
            <a:off x="7550885" y="4944283"/>
            <a:ext cx="370306" cy="881244"/>
          </a:xfrm>
          <a:prstGeom prst="line">
            <a:avLst/>
          </a:prstGeom>
          <a:noFill/>
          <a:ln w="9525">
            <a:solidFill>
              <a:srgbClr val="2C3E5C"/>
            </a:solidFill>
            <a:prstDash val="solid"/>
          </a:ln>
        </p:spPr>
      </p:sp>
      <p:sp>
        <p:nvSpPr>
          <p:cNvPr id="46" name="Shape 44"/>
          <p:cNvSpPr/>
          <p:nvPr/>
        </p:nvSpPr>
        <p:spPr>
          <a:xfrm>
            <a:off x="9780859" y="5681960"/>
            <a:ext cx="541828" cy="499870"/>
          </a:xfrm>
          <a:prstGeom prst="line">
            <a:avLst/>
          </a:prstGeom>
          <a:noFill/>
          <a:ln w="9525">
            <a:solidFill>
              <a:srgbClr val="2C3E5C"/>
            </a:solidFill>
            <a:prstDash val="solid"/>
          </a:ln>
        </p:spPr>
      </p:sp>
      <p:sp>
        <p:nvSpPr>
          <p:cNvPr id="47" name="Shape 45"/>
          <p:cNvSpPr/>
          <p:nvPr/>
        </p:nvSpPr>
        <p:spPr>
          <a:xfrm>
            <a:off x="10029477" y="5277426"/>
            <a:ext cx="293210" cy="904404"/>
          </a:xfrm>
          <a:prstGeom prst="line">
            <a:avLst/>
          </a:prstGeom>
          <a:noFill/>
          <a:ln w="9525">
            <a:solidFill>
              <a:srgbClr val="2C3E5C"/>
            </a:solidFill>
            <a:prstDash val="solid"/>
          </a:ln>
        </p:spPr>
      </p:sp>
      <p:sp>
        <p:nvSpPr>
          <p:cNvPr id="48" name="Shape 46"/>
          <p:cNvSpPr/>
          <p:nvPr/>
        </p:nvSpPr>
        <p:spPr>
          <a:xfrm flipV="1">
            <a:off x="10322687" y="6071926"/>
            <a:ext cx="1196179" cy="109904"/>
          </a:xfrm>
          <a:prstGeom prst="line">
            <a:avLst/>
          </a:prstGeom>
          <a:noFill/>
          <a:ln w="9525">
            <a:solidFill>
              <a:srgbClr val="2C3E5C"/>
            </a:solidFill>
            <a:prstDash val="solid"/>
          </a:ln>
        </p:spPr>
      </p:sp>
      <p:sp>
        <p:nvSpPr>
          <p:cNvPr id="49" name="Shape 47"/>
          <p:cNvSpPr/>
          <p:nvPr/>
        </p:nvSpPr>
        <p:spPr>
          <a:xfrm>
            <a:off x="10029477" y="5277426"/>
            <a:ext cx="1489389" cy="794500"/>
          </a:xfrm>
          <a:prstGeom prst="line">
            <a:avLst/>
          </a:prstGeom>
          <a:noFill/>
          <a:ln w="9525">
            <a:solidFill>
              <a:srgbClr val="2C3E5C"/>
            </a:solidFill>
            <a:prstDash val="solid"/>
          </a:ln>
        </p:spPr>
      </p:sp>
      <p:sp>
        <p:nvSpPr>
          <p:cNvPr id="50" name="Shape 48"/>
          <p:cNvSpPr/>
          <p:nvPr/>
        </p:nvSpPr>
        <p:spPr>
          <a:xfrm>
            <a:off x="6671336" y="640093"/>
            <a:ext cx="105975" cy="105975"/>
          </a:xfrm>
          <a:prstGeom prst="ellipse">
            <a:avLst/>
          </a:prstGeom>
          <a:solidFill>
            <a:srgbClr val="4B6388"/>
          </a:solidFill>
          <a:ln w="12700">
            <a:solidFill>
              <a:srgbClr val="4B6388"/>
            </a:solidFill>
            <a:prstDash val="solid"/>
          </a:ln>
        </p:spPr>
      </p:sp>
      <p:sp>
        <p:nvSpPr>
          <p:cNvPr id="51" name="Shape 49"/>
          <p:cNvSpPr/>
          <p:nvPr/>
        </p:nvSpPr>
        <p:spPr>
          <a:xfrm>
            <a:off x="7593970" y="1054252"/>
            <a:ext cx="117329" cy="117329"/>
          </a:xfrm>
          <a:prstGeom prst="ellipse">
            <a:avLst/>
          </a:prstGeom>
          <a:solidFill>
            <a:srgbClr val="4B6388"/>
          </a:solidFill>
          <a:ln w="12700">
            <a:solidFill>
              <a:srgbClr val="4B6388"/>
            </a:solidFill>
            <a:prstDash val="solid"/>
          </a:ln>
        </p:spPr>
      </p:sp>
      <p:sp>
        <p:nvSpPr>
          <p:cNvPr id="52" name="Shape 50"/>
          <p:cNvSpPr/>
          <p:nvPr/>
        </p:nvSpPr>
        <p:spPr>
          <a:xfrm>
            <a:off x="8417434" y="756117"/>
            <a:ext cx="94031" cy="94031"/>
          </a:xfrm>
          <a:prstGeom prst="ellipse">
            <a:avLst/>
          </a:prstGeom>
          <a:solidFill>
            <a:srgbClr val="4B6388"/>
          </a:solidFill>
          <a:ln w="12700">
            <a:solidFill>
              <a:srgbClr val="4B6388"/>
            </a:solidFill>
            <a:prstDash val="solid"/>
          </a:ln>
        </p:spPr>
      </p:sp>
      <p:sp>
        <p:nvSpPr>
          <p:cNvPr id="53" name="Shape 51"/>
          <p:cNvSpPr/>
          <p:nvPr/>
        </p:nvSpPr>
        <p:spPr>
          <a:xfrm>
            <a:off x="9198088" y="673050"/>
            <a:ext cx="118586" cy="118586"/>
          </a:xfrm>
          <a:prstGeom prst="ellipse">
            <a:avLst/>
          </a:prstGeom>
          <a:solidFill>
            <a:srgbClr val="4B6388"/>
          </a:solidFill>
          <a:ln w="12700">
            <a:solidFill>
              <a:srgbClr val="4B6388"/>
            </a:solidFill>
            <a:prstDash val="solid"/>
          </a:ln>
        </p:spPr>
      </p:sp>
      <p:sp>
        <p:nvSpPr>
          <p:cNvPr id="54" name="Shape 52"/>
          <p:cNvSpPr/>
          <p:nvPr/>
        </p:nvSpPr>
        <p:spPr>
          <a:xfrm>
            <a:off x="10228726" y="519428"/>
            <a:ext cx="90267" cy="90267"/>
          </a:xfrm>
          <a:prstGeom prst="ellipse">
            <a:avLst/>
          </a:prstGeom>
          <a:solidFill>
            <a:srgbClr val="4B6388"/>
          </a:solidFill>
          <a:ln w="12700">
            <a:solidFill>
              <a:srgbClr val="4B6388"/>
            </a:solidFill>
            <a:prstDash val="solid"/>
          </a:ln>
        </p:spPr>
      </p:sp>
      <p:sp>
        <p:nvSpPr>
          <p:cNvPr id="55" name="Shape 53"/>
          <p:cNvSpPr/>
          <p:nvPr/>
        </p:nvSpPr>
        <p:spPr>
          <a:xfrm>
            <a:off x="10864215" y="66057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001375" y="797731"/>
            <a:ext cx="164592" cy="164592"/>
          </a:xfrm>
          <a:prstGeom prst="ellipse">
            <a:avLst/>
          </a:prstGeom>
          <a:solidFill>
            <a:srgbClr val="E0533A"/>
          </a:solidFill>
          <a:ln w="12700">
            <a:solidFill>
              <a:srgbClr val="E0533A"/>
            </a:solidFill>
            <a:prstDash val="solid"/>
          </a:ln>
        </p:spPr>
      </p:sp>
      <p:sp>
        <p:nvSpPr>
          <p:cNvPr id="57" name="Shape 55"/>
          <p:cNvSpPr/>
          <p:nvPr/>
        </p:nvSpPr>
        <p:spPr>
          <a:xfrm>
            <a:off x="6403548" y="1663037"/>
            <a:ext cx="67712" cy="67712"/>
          </a:xfrm>
          <a:prstGeom prst="ellipse">
            <a:avLst/>
          </a:prstGeom>
          <a:solidFill>
            <a:srgbClr val="4B6388"/>
          </a:solidFill>
          <a:ln w="12700">
            <a:solidFill>
              <a:srgbClr val="4B6388"/>
            </a:solidFill>
            <a:prstDash val="solid"/>
          </a:ln>
        </p:spPr>
      </p:sp>
      <p:sp>
        <p:nvSpPr>
          <p:cNvPr id="58" name="Shape 56"/>
          <p:cNvSpPr/>
          <p:nvPr/>
        </p:nvSpPr>
        <p:spPr>
          <a:xfrm>
            <a:off x="7667254" y="1642733"/>
            <a:ext cx="76621" cy="76621"/>
          </a:xfrm>
          <a:prstGeom prst="ellipse">
            <a:avLst/>
          </a:prstGeom>
          <a:solidFill>
            <a:srgbClr val="4B6388"/>
          </a:solidFill>
          <a:ln w="12700">
            <a:solidFill>
              <a:srgbClr val="4B6388"/>
            </a:solidFill>
            <a:prstDash val="solid"/>
          </a:ln>
        </p:spPr>
      </p:sp>
      <p:sp>
        <p:nvSpPr>
          <p:cNvPr id="59" name="Shape 57"/>
          <p:cNvSpPr/>
          <p:nvPr/>
        </p:nvSpPr>
        <p:spPr>
          <a:xfrm>
            <a:off x="9664247" y="1939690"/>
            <a:ext cx="79514" cy="79514"/>
          </a:xfrm>
          <a:prstGeom prst="ellipse">
            <a:avLst/>
          </a:prstGeom>
          <a:solidFill>
            <a:srgbClr val="4B6388"/>
          </a:solidFill>
          <a:ln w="12700">
            <a:solidFill>
              <a:srgbClr val="4B6388"/>
            </a:solidFill>
            <a:prstDash val="solid"/>
          </a:ln>
        </p:spPr>
      </p:sp>
      <p:sp>
        <p:nvSpPr>
          <p:cNvPr id="60" name="Shape 58"/>
          <p:cNvSpPr/>
          <p:nvPr/>
        </p:nvSpPr>
        <p:spPr>
          <a:xfrm>
            <a:off x="10401557" y="1433472"/>
            <a:ext cx="105887" cy="105887"/>
          </a:xfrm>
          <a:prstGeom prst="ellipse">
            <a:avLst/>
          </a:prstGeom>
          <a:solidFill>
            <a:srgbClr val="4B6388"/>
          </a:solidFill>
          <a:ln w="12700">
            <a:solidFill>
              <a:srgbClr val="4B6388"/>
            </a:solidFill>
            <a:prstDash val="solid"/>
          </a:ln>
        </p:spPr>
      </p:sp>
      <p:sp>
        <p:nvSpPr>
          <p:cNvPr id="61" name="Shape 59"/>
          <p:cNvSpPr/>
          <p:nvPr/>
        </p:nvSpPr>
        <p:spPr>
          <a:xfrm>
            <a:off x="11176566" y="1540394"/>
            <a:ext cx="68579" cy="68579"/>
          </a:xfrm>
          <a:prstGeom prst="ellipse">
            <a:avLst/>
          </a:prstGeom>
          <a:solidFill>
            <a:srgbClr val="4B6388"/>
          </a:solidFill>
          <a:ln w="12700">
            <a:solidFill>
              <a:srgbClr val="4B6388"/>
            </a:solidFill>
            <a:prstDash val="solid"/>
          </a:ln>
        </p:spPr>
      </p:sp>
      <p:sp>
        <p:nvSpPr>
          <p:cNvPr id="62" name="Shape 60"/>
          <p:cNvSpPr/>
          <p:nvPr/>
        </p:nvSpPr>
        <p:spPr>
          <a:xfrm>
            <a:off x="6653154" y="2434635"/>
            <a:ext cx="110804" cy="110804"/>
          </a:xfrm>
          <a:prstGeom prst="ellipse">
            <a:avLst/>
          </a:prstGeom>
          <a:solidFill>
            <a:srgbClr val="4B6388"/>
          </a:solidFill>
          <a:ln w="12700">
            <a:solidFill>
              <a:srgbClr val="4B6388"/>
            </a:solidFill>
            <a:prstDash val="solid"/>
          </a:ln>
        </p:spPr>
      </p:sp>
      <p:sp>
        <p:nvSpPr>
          <p:cNvPr id="63" name="Shape 61"/>
          <p:cNvSpPr/>
          <p:nvPr/>
        </p:nvSpPr>
        <p:spPr>
          <a:xfrm>
            <a:off x="7683920" y="2696550"/>
            <a:ext cx="90079" cy="90079"/>
          </a:xfrm>
          <a:prstGeom prst="ellipse">
            <a:avLst/>
          </a:prstGeom>
          <a:solidFill>
            <a:srgbClr val="4B6388"/>
          </a:solidFill>
          <a:ln w="12700">
            <a:solidFill>
              <a:srgbClr val="4B6388"/>
            </a:solidFill>
            <a:prstDash val="solid"/>
          </a:ln>
        </p:spPr>
      </p:sp>
      <p:sp>
        <p:nvSpPr>
          <p:cNvPr id="64" name="Shape 62"/>
          <p:cNvSpPr/>
          <p:nvPr/>
        </p:nvSpPr>
        <p:spPr>
          <a:xfrm>
            <a:off x="8778101" y="2794722"/>
            <a:ext cx="125628" cy="125628"/>
          </a:xfrm>
          <a:prstGeom prst="ellipse">
            <a:avLst/>
          </a:prstGeom>
          <a:solidFill>
            <a:srgbClr val="4B6388"/>
          </a:solidFill>
          <a:ln w="12700">
            <a:solidFill>
              <a:srgbClr val="4B6388"/>
            </a:solidFill>
            <a:prstDash val="solid"/>
          </a:ln>
        </p:spPr>
      </p:sp>
      <p:sp>
        <p:nvSpPr>
          <p:cNvPr id="65" name="Shape 63"/>
          <p:cNvSpPr/>
          <p:nvPr/>
        </p:nvSpPr>
        <p:spPr>
          <a:xfrm>
            <a:off x="9543491" y="2268631"/>
            <a:ext cx="82964" cy="82964"/>
          </a:xfrm>
          <a:prstGeom prst="ellipse">
            <a:avLst/>
          </a:prstGeom>
          <a:solidFill>
            <a:srgbClr val="4B6388"/>
          </a:solidFill>
          <a:ln w="12700">
            <a:solidFill>
              <a:srgbClr val="4B6388"/>
            </a:solidFill>
            <a:prstDash val="solid"/>
          </a:ln>
        </p:spPr>
      </p:sp>
      <p:sp>
        <p:nvSpPr>
          <p:cNvPr id="66" name="Shape 64"/>
          <p:cNvSpPr/>
          <p:nvPr/>
        </p:nvSpPr>
        <p:spPr>
          <a:xfrm>
            <a:off x="10018899" y="2240499"/>
            <a:ext cx="103040" cy="103040"/>
          </a:xfrm>
          <a:prstGeom prst="ellipse">
            <a:avLst/>
          </a:prstGeom>
          <a:solidFill>
            <a:srgbClr val="4B6388"/>
          </a:solidFill>
          <a:ln w="12700">
            <a:solidFill>
              <a:srgbClr val="4B6388"/>
            </a:solidFill>
            <a:prstDash val="solid"/>
          </a:ln>
        </p:spPr>
      </p:sp>
      <p:sp>
        <p:nvSpPr>
          <p:cNvPr id="67" name="Shape 65"/>
          <p:cNvSpPr/>
          <p:nvPr/>
        </p:nvSpPr>
        <p:spPr>
          <a:xfrm>
            <a:off x="11172719" y="2718083"/>
            <a:ext cx="91261" cy="91261"/>
          </a:xfrm>
          <a:prstGeom prst="ellipse">
            <a:avLst/>
          </a:prstGeom>
          <a:solidFill>
            <a:srgbClr val="4B6388"/>
          </a:solidFill>
          <a:ln w="12700">
            <a:solidFill>
              <a:srgbClr val="4B6388"/>
            </a:solidFill>
            <a:prstDash val="solid"/>
          </a:ln>
        </p:spPr>
      </p:sp>
      <p:sp>
        <p:nvSpPr>
          <p:cNvPr id="68" name="Shape 66"/>
          <p:cNvSpPr/>
          <p:nvPr/>
        </p:nvSpPr>
        <p:spPr>
          <a:xfrm>
            <a:off x="6520172" y="3503070"/>
            <a:ext cx="70919" cy="70919"/>
          </a:xfrm>
          <a:prstGeom prst="ellipse">
            <a:avLst/>
          </a:prstGeom>
          <a:solidFill>
            <a:srgbClr val="4B6388"/>
          </a:solidFill>
          <a:ln w="12700">
            <a:solidFill>
              <a:srgbClr val="4B6388"/>
            </a:solidFill>
            <a:prstDash val="solid"/>
          </a:ln>
        </p:spPr>
      </p:sp>
      <p:sp>
        <p:nvSpPr>
          <p:cNvPr id="69" name="Shape 67"/>
          <p:cNvSpPr/>
          <p:nvPr/>
        </p:nvSpPr>
        <p:spPr>
          <a:xfrm>
            <a:off x="7112882" y="2881693"/>
            <a:ext cx="438912" cy="438912"/>
          </a:xfrm>
          <a:prstGeom prst="ellipse">
            <a:avLst/>
          </a:prstGeom>
          <a:solidFill>
            <a:srgbClr val="E0533A">
              <a:alpha val="20000"/>
            </a:srgbClr>
          </a:solidFill>
          <a:ln w="12700">
            <a:solidFill>
              <a:srgbClr val="E0533A">
                <a:alpha val="20000"/>
              </a:srgbClr>
            </a:solidFill>
            <a:prstDash val="solid"/>
          </a:ln>
        </p:spPr>
      </p:sp>
      <p:sp>
        <p:nvSpPr>
          <p:cNvPr id="70" name="Shape 68"/>
          <p:cNvSpPr/>
          <p:nvPr/>
        </p:nvSpPr>
        <p:spPr>
          <a:xfrm>
            <a:off x="7250042" y="3018853"/>
            <a:ext cx="164592" cy="164592"/>
          </a:xfrm>
          <a:prstGeom prst="ellipse">
            <a:avLst/>
          </a:prstGeom>
          <a:solidFill>
            <a:srgbClr val="E0533A"/>
          </a:solidFill>
          <a:ln w="12700">
            <a:solidFill>
              <a:srgbClr val="E0533A"/>
            </a:solidFill>
            <a:prstDash val="solid"/>
          </a:ln>
        </p:spPr>
      </p:sp>
      <p:sp>
        <p:nvSpPr>
          <p:cNvPr id="71" name="Shape 69"/>
          <p:cNvSpPr/>
          <p:nvPr/>
        </p:nvSpPr>
        <p:spPr>
          <a:xfrm>
            <a:off x="9514440" y="3560088"/>
            <a:ext cx="85257" cy="85257"/>
          </a:xfrm>
          <a:prstGeom prst="ellipse">
            <a:avLst/>
          </a:prstGeom>
          <a:solidFill>
            <a:srgbClr val="4B6388"/>
          </a:solidFill>
          <a:ln w="12700">
            <a:solidFill>
              <a:srgbClr val="4B6388"/>
            </a:solidFill>
            <a:prstDash val="solid"/>
          </a:ln>
        </p:spPr>
      </p:sp>
      <p:sp>
        <p:nvSpPr>
          <p:cNvPr id="72" name="Shape 70"/>
          <p:cNvSpPr/>
          <p:nvPr/>
        </p:nvSpPr>
        <p:spPr>
          <a:xfrm>
            <a:off x="10681158" y="3181798"/>
            <a:ext cx="100380" cy="100380"/>
          </a:xfrm>
          <a:prstGeom prst="ellipse">
            <a:avLst/>
          </a:prstGeom>
          <a:solidFill>
            <a:srgbClr val="4B6388"/>
          </a:solidFill>
          <a:ln w="12700">
            <a:solidFill>
              <a:srgbClr val="4B6388"/>
            </a:solidFill>
            <a:prstDash val="solid"/>
          </a:ln>
        </p:spPr>
      </p:sp>
      <p:sp>
        <p:nvSpPr>
          <p:cNvPr id="73" name="Shape 71"/>
          <p:cNvSpPr/>
          <p:nvPr/>
        </p:nvSpPr>
        <p:spPr>
          <a:xfrm>
            <a:off x="11599383" y="3221328"/>
            <a:ext cx="78020" cy="78020"/>
          </a:xfrm>
          <a:prstGeom prst="ellipse">
            <a:avLst/>
          </a:prstGeom>
          <a:solidFill>
            <a:srgbClr val="4B6388"/>
          </a:solidFill>
          <a:ln w="12700">
            <a:solidFill>
              <a:srgbClr val="4B6388"/>
            </a:solidFill>
            <a:prstDash val="solid"/>
          </a:ln>
        </p:spPr>
      </p:sp>
      <p:sp>
        <p:nvSpPr>
          <p:cNvPr id="74" name="Shape 72"/>
          <p:cNvSpPr/>
          <p:nvPr/>
        </p:nvSpPr>
        <p:spPr>
          <a:xfrm>
            <a:off x="6361487" y="3960193"/>
            <a:ext cx="91402" cy="91402"/>
          </a:xfrm>
          <a:prstGeom prst="ellipse">
            <a:avLst/>
          </a:prstGeom>
          <a:solidFill>
            <a:srgbClr val="4B6388"/>
          </a:solidFill>
          <a:ln w="12700">
            <a:solidFill>
              <a:srgbClr val="4B6388"/>
            </a:solidFill>
            <a:prstDash val="solid"/>
          </a:ln>
        </p:spPr>
      </p:sp>
      <p:sp>
        <p:nvSpPr>
          <p:cNvPr id="75" name="Shape 73"/>
          <p:cNvSpPr/>
          <p:nvPr/>
        </p:nvSpPr>
        <p:spPr>
          <a:xfrm>
            <a:off x="7868495" y="4410034"/>
            <a:ext cx="68335" cy="68335"/>
          </a:xfrm>
          <a:prstGeom prst="ellipse">
            <a:avLst/>
          </a:prstGeom>
          <a:solidFill>
            <a:srgbClr val="4B6388"/>
          </a:solidFill>
          <a:ln w="12700">
            <a:solidFill>
              <a:srgbClr val="4B6388"/>
            </a:solidFill>
            <a:prstDash val="solid"/>
          </a:ln>
        </p:spPr>
      </p:sp>
      <p:sp>
        <p:nvSpPr>
          <p:cNvPr id="76" name="Shape 74"/>
          <p:cNvSpPr/>
          <p:nvPr/>
        </p:nvSpPr>
        <p:spPr>
          <a:xfrm>
            <a:off x="8405081" y="4063088"/>
            <a:ext cx="75865" cy="75865"/>
          </a:xfrm>
          <a:prstGeom prst="ellipse">
            <a:avLst/>
          </a:prstGeom>
          <a:solidFill>
            <a:srgbClr val="4B6388"/>
          </a:solidFill>
          <a:ln w="12700">
            <a:solidFill>
              <a:srgbClr val="4B6388"/>
            </a:solidFill>
            <a:prstDash val="solid"/>
          </a:ln>
        </p:spPr>
      </p:sp>
      <p:sp>
        <p:nvSpPr>
          <p:cNvPr id="77" name="Shape 75"/>
          <p:cNvSpPr/>
          <p:nvPr/>
        </p:nvSpPr>
        <p:spPr>
          <a:xfrm>
            <a:off x="9630833" y="4058564"/>
            <a:ext cx="119813" cy="119813"/>
          </a:xfrm>
          <a:prstGeom prst="ellipse">
            <a:avLst/>
          </a:prstGeom>
          <a:solidFill>
            <a:srgbClr val="4B6388"/>
          </a:solidFill>
          <a:ln w="12700">
            <a:solidFill>
              <a:srgbClr val="4B6388"/>
            </a:solidFill>
            <a:prstDash val="solid"/>
          </a:ln>
        </p:spPr>
      </p:sp>
      <p:sp>
        <p:nvSpPr>
          <p:cNvPr id="78" name="Shape 76"/>
          <p:cNvSpPr/>
          <p:nvPr/>
        </p:nvSpPr>
        <p:spPr>
          <a:xfrm>
            <a:off x="10081258" y="4267742"/>
            <a:ext cx="126608" cy="126608"/>
          </a:xfrm>
          <a:prstGeom prst="ellipse">
            <a:avLst/>
          </a:prstGeom>
          <a:solidFill>
            <a:srgbClr val="4B6388"/>
          </a:solidFill>
          <a:ln w="12700">
            <a:solidFill>
              <a:srgbClr val="4B6388"/>
            </a:solidFill>
            <a:prstDash val="solid"/>
          </a:ln>
        </p:spPr>
      </p:sp>
      <p:sp>
        <p:nvSpPr>
          <p:cNvPr id="79" name="Shape 77"/>
          <p:cNvSpPr/>
          <p:nvPr/>
        </p:nvSpPr>
        <p:spPr>
          <a:xfrm>
            <a:off x="10920605" y="4278738"/>
            <a:ext cx="103490" cy="103490"/>
          </a:xfrm>
          <a:prstGeom prst="ellipse">
            <a:avLst/>
          </a:prstGeom>
          <a:solidFill>
            <a:srgbClr val="4B6388"/>
          </a:solidFill>
          <a:ln w="12700">
            <a:solidFill>
              <a:srgbClr val="4B6388"/>
            </a:solidFill>
            <a:prstDash val="solid"/>
          </a:ln>
        </p:spPr>
      </p:sp>
      <p:sp>
        <p:nvSpPr>
          <p:cNvPr id="80" name="Shape 78"/>
          <p:cNvSpPr/>
          <p:nvPr/>
        </p:nvSpPr>
        <p:spPr>
          <a:xfrm>
            <a:off x="6600226" y="5034076"/>
            <a:ext cx="121597" cy="121597"/>
          </a:xfrm>
          <a:prstGeom prst="ellipse">
            <a:avLst/>
          </a:prstGeom>
          <a:solidFill>
            <a:srgbClr val="4B6388"/>
          </a:solidFill>
          <a:ln w="12700">
            <a:solidFill>
              <a:srgbClr val="4B6388"/>
            </a:solidFill>
            <a:prstDash val="solid"/>
          </a:ln>
        </p:spPr>
      </p:sp>
      <p:sp>
        <p:nvSpPr>
          <p:cNvPr id="81" name="Shape 79"/>
          <p:cNvSpPr/>
          <p:nvPr/>
        </p:nvSpPr>
        <p:spPr>
          <a:xfrm>
            <a:off x="7504516" y="4897914"/>
            <a:ext cx="92738" cy="92738"/>
          </a:xfrm>
          <a:prstGeom prst="ellipse">
            <a:avLst/>
          </a:prstGeom>
          <a:solidFill>
            <a:srgbClr val="4B6388"/>
          </a:solidFill>
          <a:ln w="12700">
            <a:solidFill>
              <a:srgbClr val="4B6388"/>
            </a:solidFill>
            <a:prstDash val="solid"/>
          </a:ln>
        </p:spPr>
      </p:sp>
      <p:sp>
        <p:nvSpPr>
          <p:cNvPr id="82" name="Shape 80"/>
          <p:cNvSpPr/>
          <p:nvPr/>
        </p:nvSpPr>
        <p:spPr>
          <a:xfrm>
            <a:off x="8770444" y="5157674"/>
            <a:ext cx="97831" cy="97831"/>
          </a:xfrm>
          <a:prstGeom prst="ellipse">
            <a:avLst/>
          </a:prstGeom>
          <a:solidFill>
            <a:srgbClr val="4B6388"/>
          </a:solidFill>
          <a:ln w="12700">
            <a:solidFill>
              <a:srgbClr val="4B6388"/>
            </a:solidFill>
            <a:prstDash val="solid"/>
          </a:ln>
        </p:spPr>
      </p:sp>
      <p:sp>
        <p:nvSpPr>
          <p:cNvPr id="83" name="Shape 81"/>
          <p:cNvSpPr/>
          <p:nvPr/>
        </p:nvSpPr>
        <p:spPr>
          <a:xfrm>
            <a:off x="9413553" y="4800757"/>
            <a:ext cx="83468" cy="83468"/>
          </a:xfrm>
          <a:prstGeom prst="ellipse">
            <a:avLst/>
          </a:prstGeom>
          <a:solidFill>
            <a:srgbClr val="4B6388"/>
          </a:solidFill>
          <a:ln w="12700">
            <a:solidFill>
              <a:srgbClr val="4B6388"/>
            </a:solidFill>
            <a:prstDash val="solid"/>
          </a:ln>
        </p:spPr>
      </p:sp>
      <p:sp>
        <p:nvSpPr>
          <p:cNvPr id="84" name="Shape 82"/>
          <p:cNvSpPr/>
          <p:nvPr/>
        </p:nvSpPr>
        <p:spPr>
          <a:xfrm>
            <a:off x="9984821" y="5232770"/>
            <a:ext cx="89312" cy="89312"/>
          </a:xfrm>
          <a:prstGeom prst="ellipse">
            <a:avLst/>
          </a:prstGeom>
          <a:solidFill>
            <a:srgbClr val="4B6388"/>
          </a:solidFill>
          <a:ln w="12700">
            <a:solidFill>
              <a:srgbClr val="4B6388"/>
            </a:solidFill>
            <a:prstDash val="solid"/>
          </a:ln>
        </p:spPr>
      </p:sp>
      <p:sp>
        <p:nvSpPr>
          <p:cNvPr id="85" name="Shape 83"/>
          <p:cNvSpPr/>
          <p:nvPr/>
        </p:nvSpPr>
        <p:spPr>
          <a:xfrm>
            <a:off x="6833158" y="5817659"/>
            <a:ext cx="73455" cy="73455"/>
          </a:xfrm>
          <a:prstGeom prst="ellipse">
            <a:avLst/>
          </a:prstGeom>
          <a:solidFill>
            <a:srgbClr val="4B6388"/>
          </a:solidFill>
          <a:ln w="12700">
            <a:solidFill>
              <a:srgbClr val="4B6388"/>
            </a:solidFill>
            <a:prstDash val="solid"/>
          </a:ln>
        </p:spPr>
      </p:sp>
      <p:sp>
        <p:nvSpPr>
          <p:cNvPr id="86" name="Shape 84"/>
          <p:cNvSpPr/>
          <p:nvPr/>
        </p:nvSpPr>
        <p:spPr>
          <a:xfrm>
            <a:off x="7879824" y="5784160"/>
            <a:ext cx="82734" cy="82734"/>
          </a:xfrm>
          <a:prstGeom prst="ellipse">
            <a:avLst/>
          </a:prstGeom>
          <a:solidFill>
            <a:srgbClr val="4B6388"/>
          </a:solidFill>
          <a:ln w="12700">
            <a:solidFill>
              <a:srgbClr val="4B6388"/>
            </a:solidFill>
            <a:prstDash val="solid"/>
          </a:ln>
        </p:spPr>
      </p:sp>
      <p:sp>
        <p:nvSpPr>
          <p:cNvPr id="87" name="Shape 85"/>
          <p:cNvSpPr/>
          <p:nvPr/>
        </p:nvSpPr>
        <p:spPr>
          <a:xfrm>
            <a:off x="8483702" y="5938913"/>
            <a:ext cx="106759" cy="106759"/>
          </a:xfrm>
          <a:prstGeom prst="ellipse">
            <a:avLst/>
          </a:prstGeom>
          <a:solidFill>
            <a:srgbClr val="4B6388"/>
          </a:solidFill>
          <a:ln w="12700">
            <a:solidFill>
              <a:srgbClr val="4B6388"/>
            </a:solidFill>
            <a:prstDash val="solid"/>
          </a:ln>
        </p:spPr>
      </p:sp>
      <p:sp>
        <p:nvSpPr>
          <p:cNvPr id="88" name="Shape 86"/>
          <p:cNvSpPr/>
          <p:nvPr/>
        </p:nvSpPr>
        <p:spPr>
          <a:xfrm>
            <a:off x="9733487" y="5634588"/>
            <a:ext cx="94745" cy="94745"/>
          </a:xfrm>
          <a:prstGeom prst="ellipse">
            <a:avLst/>
          </a:prstGeom>
          <a:solidFill>
            <a:srgbClr val="4B6388"/>
          </a:solidFill>
          <a:ln w="12700">
            <a:solidFill>
              <a:srgbClr val="4B6388"/>
            </a:solidFill>
            <a:prstDash val="solid"/>
          </a:ln>
        </p:spPr>
      </p:sp>
      <p:sp>
        <p:nvSpPr>
          <p:cNvPr id="89" name="Shape 87"/>
          <p:cNvSpPr/>
          <p:nvPr/>
        </p:nvSpPr>
        <p:spPr>
          <a:xfrm>
            <a:off x="10271175" y="6130318"/>
            <a:ext cx="103024" cy="103024"/>
          </a:xfrm>
          <a:prstGeom prst="ellipse">
            <a:avLst/>
          </a:prstGeom>
          <a:solidFill>
            <a:srgbClr val="4B6388"/>
          </a:solidFill>
          <a:ln w="12700">
            <a:solidFill>
              <a:srgbClr val="4B6388"/>
            </a:solidFill>
            <a:prstDash val="solid"/>
          </a:ln>
        </p:spPr>
      </p:sp>
      <p:sp>
        <p:nvSpPr>
          <p:cNvPr id="90" name="Shape 88"/>
          <p:cNvSpPr/>
          <p:nvPr/>
        </p:nvSpPr>
        <p:spPr>
          <a:xfrm>
            <a:off x="11485516" y="6038575"/>
            <a:ext cx="66701" cy="66701"/>
          </a:xfrm>
          <a:prstGeom prst="ellipse">
            <a:avLst/>
          </a:prstGeom>
          <a:solidFill>
            <a:srgbClr val="4B6388"/>
          </a:solidFill>
          <a:ln w="12700">
            <a:solidFill>
              <a:srgbClr val="4B6388"/>
            </a:solidFill>
            <a:prstDash val="solid"/>
          </a:ln>
        </p:spPr>
      </p:sp>
      <p:sp>
        <p:nvSpPr>
          <p:cNvPr id="91" name="Text 89"/>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01</a:t>
            </a:r>
            <a:endParaRPr lang="en-US" sz="9600" dirty="0"/>
          </a:p>
        </p:txBody>
      </p:sp>
      <p:sp>
        <p:nvSpPr>
          <p:cNvPr id="92" name="Text 90"/>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Background</a:t>
            </a:r>
            <a:endParaRPr lang="en-US" sz="4400" dirty="0"/>
          </a:p>
        </p:txBody>
      </p:sp>
      <p:sp>
        <p:nvSpPr>
          <p:cNvPr id="93" name="Text 91"/>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The paper, what makes an APT different, and why its datasets fall short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 a hybrid ensemble for APT detection</a:t>
            </a:r>
            <a:endParaRPr lang="en-US" sz="3000" dirty="0"/>
          </a:p>
        </p:txBody>
      </p:sp>
      <p:sp>
        <p:nvSpPr>
          <p:cNvPr id="20" name="Shape 18"/>
          <p:cNvSpPr/>
          <p:nvPr/>
        </p:nvSpPr>
        <p:spPr>
          <a:xfrm>
            <a:off x="685800" y="1828800"/>
            <a:ext cx="5074920" cy="4251960"/>
          </a:xfrm>
          <a:prstGeom prst="roundRect">
            <a:avLst>
              <a:gd name="adj" fmla="val 1290"/>
            </a:avLst>
          </a:prstGeom>
          <a:solidFill>
            <a:srgbClr val="F4F6F9"/>
          </a:solidFill>
          <a:ln w="12700">
            <a:solidFill>
              <a:srgbClr val="F4F6F9"/>
            </a:solidFill>
            <a:prstDash val="solid"/>
          </a:ln>
        </p:spPr>
      </p:sp>
      <p:sp>
        <p:nvSpPr>
          <p:cNvPr id="21" name="Text 19"/>
          <p:cNvSpPr txBox="1"/>
          <p:nvPr/>
        </p:nvSpPr>
        <p:spPr>
          <a:xfrm>
            <a:off x="1051560" y="2148840"/>
            <a:ext cx="4389120" cy="27432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CONCURRENCY AND COMPUTATION: PRACTICE AND EXPERIENCE  ·  2023</a:t>
            </a:r>
            <a:endParaRPr lang="en-US" sz="950" dirty="0"/>
          </a:p>
        </p:txBody>
      </p:sp>
      <p:sp>
        <p:nvSpPr>
          <p:cNvPr id="22" name="Text 20"/>
          <p:cNvSpPr txBox="1"/>
          <p:nvPr/>
        </p:nvSpPr>
        <p:spPr>
          <a:xfrm>
            <a:off x="1051560" y="2514600"/>
            <a:ext cx="4389120" cy="1463040"/>
          </a:xfrm>
          <a:prstGeom prst="rect">
            <a:avLst/>
          </a:prstGeom>
          <a:noFill/>
          <a:ln/>
        </p:spPr>
        <p:txBody>
          <a:bodyPr wrap="square" lIns="0" tIns="0" rIns="0" bIns="0" rtlCol="0" anchor="t"/>
          <a:lstStyle/>
          <a:p>
            <a:pPr indent="0" marL="0">
              <a:buNone/>
            </a:pPr>
            <a:r>
              <a:rPr lang="en-US" sz="1900" dirty="0">
                <a:solidFill>
                  <a:srgbClr val="0F1B2D"/>
                </a:solidFill>
                <a:latin typeface="Georgia" pitchFamily="34" charset="0"/>
                <a:ea typeface="Georgia" pitchFamily="34" charset="-122"/>
                <a:cs typeface="Georgia" pitchFamily="34" charset="-120"/>
              </a:rPr>
              <a:t>A hybrid ensemble machine learning model for detecting APT attacks based on network behavior anomaly detection</a:t>
            </a:r>
            <a:endParaRPr lang="en-US" sz="1900" dirty="0"/>
          </a:p>
        </p:txBody>
      </p:sp>
      <p:sp>
        <p:nvSpPr>
          <p:cNvPr id="23" name="Text 21"/>
          <p:cNvSpPr txBox="1"/>
          <p:nvPr/>
        </p:nvSpPr>
        <p:spPr>
          <a:xfrm>
            <a:off x="1051560" y="3794760"/>
            <a:ext cx="4389120" cy="59436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Neeraj Saini, Vivekananda Bhat Kasaragod, Krishna Prakasha, Ashok Kumar Das</a:t>
            </a:r>
            <a:endParaRPr lang="en-US" sz="1300" dirty="0"/>
          </a:p>
        </p:txBody>
      </p:sp>
      <p:sp>
        <p:nvSpPr>
          <p:cNvPr id="24" name="Text 22"/>
          <p:cNvSpPr txBox="1"/>
          <p:nvPr/>
        </p:nvSpPr>
        <p:spPr>
          <a:xfrm>
            <a:off x="1051560" y="4434840"/>
            <a:ext cx="4389120" cy="274320"/>
          </a:xfrm>
          <a:prstGeom prst="rect">
            <a:avLst/>
          </a:prstGeom>
          <a:noFill/>
          <a:ln/>
        </p:spPr>
        <p:txBody>
          <a:bodyPr wrap="square" lIns="0" tIns="0" rIns="0" bIns="0" rtlCol="0" anchor="t"/>
          <a:lstStyle/>
          <a:p>
            <a:pPr indent="0" marL="0">
              <a:buNone/>
            </a:pPr>
            <a:r>
              <a:rPr lang="en-US" sz="1200" dirty="0">
                <a:solidFill>
                  <a:srgbClr val="8A94A3"/>
                </a:solidFill>
                <a:latin typeface="Arial" pitchFamily="34" charset="0"/>
                <a:ea typeface="Arial" pitchFamily="34" charset="-122"/>
                <a:cs typeface="Arial" pitchFamily="34" charset="-120"/>
              </a:rPr>
              <a:t>Manipal Institute of Technology  ·  IIIT Hyderabad</a:t>
            </a:r>
            <a:endParaRPr lang="en-US" sz="1200" dirty="0"/>
          </a:p>
        </p:txBody>
      </p:sp>
      <p:sp>
        <p:nvSpPr>
          <p:cNvPr id="25" name="Text 23"/>
          <p:cNvSpPr txBox="1"/>
          <p:nvPr/>
        </p:nvSpPr>
        <p:spPr>
          <a:xfrm>
            <a:off x="1051560" y="5532120"/>
            <a:ext cx="4389120" cy="274320"/>
          </a:xfrm>
          <a:prstGeom prst="rect">
            <a:avLst/>
          </a:prstGeom>
          <a:noFill/>
          <a:ln/>
        </p:spPr>
        <p:txBody>
          <a:bodyPr wrap="square" lIns="0" tIns="0" rIns="0" bIns="0" rtlCol="0" anchor="t"/>
          <a:lstStyle/>
          <a:p>
            <a:pPr indent="0" marL="0">
              <a:buNone/>
            </a:pPr>
            <a:r>
              <a:rPr lang="en-US" sz="1200" dirty="0">
                <a:solidFill>
                  <a:srgbClr val="2A78D6"/>
                </a:solidFill>
                <a:latin typeface="Arial" pitchFamily="34" charset="0"/>
                <a:ea typeface="Arial" pitchFamily="34" charset="-122"/>
                <a:cs typeface="Arial" pitchFamily="34" charset="-120"/>
              </a:rPr>
              <a:t>doi.org/10.1002/cpe.7865</a:t>
            </a:r>
            <a:endParaRPr lang="en-US" sz="1200" dirty="0"/>
          </a:p>
        </p:txBody>
      </p:sp>
      <p:sp>
        <p:nvSpPr>
          <p:cNvPr id="26" name="Text 24"/>
          <p:cNvSpPr txBox="1"/>
          <p:nvPr/>
        </p:nvSpPr>
        <p:spPr>
          <a:xfrm>
            <a:off x="6263640" y="1828800"/>
            <a:ext cx="5212080"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What the paper claims</a:t>
            </a:r>
            <a:endParaRPr lang="en-US" sz="1600" dirty="0"/>
          </a:p>
        </p:txBody>
      </p:sp>
      <p:sp>
        <p:nvSpPr>
          <p:cNvPr id="27" name="Text 25"/>
          <p:cNvSpPr txBox="1"/>
          <p:nvPr/>
        </p:nvSpPr>
        <p:spPr>
          <a:xfrm>
            <a:off x="626364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98.92%</a:t>
            </a:r>
            <a:endParaRPr lang="en-US" sz="4000" dirty="0"/>
          </a:p>
        </p:txBody>
      </p:sp>
      <p:sp>
        <p:nvSpPr>
          <p:cNvPr id="28" name="Text 26"/>
          <p:cNvSpPr txBox="1"/>
          <p:nvPr/>
        </p:nvSpPr>
        <p:spPr>
          <a:xfrm>
            <a:off x="626364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accuracy 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CSE-CIC-IDS2018</a:t>
            </a:r>
            <a:endParaRPr lang="en-US" sz="1250" dirty="0"/>
          </a:p>
        </p:txBody>
      </p:sp>
      <p:sp>
        <p:nvSpPr>
          <p:cNvPr id="29" name="Text 27"/>
          <p:cNvSpPr txBox="1"/>
          <p:nvPr/>
        </p:nvSpPr>
        <p:spPr>
          <a:xfrm>
            <a:off x="896112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0.52%</a:t>
            </a:r>
            <a:endParaRPr lang="en-US" sz="4000" dirty="0"/>
          </a:p>
        </p:txBody>
      </p:sp>
      <p:sp>
        <p:nvSpPr>
          <p:cNvPr id="30" name="Text 28"/>
          <p:cNvSpPr txBox="1"/>
          <p:nvPr/>
        </p:nvSpPr>
        <p:spPr>
          <a:xfrm>
            <a:off x="896112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false positive</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rate</a:t>
            </a:r>
            <a:endParaRPr lang="en-US" sz="1250" dirty="0"/>
          </a:p>
        </p:txBody>
      </p:sp>
      <p:sp>
        <p:nvSpPr>
          <p:cNvPr id="31" name="Text 29"/>
          <p:cNvSpPr txBox="1"/>
          <p:nvPr/>
        </p:nvSpPr>
        <p:spPr>
          <a:xfrm>
            <a:off x="626364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4</a:t>
            </a:r>
            <a:endParaRPr lang="en-US" sz="4000" dirty="0"/>
          </a:p>
        </p:txBody>
      </p:sp>
      <p:sp>
        <p:nvSpPr>
          <p:cNvPr id="32" name="Text 30"/>
          <p:cNvSpPr txBox="1"/>
          <p:nvPr/>
        </p:nvSpPr>
        <p:spPr>
          <a:xfrm>
            <a:off x="626364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public intrusion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datasets</a:t>
            </a:r>
            <a:endParaRPr lang="en-US" sz="1250" dirty="0"/>
          </a:p>
        </p:txBody>
      </p:sp>
      <p:sp>
        <p:nvSpPr>
          <p:cNvPr id="33" name="Text 31"/>
          <p:cNvSpPr txBox="1"/>
          <p:nvPr/>
        </p:nvSpPr>
        <p:spPr>
          <a:xfrm>
            <a:off x="896112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13</a:t>
            </a:r>
            <a:endParaRPr lang="en-US" sz="4000" dirty="0"/>
          </a:p>
        </p:txBody>
      </p:sp>
      <p:sp>
        <p:nvSpPr>
          <p:cNvPr id="34" name="Text 32"/>
          <p:cNvSpPr txBox="1"/>
          <p:nvPr/>
        </p:nvSpPr>
        <p:spPr>
          <a:xfrm>
            <a:off x="896112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baseline models,</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including CNN and MLP</a:t>
            </a:r>
            <a:endParaRPr lang="en-US" sz="1250" dirty="0"/>
          </a:p>
        </p:txBody>
      </p:sp>
      <p:sp>
        <p:nvSpPr>
          <p:cNvPr id="35" name="Text 33"/>
          <p:cNvSpPr txBox="1"/>
          <p:nvPr/>
        </p:nvSpPr>
        <p:spPr>
          <a:xfrm>
            <a:off x="6263640" y="5532120"/>
            <a:ext cx="5257800" cy="548640"/>
          </a:xfrm>
          <a:prstGeom prst="rect">
            <a:avLst/>
          </a:prstGeom>
          <a:noFill/>
          <a:ln/>
        </p:spPr>
        <p:txBody>
          <a:bodyPr wrap="square" lIns="0" tIns="0" rIns="0" bIns="0" rtlCol="0" anchor="t"/>
          <a:lstStyle/>
          <a:p>
            <a:pPr indent="0" marL="0">
              <a:buNone/>
            </a:pPr>
            <a:r>
              <a:rPr lang="en-US" sz="1350" i="1" dirty="0">
                <a:solidFill>
                  <a:srgbClr val="55606E"/>
                </a:solidFill>
                <a:latin typeface="Arial" pitchFamily="34" charset="0"/>
                <a:ea typeface="Arial" pitchFamily="34" charset="-122"/>
                <a:cs typeface="Arial" pitchFamily="34" charset="-120"/>
              </a:rPr>
              <a:t>Our task: implement it fully, test it on a genuine APT dataset, and check whether the claims hold.</a:t>
            </a:r>
            <a:endParaRPr lang="en-US" sz="1350" dirty="0"/>
          </a:p>
        </p:txBody>
      </p:sp>
      <p:sp>
        <p:nvSpPr>
          <p:cNvPr id="36" name="Text 3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7" name="Text 3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An APT is a campaign, not a single attack</a:t>
            </a:r>
            <a:endParaRPr lang="en-US" sz="3000" dirty="0"/>
          </a:p>
        </p:txBody>
      </p:sp>
      <p:sp>
        <p:nvSpPr>
          <p:cNvPr id="20" name="Shape 18"/>
          <p:cNvSpPr/>
          <p:nvPr/>
        </p:nvSpPr>
        <p:spPr>
          <a:xfrm>
            <a:off x="2038312" y="2743200"/>
            <a:ext cx="8115071" cy="914"/>
          </a:xfrm>
          <a:prstGeom prst="line">
            <a:avLst/>
          </a:prstGeom>
          <a:noFill/>
          <a:ln w="19050">
            <a:solidFill>
              <a:srgbClr val="E2E6EC"/>
            </a:solidFill>
            <a:prstDash val="solid"/>
          </a:ln>
        </p:spPr>
      </p:sp>
      <p:sp>
        <p:nvSpPr>
          <p:cNvPr id="21" name="Text 19"/>
          <p:cNvSpPr txBox="1"/>
          <p:nvPr/>
        </p:nvSpPr>
        <p:spPr>
          <a:xfrm>
            <a:off x="1123912"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1</a:t>
            </a:r>
            <a:endParaRPr lang="en-US" sz="1000" dirty="0"/>
          </a:p>
        </p:txBody>
      </p:sp>
      <p:sp>
        <p:nvSpPr>
          <p:cNvPr id="22" name="Shape 20"/>
          <p:cNvSpPr/>
          <p:nvPr/>
        </p:nvSpPr>
        <p:spPr>
          <a:xfrm>
            <a:off x="1535392" y="2240280"/>
            <a:ext cx="1005840" cy="1005840"/>
          </a:xfrm>
          <a:prstGeom prst="ellipse">
            <a:avLst/>
          </a:prstGeom>
          <a:solidFill>
            <a:srgbClr val="0B1526"/>
          </a:solidFill>
          <a:ln w="12700">
            <a:solidFill>
              <a:srgbClr val="0B1526"/>
            </a:solidFill>
            <a:prstDash val="solid"/>
          </a:ln>
        </p:spPr>
      </p:sp>
      <p:pic>
        <p:nvPicPr>
          <p:cNvPr id="23" name="Image 0" descr="preencoded.png">    </p:cNvPr>
          <p:cNvPicPr>
            <a:picLocks noChangeAspect="1"/>
          </p:cNvPicPr>
          <p:nvPr/>
        </p:nvPicPr>
        <p:blipFill>
          <a:blip r:embed="rId1"/>
          <a:stretch>
            <a:fillRect/>
          </a:stretch>
        </p:blipFill>
        <p:spPr>
          <a:xfrm>
            <a:off x="1806969" y="2511857"/>
            <a:ext cx="462686" cy="462686"/>
          </a:xfrm>
          <a:prstGeom prst="rect">
            <a:avLst/>
          </a:prstGeom>
        </p:spPr>
      </p:pic>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Reconnaissance</a:t>
            </a:r>
            <a:endParaRPr lang="en-US" sz="1700" dirty="0"/>
          </a:p>
        </p:txBody>
      </p:sp>
      <p:sp>
        <p:nvSpPr>
          <p:cNvPr id="25" name="Text 22"/>
          <p:cNvSpPr txBox="1"/>
          <p:nvPr/>
        </p:nvSpPr>
        <p:spPr>
          <a:xfrm>
            <a:off x="849592"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Scan and map the target: ports, pages, accounts</a:t>
            </a:r>
            <a:endParaRPr lang="en-US" sz="1300" dirty="0"/>
          </a:p>
        </p:txBody>
      </p:sp>
      <p:sp>
        <p:nvSpPr>
          <p:cNvPr id="26" name="Text 23"/>
          <p:cNvSpPr txBox="1"/>
          <p:nvPr/>
        </p:nvSpPr>
        <p:spPr>
          <a:xfrm>
            <a:off x="3828936"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2</a:t>
            </a:r>
            <a:endParaRPr lang="en-US" sz="1000" dirty="0"/>
          </a:p>
        </p:txBody>
      </p:sp>
      <p:sp>
        <p:nvSpPr>
          <p:cNvPr id="27" name="Shape 24"/>
          <p:cNvSpPr/>
          <p:nvPr/>
        </p:nvSpPr>
        <p:spPr>
          <a:xfrm>
            <a:off x="4240416" y="2240280"/>
            <a:ext cx="1005840" cy="1005840"/>
          </a:xfrm>
          <a:prstGeom prst="ellipse">
            <a:avLst/>
          </a:prstGeom>
          <a:solidFill>
            <a:srgbClr val="0B1526"/>
          </a:solidFill>
          <a:ln w="12700">
            <a:solidFill>
              <a:srgbClr val="0B1526"/>
            </a:solidFill>
            <a:prstDash val="solid"/>
          </a:ln>
        </p:spPr>
      </p:sp>
      <p:pic>
        <p:nvPicPr>
          <p:cNvPr id="28" name="Image 1" descr="preencoded.png">    </p:cNvPr>
          <p:cNvPicPr>
            <a:picLocks noChangeAspect="1"/>
          </p:cNvPicPr>
          <p:nvPr/>
        </p:nvPicPr>
        <p:blipFill>
          <a:blip r:embed="rId2"/>
          <a:stretch>
            <a:fillRect/>
          </a:stretch>
        </p:blipFill>
        <p:spPr>
          <a:xfrm>
            <a:off x="4511993" y="2511857"/>
            <a:ext cx="462686" cy="462686"/>
          </a:xfrm>
          <a:prstGeom prst="rect">
            <a:avLst/>
          </a:prstGeom>
        </p:spPr>
      </p:pic>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Establish foothold</a:t>
            </a:r>
            <a:endParaRPr lang="en-US" sz="1700" dirty="0"/>
          </a:p>
        </p:txBody>
      </p:sp>
      <p:sp>
        <p:nvSpPr>
          <p:cNvPr id="30" name="Text 26"/>
          <p:cNvSpPr txBox="1"/>
          <p:nvPr/>
        </p:nvSpPr>
        <p:spPr>
          <a:xfrm>
            <a:off x="3554616"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Exploit a weakness and plant a backdoor</a:t>
            </a:r>
            <a:endParaRPr lang="en-US" sz="1300" dirty="0"/>
          </a:p>
        </p:txBody>
      </p:sp>
      <p:sp>
        <p:nvSpPr>
          <p:cNvPr id="31" name="Text 27"/>
          <p:cNvSpPr txBox="1"/>
          <p:nvPr/>
        </p:nvSpPr>
        <p:spPr>
          <a:xfrm>
            <a:off x="6533959"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3</a:t>
            </a:r>
            <a:endParaRPr lang="en-US" sz="1000" dirty="0"/>
          </a:p>
        </p:txBody>
      </p:sp>
      <p:sp>
        <p:nvSpPr>
          <p:cNvPr id="32" name="Shape 28"/>
          <p:cNvSpPr/>
          <p:nvPr/>
        </p:nvSpPr>
        <p:spPr>
          <a:xfrm>
            <a:off x="6945439" y="2240280"/>
            <a:ext cx="1005840" cy="1005840"/>
          </a:xfrm>
          <a:prstGeom prst="ellipse">
            <a:avLst/>
          </a:prstGeom>
          <a:solidFill>
            <a:srgbClr val="0B1526"/>
          </a:solidFill>
          <a:ln w="12700">
            <a:solidFill>
              <a:srgbClr val="0B1526"/>
            </a:solidFill>
            <a:prstDash val="solid"/>
          </a:ln>
        </p:spPr>
      </p:sp>
      <p:pic>
        <p:nvPicPr>
          <p:cNvPr id="33" name="Image 2" descr="preencoded.png">    </p:cNvPr>
          <p:cNvPicPr>
            <a:picLocks noChangeAspect="1"/>
          </p:cNvPicPr>
          <p:nvPr/>
        </p:nvPicPr>
        <p:blipFill>
          <a:blip r:embed="rId3"/>
          <a:stretch>
            <a:fillRect/>
          </a:stretch>
        </p:blipFill>
        <p:spPr>
          <a:xfrm>
            <a:off x="7217016" y="2511857"/>
            <a:ext cx="462686" cy="462686"/>
          </a:xfrm>
          <a:prstGeom prst="rect">
            <a:avLst/>
          </a:prstGeom>
        </p:spPr>
      </p:pic>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Lateral movement</a:t>
            </a:r>
            <a:endParaRPr lang="en-US" sz="1700" dirty="0"/>
          </a:p>
        </p:txBody>
      </p:sp>
      <p:sp>
        <p:nvSpPr>
          <p:cNvPr id="35" name="Text 30"/>
          <p:cNvSpPr txBox="1"/>
          <p:nvPr/>
        </p:nvSpPr>
        <p:spPr>
          <a:xfrm>
            <a:off x="6259639"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Spread inside the network, escalate privileges</a:t>
            </a:r>
            <a:endParaRPr lang="en-US" sz="1300" dirty="0"/>
          </a:p>
        </p:txBody>
      </p:sp>
      <p:sp>
        <p:nvSpPr>
          <p:cNvPr id="36" name="Text 31"/>
          <p:cNvSpPr txBox="1"/>
          <p:nvPr/>
        </p:nvSpPr>
        <p:spPr>
          <a:xfrm>
            <a:off x="9238983"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4</a:t>
            </a:r>
            <a:endParaRPr lang="en-US" sz="1000" dirty="0"/>
          </a:p>
        </p:txBody>
      </p:sp>
      <p:sp>
        <p:nvSpPr>
          <p:cNvPr id="37" name="Shape 32"/>
          <p:cNvSpPr/>
          <p:nvPr/>
        </p:nvSpPr>
        <p:spPr>
          <a:xfrm>
            <a:off x="9650463" y="2240280"/>
            <a:ext cx="1005840" cy="1005840"/>
          </a:xfrm>
          <a:prstGeom prst="ellipse">
            <a:avLst/>
          </a:prstGeom>
          <a:solidFill>
            <a:srgbClr val="E0533A"/>
          </a:solidFill>
          <a:ln w="12700">
            <a:solidFill>
              <a:srgbClr val="E0533A"/>
            </a:solidFill>
            <a:prstDash val="solid"/>
          </a:ln>
        </p:spPr>
      </p:sp>
      <p:pic>
        <p:nvPicPr>
          <p:cNvPr id="38" name="Image 3" descr="preencoded.png">    </p:cNvPr>
          <p:cNvPicPr>
            <a:picLocks noChangeAspect="1"/>
          </p:cNvPicPr>
          <p:nvPr/>
        </p:nvPicPr>
        <p:blipFill>
          <a:blip r:embed="rId4"/>
          <a:stretch>
            <a:fillRect/>
          </a:stretch>
        </p:blipFill>
        <p:spPr>
          <a:xfrm>
            <a:off x="9922040" y="2511857"/>
            <a:ext cx="462686" cy="462686"/>
          </a:xfrm>
          <a:prstGeom prst="rect">
            <a:avLst/>
          </a:prstGeom>
        </p:spPr>
      </p:pic>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Data exfiltration</a:t>
            </a:r>
            <a:endParaRPr lang="en-US" sz="1700" dirty="0"/>
          </a:p>
        </p:txBody>
      </p:sp>
      <p:sp>
        <p:nvSpPr>
          <p:cNvPr id="40" name="Text 34"/>
          <p:cNvSpPr txBox="1"/>
          <p:nvPr/>
        </p:nvSpPr>
        <p:spPr>
          <a:xfrm>
            <a:off x="8964663"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Quietly send the stolen data out</a:t>
            </a:r>
            <a:endParaRPr lang="en-US" sz="1300" dirty="0"/>
          </a:p>
        </p:txBody>
      </p:sp>
      <p:sp>
        <p:nvSpPr>
          <p:cNvPr id="41" name="Shape 35"/>
          <p:cNvSpPr/>
          <p:nvPr/>
        </p:nvSpPr>
        <p:spPr>
          <a:xfrm>
            <a:off x="685800" y="4846320"/>
            <a:ext cx="10820095" cy="914"/>
          </a:xfrm>
          <a:prstGeom prst="line">
            <a:avLst/>
          </a:prstGeom>
          <a:noFill/>
          <a:ln w="9525">
            <a:solidFill>
              <a:srgbClr val="E2E6EC"/>
            </a:solidFill>
            <a:prstDash val="solid"/>
          </a:ln>
        </p:spPr>
      </p:sp>
      <p:sp>
        <p:nvSpPr>
          <p:cNvPr id="42" name="Shape 36"/>
          <p:cNvSpPr/>
          <p:nvPr/>
        </p:nvSpPr>
        <p:spPr>
          <a:xfrm>
            <a:off x="685800" y="5138928"/>
            <a:ext cx="530352" cy="530352"/>
          </a:xfrm>
          <a:prstGeom prst="ellipse">
            <a:avLst/>
          </a:prstGeom>
          <a:solidFill>
            <a:srgbClr val="2A78D6"/>
          </a:solidFill>
          <a:ln w="12700">
            <a:solidFill>
              <a:srgbClr val="2A78D6"/>
            </a:solidFill>
            <a:prstDash val="solid"/>
          </a:ln>
        </p:spPr>
      </p:sp>
      <p:pic>
        <p:nvPicPr>
          <p:cNvPr id="43" name="Image 4" descr="preencoded.png">    </p:cNvPr>
          <p:cNvPicPr>
            <a:picLocks noChangeAspect="1"/>
          </p:cNvPicPr>
          <p:nvPr/>
        </p:nvPicPr>
        <p:blipFill>
          <a:blip r:embed="rId5"/>
          <a:stretch>
            <a:fillRect/>
          </a:stretch>
        </p:blipFill>
        <p:spPr>
          <a:xfrm>
            <a:off x="828995" y="5282123"/>
            <a:ext cx="243962" cy="243962"/>
          </a:xfrm>
          <a:prstGeom prst="rect">
            <a:avLst/>
          </a:prstGeom>
        </p:spPr>
      </p:pic>
      <p:sp>
        <p:nvSpPr>
          <p:cNvPr id="44" name="Text 37"/>
          <p:cNvSpPr txBox="1"/>
          <p:nvPr/>
        </p:nvSpPr>
        <p:spPr>
          <a:xfrm>
            <a:off x="1417320"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Low and slow</a:t>
            </a:r>
            <a:endParaRPr lang="en-US" sz="1500" dirty="0"/>
          </a:p>
        </p:txBody>
      </p:sp>
      <p:sp>
        <p:nvSpPr>
          <p:cNvPr id="45" name="Text 38"/>
          <p:cNvSpPr txBox="1"/>
          <p:nvPr/>
        </p:nvSpPr>
        <p:spPr>
          <a:xfrm>
            <a:off x="1417320"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Few packets, spread over days or months</a:t>
            </a:r>
            <a:endParaRPr lang="en-US" sz="1250" dirty="0"/>
          </a:p>
        </p:txBody>
      </p:sp>
      <p:sp>
        <p:nvSpPr>
          <p:cNvPr id="46" name="Shape 39"/>
          <p:cNvSpPr/>
          <p:nvPr/>
        </p:nvSpPr>
        <p:spPr>
          <a:xfrm>
            <a:off x="4292498" y="5138928"/>
            <a:ext cx="530352" cy="530352"/>
          </a:xfrm>
          <a:prstGeom prst="ellipse">
            <a:avLst/>
          </a:prstGeom>
          <a:solidFill>
            <a:srgbClr val="2A78D6"/>
          </a:solidFill>
          <a:ln w="12700">
            <a:solidFill>
              <a:srgbClr val="2A78D6"/>
            </a:solidFill>
            <a:prstDash val="solid"/>
          </a:ln>
        </p:spPr>
      </p:sp>
      <p:pic>
        <p:nvPicPr>
          <p:cNvPr id="47" name="Image 5" descr="preencoded.png">    </p:cNvPr>
          <p:cNvPicPr>
            <a:picLocks noChangeAspect="1"/>
          </p:cNvPicPr>
          <p:nvPr/>
        </p:nvPicPr>
        <p:blipFill>
          <a:blip r:embed="rId6"/>
          <a:stretch>
            <a:fillRect/>
          </a:stretch>
        </p:blipFill>
        <p:spPr>
          <a:xfrm>
            <a:off x="4435693" y="5282123"/>
            <a:ext cx="243962" cy="243962"/>
          </a:xfrm>
          <a:prstGeom prst="rect">
            <a:avLst/>
          </a:prstGeom>
        </p:spPr>
      </p:pic>
      <p:sp>
        <p:nvSpPr>
          <p:cNvPr id="48" name="Text 40"/>
          <p:cNvSpPr txBox="1"/>
          <p:nvPr/>
        </p:nvSpPr>
        <p:spPr>
          <a:xfrm>
            <a:off x="5024018"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Blends in</a:t>
            </a:r>
            <a:endParaRPr lang="en-US" sz="1500" dirty="0"/>
          </a:p>
        </p:txBody>
      </p:sp>
      <p:sp>
        <p:nvSpPr>
          <p:cNvPr id="49" name="Text 41"/>
          <p:cNvSpPr txBox="1"/>
          <p:nvPr/>
        </p:nvSpPr>
        <p:spPr>
          <a:xfrm>
            <a:off x="5024018"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Deliberately resembles normal traffic</a:t>
            </a:r>
            <a:endParaRPr lang="en-US" sz="1250" dirty="0"/>
          </a:p>
        </p:txBody>
      </p:sp>
      <p:sp>
        <p:nvSpPr>
          <p:cNvPr id="50" name="Shape 42"/>
          <p:cNvSpPr/>
          <p:nvPr/>
        </p:nvSpPr>
        <p:spPr>
          <a:xfrm>
            <a:off x="7899197" y="5138928"/>
            <a:ext cx="530352" cy="530352"/>
          </a:xfrm>
          <a:prstGeom prst="ellipse">
            <a:avLst/>
          </a:prstGeom>
          <a:solidFill>
            <a:srgbClr val="2A78D6"/>
          </a:solidFill>
          <a:ln w="12700">
            <a:solidFill>
              <a:srgbClr val="2A78D6"/>
            </a:solidFill>
            <a:prstDash val="solid"/>
          </a:ln>
        </p:spPr>
      </p:sp>
      <p:pic>
        <p:nvPicPr>
          <p:cNvPr id="51" name="Image 6" descr="preencoded.png">    </p:cNvPr>
          <p:cNvPicPr>
            <a:picLocks noChangeAspect="1"/>
          </p:cNvPicPr>
          <p:nvPr/>
        </p:nvPicPr>
        <p:blipFill>
          <a:blip r:embed="rId7"/>
          <a:stretch>
            <a:fillRect/>
          </a:stretch>
        </p:blipFill>
        <p:spPr>
          <a:xfrm>
            <a:off x="8042392" y="5282123"/>
            <a:ext cx="243962" cy="243962"/>
          </a:xfrm>
          <a:prstGeom prst="rect">
            <a:avLst/>
          </a:prstGeom>
        </p:spPr>
      </p:pic>
      <p:sp>
        <p:nvSpPr>
          <p:cNvPr id="52" name="Text 43"/>
          <p:cNvSpPr txBox="1"/>
          <p:nvPr/>
        </p:nvSpPr>
        <p:spPr>
          <a:xfrm>
            <a:off x="8630717"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Persistent</a:t>
            </a:r>
            <a:endParaRPr lang="en-US" sz="1500" dirty="0"/>
          </a:p>
        </p:txBody>
      </p:sp>
      <p:sp>
        <p:nvSpPr>
          <p:cNvPr id="53" name="Text 44"/>
          <p:cNvSpPr txBox="1"/>
          <p:nvPr/>
        </p:nvSpPr>
        <p:spPr>
          <a:xfrm>
            <a:off x="8630717"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Aims for long-term access and data theft</a:t>
            </a:r>
            <a:endParaRPr lang="en-US" sz="1250" dirty="0"/>
          </a:p>
        </p:txBody>
      </p:sp>
      <p:sp>
        <p:nvSpPr>
          <p:cNvPr id="54" name="Text 4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5" name="Text 4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paper's datasets contain no APT campaigns</a:t>
            </a:r>
            <a:endParaRPr lang="en-US" sz="3000" dirty="0"/>
          </a:p>
        </p:txBody>
      </p:sp>
      <p:sp>
        <p:nvSpPr>
          <p:cNvPr id="20" name="Shape 18"/>
          <p:cNvSpPr/>
          <p:nvPr/>
        </p:nvSpPr>
        <p:spPr>
          <a:xfrm>
            <a:off x="9566681" y="1783080"/>
            <a:ext cx="1939214" cy="4206240"/>
          </a:xfrm>
          <a:prstGeom prst="roundRect">
            <a:avLst>
              <a:gd name="adj" fmla="val 1886"/>
            </a:avLst>
          </a:prstGeom>
          <a:solidFill>
            <a:srgbClr val="EAF1FB"/>
          </a:solidFill>
          <a:ln w="12700">
            <a:solidFill>
              <a:srgbClr val="EAF1FB"/>
            </a:solidFill>
            <a:prstDash val="solid"/>
          </a:ln>
        </p:spPr>
      </p:sp>
      <p:sp>
        <p:nvSpPr>
          <p:cNvPr id="21" name="Text 19"/>
          <p:cNvSpPr txBox="1"/>
          <p:nvPr/>
        </p:nvSpPr>
        <p:spPr>
          <a:xfrm>
            <a:off x="3749040" y="1892808"/>
            <a:ext cx="5817641" cy="228600"/>
          </a:xfrm>
          <a:prstGeom prst="rect">
            <a:avLst/>
          </a:prstGeom>
          <a:noFill/>
          <a:ln/>
        </p:spPr>
        <p:txBody>
          <a:bodyPr wrap="square" lIns="0" tIns="0" rIns="0" bIns="0" rtlCol="0" anchor="t"/>
          <a:lstStyle/>
          <a:p>
            <a:pPr algn="ctr" indent="0" marL="0">
              <a:buNone/>
            </a:pPr>
            <a:r>
              <a:rPr lang="en-US" sz="900" b="1" dirty="0">
                <a:solidFill>
                  <a:srgbClr val="8A94A3"/>
                </a:solidFill>
                <a:latin typeface="Arial" pitchFamily="34" charset="0"/>
                <a:ea typeface="Arial" pitchFamily="34" charset="-122"/>
                <a:cs typeface="Arial" pitchFamily="34" charset="-120"/>
              </a:rPr>
              <a:t>USED IN THE PAPER</a:t>
            </a:r>
            <a:endParaRPr lang="en-US" sz="900" dirty="0"/>
          </a:p>
        </p:txBody>
      </p:sp>
      <p:sp>
        <p:nvSpPr>
          <p:cNvPr id="22" name="Text 20"/>
          <p:cNvSpPr txBox="1"/>
          <p:nvPr/>
        </p:nvSpPr>
        <p:spPr>
          <a:xfrm>
            <a:off x="9566681" y="1892808"/>
            <a:ext cx="1939214" cy="228600"/>
          </a:xfrm>
          <a:prstGeom prst="rect">
            <a:avLst/>
          </a:prstGeom>
          <a:noFill/>
          <a:ln/>
        </p:spPr>
        <p:txBody>
          <a:bodyPr wrap="square" lIns="0" tIns="0" rIns="0" bIns="0" rtlCol="0" anchor="t"/>
          <a:lstStyle/>
          <a:p>
            <a:pPr algn="ctr" indent="0" marL="0">
              <a:buNone/>
            </a:pPr>
            <a:r>
              <a:rPr lang="en-US" sz="900" b="1" dirty="0">
                <a:solidFill>
                  <a:srgbClr val="2A78D6"/>
                </a:solidFill>
                <a:latin typeface="Arial" pitchFamily="34" charset="0"/>
                <a:ea typeface="Arial" pitchFamily="34" charset="-122"/>
                <a:cs typeface="Arial" pitchFamily="34" charset="-120"/>
              </a:rPr>
              <a:t>USED IN THIS WORK</a:t>
            </a:r>
            <a:endParaRPr lang="en-US" sz="900" dirty="0"/>
          </a:p>
        </p:txBody>
      </p:sp>
      <p:sp>
        <p:nvSpPr>
          <p:cNvPr id="23" name="Text 21"/>
          <p:cNvSpPr txBox="1"/>
          <p:nvPr/>
        </p:nvSpPr>
        <p:spPr>
          <a:xfrm>
            <a:off x="3794760"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CIC-IDS2017 / 2018</a:t>
            </a:r>
            <a:endParaRPr lang="en-US" sz="1350" dirty="0"/>
          </a:p>
        </p:txBody>
      </p:sp>
      <p:sp>
        <p:nvSpPr>
          <p:cNvPr id="24" name="Text 22"/>
          <p:cNvSpPr txBox="1"/>
          <p:nvPr/>
        </p:nvSpPr>
        <p:spPr>
          <a:xfrm>
            <a:off x="5733974"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NSL-KDD</a:t>
            </a:r>
            <a:endParaRPr lang="en-US" sz="1350" dirty="0"/>
          </a:p>
        </p:txBody>
      </p:sp>
      <p:sp>
        <p:nvSpPr>
          <p:cNvPr id="25" name="Text 23"/>
          <p:cNvSpPr txBox="1"/>
          <p:nvPr/>
        </p:nvSpPr>
        <p:spPr>
          <a:xfrm>
            <a:off x="7673188"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UNSW-NB15</a:t>
            </a:r>
            <a:endParaRPr lang="en-US" sz="1350" dirty="0"/>
          </a:p>
        </p:txBody>
      </p:sp>
      <p:sp>
        <p:nvSpPr>
          <p:cNvPr id="26" name="Text 24"/>
          <p:cNvSpPr txBox="1"/>
          <p:nvPr/>
        </p:nvSpPr>
        <p:spPr>
          <a:xfrm>
            <a:off x="9612401"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DAPT2020</a:t>
            </a:r>
            <a:endParaRPr lang="en-US" sz="1350" dirty="0"/>
          </a:p>
        </p:txBody>
      </p:sp>
      <p:sp>
        <p:nvSpPr>
          <p:cNvPr id="27" name="Shape 25"/>
          <p:cNvSpPr/>
          <p:nvPr/>
        </p:nvSpPr>
        <p:spPr>
          <a:xfrm>
            <a:off x="685800" y="2560320"/>
            <a:ext cx="10820095" cy="914"/>
          </a:xfrm>
          <a:prstGeom prst="line">
            <a:avLst/>
          </a:prstGeom>
          <a:noFill/>
          <a:ln w="9525">
            <a:solidFill>
              <a:srgbClr val="E2E6EC"/>
            </a:solidFill>
            <a:prstDash val="solid"/>
          </a:ln>
        </p:spPr>
      </p:sp>
      <p:sp>
        <p:nvSpPr>
          <p:cNvPr id="28" name="Text 26"/>
          <p:cNvSpPr txBox="1"/>
          <p:nvPr/>
        </p:nvSpPr>
        <p:spPr>
          <a:xfrm>
            <a:off x="685800" y="2560320"/>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Built around an APT campaign</a:t>
            </a:r>
            <a:endParaRPr lang="en-US" sz="1350" dirty="0"/>
          </a:p>
        </p:txBody>
      </p:sp>
      <p:pic>
        <p:nvPicPr>
          <p:cNvPr id="29" name="Image 0" descr="preencoded.png">    </p:cNvPr>
          <p:cNvPicPr>
            <a:picLocks noChangeAspect="1"/>
          </p:cNvPicPr>
          <p:nvPr/>
        </p:nvPicPr>
        <p:blipFill>
          <a:blip r:embed="rId1"/>
          <a:stretch>
            <a:fillRect/>
          </a:stretch>
        </p:blipFill>
        <p:spPr>
          <a:xfrm>
            <a:off x="4572343" y="2752344"/>
            <a:ext cx="292608" cy="292608"/>
          </a:xfrm>
          <a:prstGeom prst="rect">
            <a:avLst/>
          </a:prstGeom>
        </p:spPr>
      </p:pic>
      <p:pic>
        <p:nvPicPr>
          <p:cNvPr id="30" name="Image 1" descr="preencoded.png">    </p:cNvPr>
          <p:cNvPicPr>
            <a:picLocks noChangeAspect="1"/>
          </p:cNvPicPr>
          <p:nvPr/>
        </p:nvPicPr>
        <p:blipFill>
          <a:blip r:embed="rId2"/>
          <a:stretch>
            <a:fillRect/>
          </a:stretch>
        </p:blipFill>
        <p:spPr>
          <a:xfrm>
            <a:off x="6511557" y="2752344"/>
            <a:ext cx="292608" cy="292608"/>
          </a:xfrm>
          <a:prstGeom prst="rect">
            <a:avLst/>
          </a:prstGeom>
        </p:spPr>
      </p:pic>
      <p:pic>
        <p:nvPicPr>
          <p:cNvPr id="31" name="Image 2" descr="preencoded.png">    </p:cNvPr>
          <p:cNvPicPr>
            <a:picLocks noChangeAspect="1"/>
          </p:cNvPicPr>
          <p:nvPr/>
        </p:nvPicPr>
        <p:blipFill>
          <a:blip r:embed="rId3"/>
          <a:stretch>
            <a:fillRect/>
          </a:stretch>
        </p:blipFill>
        <p:spPr>
          <a:xfrm>
            <a:off x="8450771" y="2752344"/>
            <a:ext cx="292608" cy="292608"/>
          </a:xfrm>
          <a:prstGeom prst="rect">
            <a:avLst/>
          </a:prstGeom>
        </p:spPr>
      </p:pic>
      <p:pic>
        <p:nvPicPr>
          <p:cNvPr id="32" name="Image 3" descr="preencoded.png">    </p:cNvPr>
          <p:cNvPicPr>
            <a:picLocks noChangeAspect="1"/>
          </p:cNvPicPr>
          <p:nvPr/>
        </p:nvPicPr>
        <p:blipFill>
          <a:blip r:embed="rId4"/>
          <a:stretch>
            <a:fillRect/>
          </a:stretch>
        </p:blipFill>
        <p:spPr>
          <a:xfrm>
            <a:off x="10389984" y="2752344"/>
            <a:ext cx="292608" cy="292608"/>
          </a:xfrm>
          <a:prstGeom prst="rect">
            <a:avLst/>
          </a:prstGeom>
        </p:spPr>
      </p:pic>
      <p:sp>
        <p:nvSpPr>
          <p:cNvPr id="33" name="Shape 27"/>
          <p:cNvSpPr/>
          <p:nvPr/>
        </p:nvSpPr>
        <p:spPr>
          <a:xfrm>
            <a:off x="685800" y="3236976"/>
            <a:ext cx="10820095" cy="914"/>
          </a:xfrm>
          <a:prstGeom prst="line">
            <a:avLst/>
          </a:prstGeom>
          <a:noFill/>
          <a:ln w="9525">
            <a:solidFill>
              <a:srgbClr val="E2E6EC"/>
            </a:solidFill>
            <a:prstDash val="solid"/>
          </a:ln>
        </p:spPr>
      </p:sp>
      <p:sp>
        <p:nvSpPr>
          <p:cNvPr id="34" name="Text 28"/>
          <p:cNvSpPr txBox="1"/>
          <p:nvPr/>
        </p:nvSpPr>
        <p:spPr>
          <a:xfrm>
            <a:off x="685800" y="3236976"/>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Flows labelled with the APT stage</a:t>
            </a:r>
            <a:endParaRPr lang="en-US" sz="1350" dirty="0"/>
          </a:p>
        </p:txBody>
      </p:sp>
      <p:pic>
        <p:nvPicPr>
          <p:cNvPr id="35" name="Image 4" descr="preencoded.png">    </p:cNvPr>
          <p:cNvPicPr>
            <a:picLocks noChangeAspect="1"/>
          </p:cNvPicPr>
          <p:nvPr/>
        </p:nvPicPr>
        <p:blipFill>
          <a:blip r:embed="rId5"/>
          <a:stretch>
            <a:fillRect/>
          </a:stretch>
        </p:blipFill>
        <p:spPr>
          <a:xfrm>
            <a:off x="4572343" y="3429000"/>
            <a:ext cx="292608" cy="292608"/>
          </a:xfrm>
          <a:prstGeom prst="rect">
            <a:avLst/>
          </a:prstGeom>
        </p:spPr>
      </p:pic>
      <p:pic>
        <p:nvPicPr>
          <p:cNvPr id="36" name="Image 5" descr="preencoded.png">    </p:cNvPr>
          <p:cNvPicPr>
            <a:picLocks noChangeAspect="1"/>
          </p:cNvPicPr>
          <p:nvPr/>
        </p:nvPicPr>
        <p:blipFill>
          <a:blip r:embed="rId6"/>
          <a:stretch>
            <a:fillRect/>
          </a:stretch>
        </p:blipFill>
        <p:spPr>
          <a:xfrm>
            <a:off x="6511557" y="3429000"/>
            <a:ext cx="292608" cy="292608"/>
          </a:xfrm>
          <a:prstGeom prst="rect">
            <a:avLst/>
          </a:prstGeom>
        </p:spPr>
      </p:pic>
      <p:pic>
        <p:nvPicPr>
          <p:cNvPr id="37" name="Image 6" descr="preencoded.png">    </p:cNvPr>
          <p:cNvPicPr>
            <a:picLocks noChangeAspect="1"/>
          </p:cNvPicPr>
          <p:nvPr/>
        </p:nvPicPr>
        <p:blipFill>
          <a:blip r:embed="rId7"/>
          <a:stretch>
            <a:fillRect/>
          </a:stretch>
        </p:blipFill>
        <p:spPr>
          <a:xfrm>
            <a:off x="8450771" y="3429000"/>
            <a:ext cx="292608" cy="292608"/>
          </a:xfrm>
          <a:prstGeom prst="rect">
            <a:avLst/>
          </a:prstGeom>
        </p:spPr>
      </p:pic>
      <p:pic>
        <p:nvPicPr>
          <p:cNvPr id="38" name="Image 7" descr="preencoded.png">    </p:cNvPr>
          <p:cNvPicPr>
            <a:picLocks noChangeAspect="1"/>
          </p:cNvPicPr>
          <p:nvPr/>
        </p:nvPicPr>
        <p:blipFill>
          <a:blip r:embed="rId8"/>
          <a:stretch>
            <a:fillRect/>
          </a:stretch>
        </p:blipFill>
        <p:spPr>
          <a:xfrm>
            <a:off x="10389984" y="3429000"/>
            <a:ext cx="292608" cy="292608"/>
          </a:xfrm>
          <a:prstGeom prst="rect">
            <a:avLst/>
          </a:prstGeom>
        </p:spPr>
      </p:pic>
      <p:sp>
        <p:nvSpPr>
          <p:cNvPr id="39" name="Shape 29"/>
          <p:cNvSpPr/>
          <p:nvPr/>
        </p:nvSpPr>
        <p:spPr>
          <a:xfrm>
            <a:off x="685800" y="3913632"/>
            <a:ext cx="10820095" cy="914"/>
          </a:xfrm>
          <a:prstGeom prst="line">
            <a:avLst/>
          </a:prstGeom>
          <a:noFill/>
          <a:ln w="9525">
            <a:solidFill>
              <a:srgbClr val="E2E6EC"/>
            </a:solidFill>
            <a:prstDash val="solid"/>
          </a:ln>
        </p:spPr>
      </p:sp>
      <p:sp>
        <p:nvSpPr>
          <p:cNvPr id="40" name="Text 30"/>
          <p:cNvSpPr txBox="1"/>
          <p:nvPr/>
        </p:nvSpPr>
        <p:spPr>
          <a:xfrm>
            <a:off x="685800" y="3913632"/>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Attack types</a:t>
            </a:r>
            <a:endParaRPr lang="en-US" sz="1350" dirty="0"/>
          </a:p>
        </p:txBody>
      </p:sp>
      <p:sp>
        <p:nvSpPr>
          <p:cNvPr id="41" name="Text 31"/>
          <p:cNvSpPr txBox="1"/>
          <p:nvPr/>
        </p:nvSpPr>
        <p:spPr>
          <a:xfrm>
            <a:off x="3840480"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brute force, botnet, web</a:t>
            </a:r>
            <a:endParaRPr lang="en-US" sz="1100" dirty="0"/>
          </a:p>
        </p:txBody>
      </p:sp>
      <p:sp>
        <p:nvSpPr>
          <p:cNvPr id="42" name="Text 32"/>
          <p:cNvSpPr txBox="1"/>
          <p:nvPr/>
        </p:nvSpPr>
        <p:spPr>
          <a:xfrm>
            <a:off x="5779694"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probe, R2L, U2R</a:t>
            </a:r>
            <a:endParaRPr lang="en-US" sz="1100" dirty="0"/>
          </a:p>
        </p:txBody>
      </p:sp>
      <p:sp>
        <p:nvSpPr>
          <p:cNvPr id="43" name="Text 33"/>
          <p:cNvSpPr txBox="1"/>
          <p:nvPr/>
        </p:nvSpPr>
        <p:spPr>
          <a:xfrm>
            <a:off x="7718908"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Fuzzers, exploits, DoS</a:t>
            </a:r>
            <a:endParaRPr lang="en-US" sz="1100" dirty="0"/>
          </a:p>
        </p:txBody>
      </p:sp>
      <p:sp>
        <p:nvSpPr>
          <p:cNvPr id="44" name="Text 34"/>
          <p:cNvSpPr txBox="1"/>
          <p:nvPr/>
        </p:nvSpPr>
        <p:spPr>
          <a:xfrm>
            <a:off x="9658121" y="3913632"/>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Recon → foothold → lateral → exfiltration</a:t>
            </a:r>
            <a:endParaRPr lang="en-US" sz="1100" dirty="0"/>
          </a:p>
        </p:txBody>
      </p:sp>
      <p:sp>
        <p:nvSpPr>
          <p:cNvPr id="45" name="Shape 35"/>
          <p:cNvSpPr/>
          <p:nvPr/>
        </p:nvSpPr>
        <p:spPr>
          <a:xfrm>
            <a:off x="685800" y="4590288"/>
            <a:ext cx="10820095" cy="914"/>
          </a:xfrm>
          <a:prstGeom prst="line">
            <a:avLst/>
          </a:prstGeom>
          <a:noFill/>
          <a:ln w="9525">
            <a:solidFill>
              <a:srgbClr val="E2E6EC"/>
            </a:solidFill>
            <a:prstDash val="solid"/>
          </a:ln>
        </p:spPr>
      </p:sp>
      <p:sp>
        <p:nvSpPr>
          <p:cNvPr id="46" name="Text 36"/>
          <p:cNvSpPr txBox="1"/>
          <p:nvPr/>
        </p:nvSpPr>
        <p:spPr>
          <a:xfrm>
            <a:off x="685800" y="4590288"/>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Same flow features as CIC-IDS (CICFlowMeter)</a:t>
            </a:r>
            <a:endParaRPr lang="en-US" sz="1350" dirty="0"/>
          </a:p>
        </p:txBody>
      </p:sp>
      <p:pic>
        <p:nvPicPr>
          <p:cNvPr id="47" name="Image 8" descr="preencoded.png">    </p:cNvPr>
          <p:cNvPicPr>
            <a:picLocks noChangeAspect="1"/>
          </p:cNvPicPr>
          <p:nvPr/>
        </p:nvPicPr>
        <p:blipFill>
          <a:blip r:embed="rId9"/>
          <a:stretch>
            <a:fillRect/>
          </a:stretch>
        </p:blipFill>
        <p:spPr>
          <a:xfrm>
            <a:off x="4572343" y="4782312"/>
            <a:ext cx="292608" cy="292608"/>
          </a:xfrm>
          <a:prstGeom prst="rect">
            <a:avLst/>
          </a:prstGeom>
        </p:spPr>
      </p:pic>
      <p:pic>
        <p:nvPicPr>
          <p:cNvPr id="48" name="Image 9" descr="preencoded.png">    </p:cNvPr>
          <p:cNvPicPr>
            <a:picLocks noChangeAspect="1"/>
          </p:cNvPicPr>
          <p:nvPr/>
        </p:nvPicPr>
        <p:blipFill>
          <a:blip r:embed="rId10"/>
          <a:stretch>
            <a:fillRect/>
          </a:stretch>
        </p:blipFill>
        <p:spPr>
          <a:xfrm>
            <a:off x="6511557" y="4782312"/>
            <a:ext cx="292608" cy="292608"/>
          </a:xfrm>
          <a:prstGeom prst="rect">
            <a:avLst/>
          </a:prstGeom>
        </p:spPr>
      </p:pic>
      <p:pic>
        <p:nvPicPr>
          <p:cNvPr id="49" name="Image 10" descr="preencoded.png">    </p:cNvPr>
          <p:cNvPicPr>
            <a:picLocks noChangeAspect="1"/>
          </p:cNvPicPr>
          <p:nvPr/>
        </p:nvPicPr>
        <p:blipFill>
          <a:blip r:embed="rId11"/>
          <a:stretch>
            <a:fillRect/>
          </a:stretch>
        </p:blipFill>
        <p:spPr>
          <a:xfrm>
            <a:off x="8450771" y="4782312"/>
            <a:ext cx="292608" cy="292608"/>
          </a:xfrm>
          <a:prstGeom prst="rect">
            <a:avLst/>
          </a:prstGeom>
        </p:spPr>
      </p:pic>
      <p:pic>
        <p:nvPicPr>
          <p:cNvPr id="50" name="Image 11" descr="preencoded.png">    </p:cNvPr>
          <p:cNvPicPr>
            <a:picLocks noChangeAspect="1"/>
          </p:cNvPicPr>
          <p:nvPr/>
        </p:nvPicPr>
        <p:blipFill>
          <a:blip r:embed="rId12"/>
          <a:stretch>
            <a:fillRect/>
          </a:stretch>
        </p:blipFill>
        <p:spPr>
          <a:xfrm>
            <a:off x="10389984" y="4782312"/>
            <a:ext cx="292608" cy="292608"/>
          </a:xfrm>
          <a:prstGeom prst="rect">
            <a:avLst/>
          </a:prstGeom>
        </p:spPr>
      </p:pic>
      <p:sp>
        <p:nvSpPr>
          <p:cNvPr id="51" name="Shape 37"/>
          <p:cNvSpPr/>
          <p:nvPr/>
        </p:nvSpPr>
        <p:spPr>
          <a:xfrm>
            <a:off x="685800" y="5266944"/>
            <a:ext cx="10820095" cy="914"/>
          </a:xfrm>
          <a:prstGeom prst="line">
            <a:avLst/>
          </a:prstGeom>
          <a:noFill/>
          <a:ln w="9525">
            <a:solidFill>
              <a:srgbClr val="E2E6EC"/>
            </a:solidFill>
            <a:prstDash val="solid"/>
          </a:ln>
        </p:spPr>
      </p:sp>
      <p:sp>
        <p:nvSpPr>
          <p:cNvPr id="52" name="Text 38"/>
          <p:cNvSpPr txBox="1"/>
          <p:nvPr/>
        </p:nvSpPr>
        <p:spPr>
          <a:xfrm>
            <a:off x="685800" y="5266944"/>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Traffic recorded</a:t>
            </a:r>
            <a:endParaRPr lang="en-US" sz="1350" dirty="0"/>
          </a:p>
        </p:txBody>
      </p:sp>
      <p:sp>
        <p:nvSpPr>
          <p:cNvPr id="53" name="Text 39"/>
          <p:cNvSpPr txBox="1"/>
          <p:nvPr/>
        </p:nvSpPr>
        <p:spPr>
          <a:xfrm>
            <a:off x="3840480"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2017–2018</a:t>
            </a:r>
            <a:endParaRPr lang="en-US" sz="1100" dirty="0"/>
          </a:p>
        </p:txBody>
      </p:sp>
      <p:sp>
        <p:nvSpPr>
          <p:cNvPr id="54" name="Text 40"/>
          <p:cNvSpPr txBox="1"/>
          <p:nvPr/>
        </p:nvSpPr>
        <p:spPr>
          <a:xfrm>
            <a:off x="5779694"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1998 (via KDD'99)</a:t>
            </a:r>
            <a:endParaRPr lang="en-US" sz="1100" dirty="0"/>
          </a:p>
        </p:txBody>
      </p:sp>
      <p:sp>
        <p:nvSpPr>
          <p:cNvPr id="55" name="Text 41"/>
          <p:cNvSpPr txBox="1"/>
          <p:nvPr/>
        </p:nvSpPr>
        <p:spPr>
          <a:xfrm>
            <a:off x="7718908"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2015</a:t>
            </a:r>
            <a:endParaRPr lang="en-US" sz="1100" dirty="0"/>
          </a:p>
        </p:txBody>
      </p:sp>
      <p:sp>
        <p:nvSpPr>
          <p:cNvPr id="56" name="Text 42"/>
          <p:cNvSpPr txBox="1"/>
          <p:nvPr/>
        </p:nvSpPr>
        <p:spPr>
          <a:xfrm>
            <a:off x="9658121" y="5266944"/>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2019</a:t>
            </a:r>
            <a:endParaRPr lang="en-US" sz="1100" dirty="0"/>
          </a:p>
        </p:txBody>
      </p:sp>
      <p:sp>
        <p:nvSpPr>
          <p:cNvPr id="57" name="Text 43"/>
          <p:cNvSpPr txBox="1"/>
          <p:nvPr/>
        </p:nvSpPr>
        <p:spPr>
          <a:xfrm>
            <a:off x="685800" y="6035040"/>
            <a:ext cx="10820095" cy="256032"/>
          </a:xfrm>
          <a:prstGeom prst="rect">
            <a:avLst/>
          </a:prstGeom>
          <a:noFill/>
          <a:ln/>
        </p:spPr>
        <p:txBody>
          <a:bodyPr wrap="square" lIns="0" tIns="0" rIns="0" bIns="0" rtlCol="0" anchor="t"/>
          <a:lstStyle/>
          <a:p>
            <a:pPr indent="0" marL="0">
              <a:buNone/>
            </a:pPr>
            <a:r>
              <a:rPr lang="en-US" sz="1000" dirty="0">
                <a:solidFill>
                  <a:srgbClr val="8A94A3"/>
                </a:solidFill>
                <a:latin typeface="Arial" pitchFamily="34" charset="0"/>
                <a:ea typeface="Arial" pitchFamily="34" charset="-122"/>
                <a:cs typeface="Arial" pitchFamily="34" charset="-120"/>
              </a:rPr>
              <a:t>DAPT2020: Myneni et al., 2020  ·  kaggle.com/datasets/sowmyamyneni/dapt2020</a:t>
            </a:r>
            <a:endParaRPr lang="en-US" sz="1000" dirty="0"/>
          </a:p>
        </p:txBody>
      </p:sp>
      <p:sp>
        <p:nvSpPr>
          <p:cNvPr id="58" name="Text 4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4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3352" y="515842"/>
            <a:ext cx="327072" cy="387592"/>
          </a:xfrm>
          <a:prstGeom prst="line">
            <a:avLst/>
          </a:prstGeom>
          <a:noFill/>
          <a:ln w="9525">
            <a:solidFill>
              <a:srgbClr val="2C3E5C"/>
            </a:solidFill>
            <a:prstDash val="solid"/>
          </a:ln>
        </p:spPr>
      </p:sp>
      <p:sp>
        <p:nvSpPr>
          <p:cNvPr id="3" name="Shape 1"/>
          <p:cNvSpPr/>
          <p:nvPr/>
        </p:nvSpPr>
        <p:spPr>
          <a:xfrm>
            <a:off x="7123352" y="515842"/>
            <a:ext cx="262447" cy="1171260"/>
          </a:xfrm>
          <a:prstGeom prst="line">
            <a:avLst/>
          </a:prstGeom>
          <a:noFill/>
          <a:ln w="9525">
            <a:solidFill>
              <a:srgbClr val="2C3E5C"/>
            </a:solidFill>
            <a:prstDash val="solid"/>
          </a:ln>
        </p:spPr>
      </p:sp>
      <p:sp>
        <p:nvSpPr>
          <p:cNvPr id="4" name="Shape 2"/>
          <p:cNvSpPr/>
          <p:nvPr/>
        </p:nvSpPr>
        <p:spPr>
          <a:xfrm flipH="1">
            <a:off x="7385800" y="903434"/>
            <a:ext cx="64625" cy="783667"/>
          </a:xfrm>
          <a:prstGeom prst="line">
            <a:avLst/>
          </a:prstGeom>
          <a:noFill/>
          <a:ln w="9525">
            <a:solidFill>
              <a:srgbClr val="2C3E5C"/>
            </a:solidFill>
            <a:prstDash val="solid"/>
          </a:ln>
        </p:spPr>
      </p:sp>
      <p:sp>
        <p:nvSpPr>
          <p:cNvPr id="5" name="Shape 3"/>
          <p:cNvSpPr/>
          <p:nvPr/>
        </p:nvSpPr>
        <p:spPr>
          <a:xfrm flipV="1">
            <a:off x="9583967" y="651325"/>
            <a:ext cx="1019866" cy="188688"/>
          </a:xfrm>
          <a:prstGeom prst="line">
            <a:avLst/>
          </a:prstGeom>
          <a:noFill/>
          <a:ln w="9525">
            <a:solidFill>
              <a:srgbClr val="2C3E5C"/>
            </a:solidFill>
            <a:prstDash val="solid"/>
          </a:ln>
        </p:spPr>
      </p:sp>
      <p:sp>
        <p:nvSpPr>
          <p:cNvPr id="6" name="Shape 4"/>
          <p:cNvSpPr/>
          <p:nvPr/>
        </p:nvSpPr>
        <p:spPr>
          <a:xfrm flipH="1">
            <a:off x="9341837" y="840013"/>
            <a:ext cx="242130" cy="1039700"/>
          </a:xfrm>
          <a:prstGeom prst="line">
            <a:avLst/>
          </a:prstGeom>
          <a:noFill/>
          <a:ln w="9525">
            <a:solidFill>
              <a:srgbClr val="2C3E5C"/>
            </a:solidFill>
            <a:prstDash val="solid"/>
          </a:ln>
        </p:spPr>
      </p:sp>
      <p:sp>
        <p:nvSpPr>
          <p:cNvPr id="7" name="Shape 5"/>
          <p:cNvSpPr/>
          <p:nvPr/>
        </p:nvSpPr>
        <p:spPr>
          <a:xfrm flipH="1">
            <a:off x="10510093" y="651325"/>
            <a:ext cx="93740" cy="1035437"/>
          </a:xfrm>
          <a:prstGeom prst="line">
            <a:avLst/>
          </a:prstGeom>
          <a:noFill/>
          <a:ln w="9525">
            <a:solidFill>
              <a:srgbClr val="2C3E5C"/>
            </a:solidFill>
            <a:prstDash val="solid"/>
          </a:ln>
        </p:spPr>
      </p:sp>
      <p:sp>
        <p:nvSpPr>
          <p:cNvPr id="8" name="Shape 6"/>
          <p:cNvSpPr/>
          <p:nvPr/>
        </p:nvSpPr>
        <p:spPr>
          <a:xfrm>
            <a:off x="11605810" y="1106481"/>
            <a:ext cx="32257" cy="501082"/>
          </a:xfrm>
          <a:prstGeom prst="line">
            <a:avLst/>
          </a:prstGeom>
          <a:noFill/>
          <a:ln w="12700">
            <a:solidFill>
              <a:srgbClr val="E0533A">
                <a:alpha val="55000"/>
              </a:srgbClr>
            </a:solidFill>
            <a:prstDash val="solid"/>
          </a:ln>
        </p:spPr>
      </p:sp>
      <p:sp>
        <p:nvSpPr>
          <p:cNvPr id="9" name="Shape 7"/>
          <p:cNvSpPr/>
          <p:nvPr/>
        </p:nvSpPr>
        <p:spPr>
          <a:xfrm>
            <a:off x="10603833" y="651325"/>
            <a:ext cx="1001977" cy="455156"/>
          </a:xfrm>
          <a:prstGeom prst="line">
            <a:avLst/>
          </a:prstGeom>
          <a:noFill/>
          <a:ln w="9525">
            <a:solidFill>
              <a:srgbClr val="2C3E5C"/>
            </a:solidFill>
            <a:prstDash val="solid"/>
          </a:ln>
        </p:spPr>
      </p:sp>
      <p:sp>
        <p:nvSpPr>
          <p:cNvPr id="10" name="Shape 8"/>
          <p:cNvSpPr/>
          <p:nvPr/>
        </p:nvSpPr>
        <p:spPr>
          <a:xfrm>
            <a:off x="6564806" y="1774045"/>
            <a:ext cx="215263" cy="537180"/>
          </a:xfrm>
          <a:prstGeom prst="line">
            <a:avLst/>
          </a:prstGeom>
          <a:noFill/>
          <a:ln w="9525">
            <a:solidFill>
              <a:srgbClr val="2C3E5C"/>
            </a:solidFill>
            <a:prstDash val="solid"/>
          </a:ln>
        </p:spPr>
      </p:sp>
      <p:sp>
        <p:nvSpPr>
          <p:cNvPr id="11" name="Shape 9"/>
          <p:cNvSpPr/>
          <p:nvPr/>
        </p:nvSpPr>
        <p:spPr>
          <a:xfrm flipV="1">
            <a:off x="6564806" y="1687102"/>
            <a:ext cx="820994" cy="86944"/>
          </a:xfrm>
          <a:prstGeom prst="line">
            <a:avLst/>
          </a:prstGeom>
          <a:noFill/>
          <a:ln w="9525">
            <a:solidFill>
              <a:srgbClr val="2C3E5C"/>
            </a:solidFill>
            <a:prstDash val="solid"/>
          </a:ln>
        </p:spPr>
      </p:sp>
      <p:sp>
        <p:nvSpPr>
          <p:cNvPr id="12" name="Shape 10"/>
          <p:cNvSpPr/>
          <p:nvPr/>
        </p:nvSpPr>
        <p:spPr>
          <a:xfrm>
            <a:off x="9341837" y="1879713"/>
            <a:ext cx="398628" cy="464499"/>
          </a:xfrm>
          <a:prstGeom prst="line">
            <a:avLst/>
          </a:prstGeom>
          <a:noFill/>
          <a:ln w="9525">
            <a:solidFill>
              <a:srgbClr val="2C3E5C"/>
            </a:solidFill>
            <a:prstDash val="solid"/>
          </a:ln>
        </p:spPr>
      </p:sp>
      <p:sp>
        <p:nvSpPr>
          <p:cNvPr id="13" name="Shape 11"/>
          <p:cNvSpPr/>
          <p:nvPr/>
        </p:nvSpPr>
        <p:spPr>
          <a:xfrm>
            <a:off x="10510093" y="1686762"/>
            <a:ext cx="2370" cy="550623"/>
          </a:xfrm>
          <a:prstGeom prst="line">
            <a:avLst/>
          </a:prstGeom>
          <a:noFill/>
          <a:ln w="9525">
            <a:solidFill>
              <a:srgbClr val="2C3E5C"/>
            </a:solidFill>
            <a:prstDash val="solid"/>
          </a:ln>
        </p:spPr>
      </p:sp>
      <p:sp>
        <p:nvSpPr>
          <p:cNvPr id="14" name="Shape 12"/>
          <p:cNvSpPr/>
          <p:nvPr/>
        </p:nvSpPr>
        <p:spPr>
          <a:xfrm flipH="1">
            <a:off x="9740465" y="1686762"/>
            <a:ext cx="769628" cy="657450"/>
          </a:xfrm>
          <a:prstGeom prst="line">
            <a:avLst/>
          </a:prstGeom>
          <a:noFill/>
          <a:ln w="9525">
            <a:solidFill>
              <a:srgbClr val="2C3E5C"/>
            </a:solidFill>
            <a:prstDash val="solid"/>
          </a:ln>
        </p:spPr>
      </p:sp>
      <p:sp>
        <p:nvSpPr>
          <p:cNvPr id="15" name="Shape 13"/>
          <p:cNvSpPr/>
          <p:nvPr/>
        </p:nvSpPr>
        <p:spPr>
          <a:xfrm flipV="1">
            <a:off x="10510093" y="1607563"/>
            <a:ext cx="1127974" cy="79199"/>
          </a:xfrm>
          <a:prstGeom prst="line">
            <a:avLst/>
          </a:prstGeom>
          <a:noFill/>
          <a:ln w="12700">
            <a:solidFill>
              <a:srgbClr val="E0533A">
                <a:alpha val="55000"/>
              </a:srgbClr>
            </a:solidFill>
            <a:prstDash val="solid"/>
          </a:ln>
        </p:spPr>
      </p:sp>
      <p:sp>
        <p:nvSpPr>
          <p:cNvPr id="16" name="Shape 14"/>
          <p:cNvSpPr/>
          <p:nvPr/>
        </p:nvSpPr>
        <p:spPr>
          <a:xfrm flipH="1">
            <a:off x="6780069" y="1687102"/>
            <a:ext cx="605731" cy="624123"/>
          </a:xfrm>
          <a:prstGeom prst="line">
            <a:avLst/>
          </a:prstGeom>
          <a:noFill/>
          <a:ln w="9525">
            <a:solidFill>
              <a:srgbClr val="2C3E5C"/>
            </a:solidFill>
            <a:prstDash val="solid"/>
          </a:ln>
        </p:spPr>
      </p:sp>
      <p:sp>
        <p:nvSpPr>
          <p:cNvPr id="17" name="Shape 15"/>
          <p:cNvSpPr/>
          <p:nvPr/>
        </p:nvSpPr>
        <p:spPr>
          <a:xfrm>
            <a:off x="7969961" y="2310336"/>
            <a:ext cx="657919" cy="392232"/>
          </a:xfrm>
          <a:prstGeom prst="line">
            <a:avLst/>
          </a:prstGeom>
          <a:noFill/>
          <a:ln w="9525">
            <a:solidFill>
              <a:srgbClr val="2C3E5C"/>
            </a:solidFill>
            <a:prstDash val="solid"/>
          </a:ln>
        </p:spPr>
      </p:sp>
      <p:sp>
        <p:nvSpPr>
          <p:cNvPr id="18" name="Shape 16"/>
          <p:cNvSpPr/>
          <p:nvPr/>
        </p:nvSpPr>
        <p:spPr>
          <a:xfrm>
            <a:off x="7385800" y="1687102"/>
            <a:ext cx="584161" cy="623234"/>
          </a:xfrm>
          <a:prstGeom prst="line">
            <a:avLst/>
          </a:prstGeom>
          <a:noFill/>
          <a:ln w="9525">
            <a:solidFill>
              <a:srgbClr val="2C3E5C"/>
            </a:solidFill>
            <a:prstDash val="solid"/>
          </a:ln>
        </p:spPr>
      </p:sp>
      <p:sp>
        <p:nvSpPr>
          <p:cNvPr id="19" name="Shape 17"/>
          <p:cNvSpPr/>
          <p:nvPr/>
        </p:nvSpPr>
        <p:spPr>
          <a:xfrm flipH="1">
            <a:off x="8511809" y="2702567"/>
            <a:ext cx="116071" cy="924295"/>
          </a:xfrm>
          <a:prstGeom prst="line">
            <a:avLst/>
          </a:prstGeom>
          <a:noFill/>
          <a:ln w="9525">
            <a:solidFill>
              <a:srgbClr val="2C3E5C"/>
            </a:solidFill>
            <a:prstDash val="solid"/>
          </a:ln>
        </p:spPr>
      </p:sp>
      <p:sp>
        <p:nvSpPr>
          <p:cNvPr id="20" name="Shape 18"/>
          <p:cNvSpPr/>
          <p:nvPr/>
        </p:nvSpPr>
        <p:spPr>
          <a:xfrm flipV="1">
            <a:off x="9740465" y="2237385"/>
            <a:ext cx="771999" cy="106826"/>
          </a:xfrm>
          <a:prstGeom prst="line">
            <a:avLst/>
          </a:prstGeom>
          <a:noFill/>
          <a:ln w="9525">
            <a:solidFill>
              <a:srgbClr val="2C3E5C"/>
            </a:solidFill>
            <a:prstDash val="solid"/>
          </a:ln>
        </p:spPr>
      </p:sp>
      <p:sp>
        <p:nvSpPr>
          <p:cNvPr id="21" name="Shape 19"/>
          <p:cNvSpPr/>
          <p:nvPr/>
        </p:nvSpPr>
        <p:spPr>
          <a:xfrm flipH="1">
            <a:off x="11018189" y="2845553"/>
            <a:ext cx="634448" cy="294938"/>
          </a:xfrm>
          <a:prstGeom prst="line">
            <a:avLst/>
          </a:prstGeom>
          <a:noFill/>
          <a:ln w="12700">
            <a:solidFill>
              <a:srgbClr val="E0533A">
                <a:alpha val="55000"/>
              </a:srgbClr>
            </a:solidFill>
            <a:prstDash val="solid"/>
          </a:ln>
        </p:spPr>
      </p:sp>
      <p:sp>
        <p:nvSpPr>
          <p:cNvPr id="22" name="Shape 20"/>
          <p:cNvSpPr/>
          <p:nvPr/>
        </p:nvSpPr>
        <p:spPr>
          <a:xfrm flipH="1">
            <a:off x="10742268" y="2845553"/>
            <a:ext cx="910369" cy="664608"/>
          </a:xfrm>
          <a:prstGeom prst="line">
            <a:avLst/>
          </a:prstGeom>
          <a:noFill/>
          <a:ln w="9525">
            <a:solidFill>
              <a:srgbClr val="2C3E5C"/>
            </a:solidFill>
            <a:prstDash val="solid"/>
          </a:ln>
        </p:spPr>
      </p:sp>
      <p:sp>
        <p:nvSpPr>
          <p:cNvPr id="23" name="Shape 21"/>
          <p:cNvSpPr/>
          <p:nvPr/>
        </p:nvSpPr>
        <p:spPr>
          <a:xfrm flipH="1">
            <a:off x="6747982" y="3698591"/>
            <a:ext cx="782610" cy="480778"/>
          </a:xfrm>
          <a:prstGeom prst="line">
            <a:avLst/>
          </a:prstGeom>
          <a:noFill/>
          <a:ln w="9525">
            <a:solidFill>
              <a:srgbClr val="2C3E5C"/>
            </a:solidFill>
            <a:prstDash val="solid"/>
          </a:ln>
        </p:spPr>
      </p:sp>
      <p:sp>
        <p:nvSpPr>
          <p:cNvPr id="24" name="Shape 22"/>
          <p:cNvSpPr/>
          <p:nvPr/>
        </p:nvSpPr>
        <p:spPr>
          <a:xfrm>
            <a:off x="7530592" y="3698591"/>
            <a:ext cx="355095" cy="874524"/>
          </a:xfrm>
          <a:prstGeom prst="line">
            <a:avLst/>
          </a:prstGeom>
          <a:noFill/>
          <a:ln w="9525">
            <a:solidFill>
              <a:srgbClr val="2C3E5C"/>
            </a:solidFill>
            <a:prstDash val="solid"/>
          </a:ln>
        </p:spPr>
      </p:sp>
      <p:sp>
        <p:nvSpPr>
          <p:cNvPr id="25" name="Shape 23"/>
          <p:cNvSpPr/>
          <p:nvPr/>
        </p:nvSpPr>
        <p:spPr>
          <a:xfrm>
            <a:off x="8511809" y="3626862"/>
            <a:ext cx="58420" cy="398997"/>
          </a:xfrm>
          <a:prstGeom prst="line">
            <a:avLst/>
          </a:prstGeom>
          <a:noFill/>
          <a:ln w="9525">
            <a:solidFill>
              <a:srgbClr val="2C3E5C"/>
            </a:solidFill>
            <a:prstDash val="solid"/>
          </a:ln>
        </p:spPr>
      </p:sp>
      <p:sp>
        <p:nvSpPr>
          <p:cNvPr id="26" name="Shape 24"/>
          <p:cNvSpPr/>
          <p:nvPr/>
        </p:nvSpPr>
        <p:spPr>
          <a:xfrm flipH="1">
            <a:off x="9477150" y="2344212"/>
            <a:ext cx="263315" cy="953652"/>
          </a:xfrm>
          <a:prstGeom prst="line">
            <a:avLst/>
          </a:prstGeom>
          <a:noFill/>
          <a:ln w="9525">
            <a:solidFill>
              <a:srgbClr val="2C3E5C"/>
            </a:solidFill>
            <a:prstDash val="solid"/>
          </a:ln>
        </p:spPr>
      </p:sp>
      <p:sp>
        <p:nvSpPr>
          <p:cNvPr id="27" name="Shape 25"/>
          <p:cNvSpPr/>
          <p:nvPr/>
        </p:nvSpPr>
        <p:spPr>
          <a:xfrm flipV="1">
            <a:off x="8511809" y="3297864"/>
            <a:ext cx="965341" cy="328998"/>
          </a:xfrm>
          <a:prstGeom prst="line">
            <a:avLst/>
          </a:prstGeom>
          <a:noFill/>
          <a:ln w="9525">
            <a:solidFill>
              <a:srgbClr val="2C3E5C"/>
            </a:solidFill>
            <a:prstDash val="solid"/>
          </a:ln>
        </p:spPr>
      </p:sp>
      <p:sp>
        <p:nvSpPr>
          <p:cNvPr id="28" name="Shape 26"/>
          <p:cNvSpPr/>
          <p:nvPr/>
        </p:nvSpPr>
        <p:spPr>
          <a:xfrm flipV="1">
            <a:off x="10742268" y="3140491"/>
            <a:ext cx="275922" cy="369669"/>
          </a:xfrm>
          <a:prstGeom prst="line">
            <a:avLst/>
          </a:prstGeom>
          <a:noFill/>
          <a:ln w="12700">
            <a:solidFill>
              <a:srgbClr val="E0533A">
                <a:alpha val="55000"/>
              </a:srgbClr>
            </a:solidFill>
            <a:prstDash val="solid"/>
          </a:ln>
        </p:spPr>
      </p:sp>
      <p:sp>
        <p:nvSpPr>
          <p:cNvPr id="29" name="Shape 27"/>
          <p:cNvSpPr/>
          <p:nvPr/>
        </p:nvSpPr>
        <p:spPr>
          <a:xfrm flipH="1">
            <a:off x="10224491" y="3510160"/>
            <a:ext cx="517777" cy="701066"/>
          </a:xfrm>
          <a:prstGeom prst="line">
            <a:avLst/>
          </a:prstGeom>
          <a:noFill/>
          <a:ln w="9525">
            <a:solidFill>
              <a:srgbClr val="2C3E5C"/>
            </a:solidFill>
            <a:prstDash val="solid"/>
          </a:ln>
        </p:spPr>
      </p:sp>
      <p:sp>
        <p:nvSpPr>
          <p:cNvPr id="30" name="Shape 28"/>
          <p:cNvSpPr/>
          <p:nvPr/>
        </p:nvSpPr>
        <p:spPr>
          <a:xfrm>
            <a:off x="6747982" y="4179369"/>
            <a:ext cx="169431" cy="636999"/>
          </a:xfrm>
          <a:prstGeom prst="line">
            <a:avLst/>
          </a:prstGeom>
          <a:noFill/>
          <a:ln w="9525">
            <a:solidFill>
              <a:srgbClr val="2C3E5C"/>
            </a:solidFill>
            <a:prstDash val="solid"/>
          </a:ln>
        </p:spPr>
      </p:sp>
      <p:sp>
        <p:nvSpPr>
          <p:cNvPr id="31" name="Shape 29"/>
          <p:cNvSpPr/>
          <p:nvPr/>
        </p:nvSpPr>
        <p:spPr>
          <a:xfrm>
            <a:off x="7885687" y="4573115"/>
            <a:ext cx="603858" cy="376402"/>
          </a:xfrm>
          <a:prstGeom prst="line">
            <a:avLst/>
          </a:prstGeom>
          <a:noFill/>
          <a:ln w="9525">
            <a:solidFill>
              <a:srgbClr val="2C3E5C"/>
            </a:solidFill>
            <a:prstDash val="solid"/>
          </a:ln>
        </p:spPr>
      </p:sp>
      <p:sp>
        <p:nvSpPr>
          <p:cNvPr id="32" name="Shape 30"/>
          <p:cNvSpPr/>
          <p:nvPr/>
        </p:nvSpPr>
        <p:spPr>
          <a:xfrm flipV="1">
            <a:off x="7885687" y="4025860"/>
            <a:ext cx="684542" cy="547255"/>
          </a:xfrm>
          <a:prstGeom prst="line">
            <a:avLst/>
          </a:prstGeom>
          <a:noFill/>
          <a:ln w="9525">
            <a:solidFill>
              <a:srgbClr val="2C3E5C"/>
            </a:solidFill>
            <a:prstDash val="solid"/>
          </a:ln>
        </p:spPr>
      </p:sp>
      <p:sp>
        <p:nvSpPr>
          <p:cNvPr id="33" name="Shape 31"/>
          <p:cNvSpPr/>
          <p:nvPr/>
        </p:nvSpPr>
        <p:spPr>
          <a:xfrm flipH="1">
            <a:off x="9211888" y="4533158"/>
            <a:ext cx="145742" cy="587047"/>
          </a:xfrm>
          <a:prstGeom prst="line">
            <a:avLst/>
          </a:prstGeom>
          <a:noFill/>
          <a:ln w="9525">
            <a:solidFill>
              <a:srgbClr val="2C3E5C"/>
            </a:solidFill>
            <a:prstDash val="solid"/>
          </a:ln>
        </p:spPr>
      </p:sp>
      <p:sp>
        <p:nvSpPr>
          <p:cNvPr id="34" name="Shape 32"/>
          <p:cNvSpPr/>
          <p:nvPr/>
        </p:nvSpPr>
        <p:spPr>
          <a:xfrm flipV="1">
            <a:off x="9357630" y="4211226"/>
            <a:ext cx="866861" cy="321932"/>
          </a:xfrm>
          <a:prstGeom prst="line">
            <a:avLst/>
          </a:prstGeom>
          <a:noFill/>
          <a:ln w="9525">
            <a:solidFill>
              <a:srgbClr val="2C3E5C"/>
            </a:solidFill>
            <a:prstDash val="solid"/>
          </a:ln>
        </p:spPr>
      </p:sp>
      <p:sp>
        <p:nvSpPr>
          <p:cNvPr id="35" name="Shape 33"/>
          <p:cNvSpPr/>
          <p:nvPr/>
        </p:nvSpPr>
        <p:spPr>
          <a:xfrm flipH="1">
            <a:off x="6917413" y="4573115"/>
            <a:ext cx="968273" cy="243253"/>
          </a:xfrm>
          <a:prstGeom prst="line">
            <a:avLst/>
          </a:prstGeom>
          <a:noFill/>
          <a:ln w="9525">
            <a:solidFill>
              <a:srgbClr val="2C3E5C"/>
            </a:solidFill>
            <a:prstDash val="solid"/>
          </a:ln>
        </p:spPr>
      </p:sp>
      <p:sp>
        <p:nvSpPr>
          <p:cNvPr id="36" name="Shape 34"/>
          <p:cNvSpPr/>
          <p:nvPr/>
        </p:nvSpPr>
        <p:spPr>
          <a:xfrm>
            <a:off x="8489545" y="4949516"/>
            <a:ext cx="722343" cy="170689"/>
          </a:xfrm>
          <a:prstGeom prst="line">
            <a:avLst/>
          </a:prstGeom>
          <a:noFill/>
          <a:ln w="9525">
            <a:solidFill>
              <a:srgbClr val="2C3E5C"/>
            </a:solidFill>
            <a:prstDash val="solid"/>
          </a:ln>
        </p:spPr>
      </p:sp>
      <p:sp>
        <p:nvSpPr>
          <p:cNvPr id="37" name="Shape 35"/>
          <p:cNvSpPr/>
          <p:nvPr/>
        </p:nvSpPr>
        <p:spPr>
          <a:xfrm flipV="1">
            <a:off x="10607855" y="4907024"/>
            <a:ext cx="512090" cy="184652"/>
          </a:xfrm>
          <a:prstGeom prst="line">
            <a:avLst/>
          </a:prstGeom>
          <a:noFill/>
          <a:ln w="9525">
            <a:solidFill>
              <a:srgbClr val="2C3E5C"/>
            </a:solidFill>
            <a:prstDash val="solid"/>
          </a:ln>
        </p:spPr>
      </p:sp>
      <p:sp>
        <p:nvSpPr>
          <p:cNvPr id="38" name="Shape 36"/>
          <p:cNvSpPr/>
          <p:nvPr/>
        </p:nvSpPr>
        <p:spPr>
          <a:xfrm flipH="1">
            <a:off x="10329936" y="5091676"/>
            <a:ext cx="277919" cy="843266"/>
          </a:xfrm>
          <a:prstGeom prst="line">
            <a:avLst/>
          </a:prstGeom>
          <a:noFill/>
          <a:ln w="9525">
            <a:solidFill>
              <a:srgbClr val="2C3E5C"/>
            </a:solidFill>
            <a:prstDash val="solid"/>
          </a:ln>
        </p:spPr>
      </p:sp>
      <p:sp>
        <p:nvSpPr>
          <p:cNvPr id="39" name="Shape 37"/>
          <p:cNvSpPr/>
          <p:nvPr/>
        </p:nvSpPr>
        <p:spPr>
          <a:xfrm>
            <a:off x="10224491" y="4211226"/>
            <a:ext cx="895454" cy="695798"/>
          </a:xfrm>
          <a:prstGeom prst="line">
            <a:avLst/>
          </a:prstGeom>
          <a:noFill/>
          <a:ln w="9525">
            <a:solidFill>
              <a:srgbClr val="2C3E5C"/>
            </a:solidFill>
            <a:prstDash val="solid"/>
          </a:ln>
        </p:spPr>
      </p:sp>
      <p:sp>
        <p:nvSpPr>
          <p:cNvPr id="40" name="Shape 38"/>
          <p:cNvSpPr/>
          <p:nvPr/>
        </p:nvSpPr>
        <p:spPr>
          <a:xfrm flipH="1">
            <a:off x="7692444" y="4949516"/>
            <a:ext cx="797100" cy="1290718"/>
          </a:xfrm>
          <a:prstGeom prst="line">
            <a:avLst/>
          </a:prstGeom>
          <a:noFill/>
          <a:ln w="9525">
            <a:solidFill>
              <a:srgbClr val="2C3E5C"/>
            </a:solidFill>
            <a:prstDash val="solid"/>
          </a:ln>
        </p:spPr>
      </p:sp>
      <p:sp>
        <p:nvSpPr>
          <p:cNvPr id="41" name="Shape 39"/>
          <p:cNvSpPr/>
          <p:nvPr/>
        </p:nvSpPr>
        <p:spPr>
          <a:xfrm>
            <a:off x="6917413" y="4816368"/>
            <a:ext cx="775031" cy="1423867"/>
          </a:xfrm>
          <a:prstGeom prst="line">
            <a:avLst/>
          </a:prstGeom>
          <a:noFill/>
          <a:ln w="9525">
            <a:solidFill>
              <a:srgbClr val="2C3E5C"/>
            </a:solidFill>
            <a:prstDash val="solid"/>
          </a:ln>
        </p:spPr>
      </p:sp>
      <p:sp>
        <p:nvSpPr>
          <p:cNvPr id="42" name="Shape 40"/>
          <p:cNvSpPr/>
          <p:nvPr/>
        </p:nvSpPr>
        <p:spPr>
          <a:xfrm flipV="1">
            <a:off x="9659764" y="5934942"/>
            <a:ext cx="670172" cy="199086"/>
          </a:xfrm>
          <a:prstGeom prst="line">
            <a:avLst/>
          </a:prstGeom>
          <a:noFill/>
          <a:ln w="9525">
            <a:solidFill>
              <a:srgbClr val="2C3E5C"/>
            </a:solidFill>
            <a:prstDash val="solid"/>
          </a:ln>
        </p:spPr>
      </p:sp>
      <p:sp>
        <p:nvSpPr>
          <p:cNvPr id="43" name="Shape 41"/>
          <p:cNvSpPr/>
          <p:nvPr/>
        </p:nvSpPr>
        <p:spPr>
          <a:xfrm>
            <a:off x="9211888" y="5120205"/>
            <a:ext cx="447876" cy="1013823"/>
          </a:xfrm>
          <a:prstGeom prst="line">
            <a:avLst/>
          </a:prstGeom>
          <a:noFill/>
          <a:ln w="9525">
            <a:solidFill>
              <a:srgbClr val="2C3E5C"/>
            </a:solidFill>
            <a:prstDash val="solid"/>
          </a:ln>
        </p:spPr>
      </p:sp>
      <p:sp>
        <p:nvSpPr>
          <p:cNvPr id="44" name="Shape 42"/>
          <p:cNvSpPr/>
          <p:nvPr/>
        </p:nvSpPr>
        <p:spPr>
          <a:xfrm>
            <a:off x="10329936" y="5934942"/>
            <a:ext cx="949000" cy="177556"/>
          </a:xfrm>
          <a:prstGeom prst="line">
            <a:avLst/>
          </a:prstGeom>
          <a:noFill/>
          <a:ln w="9525">
            <a:solidFill>
              <a:srgbClr val="2C3E5C"/>
            </a:solidFill>
            <a:prstDash val="solid"/>
          </a:ln>
        </p:spPr>
      </p:sp>
      <p:sp>
        <p:nvSpPr>
          <p:cNvPr id="45" name="Shape 43"/>
          <p:cNvSpPr/>
          <p:nvPr/>
        </p:nvSpPr>
        <p:spPr>
          <a:xfrm>
            <a:off x="11119945" y="4907024"/>
            <a:ext cx="158990" cy="1205474"/>
          </a:xfrm>
          <a:prstGeom prst="line">
            <a:avLst/>
          </a:prstGeom>
          <a:noFill/>
          <a:ln w="9525">
            <a:solidFill>
              <a:srgbClr val="2C3E5C"/>
            </a:solidFill>
            <a:prstDash val="solid"/>
          </a:ln>
        </p:spPr>
      </p:sp>
      <p:sp>
        <p:nvSpPr>
          <p:cNvPr id="46" name="Shape 44"/>
          <p:cNvSpPr/>
          <p:nvPr/>
        </p:nvSpPr>
        <p:spPr>
          <a:xfrm>
            <a:off x="7076555" y="469045"/>
            <a:ext cx="93594" cy="93594"/>
          </a:xfrm>
          <a:prstGeom prst="ellipse">
            <a:avLst/>
          </a:prstGeom>
          <a:solidFill>
            <a:srgbClr val="4B6388"/>
          </a:solidFill>
          <a:ln w="12700">
            <a:solidFill>
              <a:srgbClr val="4B6388"/>
            </a:solidFill>
            <a:prstDash val="solid"/>
          </a:ln>
        </p:spPr>
      </p:sp>
      <p:sp>
        <p:nvSpPr>
          <p:cNvPr id="47" name="Shape 45"/>
          <p:cNvSpPr/>
          <p:nvPr/>
        </p:nvSpPr>
        <p:spPr>
          <a:xfrm>
            <a:off x="7411467" y="864477"/>
            <a:ext cx="77914" cy="77914"/>
          </a:xfrm>
          <a:prstGeom prst="ellipse">
            <a:avLst/>
          </a:prstGeom>
          <a:solidFill>
            <a:srgbClr val="4B6388"/>
          </a:solidFill>
          <a:ln w="12700">
            <a:solidFill>
              <a:srgbClr val="4B6388"/>
            </a:solidFill>
            <a:prstDash val="solid"/>
          </a:ln>
        </p:spPr>
      </p:sp>
      <p:sp>
        <p:nvSpPr>
          <p:cNvPr id="48" name="Shape 46"/>
          <p:cNvSpPr/>
          <p:nvPr/>
        </p:nvSpPr>
        <p:spPr>
          <a:xfrm>
            <a:off x="9542380" y="798426"/>
            <a:ext cx="83174" cy="83174"/>
          </a:xfrm>
          <a:prstGeom prst="ellipse">
            <a:avLst/>
          </a:prstGeom>
          <a:solidFill>
            <a:srgbClr val="4B6388"/>
          </a:solidFill>
          <a:ln w="12700">
            <a:solidFill>
              <a:srgbClr val="4B6388"/>
            </a:solidFill>
            <a:prstDash val="solid"/>
          </a:ln>
        </p:spPr>
      </p:sp>
      <p:sp>
        <p:nvSpPr>
          <p:cNvPr id="49" name="Shape 47"/>
          <p:cNvSpPr/>
          <p:nvPr/>
        </p:nvSpPr>
        <p:spPr>
          <a:xfrm>
            <a:off x="10543806" y="591297"/>
            <a:ext cx="120055" cy="120055"/>
          </a:xfrm>
          <a:prstGeom prst="ellipse">
            <a:avLst/>
          </a:prstGeom>
          <a:solidFill>
            <a:srgbClr val="4B6388"/>
          </a:solidFill>
          <a:ln w="12700">
            <a:solidFill>
              <a:srgbClr val="4B6388"/>
            </a:solidFill>
            <a:prstDash val="solid"/>
          </a:ln>
        </p:spPr>
      </p:sp>
      <p:sp>
        <p:nvSpPr>
          <p:cNvPr id="50" name="Shape 48"/>
          <p:cNvSpPr/>
          <p:nvPr/>
        </p:nvSpPr>
        <p:spPr>
          <a:xfrm>
            <a:off x="11573161" y="1073832"/>
            <a:ext cx="65299" cy="65299"/>
          </a:xfrm>
          <a:prstGeom prst="ellipse">
            <a:avLst/>
          </a:prstGeom>
          <a:solidFill>
            <a:srgbClr val="4B6388"/>
          </a:solidFill>
          <a:ln w="12700">
            <a:solidFill>
              <a:srgbClr val="4B6388"/>
            </a:solidFill>
            <a:prstDash val="solid"/>
          </a:ln>
        </p:spPr>
      </p:sp>
      <p:sp>
        <p:nvSpPr>
          <p:cNvPr id="51" name="Shape 49"/>
          <p:cNvSpPr/>
          <p:nvPr/>
        </p:nvSpPr>
        <p:spPr>
          <a:xfrm>
            <a:off x="6522696" y="1731935"/>
            <a:ext cx="84220" cy="84220"/>
          </a:xfrm>
          <a:prstGeom prst="ellipse">
            <a:avLst/>
          </a:prstGeom>
          <a:solidFill>
            <a:srgbClr val="4B6388"/>
          </a:solidFill>
          <a:ln w="12700">
            <a:solidFill>
              <a:srgbClr val="4B6388"/>
            </a:solidFill>
            <a:prstDash val="solid"/>
          </a:ln>
        </p:spPr>
      </p:sp>
      <p:sp>
        <p:nvSpPr>
          <p:cNvPr id="52" name="Shape 50"/>
          <p:cNvSpPr/>
          <p:nvPr/>
        </p:nvSpPr>
        <p:spPr>
          <a:xfrm>
            <a:off x="7351310" y="1652612"/>
            <a:ext cx="68980" cy="68980"/>
          </a:xfrm>
          <a:prstGeom prst="ellipse">
            <a:avLst/>
          </a:prstGeom>
          <a:solidFill>
            <a:srgbClr val="4B6388"/>
          </a:solidFill>
          <a:ln w="12700">
            <a:solidFill>
              <a:srgbClr val="4B6388"/>
            </a:solidFill>
            <a:prstDash val="solid"/>
          </a:ln>
        </p:spPr>
      </p:sp>
      <p:sp>
        <p:nvSpPr>
          <p:cNvPr id="53" name="Shape 51"/>
          <p:cNvSpPr/>
          <p:nvPr/>
        </p:nvSpPr>
        <p:spPr>
          <a:xfrm>
            <a:off x="9306142" y="1844017"/>
            <a:ext cx="71392" cy="71392"/>
          </a:xfrm>
          <a:prstGeom prst="ellipse">
            <a:avLst/>
          </a:prstGeom>
          <a:solidFill>
            <a:srgbClr val="4B6388"/>
          </a:solidFill>
          <a:ln w="12700">
            <a:solidFill>
              <a:srgbClr val="4B6388"/>
            </a:solidFill>
            <a:prstDash val="solid"/>
          </a:ln>
        </p:spPr>
      </p:sp>
      <p:sp>
        <p:nvSpPr>
          <p:cNvPr id="54" name="Shape 52"/>
          <p:cNvSpPr/>
          <p:nvPr/>
        </p:nvSpPr>
        <p:spPr>
          <a:xfrm>
            <a:off x="10471387" y="1648056"/>
            <a:ext cx="77412" cy="77412"/>
          </a:xfrm>
          <a:prstGeom prst="ellipse">
            <a:avLst/>
          </a:prstGeom>
          <a:solidFill>
            <a:srgbClr val="4B6388"/>
          </a:solidFill>
          <a:ln w="12700">
            <a:solidFill>
              <a:srgbClr val="4B6388"/>
            </a:solidFill>
            <a:prstDash val="solid"/>
          </a:ln>
        </p:spPr>
      </p:sp>
      <p:sp>
        <p:nvSpPr>
          <p:cNvPr id="55" name="Shape 53"/>
          <p:cNvSpPr/>
          <p:nvPr/>
        </p:nvSpPr>
        <p:spPr>
          <a:xfrm>
            <a:off x="11418611" y="1388107"/>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555771" y="1525267"/>
            <a:ext cx="164592" cy="164592"/>
          </a:xfrm>
          <a:prstGeom prst="ellipse">
            <a:avLst/>
          </a:prstGeom>
          <a:solidFill>
            <a:srgbClr val="E0533A"/>
          </a:solidFill>
          <a:ln w="12700">
            <a:solidFill>
              <a:srgbClr val="E0533A"/>
            </a:solidFill>
            <a:prstDash val="solid"/>
          </a:ln>
        </p:spPr>
      </p:sp>
      <p:sp>
        <p:nvSpPr>
          <p:cNvPr id="57" name="Shape 55"/>
          <p:cNvSpPr/>
          <p:nvPr/>
        </p:nvSpPr>
        <p:spPr>
          <a:xfrm>
            <a:off x="6731020" y="2262176"/>
            <a:ext cx="98098" cy="98098"/>
          </a:xfrm>
          <a:prstGeom prst="ellipse">
            <a:avLst/>
          </a:prstGeom>
          <a:solidFill>
            <a:srgbClr val="4B6388"/>
          </a:solidFill>
          <a:ln w="12700">
            <a:solidFill>
              <a:srgbClr val="4B6388"/>
            </a:solidFill>
            <a:prstDash val="solid"/>
          </a:ln>
        </p:spPr>
      </p:sp>
      <p:sp>
        <p:nvSpPr>
          <p:cNvPr id="58" name="Shape 56"/>
          <p:cNvSpPr/>
          <p:nvPr/>
        </p:nvSpPr>
        <p:spPr>
          <a:xfrm>
            <a:off x="7923238" y="2263612"/>
            <a:ext cx="93446" cy="93446"/>
          </a:xfrm>
          <a:prstGeom prst="ellipse">
            <a:avLst/>
          </a:prstGeom>
          <a:solidFill>
            <a:srgbClr val="4B6388"/>
          </a:solidFill>
          <a:ln w="12700">
            <a:solidFill>
              <a:srgbClr val="4B6388"/>
            </a:solidFill>
            <a:prstDash val="solid"/>
          </a:ln>
        </p:spPr>
      </p:sp>
      <p:sp>
        <p:nvSpPr>
          <p:cNvPr id="59" name="Shape 57"/>
          <p:cNvSpPr/>
          <p:nvPr/>
        </p:nvSpPr>
        <p:spPr>
          <a:xfrm>
            <a:off x="8595515" y="2670203"/>
            <a:ext cx="64730" cy="64730"/>
          </a:xfrm>
          <a:prstGeom prst="ellipse">
            <a:avLst/>
          </a:prstGeom>
          <a:solidFill>
            <a:srgbClr val="4B6388"/>
          </a:solidFill>
          <a:ln w="12700">
            <a:solidFill>
              <a:srgbClr val="4B6388"/>
            </a:solidFill>
            <a:prstDash val="solid"/>
          </a:ln>
        </p:spPr>
      </p:sp>
      <p:sp>
        <p:nvSpPr>
          <p:cNvPr id="60" name="Shape 58"/>
          <p:cNvSpPr/>
          <p:nvPr/>
        </p:nvSpPr>
        <p:spPr>
          <a:xfrm>
            <a:off x="9700642" y="2304388"/>
            <a:ext cx="79647" cy="79647"/>
          </a:xfrm>
          <a:prstGeom prst="ellipse">
            <a:avLst/>
          </a:prstGeom>
          <a:solidFill>
            <a:srgbClr val="4B6388"/>
          </a:solidFill>
          <a:ln w="12700">
            <a:solidFill>
              <a:srgbClr val="4B6388"/>
            </a:solidFill>
            <a:prstDash val="solid"/>
          </a:ln>
        </p:spPr>
      </p:sp>
      <p:sp>
        <p:nvSpPr>
          <p:cNvPr id="61" name="Shape 59"/>
          <p:cNvSpPr/>
          <p:nvPr/>
        </p:nvSpPr>
        <p:spPr>
          <a:xfrm>
            <a:off x="10470815" y="2195737"/>
            <a:ext cx="83297" cy="83297"/>
          </a:xfrm>
          <a:prstGeom prst="ellipse">
            <a:avLst/>
          </a:prstGeom>
          <a:solidFill>
            <a:srgbClr val="4B6388"/>
          </a:solidFill>
          <a:ln w="12700">
            <a:solidFill>
              <a:srgbClr val="4B6388"/>
            </a:solidFill>
            <a:prstDash val="solid"/>
          </a:ln>
        </p:spPr>
      </p:sp>
      <p:sp>
        <p:nvSpPr>
          <p:cNvPr id="62" name="Shape 60"/>
          <p:cNvSpPr/>
          <p:nvPr/>
        </p:nvSpPr>
        <p:spPr>
          <a:xfrm>
            <a:off x="11609655" y="2802571"/>
            <a:ext cx="85963" cy="85963"/>
          </a:xfrm>
          <a:prstGeom prst="ellipse">
            <a:avLst/>
          </a:prstGeom>
          <a:solidFill>
            <a:srgbClr val="4B6388"/>
          </a:solidFill>
          <a:ln w="12700">
            <a:solidFill>
              <a:srgbClr val="4B6388"/>
            </a:solidFill>
            <a:prstDash val="solid"/>
          </a:ln>
        </p:spPr>
      </p:sp>
      <p:sp>
        <p:nvSpPr>
          <p:cNvPr id="63" name="Shape 61"/>
          <p:cNvSpPr/>
          <p:nvPr/>
        </p:nvSpPr>
        <p:spPr>
          <a:xfrm>
            <a:off x="7477392" y="3645391"/>
            <a:ext cx="106400" cy="106400"/>
          </a:xfrm>
          <a:prstGeom prst="ellipse">
            <a:avLst/>
          </a:prstGeom>
          <a:solidFill>
            <a:srgbClr val="4B6388"/>
          </a:solidFill>
          <a:ln w="12700">
            <a:solidFill>
              <a:srgbClr val="4B6388"/>
            </a:solidFill>
            <a:prstDash val="solid"/>
          </a:ln>
        </p:spPr>
      </p:sp>
      <p:sp>
        <p:nvSpPr>
          <p:cNvPr id="64" name="Shape 62"/>
          <p:cNvSpPr/>
          <p:nvPr/>
        </p:nvSpPr>
        <p:spPr>
          <a:xfrm>
            <a:off x="8477400" y="3592454"/>
            <a:ext cx="68817" cy="68817"/>
          </a:xfrm>
          <a:prstGeom prst="ellipse">
            <a:avLst/>
          </a:prstGeom>
          <a:solidFill>
            <a:srgbClr val="4B6388"/>
          </a:solidFill>
          <a:ln w="12700">
            <a:solidFill>
              <a:srgbClr val="4B6388"/>
            </a:solidFill>
            <a:prstDash val="solid"/>
          </a:ln>
        </p:spPr>
      </p:sp>
      <p:sp>
        <p:nvSpPr>
          <p:cNvPr id="65" name="Shape 63"/>
          <p:cNvSpPr/>
          <p:nvPr/>
        </p:nvSpPr>
        <p:spPr>
          <a:xfrm>
            <a:off x="9436243" y="3256957"/>
            <a:ext cx="81814" cy="81814"/>
          </a:xfrm>
          <a:prstGeom prst="ellipse">
            <a:avLst/>
          </a:prstGeom>
          <a:solidFill>
            <a:srgbClr val="4B6388"/>
          </a:solidFill>
          <a:ln w="12700">
            <a:solidFill>
              <a:srgbClr val="4B6388"/>
            </a:solidFill>
            <a:prstDash val="solid"/>
          </a:ln>
        </p:spPr>
      </p:sp>
      <p:sp>
        <p:nvSpPr>
          <p:cNvPr id="66" name="Shape 64"/>
          <p:cNvSpPr/>
          <p:nvPr/>
        </p:nvSpPr>
        <p:spPr>
          <a:xfrm>
            <a:off x="10686970" y="3454863"/>
            <a:ext cx="110595" cy="110595"/>
          </a:xfrm>
          <a:prstGeom prst="ellipse">
            <a:avLst/>
          </a:prstGeom>
          <a:solidFill>
            <a:srgbClr val="4B6388"/>
          </a:solidFill>
          <a:ln w="12700">
            <a:solidFill>
              <a:srgbClr val="4B6388"/>
            </a:solidFill>
            <a:prstDash val="solid"/>
          </a:ln>
        </p:spPr>
      </p:sp>
      <p:sp>
        <p:nvSpPr>
          <p:cNvPr id="67" name="Shape 65"/>
          <p:cNvSpPr/>
          <p:nvPr/>
        </p:nvSpPr>
        <p:spPr>
          <a:xfrm>
            <a:off x="10798733" y="2921035"/>
            <a:ext cx="438912" cy="438912"/>
          </a:xfrm>
          <a:prstGeom prst="ellipse">
            <a:avLst/>
          </a:prstGeom>
          <a:solidFill>
            <a:srgbClr val="E0533A">
              <a:alpha val="20000"/>
            </a:srgbClr>
          </a:solidFill>
          <a:ln w="12700">
            <a:solidFill>
              <a:srgbClr val="E0533A">
                <a:alpha val="20000"/>
              </a:srgbClr>
            </a:solidFill>
            <a:prstDash val="solid"/>
          </a:ln>
        </p:spPr>
      </p:sp>
      <p:sp>
        <p:nvSpPr>
          <p:cNvPr id="68" name="Shape 66"/>
          <p:cNvSpPr/>
          <p:nvPr/>
        </p:nvSpPr>
        <p:spPr>
          <a:xfrm>
            <a:off x="10935893" y="3058195"/>
            <a:ext cx="164592" cy="164592"/>
          </a:xfrm>
          <a:prstGeom prst="ellipse">
            <a:avLst/>
          </a:prstGeom>
          <a:solidFill>
            <a:srgbClr val="E0533A"/>
          </a:solidFill>
          <a:ln w="12700">
            <a:solidFill>
              <a:srgbClr val="E0533A"/>
            </a:solidFill>
            <a:prstDash val="solid"/>
          </a:ln>
        </p:spPr>
      </p:sp>
      <p:sp>
        <p:nvSpPr>
          <p:cNvPr id="69" name="Shape 67"/>
          <p:cNvSpPr/>
          <p:nvPr/>
        </p:nvSpPr>
        <p:spPr>
          <a:xfrm>
            <a:off x="6706261" y="4137647"/>
            <a:ext cx="83443" cy="83443"/>
          </a:xfrm>
          <a:prstGeom prst="ellipse">
            <a:avLst/>
          </a:prstGeom>
          <a:solidFill>
            <a:srgbClr val="4B6388"/>
          </a:solidFill>
          <a:ln w="12700">
            <a:solidFill>
              <a:srgbClr val="4B6388"/>
            </a:solidFill>
            <a:prstDash val="solid"/>
          </a:ln>
        </p:spPr>
      </p:sp>
      <p:sp>
        <p:nvSpPr>
          <p:cNvPr id="70" name="Shape 68"/>
          <p:cNvSpPr/>
          <p:nvPr/>
        </p:nvSpPr>
        <p:spPr>
          <a:xfrm>
            <a:off x="7850410" y="4537839"/>
            <a:ext cx="70552" cy="70552"/>
          </a:xfrm>
          <a:prstGeom prst="ellipse">
            <a:avLst/>
          </a:prstGeom>
          <a:solidFill>
            <a:srgbClr val="4B6388"/>
          </a:solidFill>
          <a:ln w="12700">
            <a:solidFill>
              <a:srgbClr val="4B6388"/>
            </a:solidFill>
            <a:prstDash val="solid"/>
          </a:ln>
        </p:spPr>
      </p:sp>
      <p:sp>
        <p:nvSpPr>
          <p:cNvPr id="71" name="Shape 69"/>
          <p:cNvSpPr/>
          <p:nvPr/>
        </p:nvSpPr>
        <p:spPr>
          <a:xfrm>
            <a:off x="8524277" y="3979908"/>
            <a:ext cx="91904" cy="91904"/>
          </a:xfrm>
          <a:prstGeom prst="ellipse">
            <a:avLst/>
          </a:prstGeom>
          <a:solidFill>
            <a:srgbClr val="4B6388"/>
          </a:solidFill>
          <a:ln w="12700">
            <a:solidFill>
              <a:srgbClr val="4B6388"/>
            </a:solidFill>
            <a:prstDash val="solid"/>
          </a:ln>
        </p:spPr>
      </p:sp>
      <p:sp>
        <p:nvSpPr>
          <p:cNvPr id="72" name="Shape 70"/>
          <p:cNvSpPr/>
          <p:nvPr/>
        </p:nvSpPr>
        <p:spPr>
          <a:xfrm>
            <a:off x="9320427" y="4495956"/>
            <a:ext cx="74405" cy="74405"/>
          </a:xfrm>
          <a:prstGeom prst="ellipse">
            <a:avLst/>
          </a:prstGeom>
          <a:solidFill>
            <a:srgbClr val="4B6388"/>
          </a:solidFill>
          <a:ln w="12700">
            <a:solidFill>
              <a:srgbClr val="4B6388"/>
            </a:solidFill>
            <a:prstDash val="solid"/>
          </a:ln>
        </p:spPr>
      </p:sp>
      <p:sp>
        <p:nvSpPr>
          <p:cNvPr id="73" name="Shape 71"/>
          <p:cNvSpPr/>
          <p:nvPr/>
        </p:nvSpPr>
        <p:spPr>
          <a:xfrm>
            <a:off x="10169456" y="4156192"/>
            <a:ext cx="110069" cy="110069"/>
          </a:xfrm>
          <a:prstGeom prst="ellipse">
            <a:avLst/>
          </a:prstGeom>
          <a:solidFill>
            <a:srgbClr val="4B6388"/>
          </a:solidFill>
          <a:ln w="12700">
            <a:solidFill>
              <a:srgbClr val="4B6388"/>
            </a:solidFill>
            <a:prstDash val="solid"/>
          </a:ln>
        </p:spPr>
      </p:sp>
      <p:sp>
        <p:nvSpPr>
          <p:cNvPr id="74" name="Shape 72"/>
          <p:cNvSpPr/>
          <p:nvPr/>
        </p:nvSpPr>
        <p:spPr>
          <a:xfrm>
            <a:off x="6884619" y="4783573"/>
            <a:ext cx="65589" cy="65589"/>
          </a:xfrm>
          <a:prstGeom prst="ellipse">
            <a:avLst/>
          </a:prstGeom>
          <a:solidFill>
            <a:srgbClr val="4B6388"/>
          </a:solidFill>
          <a:ln w="12700">
            <a:solidFill>
              <a:srgbClr val="4B6388"/>
            </a:solidFill>
            <a:prstDash val="solid"/>
          </a:ln>
        </p:spPr>
      </p:sp>
      <p:sp>
        <p:nvSpPr>
          <p:cNvPr id="75" name="Shape 73"/>
          <p:cNvSpPr/>
          <p:nvPr/>
        </p:nvSpPr>
        <p:spPr>
          <a:xfrm>
            <a:off x="8440969" y="4900941"/>
            <a:ext cx="97152" cy="97152"/>
          </a:xfrm>
          <a:prstGeom prst="ellipse">
            <a:avLst/>
          </a:prstGeom>
          <a:solidFill>
            <a:srgbClr val="4B6388"/>
          </a:solidFill>
          <a:ln w="12700">
            <a:solidFill>
              <a:srgbClr val="4B6388"/>
            </a:solidFill>
            <a:prstDash val="solid"/>
          </a:ln>
        </p:spPr>
      </p:sp>
      <p:sp>
        <p:nvSpPr>
          <p:cNvPr id="76" name="Shape 74"/>
          <p:cNvSpPr/>
          <p:nvPr/>
        </p:nvSpPr>
        <p:spPr>
          <a:xfrm>
            <a:off x="9153731" y="5062048"/>
            <a:ext cx="116315" cy="116315"/>
          </a:xfrm>
          <a:prstGeom prst="ellipse">
            <a:avLst/>
          </a:prstGeom>
          <a:solidFill>
            <a:srgbClr val="4B6388"/>
          </a:solidFill>
          <a:ln w="12700">
            <a:solidFill>
              <a:srgbClr val="4B6388"/>
            </a:solidFill>
            <a:prstDash val="solid"/>
          </a:ln>
        </p:spPr>
      </p:sp>
      <p:sp>
        <p:nvSpPr>
          <p:cNvPr id="77" name="Shape 75"/>
          <p:cNvSpPr/>
          <p:nvPr/>
        </p:nvSpPr>
        <p:spPr>
          <a:xfrm>
            <a:off x="10544977" y="5028797"/>
            <a:ext cx="125757" cy="125757"/>
          </a:xfrm>
          <a:prstGeom prst="ellipse">
            <a:avLst/>
          </a:prstGeom>
          <a:solidFill>
            <a:srgbClr val="4B6388"/>
          </a:solidFill>
          <a:ln w="12700">
            <a:solidFill>
              <a:srgbClr val="4B6388"/>
            </a:solidFill>
            <a:prstDash val="solid"/>
          </a:ln>
        </p:spPr>
      </p:sp>
      <p:sp>
        <p:nvSpPr>
          <p:cNvPr id="78" name="Shape 76"/>
          <p:cNvSpPr/>
          <p:nvPr/>
        </p:nvSpPr>
        <p:spPr>
          <a:xfrm>
            <a:off x="11078302" y="4865381"/>
            <a:ext cx="83286" cy="83286"/>
          </a:xfrm>
          <a:prstGeom prst="ellipse">
            <a:avLst/>
          </a:prstGeom>
          <a:solidFill>
            <a:srgbClr val="4B6388"/>
          </a:solidFill>
          <a:ln w="12700">
            <a:solidFill>
              <a:srgbClr val="4B6388"/>
            </a:solidFill>
            <a:prstDash val="solid"/>
          </a:ln>
        </p:spPr>
      </p:sp>
      <p:sp>
        <p:nvSpPr>
          <p:cNvPr id="79" name="Shape 77"/>
          <p:cNvSpPr/>
          <p:nvPr/>
        </p:nvSpPr>
        <p:spPr>
          <a:xfrm>
            <a:off x="7645165" y="6192955"/>
            <a:ext cx="94559" cy="94559"/>
          </a:xfrm>
          <a:prstGeom prst="ellipse">
            <a:avLst/>
          </a:prstGeom>
          <a:solidFill>
            <a:srgbClr val="4B6388"/>
          </a:solidFill>
          <a:ln w="12700">
            <a:solidFill>
              <a:srgbClr val="4B6388"/>
            </a:solidFill>
            <a:prstDash val="solid"/>
          </a:ln>
        </p:spPr>
      </p:sp>
      <p:sp>
        <p:nvSpPr>
          <p:cNvPr id="80" name="Shape 78"/>
          <p:cNvSpPr/>
          <p:nvPr/>
        </p:nvSpPr>
        <p:spPr>
          <a:xfrm>
            <a:off x="9604663" y="6078927"/>
            <a:ext cx="110202" cy="110202"/>
          </a:xfrm>
          <a:prstGeom prst="ellipse">
            <a:avLst/>
          </a:prstGeom>
          <a:solidFill>
            <a:srgbClr val="4B6388"/>
          </a:solidFill>
          <a:ln w="12700">
            <a:solidFill>
              <a:srgbClr val="4B6388"/>
            </a:solidFill>
            <a:prstDash val="solid"/>
          </a:ln>
        </p:spPr>
      </p:sp>
      <p:sp>
        <p:nvSpPr>
          <p:cNvPr id="81" name="Shape 79"/>
          <p:cNvSpPr/>
          <p:nvPr/>
        </p:nvSpPr>
        <p:spPr>
          <a:xfrm>
            <a:off x="10274996" y="5880002"/>
            <a:ext cx="109880" cy="109880"/>
          </a:xfrm>
          <a:prstGeom prst="ellipse">
            <a:avLst/>
          </a:prstGeom>
          <a:solidFill>
            <a:srgbClr val="4B6388"/>
          </a:solidFill>
          <a:ln w="12700">
            <a:solidFill>
              <a:srgbClr val="4B6388"/>
            </a:solidFill>
            <a:prstDash val="solid"/>
          </a:ln>
        </p:spPr>
      </p:sp>
      <p:sp>
        <p:nvSpPr>
          <p:cNvPr id="82" name="Shape 80"/>
          <p:cNvSpPr/>
          <p:nvPr/>
        </p:nvSpPr>
        <p:spPr>
          <a:xfrm>
            <a:off x="11217191" y="6050753"/>
            <a:ext cx="123490" cy="123490"/>
          </a:xfrm>
          <a:prstGeom prst="ellipse">
            <a:avLst/>
          </a:prstGeom>
          <a:solidFill>
            <a:srgbClr val="4B6388"/>
          </a:solidFill>
          <a:ln w="12700">
            <a:solidFill>
              <a:srgbClr val="4B6388"/>
            </a:solidFill>
            <a:prstDash val="solid"/>
          </a:ln>
        </p:spPr>
      </p:sp>
      <p:sp>
        <p:nvSpPr>
          <p:cNvPr id="83" name="Text 81"/>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02</a:t>
            </a:r>
            <a:endParaRPr lang="en-US" sz="9600" dirty="0"/>
          </a:p>
        </p:txBody>
      </p:sp>
      <p:sp>
        <p:nvSpPr>
          <p:cNvPr id="84" name="Text 82"/>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Data &amp; method</a:t>
            </a:r>
            <a:endParaRPr lang="en-US" sz="4400" dirty="0"/>
          </a:p>
        </p:txBody>
      </p:sp>
      <p:sp>
        <p:nvSpPr>
          <p:cNvPr id="85" name="Text 83"/>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DAPT2020, the paper's pipeline and hybrid model, and a flaw in its evaluation protocol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DAPT2020: five days of a staged APT attack</a:t>
            </a:r>
            <a:endParaRPr lang="en-US" sz="3000" dirty="0"/>
          </a:p>
        </p:txBody>
      </p:sp>
      <p:sp>
        <p:nvSpPr>
          <p:cNvPr id="20" name="Text 18"/>
          <p:cNvSpPr txBox="1"/>
          <p:nvPr/>
        </p:nvSpPr>
        <p:spPr>
          <a:xfrm>
            <a:off x="685800" y="18745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86,691</a:t>
            </a:r>
            <a:endParaRPr lang="en-US" sz="3600" dirty="0"/>
          </a:p>
        </p:txBody>
      </p:sp>
      <p:sp>
        <p:nvSpPr>
          <p:cNvPr id="21" name="Text 19"/>
          <p:cNvSpPr txBox="1"/>
          <p:nvPr/>
        </p:nvSpPr>
        <p:spPr>
          <a:xfrm>
            <a:off x="685800" y="25603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labelled network flows</a:t>
            </a:r>
            <a:endParaRPr lang="en-US" sz="1300" dirty="0"/>
          </a:p>
        </p:txBody>
      </p:sp>
      <p:sp>
        <p:nvSpPr>
          <p:cNvPr id="22" name="Shape 20"/>
          <p:cNvSpPr/>
          <p:nvPr/>
        </p:nvSpPr>
        <p:spPr>
          <a:xfrm>
            <a:off x="685800" y="3044952"/>
            <a:ext cx="2834640" cy="914"/>
          </a:xfrm>
          <a:prstGeom prst="line">
            <a:avLst/>
          </a:prstGeom>
          <a:noFill/>
          <a:ln w="9525">
            <a:solidFill>
              <a:srgbClr val="E2E6EC"/>
            </a:solidFill>
            <a:prstDash val="solid"/>
          </a:ln>
        </p:spPr>
      </p:sp>
      <p:sp>
        <p:nvSpPr>
          <p:cNvPr id="23" name="Text 21"/>
          <p:cNvSpPr txBox="1"/>
          <p:nvPr/>
        </p:nvSpPr>
        <p:spPr>
          <a:xfrm>
            <a:off x="685800" y="32461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76</a:t>
            </a:r>
            <a:endParaRPr lang="en-US" sz="3600" dirty="0"/>
          </a:p>
        </p:txBody>
      </p:sp>
      <p:sp>
        <p:nvSpPr>
          <p:cNvPr id="24" name="Text 22"/>
          <p:cNvSpPr txBox="1"/>
          <p:nvPr/>
        </p:nvSpPr>
        <p:spPr>
          <a:xfrm>
            <a:off x="685800" y="39319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CICFlowMeter flow features</a:t>
            </a:r>
            <a:endParaRPr lang="en-US" sz="1300" dirty="0"/>
          </a:p>
        </p:txBody>
      </p:sp>
      <p:sp>
        <p:nvSpPr>
          <p:cNvPr id="25" name="Shape 23"/>
          <p:cNvSpPr/>
          <p:nvPr/>
        </p:nvSpPr>
        <p:spPr>
          <a:xfrm>
            <a:off x="685800" y="4416552"/>
            <a:ext cx="2834640" cy="914"/>
          </a:xfrm>
          <a:prstGeom prst="line">
            <a:avLst/>
          </a:prstGeom>
          <a:noFill/>
          <a:ln w="9525">
            <a:solidFill>
              <a:srgbClr val="E2E6EC"/>
            </a:solidFill>
            <a:prstDash val="solid"/>
          </a:ln>
        </p:spPr>
      </p:sp>
      <p:sp>
        <p:nvSpPr>
          <p:cNvPr id="26" name="Text 24"/>
          <p:cNvSpPr txBox="1"/>
          <p:nvPr/>
        </p:nvSpPr>
        <p:spPr>
          <a:xfrm>
            <a:off x="685800" y="46177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5 days</a:t>
            </a:r>
            <a:endParaRPr lang="en-US" sz="3600" dirty="0"/>
          </a:p>
        </p:txBody>
      </p:sp>
      <p:sp>
        <p:nvSpPr>
          <p:cNvPr id="27" name="Text 25"/>
          <p:cNvSpPr txBox="1"/>
          <p:nvPr/>
        </p:nvSpPr>
        <p:spPr>
          <a:xfrm>
            <a:off x="685800" y="53035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public web server +</a:t>
            </a:r>
            <a:endParaRPr lang="en-US" sz="1300" dirty="0"/>
          </a:p>
          <a:p>
            <a:pPr indent="0" marL="0">
              <a:buNone/>
            </a:pPr>
            <a:r>
              <a:rPr lang="en-US" sz="1300" dirty="0">
                <a:solidFill>
                  <a:srgbClr val="55606E"/>
                </a:solidFill>
                <a:latin typeface="Arial" pitchFamily="34" charset="0"/>
                <a:ea typeface="Arial" pitchFamily="34" charset="-122"/>
                <a:cs typeface="Arial" pitchFamily="34" charset="-120"/>
              </a:rPr>
              <a:t>private network</a:t>
            </a:r>
            <a:endParaRPr lang="en-US" sz="1300" dirty="0"/>
          </a:p>
        </p:txBody>
      </p:sp>
      <p:pic>
        <p:nvPicPr>
          <p:cNvPr id="28" name="Image 0" descr="/private/tmp/claude-501/-Users-ashishjain-Documents-RIS-Mid-Eval/4e14a31e-25f5-4016-81db-47057b986f0d/scratchpad/deck/charts/stage_counts.png">    </p:cNvPr>
          <p:cNvPicPr>
            <a:picLocks noChangeAspect="1"/>
          </p:cNvPicPr>
          <p:nvPr/>
        </p:nvPicPr>
        <p:blipFill>
          <a:blip r:embed="rId1"/>
          <a:stretch>
            <a:fillRect/>
          </a:stretch>
        </p:blipFill>
        <p:spPr>
          <a:xfrm>
            <a:off x="4005072" y="1783080"/>
            <a:ext cx="7498080" cy="4023360"/>
          </a:xfrm>
          <a:prstGeom prst="rect">
            <a:avLst/>
          </a:prstGeom>
        </p:spPr>
      </p:pic>
      <p:sp>
        <p:nvSpPr>
          <p:cNvPr id="29" name="Text 26"/>
          <p:cNvSpPr txBox="1"/>
          <p:nvPr/>
        </p:nvSpPr>
        <p:spPr>
          <a:xfrm>
            <a:off x="4206240" y="5897880"/>
            <a:ext cx="7223760" cy="274320"/>
          </a:xfrm>
          <a:prstGeom prst="rect">
            <a:avLst/>
          </a:prstGeom>
          <a:noFill/>
          <a:ln/>
        </p:spPr>
        <p:txBody>
          <a:bodyPr wrap="square" lIns="0" tIns="0" rIns="0" bIns="0" rtlCol="0" anchor="t"/>
          <a:lstStyle/>
          <a:p>
            <a:pPr indent="0" marL="0">
              <a:buNone/>
            </a:pPr>
            <a:r>
              <a:rPr lang="en-US" sz="1050" dirty="0">
                <a:solidFill>
                  <a:srgbClr val="8A94A3"/>
                </a:solidFill>
                <a:latin typeface="Arial" pitchFamily="34" charset="0"/>
                <a:ea typeface="Arial" pitchFamily="34" charset="-122"/>
                <a:cs typeface="Arial" pitchFamily="34" charset="-120"/>
              </a:rPr>
              <a:t>Grey: benign   ·   Blue: APT stages   ·   Red: data exfiltration, only 15 flows in the whole dataset</a:t>
            </a:r>
            <a:endParaRPr lang="en-US" sz="1050" dirty="0"/>
          </a:p>
        </p:txBody>
      </p:sp>
      <p:sp>
        <p:nvSpPr>
          <p:cNvPr id="30" name="Text 2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1" name="Text 2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Four data problems we found and fixed</a:t>
            </a:r>
            <a:endParaRPr lang="en-US" sz="3000" dirty="0"/>
          </a:p>
        </p:txBody>
      </p:sp>
      <p:sp>
        <p:nvSpPr>
          <p:cNvPr id="20" name="Shape 18"/>
          <p:cNvSpPr/>
          <p:nvPr/>
        </p:nvSpPr>
        <p:spPr>
          <a:xfrm>
            <a:off x="685800" y="1828800"/>
            <a:ext cx="2499284" cy="2926080"/>
          </a:xfrm>
          <a:prstGeom prst="roundRect">
            <a:avLst>
              <a:gd name="adj" fmla="val 2195"/>
            </a:avLst>
          </a:prstGeom>
          <a:solidFill>
            <a:srgbClr val="F4F6F9"/>
          </a:solidFill>
          <a:ln w="12700">
            <a:solidFill>
              <a:srgbClr val="F4F6F9"/>
            </a:solidFill>
            <a:prstDash val="solid"/>
          </a:ln>
        </p:spPr>
      </p:sp>
      <p:sp>
        <p:nvSpPr>
          <p:cNvPr id="21" name="Shape 19"/>
          <p:cNvSpPr/>
          <p:nvPr/>
        </p:nvSpPr>
        <p:spPr>
          <a:xfrm>
            <a:off x="1005840" y="2103120"/>
            <a:ext cx="502920" cy="50292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141628" y="2238908"/>
            <a:ext cx="231343" cy="231343"/>
          </a:xfrm>
          <a:prstGeom prst="rect">
            <a:avLst/>
          </a:prstGeom>
        </p:spPr>
      </p:pic>
      <p:sp>
        <p:nvSpPr>
          <p:cNvPr id="23" name="Text 20"/>
          <p:cNvSpPr txBox="1"/>
          <p:nvPr/>
        </p:nvSpPr>
        <p:spPr>
          <a:xfrm>
            <a:off x="1005840"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2,314</a:t>
            </a:r>
            <a:endParaRPr lang="en-US" sz="3400" dirty="0"/>
          </a:p>
        </p:txBody>
      </p:sp>
      <p:sp>
        <p:nvSpPr>
          <p:cNvPr id="24" name="Text 21"/>
          <p:cNvSpPr txBox="1"/>
          <p:nvPr/>
        </p:nvSpPr>
        <p:spPr>
          <a:xfrm>
            <a:off x="1005840"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flows recovered</a:t>
            </a:r>
            <a:endParaRPr lang="en-US" sz="1350" dirty="0"/>
          </a:p>
        </p:txBody>
      </p:sp>
      <p:sp>
        <p:nvSpPr>
          <p:cNvPr id="25" name="Text 22"/>
          <p:cNvSpPr txBox="1"/>
          <p:nvPr/>
        </p:nvSpPr>
        <p:spPr>
          <a:xfrm>
            <a:off x="1005840"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One CSV file has no header row; a naive loader drops 94% of Lateral Movement</a:t>
            </a:r>
            <a:endParaRPr lang="en-US" sz="1200" dirty="0"/>
          </a:p>
        </p:txBody>
      </p:sp>
      <p:sp>
        <p:nvSpPr>
          <p:cNvPr id="26" name="Shape 23"/>
          <p:cNvSpPr/>
          <p:nvPr/>
        </p:nvSpPr>
        <p:spPr>
          <a:xfrm>
            <a:off x="3459404" y="1828800"/>
            <a:ext cx="2499284" cy="2926080"/>
          </a:xfrm>
          <a:prstGeom prst="roundRect">
            <a:avLst>
              <a:gd name="adj" fmla="val 2195"/>
            </a:avLst>
          </a:prstGeom>
          <a:solidFill>
            <a:srgbClr val="F4F6F9"/>
          </a:solidFill>
          <a:ln w="12700">
            <a:solidFill>
              <a:srgbClr val="F4F6F9"/>
            </a:solidFill>
            <a:prstDash val="solid"/>
          </a:ln>
        </p:spPr>
      </p:sp>
      <p:sp>
        <p:nvSpPr>
          <p:cNvPr id="27" name="Shape 24"/>
          <p:cNvSpPr/>
          <p:nvPr/>
        </p:nvSpPr>
        <p:spPr>
          <a:xfrm>
            <a:off x="3779444" y="2103120"/>
            <a:ext cx="502920" cy="502920"/>
          </a:xfrm>
          <a:prstGeom prst="ellipse">
            <a:avLst/>
          </a:prstGeom>
          <a:solidFill>
            <a:srgbClr val="2A78D6"/>
          </a:solidFill>
          <a:ln w="12700">
            <a:solidFill>
              <a:srgbClr val="2A78D6"/>
            </a:solidFill>
            <a:prstDash val="solid"/>
          </a:ln>
        </p:spPr>
      </p:sp>
      <p:pic>
        <p:nvPicPr>
          <p:cNvPr id="28" name="Image 1" descr="preencoded.png">    </p:cNvPr>
          <p:cNvPicPr>
            <a:picLocks noChangeAspect="1"/>
          </p:cNvPicPr>
          <p:nvPr/>
        </p:nvPicPr>
        <p:blipFill>
          <a:blip r:embed="rId2"/>
          <a:stretch>
            <a:fillRect/>
          </a:stretch>
        </p:blipFill>
        <p:spPr>
          <a:xfrm>
            <a:off x="3915232" y="2238908"/>
            <a:ext cx="231343" cy="231343"/>
          </a:xfrm>
          <a:prstGeom prst="rect">
            <a:avLst/>
          </a:prstGeom>
        </p:spPr>
      </p:pic>
      <p:sp>
        <p:nvSpPr>
          <p:cNvPr id="29" name="Text 25"/>
          <p:cNvSpPr txBox="1"/>
          <p:nvPr/>
        </p:nvSpPr>
        <p:spPr>
          <a:xfrm>
            <a:off x="3779444"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3 → 1</a:t>
            </a:r>
            <a:endParaRPr lang="en-US" sz="3400" dirty="0"/>
          </a:p>
        </p:txBody>
      </p:sp>
      <p:sp>
        <p:nvSpPr>
          <p:cNvPr id="30" name="Text 26"/>
          <p:cNvSpPr txBox="1"/>
          <p:nvPr/>
        </p:nvSpPr>
        <p:spPr>
          <a:xfrm>
            <a:off x="3779444"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benign labels unified</a:t>
            </a:r>
            <a:endParaRPr lang="en-US" sz="1350" dirty="0"/>
          </a:p>
        </p:txBody>
      </p:sp>
      <p:sp>
        <p:nvSpPr>
          <p:cNvPr id="31" name="Text 27"/>
          <p:cNvSpPr txBox="1"/>
          <p:nvPr/>
        </p:nvSpPr>
        <p:spPr>
          <a:xfrm>
            <a:off x="3779444"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BENIGN, Benign and Normal all mean normal traffic</a:t>
            </a:r>
            <a:endParaRPr lang="en-US" sz="1200" dirty="0"/>
          </a:p>
        </p:txBody>
      </p:sp>
      <p:sp>
        <p:nvSpPr>
          <p:cNvPr id="32" name="Shape 28"/>
          <p:cNvSpPr/>
          <p:nvPr/>
        </p:nvSpPr>
        <p:spPr>
          <a:xfrm>
            <a:off x="6233008" y="1828800"/>
            <a:ext cx="2499284" cy="2926080"/>
          </a:xfrm>
          <a:prstGeom prst="roundRect">
            <a:avLst>
              <a:gd name="adj" fmla="val 2195"/>
            </a:avLst>
          </a:prstGeom>
          <a:solidFill>
            <a:srgbClr val="F4F6F9"/>
          </a:solidFill>
          <a:ln w="12700">
            <a:solidFill>
              <a:srgbClr val="F4F6F9"/>
            </a:solidFill>
            <a:prstDash val="solid"/>
          </a:ln>
        </p:spPr>
      </p:sp>
      <p:sp>
        <p:nvSpPr>
          <p:cNvPr id="33" name="Shape 29"/>
          <p:cNvSpPr/>
          <p:nvPr/>
        </p:nvSpPr>
        <p:spPr>
          <a:xfrm>
            <a:off x="6553048" y="2103120"/>
            <a:ext cx="502920" cy="502920"/>
          </a:xfrm>
          <a:prstGeom prst="ellipse">
            <a:avLst/>
          </a:prstGeom>
          <a:solidFill>
            <a:srgbClr val="2A78D6"/>
          </a:solidFill>
          <a:ln w="12700">
            <a:solidFill>
              <a:srgbClr val="2A78D6"/>
            </a:solidFill>
            <a:prstDash val="solid"/>
          </a:ln>
        </p:spPr>
      </p:sp>
      <p:pic>
        <p:nvPicPr>
          <p:cNvPr id="34" name="Image 2" descr="preencoded.png">    </p:cNvPr>
          <p:cNvPicPr>
            <a:picLocks noChangeAspect="1"/>
          </p:cNvPicPr>
          <p:nvPr/>
        </p:nvPicPr>
        <p:blipFill>
          <a:blip r:embed="rId3"/>
          <a:stretch>
            <a:fillRect/>
          </a:stretch>
        </p:blipFill>
        <p:spPr>
          <a:xfrm>
            <a:off x="6688836" y="2238908"/>
            <a:ext cx="231343" cy="231343"/>
          </a:xfrm>
          <a:prstGeom prst="rect">
            <a:avLst/>
          </a:prstGeom>
        </p:spPr>
      </p:pic>
      <p:sp>
        <p:nvSpPr>
          <p:cNvPr id="35" name="Text 30"/>
          <p:cNvSpPr txBox="1"/>
          <p:nvPr/>
        </p:nvSpPr>
        <p:spPr>
          <a:xfrm>
            <a:off x="6553048"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5,257</a:t>
            </a:r>
            <a:endParaRPr lang="en-US" sz="3400" dirty="0"/>
          </a:p>
        </p:txBody>
      </p:sp>
      <p:sp>
        <p:nvSpPr>
          <p:cNvPr id="36" name="Text 31"/>
          <p:cNvSpPr txBox="1"/>
          <p:nvPr/>
        </p:nvSpPr>
        <p:spPr>
          <a:xfrm>
            <a:off x="6553048"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duplicate flows removed</a:t>
            </a:r>
            <a:endParaRPr lang="en-US" sz="1350" dirty="0"/>
          </a:p>
        </p:txBody>
      </p:sp>
      <p:sp>
        <p:nvSpPr>
          <p:cNvPr id="37" name="Text 32"/>
          <p:cNvSpPr txBox="1"/>
          <p:nvPr/>
        </p:nvSpPr>
        <p:spPr>
          <a:xfrm>
            <a:off x="6553048"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Plus 12 constant columns, as the paper prescribes</a:t>
            </a:r>
            <a:endParaRPr lang="en-US" sz="1200" dirty="0"/>
          </a:p>
        </p:txBody>
      </p:sp>
      <p:sp>
        <p:nvSpPr>
          <p:cNvPr id="38" name="Shape 33"/>
          <p:cNvSpPr/>
          <p:nvPr/>
        </p:nvSpPr>
        <p:spPr>
          <a:xfrm>
            <a:off x="9006611" y="1828800"/>
            <a:ext cx="2499284" cy="2926080"/>
          </a:xfrm>
          <a:prstGeom prst="roundRect">
            <a:avLst>
              <a:gd name="adj" fmla="val 2195"/>
            </a:avLst>
          </a:prstGeom>
          <a:solidFill>
            <a:srgbClr val="F4F6F9"/>
          </a:solidFill>
          <a:ln w="12700">
            <a:solidFill>
              <a:srgbClr val="F4F6F9"/>
            </a:solidFill>
            <a:prstDash val="solid"/>
          </a:ln>
        </p:spPr>
      </p:sp>
      <p:sp>
        <p:nvSpPr>
          <p:cNvPr id="39" name="Shape 34"/>
          <p:cNvSpPr/>
          <p:nvPr/>
        </p:nvSpPr>
        <p:spPr>
          <a:xfrm>
            <a:off x="9326651" y="2103120"/>
            <a:ext cx="502920" cy="502920"/>
          </a:xfrm>
          <a:prstGeom prst="ellipse">
            <a:avLst/>
          </a:prstGeom>
          <a:solidFill>
            <a:srgbClr val="E0533A"/>
          </a:solidFill>
          <a:ln w="12700">
            <a:solidFill>
              <a:srgbClr val="E0533A"/>
            </a:solidFill>
            <a:prstDash val="solid"/>
          </a:ln>
        </p:spPr>
      </p:sp>
      <p:pic>
        <p:nvPicPr>
          <p:cNvPr id="40" name="Image 3" descr="preencoded.png">    </p:cNvPr>
          <p:cNvPicPr>
            <a:picLocks noChangeAspect="1"/>
          </p:cNvPicPr>
          <p:nvPr/>
        </p:nvPicPr>
        <p:blipFill>
          <a:blip r:embed="rId4"/>
          <a:stretch>
            <a:fillRect/>
          </a:stretch>
        </p:blipFill>
        <p:spPr>
          <a:xfrm>
            <a:off x="9462440" y="2238908"/>
            <a:ext cx="231343" cy="231343"/>
          </a:xfrm>
          <a:prstGeom prst="rect">
            <a:avLst/>
          </a:prstGeom>
        </p:spPr>
      </p:pic>
      <p:sp>
        <p:nvSpPr>
          <p:cNvPr id="41" name="Text 35"/>
          <p:cNvSpPr txBox="1"/>
          <p:nvPr/>
        </p:nvSpPr>
        <p:spPr>
          <a:xfrm>
            <a:off x="9326651"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15</a:t>
            </a:r>
            <a:endParaRPr lang="en-US" sz="3400" dirty="0"/>
          </a:p>
        </p:txBody>
      </p:sp>
      <p:sp>
        <p:nvSpPr>
          <p:cNvPr id="42" name="Text 36"/>
          <p:cNvSpPr txBox="1"/>
          <p:nvPr/>
        </p:nvSpPr>
        <p:spPr>
          <a:xfrm>
            <a:off x="9326651"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exfiltration flows</a:t>
            </a:r>
            <a:endParaRPr lang="en-US" sz="1350" dirty="0"/>
          </a:p>
        </p:txBody>
      </p:sp>
      <p:sp>
        <p:nvSpPr>
          <p:cNvPr id="43" name="Text 37"/>
          <p:cNvSpPr txBox="1"/>
          <p:nvPr/>
        </p:nvSpPr>
        <p:spPr>
          <a:xfrm>
            <a:off x="9326651"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The most critical APT stage is barely represented</a:t>
            </a:r>
            <a:endParaRPr lang="en-US" sz="1200" dirty="0"/>
          </a:p>
        </p:txBody>
      </p:sp>
      <p:sp>
        <p:nvSpPr>
          <p:cNvPr id="44" name="Shape 38"/>
          <p:cNvSpPr/>
          <p:nvPr/>
        </p:nvSpPr>
        <p:spPr>
          <a:xfrm>
            <a:off x="685800" y="5074920"/>
            <a:ext cx="10820095" cy="685800"/>
          </a:xfrm>
          <a:prstGeom prst="roundRect">
            <a:avLst>
              <a:gd name="adj" fmla="val 8000"/>
            </a:avLst>
          </a:prstGeom>
          <a:solidFill>
            <a:srgbClr val="E7F4ED"/>
          </a:solidFill>
          <a:ln w="12700">
            <a:solidFill>
              <a:srgbClr val="E7F4ED"/>
            </a:solidFill>
            <a:prstDash val="solid"/>
          </a:ln>
        </p:spPr>
      </p:sp>
      <p:pic>
        <p:nvPicPr>
          <p:cNvPr id="45" name="Image 4" descr="preencoded.png">    </p:cNvPr>
          <p:cNvPicPr>
            <a:picLocks noChangeAspect="1"/>
          </p:cNvPicPr>
          <p:nvPr/>
        </p:nvPicPr>
        <p:blipFill>
          <a:blip r:embed="rId5"/>
          <a:stretch>
            <a:fillRect/>
          </a:stretch>
        </p:blipFill>
        <p:spPr>
          <a:xfrm>
            <a:off x="960120" y="5248656"/>
            <a:ext cx="338328" cy="338328"/>
          </a:xfrm>
          <a:prstGeom prst="rect">
            <a:avLst/>
          </a:prstGeom>
        </p:spPr>
      </p:pic>
      <p:sp>
        <p:nvSpPr>
          <p:cNvPr id="46" name="Text 39"/>
          <p:cNvSpPr txBox="1"/>
          <p:nvPr/>
        </p:nvSpPr>
        <p:spPr>
          <a:xfrm>
            <a:off x="1463040" y="5074920"/>
            <a:ext cx="9814255" cy="68580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Sanity check: </a:t>
            </a:r>
            <a:pPr indent="0" marL="0">
              <a:buNone/>
            </a:pPr>
            <a:r>
              <a:rPr lang="en-US" sz="1350" dirty="0">
                <a:solidFill>
                  <a:srgbClr val="0F1B2D"/>
                </a:solidFill>
                <a:latin typeface="Arial" pitchFamily="34" charset="0"/>
                <a:ea typeface="Arial" pitchFamily="34" charset="-122"/>
                <a:cs typeface="Arial" pitchFamily="34" charset="-120"/>
              </a:rPr>
              <a:t>after the fix, benign = 63,712 flows, exactly the figure reported for DAPT2020.</a:t>
            </a:r>
            <a:endParaRPr lang="en-US" sz="135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We implemented the paper's pipeline step by step</a:t>
            </a:r>
            <a:endParaRPr lang="en-US" sz="3000" dirty="0"/>
          </a:p>
        </p:txBody>
      </p:sp>
      <p:sp>
        <p:nvSpPr>
          <p:cNvPr id="20" name="Shape 18"/>
          <p:cNvSpPr/>
          <p:nvPr/>
        </p:nvSpPr>
        <p:spPr>
          <a:xfrm>
            <a:off x="1587475" y="2514600"/>
            <a:ext cx="9016746" cy="914"/>
          </a:xfrm>
          <a:prstGeom prst="line">
            <a:avLst/>
          </a:prstGeom>
          <a:noFill/>
          <a:ln w="19050">
            <a:solidFill>
              <a:srgbClr val="E2E6EC"/>
            </a:solidFill>
            <a:prstDash val="solid"/>
          </a:ln>
        </p:spPr>
      </p:sp>
      <p:sp>
        <p:nvSpPr>
          <p:cNvPr id="21" name="Shape 19"/>
          <p:cNvSpPr/>
          <p:nvPr/>
        </p:nvSpPr>
        <p:spPr>
          <a:xfrm>
            <a:off x="1153135" y="2080260"/>
            <a:ext cx="868680" cy="868680"/>
          </a:xfrm>
          <a:prstGeom prst="ellipse">
            <a:avLst/>
          </a:prstGeom>
          <a:solidFill>
            <a:srgbClr val="0B1526"/>
          </a:solidFill>
          <a:ln w="12700">
            <a:solidFill>
              <a:srgbClr val="0B1526"/>
            </a:solidFill>
            <a:prstDash val="solid"/>
          </a:ln>
        </p:spPr>
      </p:sp>
      <p:pic>
        <p:nvPicPr>
          <p:cNvPr id="22" name="Image 0" descr="preencoded.png">    </p:cNvPr>
          <p:cNvPicPr>
            <a:picLocks noChangeAspect="1"/>
          </p:cNvPicPr>
          <p:nvPr/>
        </p:nvPicPr>
        <p:blipFill>
          <a:blip r:embed="rId1"/>
          <a:stretch>
            <a:fillRect/>
          </a:stretch>
        </p:blipFill>
        <p:spPr>
          <a:xfrm>
            <a:off x="1387678" y="2314804"/>
            <a:ext cx="399593" cy="399593"/>
          </a:xfrm>
          <a:prstGeom prst="rect">
            <a:avLst/>
          </a:prstGeom>
        </p:spPr>
      </p:pic>
      <p:sp>
        <p:nvSpPr>
          <p:cNvPr id="23" name="Text 20"/>
          <p:cNvSpPr txBox="1"/>
          <p:nvPr/>
        </p:nvSpPr>
        <p:spPr>
          <a:xfrm>
            <a:off x="764515"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01</a:t>
            </a:r>
            <a:endParaRPr lang="en-US" sz="1050" dirty="0"/>
          </a:p>
        </p:txBody>
      </p:sp>
      <p:sp>
        <p:nvSpPr>
          <p:cNvPr id="24" name="Text 21"/>
          <p:cNvSpPr txBox="1"/>
          <p:nvPr/>
        </p:nvSpPr>
        <p:spPr>
          <a:xfrm>
            <a:off x="764515"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Clean</a:t>
            </a:r>
            <a:endParaRPr lang="en-US" sz="1600" dirty="0"/>
          </a:p>
        </p:txBody>
      </p:sp>
      <p:sp>
        <p:nvSpPr>
          <p:cNvPr id="25" name="Text 22"/>
          <p:cNvSpPr txBox="1"/>
          <p:nvPr/>
        </p:nvSpPr>
        <p:spPr>
          <a:xfrm>
            <a:off x="764515"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Drop IP, port and time identifiers; remove NaN, duplicates, constants</a:t>
            </a:r>
            <a:endParaRPr lang="en-US" sz="1200" dirty="0"/>
          </a:p>
        </p:txBody>
      </p:sp>
      <p:sp>
        <p:nvSpPr>
          <p:cNvPr id="26" name="Shape 23"/>
          <p:cNvSpPr/>
          <p:nvPr/>
        </p:nvSpPr>
        <p:spPr>
          <a:xfrm>
            <a:off x="2956484" y="2080260"/>
            <a:ext cx="868680" cy="868680"/>
          </a:xfrm>
          <a:prstGeom prst="ellipse">
            <a:avLst/>
          </a:prstGeom>
          <a:solidFill>
            <a:srgbClr val="E0533A"/>
          </a:solidFill>
          <a:ln w="12700">
            <a:solidFill>
              <a:srgbClr val="E0533A"/>
            </a:solidFill>
            <a:prstDash val="solid"/>
          </a:ln>
        </p:spPr>
      </p:sp>
      <p:pic>
        <p:nvPicPr>
          <p:cNvPr id="27" name="Image 1" descr="preencoded.png">    </p:cNvPr>
          <p:cNvPicPr>
            <a:picLocks noChangeAspect="1"/>
          </p:cNvPicPr>
          <p:nvPr/>
        </p:nvPicPr>
        <p:blipFill>
          <a:blip r:embed="rId2"/>
          <a:stretch>
            <a:fillRect/>
          </a:stretch>
        </p:blipFill>
        <p:spPr>
          <a:xfrm>
            <a:off x="3191027" y="2314804"/>
            <a:ext cx="399593" cy="399593"/>
          </a:xfrm>
          <a:prstGeom prst="rect">
            <a:avLst/>
          </a:prstGeom>
        </p:spPr>
      </p:pic>
      <p:sp>
        <p:nvSpPr>
          <p:cNvPr id="28" name="Text 24"/>
          <p:cNvSpPr txBox="1"/>
          <p:nvPr/>
        </p:nvSpPr>
        <p:spPr>
          <a:xfrm>
            <a:off x="2567864"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02</a:t>
            </a:r>
            <a:endParaRPr lang="en-US" sz="1050" dirty="0"/>
          </a:p>
        </p:txBody>
      </p:sp>
      <p:sp>
        <p:nvSpPr>
          <p:cNvPr id="29" name="Text 25"/>
          <p:cNvSpPr txBox="1"/>
          <p:nvPr/>
        </p:nvSpPr>
        <p:spPr>
          <a:xfrm>
            <a:off x="2567864"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Balance</a:t>
            </a:r>
            <a:endParaRPr lang="en-US" sz="1600" dirty="0"/>
          </a:p>
        </p:txBody>
      </p:sp>
      <p:sp>
        <p:nvSpPr>
          <p:cNvPr id="30" name="Text 26"/>
          <p:cNvSpPr txBox="1"/>
          <p:nvPr/>
        </p:nvSpPr>
        <p:spPr>
          <a:xfrm>
            <a:off x="2567864"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SMOTETomek: synthetic minority flows + Tomek-link cleaning</a:t>
            </a:r>
            <a:endParaRPr lang="en-US" sz="1200" dirty="0"/>
          </a:p>
        </p:txBody>
      </p:sp>
      <p:sp>
        <p:nvSpPr>
          <p:cNvPr id="31" name="Shape 27"/>
          <p:cNvSpPr/>
          <p:nvPr/>
        </p:nvSpPr>
        <p:spPr>
          <a:xfrm>
            <a:off x="4759833"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4994377" y="2314804"/>
            <a:ext cx="399593" cy="399593"/>
          </a:xfrm>
          <a:prstGeom prst="rect">
            <a:avLst/>
          </a:prstGeom>
        </p:spPr>
      </p:pic>
      <p:sp>
        <p:nvSpPr>
          <p:cNvPr id="33" name="Text 28"/>
          <p:cNvSpPr txBox="1"/>
          <p:nvPr/>
        </p:nvSpPr>
        <p:spPr>
          <a:xfrm>
            <a:off x="4371213"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03</a:t>
            </a:r>
            <a:endParaRPr lang="en-US" sz="1050" dirty="0"/>
          </a:p>
        </p:txBody>
      </p:sp>
      <p:sp>
        <p:nvSpPr>
          <p:cNvPr id="34" name="Text 29"/>
          <p:cNvSpPr txBox="1"/>
          <p:nvPr/>
        </p:nvSpPr>
        <p:spPr>
          <a:xfrm>
            <a:off x="4371213"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Split</a:t>
            </a:r>
            <a:endParaRPr lang="en-US" sz="1600" dirty="0"/>
          </a:p>
        </p:txBody>
      </p:sp>
      <p:sp>
        <p:nvSpPr>
          <p:cNvPr id="35" name="Text 30"/>
          <p:cNvSpPr txBox="1"/>
          <p:nvPr/>
        </p:nvSpPr>
        <p:spPr>
          <a:xfrm>
            <a:off x="4371213"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70% training / 30% test, stratified by class</a:t>
            </a:r>
            <a:endParaRPr lang="en-US" sz="1200" dirty="0"/>
          </a:p>
        </p:txBody>
      </p:sp>
      <p:sp>
        <p:nvSpPr>
          <p:cNvPr id="36" name="Shape 31"/>
          <p:cNvSpPr/>
          <p:nvPr/>
        </p:nvSpPr>
        <p:spPr>
          <a:xfrm>
            <a:off x="6563182"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6797726" y="2314804"/>
            <a:ext cx="399593" cy="399593"/>
          </a:xfrm>
          <a:prstGeom prst="rect">
            <a:avLst/>
          </a:prstGeom>
        </p:spPr>
      </p:pic>
      <p:sp>
        <p:nvSpPr>
          <p:cNvPr id="38" name="Text 32"/>
          <p:cNvSpPr txBox="1"/>
          <p:nvPr/>
        </p:nvSpPr>
        <p:spPr>
          <a:xfrm>
            <a:off x="6174562"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04</a:t>
            </a:r>
            <a:endParaRPr lang="en-US" sz="1050" dirty="0"/>
          </a:p>
        </p:txBody>
      </p:sp>
      <p:sp>
        <p:nvSpPr>
          <p:cNvPr id="39" name="Text 33"/>
          <p:cNvSpPr txBox="1"/>
          <p:nvPr/>
        </p:nvSpPr>
        <p:spPr>
          <a:xfrm>
            <a:off x="6174562"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Select</a:t>
            </a:r>
            <a:endParaRPr lang="en-US" sz="1600" dirty="0"/>
          </a:p>
        </p:txBody>
      </p:sp>
      <p:sp>
        <p:nvSpPr>
          <p:cNvPr id="40" name="Text 34"/>
          <p:cNvSpPr txBox="1"/>
          <p:nvPr/>
        </p:nvSpPr>
        <p:spPr>
          <a:xfrm>
            <a:off x="6174562"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Pearson filter (|r| &gt; 0.9), then top 30 by mutual information</a:t>
            </a:r>
            <a:endParaRPr lang="en-US" sz="1200" dirty="0"/>
          </a:p>
        </p:txBody>
      </p:sp>
      <p:sp>
        <p:nvSpPr>
          <p:cNvPr id="41" name="Shape 35"/>
          <p:cNvSpPr/>
          <p:nvPr/>
        </p:nvSpPr>
        <p:spPr>
          <a:xfrm>
            <a:off x="8366531" y="2080260"/>
            <a:ext cx="868680" cy="868680"/>
          </a:xfrm>
          <a:prstGeom prst="ellipse">
            <a:avLst/>
          </a:prstGeom>
          <a:solidFill>
            <a:srgbClr val="0B1526"/>
          </a:solidFill>
          <a:ln w="12700">
            <a:solidFill>
              <a:srgbClr val="0B1526"/>
            </a:solidFill>
            <a:prstDash val="solid"/>
          </a:ln>
        </p:spPr>
      </p:sp>
      <p:pic>
        <p:nvPicPr>
          <p:cNvPr id="42" name="Image 4" descr="preencoded.png">    </p:cNvPr>
          <p:cNvPicPr>
            <a:picLocks noChangeAspect="1"/>
          </p:cNvPicPr>
          <p:nvPr/>
        </p:nvPicPr>
        <p:blipFill>
          <a:blip r:embed="rId5"/>
          <a:stretch>
            <a:fillRect/>
          </a:stretch>
        </p:blipFill>
        <p:spPr>
          <a:xfrm>
            <a:off x="8601075" y="2314804"/>
            <a:ext cx="399593" cy="399593"/>
          </a:xfrm>
          <a:prstGeom prst="rect">
            <a:avLst/>
          </a:prstGeom>
        </p:spPr>
      </p:pic>
      <p:sp>
        <p:nvSpPr>
          <p:cNvPr id="43" name="Text 36"/>
          <p:cNvSpPr txBox="1"/>
          <p:nvPr/>
        </p:nvSpPr>
        <p:spPr>
          <a:xfrm>
            <a:off x="797791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05</a:t>
            </a:r>
            <a:endParaRPr lang="en-US" sz="1050" dirty="0"/>
          </a:p>
        </p:txBody>
      </p:sp>
      <p:sp>
        <p:nvSpPr>
          <p:cNvPr id="44" name="Text 37"/>
          <p:cNvSpPr txBox="1"/>
          <p:nvPr/>
        </p:nvSpPr>
        <p:spPr>
          <a:xfrm>
            <a:off x="797791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Train</a:t>
            </a:r>
            <a:endParaRPr lang="en-US" sz="1600" dirty="0"/>
          </a:p>
        </p:txBody>
      </p:sp>
      <p:sp>
        <p:nvSpPr>
          <p:cNvPr id="45" name="Text 38"/>
          <p:cNvSpPr txBox="1"/>
          <p:nvPr/>
        </p:nvSpPr>
        <p:spPr>
          <a:xfrm>
            <a:off x="797791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Hybrid RF + XGBoost and 13 baseline models</a:t>
            </a:r>
            <a:endParaRPr lang="en-US" sz="1200" dirty="0"/>
          </a:p>
        </p:txBody>
      </p:sp>
      <p:sp>
        <p:nvSpPr>
          <p:cNvPr id="46" name="Shape 39"/>
          <p:cNvSpPr/>
          <p:nvPr/>
        </p:nvSpPr>
        <p:spPr>
          <a:xfrm>
            <a:off x="10169881" y="2080260"/>
            <a:ext cx="868680" cy="868680"/>
          </a:xfrm>
          <a:prstGeom prst="ellipse">
            <a:avLst/>
          </a:prstGeom>
          <a:solidFill>
            <a:srgbClr val="0B1526"/>
          </a:solidFill>
          <a:ln w="12700">
            <a:solidFill>
              <a:srgbClr val="0B1526"/>
            </a:solidFill>
            <a:prstDash val="solid"/>
          </a:ln>
        </p:spPr>
      </p:sp>
      <p:pic>
        <p:nvPicPr>
          <p:cNvPr id="47" name="Image 5" descr="preencoded.png">    </p:cNvPr>
          <p:cNvPicPr>
            <a:picLocks noChangeAspect="1"/>
          </p:cNvPicPr>
          <p:nvPr/>
        </p:nvPicPr>
        <p:blipFill>
          <a:blip r:embed="rId6"/>
          <a:stretch>
            <a:fillRect/>
          </a:stretch>
        </p:blipFill>
        <p:spPr>
          <a:xfrm>
            <a:off x="10404424" y="2314804"/>
            <a:ext cx="399593" cy="399593"/>
          </a:xfrm>
          <a:prstGeom prst="rect">
            <a:avLst/>
          </a:prstGeom>
        </p:spPr>
      </p:pic>
      <p:sp>
        <p:nvSpPr>
          <p:cNvPr id="48" name="Text 40"/>
          <p:cNvSpPr txBox="1"/>
          <p:nvPr/>
        </p:nvSpPr>
        <p:spPr>
          <a:xfrm>
            <a:off x="978126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06</a:t>
            </a:r>
            <a:endParaRPr lang="en-US" sz="1050" dirty="0"/>
          </a:p>
        </p:txBody>
      </p:sp>
      <p:sp>
        <p:nvSpPr>
          <p:cNvPr id="49" name="Text 41"/>
          <p:cNvSpPr txBox="1"/>
          <p:nvPr/>
        </p:nvSpPr>
        <p:spPr>
          <a:xfrm>
            <a:off x="978126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Evaluate</a:t>
            </a:r>
            <a:endParaRPr lang="en-US" sz="1600" dirty="0"/>
          </a:p>
        </p:txBody>
      </p:sp>
      <p:sp>
        <p:nvSpPr>
          <p:cNvPr id="50" name="Text 42"/>
          <p:cNvSpPr txBox="1"/>
          <p:nvPr/>
        </p:nvSpPr>
        <p:spPr>
          <a:xfrm>
            <a:off x="978126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Accuracy, precision, recall, F1, TNR, FPR, FNR, AUC</a:t>
            </a:r>
            <a:endParaRPr lang="en-US" sz="1200" dirty="0"/>
          </a:p>
        </p:txBody>
      </p:sp>
      <p:sp>
        <p:nvSpPr>
          <p:cNvPr id="51" name="Shape 43"/>
          <p:cNvSpPr/>
          <p:nvPr/>
        </p:nvSpPr>
        <p:spPr>
          <a:xfrm>
            <a:off x="685800" y="5074920"/>
            <a:ext cx="10820095" cy="1005840"/>
          </a:xfrm>
          <a:prstGeom prst="roundRect">
            <a:avLst>
              <a:gd name="adj" fmla="val 5455"/>
            </a:avLst>
          </a:prstGeom>
          <a:solidFill>
            <a:srgbClr val="F4F6F9"/>
          </a:solidFill>
          <a:ln w="12700">
            <a:solidFill>
              <a:srgbClr val="F4F6F9"/>
            </a:solidFill>
            <a:prstDash val="solid"/>
          </a:ln>
        </p:spPr>
      </p:sp>
      <p:sp>
        <p:nvSpPr>
          <p:cNvPr id="52" name="Text 44"/>
          <p:cNvSpPr txBox="1"/>
          <p:nvPr/>
        </p:nvSpPr>
        <p:spPr>
          <a:xfrm>
            <a:off x="1005840"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FEATURES</a:t>
            </a:r>
            <a:endParaRPr lang="en-US" sz="950" dirty="0"/>
          </a:p>
        </p:txBody>
      </p:sp>
      <p:sp>
        <p:nvSpPr>
          <p:cNvPr id="53" name="Text 45"/>
          <p:cNvSpPr txBox="1"/>
          <p:nvPr/>
        </p:nvSpPr>
        <p:spPr>
          <a:xfrm>
            <a:off x="1005840"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68 → 36 (Pearson) → 30 (mutual information)</a:t>
            </a:r>
            <a:endParaRPr lang="en-US" sz="1300" dirty="0"/>
          </a:p>
        </p:txBody>
      </p:sp>
      <p:sp>
        <p:nvSpPr>
          <p:cNvPr id="54" name="Text 46"/>
          <p:cNvSpPr txBox="1"/>
          <p:nvPr/>
        </p:nvSpPr>
        <p:spPr>
          <a:xfrm>
            <a:off x="4612538"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TARGET</a:t>
            </a:r>
            <a:endParaRPr lang="en-US" sz="950" dirty="0"/>
          </a:p>
        </p:txBody>
      </p:sp>
      <p:sp>
        <p:nvSpPr>
          <p:cNvPr id="55" name="Text 47"/>
          <p:cNvSpPr txBox="1"/>
          <p:nvPr/>
        </p:nvSpPr>
        <p:spPr>
          <a:xfrm>
            <a:off x="4612538"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Benign = 0, any APT stage = 1</a:t>
            </a:r>
            <a:endParaRPr lang="en-US" sz="1300" dirty="0"/>
          </a:p>
        </p:txBody>
      </p:sp>
      <p:sp>
        <p:nvSpPr>
          <p:cNvPr id="56" name="Text 48"/>
          <p:cNvSpPr txBox="1"/>
          <p:nvPr/>
        </p:nvSpPr>
        <p:spPr>
          <a:xfrm>
            <a:off x="8219237"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TOOLS</a:t>
            </a:r>
            <a:endParaRPr lang="en-US" sz="950" dirty="0"/>
          </a:p>
        </p:txBody>
      </p:sp>
      <p:sp>
        <p:nvSpPr>
          <p:cNvPr id="57" name="Text 49"/>
          <p:cNvSpPr txBox="1"/>
          <p:nvPr/>
        </p:nvSpPr>
        <p:spPr>
          <a:xfrm>
            <a:off x="8219237"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Python, scikit-learn, imbalanced-learn, XGBoost, PyTorch</a:t>
            </a:r>
            <a:endParaRPr lang="en-US" sz="1300" dirty="0"/>
          </a:p>
        </p:txBody>
      </p:sp>
      <p:sp>
        <p:nvSpPr>
          <p:cNvPr id="58" name="Text 5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5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Random Forest and XGBoost, combined</a:t>
            </a:r>
            <a:endParaRPr lang="en-US" sz="3000" dirty="0"/>
          </a:p>
        </p:txBody>
      </p:sp>
      <p:sp>
        <p:nvSpPr>
          <p:cNvPr id="20" name="Shape 18"/>
          <p:cNvSpPr/>
          <p:nvPr/>
        </p:nvSpPr>
        <p:spPr>
          <a:xfrm>
            <a:off x="685800" y="3291840"/>
            <a:ext cx="1691640" cy="914400"/>
          </a:xfrm>
          <a:prstGeom prst="roundRect">
            <a:avLst>
              <a:gd name="adj" fmla="val 6000"/>
            </a:avLst>
          </a:prstGeom>
          <a:solidFill>
            <a:srgbClr val="F4F6F9"/>
          </a:solidFill>
          <a:ln w="12700">
            <a:solidFill>
              <a:srgbClr val="F4F6F9"/>
            </a:solidFill>
            <a:prstDash val="solid"/>
          </a:ln>
        </p:spPr>
      </p:sp>
      <p:sp>
        <p:nvSpPr>
          <p:cNvPr id="21" name="Text 19"/>
          <p:cNvSpPr txBox="1"/>
          <p:nvPr/>
        </p:nvSpPr>
        <p:spPr>
          <a:xfrm>
            <a:off x="685800" y="3291840"/>
            <a:ext cx="1691640" cy="91440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30 flow</a:t>
            </a:r>
            <a:endParaRPr lang="en-US" sz="1400" dirty="0"/>
          </a:p>
          <a:p>
            <a:pPr algn="ctr" indent="0" marL="0">
              <a:buNone/>
            </a:pPr>
            <a:r>
              <a:rPr lang="en-US" sz="1400" b="1" dirty="0">
                <a:solidFill>
                  <a:srgbClr val="0F1B2D"/>
                </a:solidFill>
                <a:latin typeface="Arial" pitchFamily="34" charset="0"/>
                <a:ea typeface="Arial" pitchFamily="34" charset="-122"/>
                <a:cs typeface="Arial" pitchFamily="34" charset="-120"/>
              </a:rPr>
              <a:t>features</a:t>
            </a:r>
            <a:endParaRPr lang="en-US" sz="1400" dirty="0"/>
          </a:p>
        </p:txBody>
      </p:sp>
      <p:sp>
        <p:nvSpPr>
          <p:cNvPr id="22" name="Shape 20"/>
          <p:cNvSpPr/>
          <p:nvPr/>
        </p:nvSpPr>
        <p:spPr>
          <a:xfrm>
            <a:off x="2926080" y="1874520"/>
            <a:ext cx="2423160" cy="1325880"/>
          </a:xfrm>
          <a:prstGeom prst="roundRect">
            <a:avLst>
              <a:gd name="adj" fmla="val 4138"/>
            </a:avLst>
          </a:prstGeom>
          <a:solidFill>
            <a:srgbClr val="EAF1FB"/>
          </a:solidFill>
          <a:ln w="12700">
            <a:solidFill>
              <a:srgbClr val="EAF1FB"/>
            </a:solidFill>
            <a:prstDash val="solid"/>
          </a:ln>
        </p:spPr>
      </p:sp>
      <p:sp>
        <p:nvSpPr>
          <p:cNvPr id="23" name="Shape 21"/>
          <p:cNvSpPr/>
          <p:nvPr/>
        </p:nvSpPr>
        <p:spPr>
          <a:xfrm>
            <a:off x="3108960" y="2075688"/>
            <a:ext cx="457200" cy="457200"/>
          </a:xfrm>
          <a:prstGeom prst="ellipse">
            <a:avLst/>
          </a:prstGeom>
          <a:solidFill>
            <a:srgbClr val="2A78D6"/>
          </a:solidFill>
          <a:ln w="12700">
            <a:solidFill>
              <a:srgbClr val="2A78D6"/>
            </a:solidFill>
            <a:prstDash val="solid"/>
          </a:ln>
        </p:spPr>
      </p:sp>
      <p:pic>
        <p:nvPicPr>
          <p:cNvPr id="24" name="Image 0" descr="preencoded.png">    </p:cNvPr>
          <p:cNvPicPr>
            <a:picLocks noChangeAspect="1"/>
          </p:cNvPicPr>
          <p:nvPr/>
        </p:nvPicPr>
        <p:blipFill>
          <a:blip r:embed="rId1"/>
          <a:stretch>
            <a:fillRect/>
          </a:stretch>
        </p:blipFill>
        <p:spPr>
          <a:xfrm>
            <a:off x="3232404" y="2199132"/>
            <a:ext cx="210312" cy="210312"/>
          </a:xfrm>
          <a:prstGeom prst="rect">
            <a:avLst/>
          </a:prstGeom>
        </p:spPr>
      </p:pic>
      <p:sp>
        <p:nvSpPr>
          <p:cNvPr id="25" name="Text 22"/>
          <p:cNvSpPr txBox="1"/>
          <p:nvPr/>
        </p:nvSpPr>
        <p:spPr>
          <a:xfrm>
            <a:off x="3703320" y="214884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Random Forest</a:t>
            </a:r>
            <a:endParaRPr lang="en-US" sz="1500" dirty="0"/>
          </a:p>
        </p:txBody>
      </p:sp>
      <p:sp>
        <p:nvSpPr>
          <p:cNvPr id="26" name="Text 23"/>
          <p:cNvSpPr txBox="1"/>
          <p:nvPr/>
        </p:nvSpPr>
        <p:spPr>
          <a:xfrm>
            <a:off x="3108960" y="265176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Bagging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majority vote</a:t>
            </a:r>
            <a:endParaRPr lang="en-US" sz="1150" dirty="0"/>
          </a:p>
        </p:txBody>
      </p:sp>
      <p:sp>
        <p:nvSpPr>
          <p:cNvPr id="27" name="Shape 24"/>
          <p:cNvSpPr/>
          <p:nvPr/>
        </p:nvSpPr>
        <p:spPr>
          <a:xfrm>
            <a:off x="2926080" y="4297680"/>
            <a:ext cx="2423160" cy="1325880"/>
          </a:xfrm>
          <a:prstGeom prst="roundRect">
            <a:avLst>
              <a:gd name="adj" fmla="val 4138"/>
            </a:avLst>
          </a:prstGeom>
          <a:solidFill>
            <a:srgbClr val="EAF1FB"/>
          </a:solidFill>
          <a:ln w="12700">
            <a:solidFill>
              <a:srgbClr val="EAF1FB"/>
            </a:solidFill>
            <a:prstDash val="solid"/>
          </a:ln>
        </p:spPr>
      </p:sp>
      <p:sp>
        <p:nvSpPr>
          <p:cNvPr id="28" name="Shape 25"/>
          <p:cNvSpPr/>
          <p:nvPr/>
        </p:nvSpPr>
        <p:spPr>
          <a:xfrm>
            <a:off x="3108960" y="4498848"/>
            <a:ext cx="457200" cy="457200"/>
          </a:xfrm>
          <a:prstGeom prst="ellipse">
            <a:avLst/>
          </a:prstGeom>
          <a:solidFill>
            <a:srgbClr val="2A78D6"/>
          </a:solidFill>
          <a:ln w="12700">
            <a:solidFill>
              <a:srgbClr val="2A78D6"/>
            </a:solidFill>
            <a:prstDash val="solid"/>
          </a:ln>
        </p:spPr>
      </p:sp>
      <p:pic>
        <p:nvPicPr>
          <p:cNvPr id="29" name="Image 1" descr="preencoded.png">    </p:cNvPr>
          <p:cNvPicPr>
            <a:picLocks noChangeAspect="1"/>
          </p:cNvPicPr>
          <p:nvPr/>
        </p:nvPicPr>
        <p:blipFill>
          <a:blip r:embed="rId2"/>
          <a:stretch>
            <a:fillRect/>
          </a:stretch>
        </p:blipFill>
        <p:spPr>
          <a:xfrm>
            <a:off x="3232404" y="4622292"/>
            <a:ext cx="210312" cy="210312"/>
          </a:xfrm>
          <a:prstGeom prst="rect">
            <a:avLst/>
          </a:prstGeom>
        </p:spPr>
      </p:pic>
      <p:sp>
        <p:nvSpPr>
          <p:cNvPr id="30" name="Text 26"/>
          <p:cNvSpPr txBox="1"/>
          <p:nvPr/>
        </p:nvSpPr>
        <p:spPr>
          <a:xfrm>
            <a:off x="3703320" y="457200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XGBoost</a:t>
            </a:r>
            <a:endParaRPr lang="en-US" sz="1500" dirty="0"/>
          </a:p>
        </p:txBody>
      </p:sp>
      <p:sp>
        <p:nvSpPr>
          <p:cNvPr id="31" name="Text 27"/>
          <p:cNvSpPr txBox="1"/>
          <p:nvPr/>
        </p:nvSpPr>
        <p:spPr>
          <a:xfrm>
            <a:off x="3108960" y="507492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Boosting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learning rate 1.0 · depth 4</a:t>
            </a:r>
            <a:endParaRPr lang="en-US" sz="1150" dirty="0"/>
          </a:p>
        </p:txBody>
      </p:sp>
      <p:sp>
        <p:nvSpPr>
          <p:cNvPr id="32" name="Shape 28"/>
          <p:cNvSpPr/>
          <p:nvPr/>
        </p:nvSpPr>
        <p:spPr>
          <a:xfrm>
            <a:off x="5806440" y="3154680"/>
            <a:ext cx="1691640" cy="1188720"/>
          </a:xfrm>
          <a:prstGeom prst="roundRect">
            <a:avLst>
              <a:gd name="adj" fmla="val 4615"/>
            </a:avLst>
          </a:prstGeom>
          <a:solidFill>
            <a:srgbClr val="0B1526"/>
          </a:solidFill>
          <a:ln w="12700">
            <a:solidFill>
              <a:srgbClr val="0B1526"/>
            </a:solidFill>
            <a:prstDash val="solid"/>
          </a:ln>
        </p:spPr>
      </p:sp>
      <p:sp>
        <p:nvSpPr>
          <p:cNvPr id="33" name="Text 29"/>
          <p:cNvSpPr txBox="1"/>
          <p:nvPr/>
        </p:nvSpPr>
        <p:spPr>
          <a:xfrm>
            <a:off x="5806440" y="3154680"/>
            <a:ext cx="169164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Aggregator</a:t>
            </a:r>
            <a:endParaRPr lang="en-US" sz="1400" dirty="0"/>
          </a:p>
          <a:p>
            <a:pPr algn="ctr" indent="0" marL="0">
              <a:buNone/>
            </a:pPr>
            <a:r>
              <a:rPr lang="en-US" sz="1100" dirty="0">
                <a:solidFill>
                  <a:srgbClr val="A9B6C8"/>
                </a:solidFill>
                <a:latin typeface="Arial" pitchFamily="34" charset="0"/>
                <a:ea typeface="Arial" pitchFamily="34" charset="-122"/>
                <a:cs typeface="Arial" pitchFamily="34" charset="-120"/>
              </a:rPr>
              <a:t>combo · 'average'</a:t>
            </a:r>
            <a:endParaRPr lang="en-US" sz="1400" dirty="0"/>
          </a:p>
        </p:txBody>
      </p:sp>
      <p:sp>
        <p:nvSpPr>
          <p:cNvPr id="34" name="Shape 30"/>
          <p:cNvSpPr/>
          <p:nvPr/>
        </p:nvSpPr>
        <p:spPr>
          <a:xfrm>
            <a:off x="5806440" y="4800600"/>
            <a:ext cx="1691640" cy="731520"/>
          </a:xfrm>
          <a:prstGeom prst="roundRect">
            <a:avLst>
              <a:gd name="adj" fmla="val 7500"/>
            </a:avLst>
          </a:prstGeom>
          <a:solidFill>
            <a:srgbClr val="F4F6F9"/>
          </a:solidFill>
          <a:ln w="12700">
            <a:solidFill>
              <a:srgbClr val="F4F6F9"/>
            </a:solidFill>
            <a:prstDash val="solid"/>
          </a:ln>
        </p:spPr>
      </p:sp>
      <p:sp>
        <p:nvSpPr>
          <p:cNvPr id="35" name="Text 31"/>
          <p:cNvSpPr txBox="1"/>
          <p:nvPr/>
        </p:nvSpPr>
        <p:spPr>
          <a:xfrm>
            <a:off x="5806440" y="4800600"/>
            <a:ext cx="1691640" cy="73152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Benign / APT</a:t>
            </a:r>
            <a:endParaRPr lang="en-US" sz="1400" dirty="0"/>
          </a:p>
        </p:txBody>
      </p:sp>
      <p:sp>
        <p:nvSpPr>
          <p:cNvPr id="36" name="Shape 32"/>
          <p:cNvSpPr/>
          <p:nvPr/>
        </p:nvSpPr>
        <p:spPr>
          <a:xfrm flipV="1">
            <a:off x="2377440" y="2542032"/>
            <a:ext cx="548640" cy="1207008"/>
          </a:xfrm>
          <a:prstGeom prst="line">
            <a:avLst/>
          </a:prstGeom>
          <a:noFill/>
          <a:ln w="15875">
            <a:solidFill>
              <a:srgbClr val="8A94A3"/>
            </a:solidFill>
            <a:prstDash val="solid"/>
            <a:tailEnd type="triangle"/>
          </a:ln>
        </p:spPr>
      </p:sp>
      <p:sp>
        <p:nvSpPr>
          <p:cNvPr id="37" name="Shape 33"/>
          <p:cNvSpPr/>
          <p:nvPr/>
        </p:nvSpPr>
        <p:spPr>
          <a:xfrm>
            <a:off x="2377440" y="3749040"/>
            <a:ext cx="548640" cy="1216152"/>
          </a:xfrm>
          <a:prstGeom prst="line">
            <a:avLst/>
          </a:prstGeom>
          <a:noFill/>
          <a:ln w="15875">
            <a:solidFill>
              <a:srgbClr val="8A94A3"/>
            </a:solidFill>
            <a:prstDash val="solid"/>
            <a:tailEnd type="triangle"/>
          </a:ln>
        </p:spPr>
      </p:sp>
      <p:sp>
        <p:nvSpPr>
          <p:cNvPr id="38" name="Shape 34"/>
          <p:cNvSpPr/>
          <p:nvPr/>
        </p:nvSpPr>
        <p:spPr>
          <a:xfrm>
            <a:off x="5349240" y="2542032"/>
            <a:ext cx="457200" cy="1207008"/>
          </a:xfrm>
          <a:prstGeom prst="line">
            <a:avLst/>
          </a:prstGeom>
          <a:noFill/>
          <a:ln w="15875">
            <a:solidFill>
              <a:srgbClr val="8A94A3"/>
            </a:solidFill>
            <a:prstDash val="solid"/>
            <a:tailEnd type="triangle"/>
          </a:ln>
        </p:spPr>
      </p:sp>
      <p:sp>
        <p:nvSpPr>
          <p:cNvPr id="39" name="Shape 35"/>
          <p:cNvSpPr/>
          <p:nvPr/>
        </p:nvSpPr>
        <p:spPr>
          <a:xfrm flipV="1">
            <a:off x="5349240" y="3749040"/>
            <a:ext cx="457200" cy="1216152"/>
          </a:xfrm>
          <a:prstGeom prst="line">
            <a:avLst/>
          </a:prstGeom>
          <a:noFill/>
          <a:ln w="15875">
            <a:solidFill>
              <a:srgbClr val="8A94A3"/>
            </a:solidFill>
            <a:prstDash val="solid"/>
            <a:tailEnd type="triangle"/>
          </a:ln>
        </p:spPr>
      </p:sp>
      <p:sp>
        <p:nvSpPr>
          <p:cNvPr id="40" name="Shape 36"/>
          <p:cNvSpPr/>
          <p:nvPr/>
        </p:nvSpPr>
        <p:spPr>
          <a:xfrm>
            <a:off x="6652260" y="4343400"/>
            <a:ext cx="914" cy="457200"/>
          </a:xfrm>
          <a:prstGeom prst="line">
            <a:avLst/>
          </a:prstGeom>
          <a:noFill/>
          <a:ln w="15875">
            <a:solidFill>
              <a:srgbClr val="8A94A3"/>
            </a:solidFill>
            <a:prstDash val="solid"/>
            <a:tailEnd type="triangle"/>
          </a:ln>
        </p:spPr>
      </p:sp>
      <p:sp>
        <p:nvSpPr>
          <p:cNvPr id="41" name="Shape 37"/>
          <p:cNvSpPr/>
          <p:nvPr/>
        </p:nvSpPr>
        <p:spPr>
          <a:xfrm>
            <a:off x="7909560" y="1828800"/>
            <a:ext cx="3596335" cy="4251960"/>
          </a:xfrm>
          <a:prstGeom prst="roundRect">
            <a:avLst>
              <a:gd name="adj" fmla="val 1526"/>
            </a:avLst>
          </a:prstGeom>
          <a:solidFill>
            <a:srgbClr val="FDEEEA"/>
          </a:solidFill>
          <a:ln w="12700">
            <a:solidFill>
              <a:srgbClr val="FDEEEA"/>
            </a:solidFill>
            <a:prstDash val="solid"/>
          </a:ln>
        </p:spPr>
      </p:sp>
      <p:sp>
        <p:nvSpPr>
          <p:cNvPr id="42" name="Text 38"/>
          <p:cNvSpPr txBox="1"/>
          <p:nvPr/>
        </p:nvSpPr>
        <p:spPr>
          <a:xfrm>
            <a:off x="8229600" y="2103120"/>
            <a:ext cx="2956255" cy="256032"/>
          </a:xfrm>
          <a:prstGeom prst="rect">
            <a:avLst/>
          </a:prstGeom>
          <a:noFill/>
          <a:ln/>
        </p:spPr>
        <p:txBody>
          <a:bodyPr wrap="square" lIns="0" tIns="0" rIns="0" bIns="0" rtlCol="0" anchor="t"/>
          <a:lstStyle/>
          <a:p>
            <a:pPr indent="0" marL="0">
              <a:buNone/>
            </a:pPr>
            <a:r>
              <a:rPr lang="en-US" sz="950" b="1" dirty="0">
                <a:solidFill>
                  <a:srgbClr val="E0533A"/>
                </a:solidFill>
                <a:latin typeface="Arial" pitchFamily="34" charset="0"/>
                <a:ea typeface="Arial" pitchFamily="34" charset="-122"/>
                <a:cs typeface="Arial" pitchFamily="34" charset="-120"/>
              </a:rPr>
              <a:t>WHAT WE FOUND IN THE CODE</a:t>
            </a:r>
            <a:endParaRPr lang="en-US" sz="950" dirty="0"/>
          </a:p>
        </p:txBody>
      </p:sp>
      <p:sp>
        <p:nvSpPr>
          <p:cNvPr id="43" name="Text 39"/>
          <p:cNvSpPr txBox="1"/>
          <p:nvPr/>
        </p:nvSpPr>
        <p:spPr>
          <a:xfrm>
            <a:off x="8229600" y="2423160"/>
            <a:ext cx="2956255" cy="77724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'Average' is really</a:t>
            </a:r>
            <a:endParaRPr lang="en-US" sz="2000" dirty="0"/>
          </a:p>
          <a:p>
            <a:pPr indent="0" marL="0">
              <a:buNone/>
            </a:pPr>
            <a:r>
              <a:rPr lang="en-US" sz="2000" dirty="0">
                <a:solidFill>
                  <a:srgbClr val="0F1B2D"/>
                </a:solidFill>
                <a:latin typeface="Georgia" pitchFamily="34" charset="0"/>
                <a:ea typeface="Georgia" pitchFamily="34" charset="-122"/>
                <a:cs typeface="Georgia" pitchFamily="34" charset="-120"/>
              </a:rPr>
              <a:t>an OR rule</a:t>
            </a:r>
            <a:endParaRPr lang="en-US" sz="2000" dirty="0"/>
          </a:p>
        </p:txBody>
      </p:sp>
      <p:sp>
        <p:nvSpPr>
          <p:cNvPr id="44" name="Text 40"/>
          <p:cNvSpPr txBox="1"/>
          <p:nvPr/>
        </p:nvSpPr>
        <p:spPr>
          <a:xfrm>
            <a:off x="8229600" y="3291840"/>
            <a:ext cx="2956255"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combo's predict() averages the two models' 0/1 labels and outputs APT when the average is ≥ 0.5.</a:t>
            </a:r>
            <a:endParaRPr lang="en-US" sz="1300" dirty="0"/>
          </a:p>
        </p:txBody>
      </p:sp>
      <p:sp>
        <p:nvSpPr>
          <p:cNvPr id="45" name="Text 41"/>
          <p:cNvSpPr txBox="1"/>
          <p:nvPr/>
        </p:nvSpPr>
        <p:spPr>
          <a:xfrm>
            <a:off x="8229600" y="4206240"/>
            <a:ext cx="2956255" cy="548640"/>
          </a:xfrm>
          <a:prstGeom prst="rect">
            <a:avLst/>
          </a:prstGeom>
          <a:noFill/>
          <a:ln/>
        </p:spPr>
        <p:txBody>
          <a:bodyPr wrap="square" lIns="0" tIns="0" rIns="0" bIns="0" rtlCol="0" anchor="t"/>
          <a:lstStyle/>
          <a:p>
            <a:pPr indent="0" marL="0">
              <a:buNone/>
            </a:pPr>
            <a:r>
              <a:rPr lang="en-US" sz="1300" b="1" dirty="0">
                <a:solidFill>
                  <a:srgbClr val="E0533A"/>
                </a:solidFill>
                <a:latin typeface="Arial" pitchFamily="34" charset="0"/>
                <a:ea typeface="Arial" pitchFamily="34" charset="-122"/>
                <a:cs typeface="Arial" pitchFamily="34" charset="-120"/>
              </a:rPr>
              <a:t>So a flow is flagged as APT if either model flags it.</a:t>
            </a:r>
            <a:endParaRPr lang="en-US" sz="1300" dirty="0"/>
          </a:p>
        </p:txBody>
      </p:sp>
      <p:sp>
        <p:nvSpPr>
          <p:cNvPr id="46" name="Text 42"/>
          <p:cNvSpPr txBox="1"/>
          <p:nvPr/>
        </p:nvSpPr>
        <p:spPr>
          <a:xfrm>
            <a:off x="8229600" y="4846320"/>
            <a:ext cx="2956255" cy="10058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Effect: more attacks caught, more false alarms. We also test a soft-vote version (average of probabilities).</a:t>
            </a:r>
            <a:endParaRPr lang="en-US" sz="1250" dirty="0"/>
          </a:p>
        </p:txBody>
      </p:sp>
      <p:sp>
        <p:nvSpPr>
          <p:cNvPr id="47"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 flaw in the paper: it balances before it splits</a:t>
            </a:r>
            <a:endParaRPr lang="en-US" sz="3000" dirty="0"/>
          </a:p>
        </p:txBody>
      </p:sp>
      <p:sp>
        <p:nvSpPr>
          <p:cNvPr id="20" name="Text 18"/>
          <p:cNvSpPr txBox="1"/>
          <p:nvPr/>
        </p:nvSpPr>
        <p:spPr>
          <a:xfrm>
            <a:off x="685800" y="1874520"/>
            <a:ext cx="1737360" cy="868680"/>
          </a:xfrm>
          <a:prstGeom prst="rect">
            <a:avLst/>
          </a:prstGeom>
          <a:noFill/>
          <a:ln/>
        </p:spPr>
        <p:txBody>
          <a:bodyPr wrap="square" lIns="0" tIns="0" rIns="0" bIns="0" rtlCol="0" anchor="ctr"/>
          <a:lstStyle/>
          <a:p>
            <a:pPr indent="0" marL="0">
              <a:buNone/>
            </a:pPr>
            <a:r>
              <a:rPr lang="en-US" sz="1500" b="1" dirty="0">
                <a:solidFill>
                  <a:srgbClr val="E0533A"/>
                </a:solidFill>
                <a:latin typeface="Arial" pitchFamily="34" charset="0"/>
                <a:ea typeface="Arial" pitchFamily="34" charset="-122"/>
                <a:cs typeface="Arial" pitchFamily="34" charset="-120"/>
              </a:rPr>
              <a:t>The paper</a:t>
            </a:r>
            <a:endParaRPr lang="en-US" sz="1500" dirty="0"/>
          </a:p>
        </p:txBody>
      </p:sp>
      <p:sp>
        <p:nvSpPr>
          <p:cNvPr id="21" name="Shape 19"/>
          <p:cNvSpPr/>
          <p:nvPr/>
        </p:nvSpPr>
        <p:spPr>
          <a:xfrm>
            <a:off x="2606040" y="1874520"/>
            <a:ext cx="1828800" cy="868680"/>
          </a:xfrm>
          <a:prstGeom prst="roundRect">
            <a:avLst>
              <a:gd name="adj" fmla="val 6316"/>
            </a:avLst>
          </a:prstGeom>
          <a:solidFill>
            <a:srgbClr val="F4F6F9"/>
          </a:solidFill>
          <a:ln w="12700">
            <a:solidFill>
              <a:srgbClr val="F4F6F9"/>
            </a:solidFill>
            <a:prstDash val="solid"/>
          </a:ln>
        </p:spPr>
      </p:sp>
      <p:sp>
        <p:nvSpPr>
          <p:cNvPr id="22" name="Text 20"/>
          <p:cNvSpPr txBox="1"/>
          <p:nvPr/>
        </p:nvSpPr>
        <p:spPr>
          <a:xfrm>
            <a:off x="271576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23" name="Shape 21"/>
          <p:cNvSpPr/>
          <p:nvPr/>
        </p:nvSpPr>
        <p:spPr>
          <a:xfrm>
            <a:off x="4462272" y="2308860"/>
            <a:ext cx="265176" cy="914"/>
          </a:xfrm>
          <a:prstGeom prst="line">
            <a:avLst/>
          </a:prstGeom>
          <a:noFill/>
          <a:ln w="15875">
            <a:solidFill>
              <a:srgbClr val="8A94A3"/>
            </a:solidFill>
            <a:prstDash val="solid"/>
            <a:tailEnd type="triangle"/>
          </a:ln>
        </p:spPr>
      </p:sp>
      <p:sp>
        <p:nvSpPr>
          <p:cNvPr id="24" name="Shape 22"/>
          <p:cNvSpPr/>
          <p:nvPr/>
        </p:nvSpPr>
        <p:spPr>
          <a:xfrm>
            <a:off x="4754880" y="1874520"/>
            <a:ext cx="1828800" cy="868680"/>
          </a:xfrm>
          <a:prstGeom prst="roundRect">
            <a:avLst>
              <a:gd name="adj" fmla="val 6316"/>
            </a:avLst>
          </a:prstGeom>
          <a:solidFill>
            <a:srgbClr val="F4F6F9"/>
          </a:solidFill>
          <a:ln w="12700">
            <a:solidFill>
              <a:srgbClr val="F4F6F9"/>
            </a:solidFill>
            <a:prstDash val="solid"/>
          </a:ln>
        </p:spPr>
      </p:sp>
      <p:sp>
        <p:nvSpPr>
          <p:cNvPr id="25" name="Text 23"/>
          <p:cNvSpPr txBox="1"/>
          <p:nvPr/>
        </p:nvSpPr>
        <p:spPr>
          <a:xfrm>
            <a:off x="486460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adds synthetic APT flows</a:t>
            </a:r>
            <a:endParaRPr lang="en-US" sz="1250" dirty="0"/>
          </a:p>
        </p:txBody>
      </p:sp>
      <p:sp>
        <p:nvSpPr>
          <p:cNvPr id="26" name="Shape 24"/>
          <p:cNvSpPr/>
          <p:nvPr/>
        </p:nvSpPr>
        <p:spPr>
          <a:xfrm>
            <a:off x="6611112" y="2308860"/>
            <a:ext cx="265176" cy="914"/>
          </a:xfrm>
          <a:prstGeom prst="line">
            <a:avLst/>
          </a:prstGeom>
          <a:noFill/>
          <a:ln w="15875">
            <a:solidFill>
              <a:srgbClr val="8A94A3"/>
            </a:solidFill>
            <a:prstDash val="solid"/>
            <a:tailEnd type="triangle"/>
          </a:ln>
        </p:spPr>
      </p:sp>
      <p:sp>
        <p:nvSpPr>
          <p:cNvPr id="27" name="Shape 25"/>
          <p:cNvSpPr/>
          <p:nvPr/>
        </p:nvSpPr>
        <p:spPr>
          <a:xfrm>
            <a:off x="6903720" y="1874520"/>
            <a:ext cx="1828800" cy="868680"/>
          </a:xfrm>
          <a:prstGeom prst="roundRect">
            <a:avLst>
              <a:gd name="adj" fmla="val 6316"/>
            </a:avLst>
          </a:prstGeom>
          <a:solidFill>
            <a:srgbClr val="F4F6F9"/>
          </a:solidFill>
          <a:ln w="12700">
            <a:solidFill>
              <a:srgbClr val="F4F6F9"/>
            </a:solidFill>
            <a:prstDash val="solid"/>
          </a:ln>
        </p:spPr>
      </p:sp>
      <p:sp>
        <p:nvSpPr>
          <p:cNvPr id="28" name="Text 26"/>
          <p:cNvSpPr txBox="1"/>
          <p:nvPr/>
        </p:nvSpPr>
        <p:spPr>
          <a:xfrm>
            <a:off x="701344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29" name="Shape 27"/>
          <p:cNvSpPr/>
          <p:nvPr/>
        </p:nvSpPr>
        <p:spPr>
          <a:xfrm>
            <a:off x="8759952" y="2308860"/>
            <a:ext cx="265176" cy="914"/>
          </a:xfrm>
          <a:prstGeom prst="line">
            <a:avLst/>
          </a:prstGeom>
          <a:noFill/>
          <a:ln w="15875">
            <a:solidFill>
              <a:srgbClr val="8A94A3"/>
            </a:solidFill>
            <a:prstDash val="solid"/>
            <a:tailEnd type="triangle"/>
          </a:ln>
        </p:spPr>
      </p:sp>
      <p:sp>
        <p:nvSpPr>
          <p:cNvPr id="30" name="Shape 28"/>
          <p:cNvSpPr/>
          <p:nvPr/>
        </p:nvSpPr>
        <p:spPr>
          <a:xfrm>
            <a:off x="9052560" y="1874520"/>
            <a:ext cx="2453335" cy="868680"/>
          </a:xfrm>
          <a:prstGeom prst="roundRect">
            <a:avLst>
              <a:gd name="adj" fmla="val 6316"/>
            </a:avLst>
          </a:prstGeom>
          <a:solidFill>
            <a:srgbClr val="FDEEEA"/>
          </a:solidFill>
          <a:ln w="12700">
            <a:solidFill>
              <a:srgbClr val="FDEEEA"/>
            </a:solidFill>
            <a:prstDash val="solid"/>
          </a:ln>
        </p:spPr>
      </p:sp>
      <p:sp>
        <p:nvSpPr>
          <p:cNvPr id="31" name="Shape 29"/>
          <p:cNvSpPr/>
          <p:nvPr/>
        </p:nvSpPr>
        <p:spPr>
          <a:xfrm>
            <a:off x="9253728" y="2057400"/>
            <a:ext cx="502920" cy="502920"/>
          </a:xfrm>
          <a:prstGeom prst="ellipse">
            <a:avLst/>
          </a:prstGeom>
          <a:solidFill>
            <a:srgbClr val="E0533A"/>
          </a:solidFill>
          <a:ln w="12700">
            <a:solidFill>
              <a:srgbClr val="E0533A"/>
            </a:solidFill>
            <a:prstDash val="solid"/>
          </a:ln>
        </p:spPr>
      </p:sp>
      <p:pic>
        <p:nvPicPr>
          <p:cNvPr id="32" name="Image 0" descr="preencoded.png">    </p:cNvPr>
          <p:cNvPicPr>
            <a:picLocks noChangeAspect="1"/>
          </p:cNvPicPr>
          <p:nvPr/>
        </p:nvPicPr>
        <p:blipFill>
          <a:blip r:embed="rId1"/>
          <a:stretch>
            <a:fillRect/>
          </a:stretch>
        </p:blipFill>
        <p:spPr>
          <a:xfrm>
            <a:off x="9389516" y="2193188"/>
            <a:ext cx="231343" cy="231343"/>
          </a:xfrm>
          <a:prstGeom prst="rect">
            <a:avLst/>
          </a:prstGeom>
        </p:spPr>
      </p:pic>
      <p:sp>
        <p:nvSpPr>
          <p:cNvPr id="33" name="Text 30"/>
          <p:cNvSpPr txBox="1"/>
          <p:nvPr/>
        </p:nvSpPr>
        <p:spPr>
          <a:xfrm>
            <a:off x="9921240" y="1874520"/>
            <a:ext cx="1447495" cy="868680"/>
          </a:xfrm>
          <a:prstGeom prst="rect">
            <a:avLst/>
          </a:prstGeom>
          <a:noFill/>
          <a:ln/>
        </p:spPr>
        <p:txBody>
          <a:bodyPr wrap="square" lIns="0" tIns="0" rIns="0" bIns="0" rtlCol="0" anchor="ctr"/>
          <a:lstStyle/>
          <a:p>
            <a:pPr indent="0" marL="0">
              <a:buNone/>
            </a:pPr>
            <a:r>
              <a:rPr lang="en-US" sz="1300" b="1" dirty="0">
                <a:solidFill>
                  <a:srgbClr val="E0533A"/>
                </a:solidFill>
                <a:latin typeface="Arial" pitchFamily="34" charset="0"/>
                <a:ea typeface="Arial" pitchFamily="34" charset="-122"/>
                <a:cs typeface="Arial" pitchFamily="34" charset="-120"/>
              </a:rPr>
              <a:t>Test set contains synthetic flows</a:t>
            </a:r>
            <a:endParaRPr lang="en-US" sz="1300" dirty="0"/>
          </a:p>
        </p:txBody>
      </p:sp>
      <p:sp>
        <p:nvSpPr>
          <p:cNvPr id="34" name="Text 31"/>
          <p:cNvSpPr txBox="1"/>
          <p:nvPr/>
        </p:nvSpPr>
        <p:spPr>
          <a:xfrm>
            <a:off x="685800" y="3063240"/>
            <a:ext cx="1737360" cy="868680"/>
          </a:xfrm>
          <a:prstGeom prst="rect">
            <a:avLst/>
          </a:prstGeom>
          <a:noFill/>
          <a:ln/>
        </p:spPr>
        <p:txBody>
          <a:bodyPr wrap="square" lIns="0" tIns="0" rIns="0" bIns="0" rtlCol="0" anchor="ctr"/>
          <a:lstStyle/>
          <a:p>
            <a:pPr indent="0" marL="0">
              <a:buNone/>
            </a:pPr>
            <a:r>
              <a:rPr lang="en-US" sz="1500" b="1" dirty="0">
                <a:solidFill>
                  <a:srgbClr val="1E8A5F"/>
                </a:solidFill>
                <a:latin typeface="Arial" pitchFamily="34" charset="0"/>
                <a:ea typeface="Arial" pitchFamily="34" charset="-122"/>
                <a:cs typeface="Arial" pitchFamily="34" charset="-120"/>
              </a:rPr>
              <a:t>Our fix</a:t>
            </a:r>
            <a:endParaRPr lang="en-US" sz="1500" dirty="0"/>
          </a:p>
          <a:p>
            <a:pPr indent="0" marL="0">
              <a:buNone/>
            </a:pPr>
            <a:r>
              <a:rPr lang="en-US" sz="1100" dirty="0">
                <a:solidFill>
                  <a:srgbClr val="55606E"/>
                </a:solidFill>
                <a:latin typeface="Arial" pitchFamily="34" charset="0"/>
                <a:ea typeface="Arial" pitchFamily="34" charset="-122"/>
                <a:cs typeface="Arial" pitchFamily="34" charset="-120"/>
              </a:rPr>
              <a:t>leakage-free</a:t>
            </a:r>
            <a:endParaRPr lang="en-US" sz="1500" dirty="0"/>
          </a:p>
        </p:txBody>
      </p:sp>
      <p:sp>
        <p:nvSpPr>
          <p:cNvPr id="35" name="Shape 32"/>
          <p:cNvSpPr/>
          <p:nvPr/>
        </p:nvSpPr>
        <p:spPr>
          <a:xfrm>
            <a:off x="2606040" y="3063240"/>
            <a:ext cx="1828800" cy="868680"/>
          </a:xfrm>
          <a:prstGeom prst="roundRect">
            <a:avLst>
              <a:gd name="adj" fmla="val 6316"/>
            </a:avLst>
          </a:prstGeom>
          <a:solidFill>
            <a:srgbClr val="F4F6F9"/>
          </a:solidFill>
          <a:ln w="12700">
            <a:solidFill>
              <a:srgbClr val="F4F6F9"/>
            </a:solidFill>
            <a:prstDash val="solid"/>
          </a:ln>
        </p:spPr>
      </p:sp>
      <p:sp>
        <p:nvSpPr>
          <p:cNvPr id="36" name="Text 33"/>
          <p:cNvSpPr txBox="1"/>
          <p:nvPr/>
        </p:nvSpPr>
        <p:spPr>
          <a:xfrm>
            <a:off x="271576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37" name="Shape 34"/>
          <p:cNvSpPr/>
          <p:nvPr/>
        </p:nvSpPr>
        <p:spPr>
          <a:xfrm>
            <a:off x="4462272" y="3497580"/>
            <a:ext cx="265176" cy="914"/>
          </a:xfrm>
          <a:prstGeom prst="line">
            <a:avLst/>
          </a:prstGeom>
          <a:noFill/>
          <a:ln w="15875">
            <a:solidFill>
              <a:srgbClr val="8A94A3"/>
            </a:solidFill>
            <a:prstDash val="solid"/>
            <a:tailEnd type="triangle"/>
          </a:ln>
        </p:spPr>
      </p:sp>
      <p:sp>
        <p:nvSpPr>
          <p:cNvPr id="38" name="Shape 35"/>
          <p:cNvSpPr/>
          <p:nvPr/>
        </p:nvSpPr>
        <p:spPr>
          <a:xfrm>
            <a:off x="4754880" y="3063240"/>
            <a:ext cx="1828800" cy="868680"/>
          </a:xfrm>
          <a:prstGeom prst="roundRect">
            <a:avLst>
              <a:gd name="adj" fmla="val 6316"/>
            </a:avLst>
          </a:prstGeom>
          <a:solidFill>
            <a:srgbClr val="F4F6F9"/>
          </a:solidFill>
          <a:ln w="12700">
            <a:solidFill>
              <a:srgbClr val="F4F6F9"/>
            </a:solidFill>
            <a:prstDash val="solid"/>
          </a:ln>
        </p:spPr>
      </p:sp>
      <p:sp>
        <p:nvSpPr>
          <p:cNvPr id="39" name="Text 36"/>
          <p:cNvSpPr txBox="1"/>
          <p:nvPr/>
        </p:nvSpPr>
        <p:spPr>
          <a:xfrm>
            <a:off x="486460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40" name="Shape 37"/>
          <p:cNvSpPr/>
          <p:nvPr/>
        </p:nvSpPr>
        <p:spPr>
          <a:xfrm>
            <a:off x="6611112" y="3497580"/>
            <a:ext cx="265176" cy="914"/>
          </a:xfrm>
          <a:prstGeom prst="line">
            <a:avLst/>
          </a:prstGeom>
          <a:noFill/>
          <a:ln w="15875">
            <a:solidFill>
              <a:srgbClr val="8A94A3"/>
            </a:solidFill>
            <a:prstDash val="solid"/>
            <a:tailEnd type="triangle"/>
          </a:ln>
        </p:spPr>
      </p:sp>
      <p:sp>
        <p:nvSpPr>
          <p:cNvPr id="41" name="Shape 38"/>
          <p:cNvSpPr/>
          <p:nvPr/>
        </p:nvSpPr>
        <p:spPr>
          <a:xfrm>
            <a:off x="6903720" y="3063240"/>
            <a:ext cx="1828800" cy="868680"/>
          </a:xfrm>
          <a:prstGeom prst="roundRect">
            <a:avLst>
              <a:gd name="adj" fmla="val 6316"/>
            </a:avLst>
          </a:prstGeom>
          <a:solidFill>
            <a:srgbClr val="F4F6F9"/>
          </a:solidFill>
          <a:ln w="12700">
            <a:solidFill>
              <a:srgbClr val="F4F6F9"/>
            </a:solidFill>
            <a:prstDash val="solid"/>
          </a:ln>
        </p:spPr>
      </p:sp>
      <p:sp>
        <p:nvSpPr>
          <p:cNvPr id="42" name="Text 39"/>
          <p:cNvSpPr txBox="1"/>
          <p:nvPr/>
        </p:nvSpPr>
        <p:spPr>
          <a:xfrm>
            <a:off x="701344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on training data only</a:t>
            </a:r>
            <a:endParaRPr lang="en-US" sz="1250" dirty="0"/>
          </a:p>
        </p:txBody>
      </p:sp>
      <p:sp>
        <p:nvSpPr>
          <p:cNvPr id="43" name="Shape 40"/>
          <p:cNvSpPr/>
          <p:nvPr/>
        </p:nvSpPr>
        <p:spPr>
          <a:xfrm>
            <a:off x="8759952" y="3497580"/>
            <a:ext cx="265176" cy="914"/>
          </a:xfrm>
          <a:prstGeom prst="line">
            <a:avLst/>
          </a:prstGeom>
          <a:noFill/>
          <a:ln w="15875">
            <a:solidFill>
              <a:srgbClr val="8A94A3"/>
            </a:solidFill>
            <a:prstDash val="solid"/>
            <a:tailEnd type="triangle"/>
          </a:ln>
        </p:spPr>
      </p:sp>
      <p:sp>
        <p:nvSpPr>
          <p:cNvPr id="44" name="Shape 41"/>
          <p:cNvSpPr/>
          <p:nvPr/>
        </p:nvSpPr>
        <p:spPr>
          <a:xfrm>
            <a:off x="9052560" y="3063240"/>
            <a:ext cx="2453335" cy="868680"/>
          </a:xfrm>
          <a:prstGeom prst="roundRect">
            <a:avLst>
              <a:gd name="adj" fmla="val 6316"/>
            </a:avLst>
          </a:prstGeom>
          <a:solidFill>
            <a:srgbClr val="E7F4ED"/>
          </a:solidFill>
          <a:ln w="12700">
            <a:solidFill>
              <a:srgbClr val="E7F4ED"/>
            </a:solidFill>
            <a:prstDash val="solid"/>
          </a:ln>
        </p:spPr>
      </p:sp>
      <p:sp>
        <p:nvSpPr>
          <p:cNvPr id="45" name="Shape 42"/>
          <p:cNvSpPr/>
          <p:nvPr/>
        </p:nvSpPr>
        <p:spPr>
          <a:xfrm>
            <a:off x="9253728" y="3246120"/>
            <a:ext cx="502920" cy="502920"/>
          </a:xfrm>
          <a:prstGeom prst="ellipse">
            <a:avLst/>
          </a:prstGeom>
          <a:solidFill>
            <a:srgbClr val="1E8A5F"/>
          </a:solidFill>
          <a:ln w="12700">
            <a:solidFill>
              <a:srgbClr val="1E8A5F"/>
            </a:solidFill>
            <a:prstDash val="solid"/>
          </a:ln>
        </p:spPr>
      </p:sp>
      <p:pic>
        <p:nvPicPr>
          <p:cNvPr id="46" name="Image 1" descr="preencoded.png">    </p:cNvPr>
          <p:cNvPicPr>
            <a:picLocks noChangeAspect="1"/>
          </p:cNvPicPr>
          <p:nvPr/>
        </p:nvPicPr>
        <p:blipFill>
          <a:blip r:embed="rId2"/>
          <a:stretch>
            <a:fillRect/>
          </a:stretch>
        </p:blipFill>
        <p:spPr>
          <a:xfrm>
            <a:off x="9389516" y="3381908"/>
            <a:ext cx="231343" cy="231343"/>
          </a:xfrm>
          <a:prstGeom prst="rect">
            <a:avLst/>
          </a:prstGeom>
        </p:spPr>
      </p:pic>
      <p:sp>
        <p:nvSpPr>
          <p:cNvPr id="47" name="Text 43"/>
          <p:cNvSpPr txBox="1"/>
          <p:nvPr/>
        </p:nvSpPr>
        <p:spPr>
          <a:xfrm>
            <a:off x="9921240" y="3063240"/>
            <a:ext cx="1447495" cy="868680"/>
          </a:xfrm>
          <a:prstGeom prst="rect">
            <a:avLst/>
          </a:prstGeom>
          <a:noFill/>
          <a:ln/>
        </p:spPr>
        <p:txBody>
          <a:bodyPr wrap="square" lIns="0" tIns="0" rIns="0" bIns="0" rtlCol="0" anchor="ctr"/>
          <a:lstStyle/>
          <a:p>
            <a:pPr indent="0" marL="0">
              <a:buNone/>
            </a:pPr>
            <a:r>
              <a:rPr lang="en-US" sz="1300" b="1" dirty="0">
                <a:solidFill>
                  <a:srgbClr val="1E8A5F"/>
                </a:solidFill>
                <a:latin typeface="Arial" pitchFamily="34" charset="0"/>
                <a:ea typeface="Arial" pitchFamily="34" charset="-122"/>
                <a:cs typeface="Arial" pitchFamily="34" charset="-120"/>
              </a:rPr>
              <a:t>Test set is real traffic only</a:t>
            </a:r>
            <a:endParaRPr lang="en-US" sz="1300" dirty="0"/>
          </a:p>
        </p:txBody>
      </p:sp>
      <p:sp>
        <p:nvSpPr>
          <p:cNvPr id="48" name="Text 44"/>
          <p:cNvSpPr txBox="1"/>
          <p:nvPr/>
        </p:nvSpPr>
        <p:spPr>
          <a:xfrm>
            <a:off x="685800" y="4343400"/>
            <a:ext cx="10820095"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Why it matters</a:t>
            </a:r>
            <a:endParaRPr lang="en-US" sz="1600" dirty="0"/>
          </a:p>
        </p:txBody>
      </p:sp>
      <p:sp>
        <p:nvSpPr>
          <p:cNvPr id="49" name="Shape 45"/>
          <p:cNvSpPr/>
          <p:nvPr/>
        </p:nvSpPr>
        <p:spPr>
          <a:xfrm>
            <a:off x="685800" y="4846320"/>
            <a:ext cx="530352" cy="530352"/>
          </a:xfrm>
          <a:prstGeom prst="ellipse">
            <a:avLst/>
          </a:prstGeom>
          <a:solidFill>
            <a:srgbClr val="E0533A"/>
          </a:solidFill>
          <a:ln w="12700">
            <a:solidFill>
              <a:srgbClr val="E0533A"/>
            </a:solidFill>
            <a:prstDash val="solid"/>
          </a:ln>
        </p:spPr>
      </p:sp>
      <p:pic>
        <p:nvPicPr>
          <p:cNvPr id="50" name="Image 2" descr="preencoded.png">    </p:cNvPr>
          <p:cNvPicPr>
            <a:picLocks noChangeAspect="1"/>
          </p:cNvPicPr>
          <p:nvPr/>
        </p:nvPicPr>
        <p:blipFill>
          <a:blip r:embed="rId3"/>
          <a:stretch>
            <a:fillRect/>
          </a:stretch>
        </p:blipFill>
        <p:spPr>
          <a:xfrm>
            <a:off x="828995" y="4989515"/>
            <a:ext cx="243962" cy="243962"/>
          </a:xfrm>
          <a:prstGeom prst="rect">
            <a:avLst/>
          </a:prstGeom>
        </p:spPr>
      </p:pic>
      <p:sp>
        <p:nvSpPr>
          <p:cNvPr id="51" name="Text 46"/>
          <p:cNvSpPr txBox="1"/>
          <p:nvPr/>
        </p:nvSpPr>
        <p:spPr>
          <a:xfrm>
            <a:off x="1417320"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 flows leak into the test set</a:t>
            </a:r>
            <a:endParaRPr lang="en-US" sz="1450" dirty="0"/>
          </a:p>
        </p:txBody>
      </p:sp>
      <p:sp>
        <p:nvSpPr>
          <p:cNvPr id="52" name="Text 47"/>
          <p:cNvSpPr txBox="1"/>
          <p:nvPr/>
        </p:nvSpPr>
        <p:spPr>
          <a:xfrm>
            <a:off x="1417320"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SMOTE creates them by interpolating real flows, some of which are in training, so testing partly repeats training.</a:t>
            </a:r>
            <a:endParaRPr lang="en-US" sz="1250" dirty="0"/>
          </a:p>
        </p:txBody>
      </p:sp>
      <p:sp>
        <p:nvSpPr>
          <p:cNvPr id="53" name="Shape 48"/>
          <p:cNvSpPr/>
          <p:nvPr/>
        </p:nvSpPr>
        <p:spPr>
          <a:xfrm>
            <a:off x="6233008" y="4846320"/>
            <a:ext cx="530352" cy="530352"/>
          </a:xfrm>
          <a:prstGeom prst="ellipse">
            <a:avLst/>
          </a:prstGeom>
          <a:solidFill>
            <a:srgbClr val="E0533A"/>
          </a:solidFill>
          <a:ln w="12700">
            <a:solidFill>
              <a:srgbClr val="E0533A"/>
            </a:solidFill>
            <a:prstDash val="solid"/>
          </a:ln>
        </p:spPr>
      </p:sp>
      <p:pic>
        <p:nvPicPr>
          <p:cNvPr id="54" name="Image 3" descr="preencoded.png">    </p:cNvPr>
          <p:cNvPicPr>
            <a:picLocks noChangeAspect="1"/>
          </p:cNvPicPr>
          <p:nvPr/>
        </p:nvPicPr>
        <p:blipFill>
          <a:blip r:embed="rId4"/>
          <a:stretch>
            <a:fillRect/>
          </a:stretch>
        </p:blipFill>
        <p:spPr>
          <a:xfrm>
            <a:off x="6376203" y="4989515"/>
            <a:ext cx="243962" cy="243962"/>
          </a:xfrm>
          <a:prstGeom prst="rect">
            <a:avLst/>
          </a:prstGeom>
        </p:spPr>
      </p:pic>
      <p:sp>
        <p:nvSpPr>
          <p:cNvPr id="55" name="Text 49"/>
          <p:cNvSpPr txBox="1"/>
          <p:nvPr/>
        </p:nvSpPr>
        <p:spPr>
          <a:xfrm>
            <a:off x="6964528"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An unrealistic 50/50 test set</a:t>
            </a:r>
            <a:endParaRPr lang="en-US" sz="1450" dirty="0"/>
          </a:p>
        </p:txBody>
      </p:sp>
      <p:sp>
        <p:nvSpPr>
          <p:cNvPr id="56" name="Text 50"/>
          <p:cNvSpPr txBox="1"/>
          <p:nvPr/>
        </p:nvSpPr>
        <p:spPr>
          <a:xfrm>
            <a:off x="6964528"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Real traffic here is 77% benign; a balanced test set hides how many false alarms a model raises.</a:t>
            </a:r>
            <a:endParaRPr lang="en-US" sz="1250" dirty="0"/>
          </a:p>
        </p:txBody>
      </p:sp>
      <p:sp>
        <p:nvSpPr>
          <p:cNvPr id="57" name="Text 51"/>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8" name="Text 52"/>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Three experiments, fifteen models, five seeds</a:t>
            </a:r>
            <a:endParaRPr lang="en-US" sz="3000" dirty="0"/>
          </a:p>
        </p:txBody>
      </p:sp>
      <p:sp>
        <p:nvSpPr>
          <p:cNvPr id="20" name="Shape 18"/>
          <p:cNvSpPr/>
          <p:nvPr/>
        </p:nvSpPr>
        <p:spPr>
          <a:xfrm>
            <a:off x="685800" y="1828800"/>
            <a:ext cx="3423818" cy="2194560"/>
          </a:xfrm>
          <a:prstGeom prst="roundRect">
            <a:avLst>
              <a:gd name="adj" fmla="val 2500"/>
            </a:avLst>
          </a:prstGeom>
          <a:solidFill>
            <a:srgbClr val="F4F6F9"/>
          </a:solidFill>
          <a:ln w="12700">
            <a:solidFill>
              <a:srgbClr val="F4F6F9"/>
            </a:solidFill>
            <a:prstDash val="solid"/>
          </a:ln>
        </p:spPr>
      </p:sp>
      <p:sp>
        <p:nvSpPr>
          <p:cNvPr id="21" name="Text 19"/>
          <p:cNvSpPr txBox="1"/>
          <p:nvPr/>
        </p:nvSpPr>
        <p:spPr>
          <a:xfrm>
            <a:off x="1005840" y="2084832"/>
            <a:ext cx="2783738" cy="256032"/>
          </a:xfrm>
          <a:prstGeom prst="rect">
            <a:avLst/>
          </a:prstGeom>
          <a:noFill/>
          <a:ln/>
        </p:spPr>
        <p:txBody>
          <a:bodyPr wrap="square" lIns="0" tIns="0" rIns="0" bIns="0" rtlCol="0" anchor="t"/>
          <a:lstStyle/>
          <a:p>
            <a:pPr indent="0" marL="0">
              <a:buNone/>
            </a:pPr>
            <a:r>
              <a:rPr lang="en-US" sz="1000" b="1" dirty="0">
                <a:solidFill>
                  <a:srgbClr val="E0533A"/>
                </a:solidFill>
                <a:latin typeface="Arial" pitchFamily="34" charset="0"/>
                <a:ea typeface="Arial" pitchFamily="34" charset="-122"/>
                <a:cs typeface="Arial" pitchFamily="34" charset="-120"/>
              </a:rPr>
              <a:t>REPLICATION</a:t>
            </a:r>
            <a:endParaRPr lang="en-US" sz="1000" dirty="0"/>
          </a:p>
        </p:txBody>
      </p:sp>
      <p:sp>
        <p:nvSpPr>
          <p:cNvPr id="22" name="Text 20"/>
          <p:cNvSpPr txBox="1"/>
          <p:nvPr/>
        </p:nvSpPr>
        <p:spPr>
          <a:xfrm>
            <a:off x="1005840"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Paper protocol</a:t>
            </a:r>
            <a:endParaRPr lang="en-US" sz="2000" dirty="0"/>
          </a:p>
        </p:txBody>
      </p:sp>
      <p:sp>
        <p:nvSpPr>
          <p:cNvPr id="23" name="Text 21"/>
          <p:cNvSpPr txBox="1"/>
          <p:nvPr/>
        </p:nvSpPr>
        <p:spPr>
          <a:xfrm>
            <a:off x="1005840"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Exactly the published pipeline: balance the data, then split</a:t>
            </a:r>
            <a:endParaRPr lang="en-US" sz="1250" dirty="0"/>
          </a:p>
        </p:txBody>
      </p:sp>
      <p:sp>
        <p:nvSpPr>
          <p:cNvPr id="24" name="Shape 22"/>
          <p:cNvSpPr/>
          <p:nvPr/>
        </p:nvSpPr>
        <p:spPr>
          <a:xfrm>
            <a:off x="1005840" y="3547872"/>
            <a:ext cx="1325880" cy="310896"/>
          </a:xfrm>
          <a:prstGeom prst="roundRect">
            <a:avLst>
              <a:gd name="adj" fmla="val 23529"/>
            </a:avLst>
          </a:prstGeom>
          <a:solidFill>
            <a:srgbClr val="FFFFFF"/>
          </a:solidFill>
          <a:ln w="12700">
            <a:solidFill>
              <a:srgbClr val="FFFFFF"/>
            </a:solidFill>
            <a:prstDash val="solid"/>
          </a:ln>
        </p:spPr>
      </p:sp>
      <p:sp>
        <p:nvSpPr>
          <p:cNvPr id="25" name="Text 23"/>
          <p:cNvSpPr txBox="1"/>
          <p:nvPr/>
        </p:nvSpPr>
        <p:spPr>
          <a:xfrm>
            <a:off x="1005840"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26" name="Shape 24"/>
          <p:cNvSpPr/>
          <p:nvPr/>
        </p:nvSpPr>
        <p:spPr>
          <a:xfrm>
            <a:off x="4383938" y="1828800"/>
            <a:ext cx="3423818" cy="2194560"/>
          </a:xfrm>
          <a:prstGeom prst="roundRect">
            <a:avLst>
              <a:gd name="adj" fmla="val 2500"/>
            </a:avLst>
          </a:prstGeom>
          <a:solidFill>
            <a:srgbClr val="F4F6F9"/>
          </a:solidFill>
          <a:ln w="12700">
            <a:solidFill>
              <a:srgbClr val="F4F6F9"/>
            </a:solidFill>
            <a:prstDash val="solid"/>
          </a:ln>
        </p:spPr>
      </p:sp>
      <p:sp>
        <p:nvSpPr>
          <p:cNvPr id="27" name="Text 25"/>
          <p:cNvSpPr txBox="1"/>
          <p:nvPr/>
        </p:nvSpPr>
        <p:spPr>
          <a:xfrm>
            <a:off x="4703978" y="2084832"/>
            <a:ext cx="2783738" cy="256032"/>
          </a:xfrm>
          <a:prstGeom prst="rect">
            <a:avLst/>
          </a:prstGeom>
          <a:noFill/>
          <a:ln/>
        </p:spPr>
        <p:txBody>
          <a:bodyPr wrap="square" lIns="0" tIns="0" rIns="0" bIns="0" rtlCol="0" anchor="t"/>
          <a:lstStyle/>
          <a:p>
            <a:pPr indent="0" marL="0">
              <a:buNone/>
            </a:pPr>
            <a:r>
              <a:rPr lang="en-US" sz="1000" b="1" dirty="0">
                <a:solidFill>
                  <a:srgbClr val="1E8A5F"/>
                </a:solidFill>
                <a:latin typeface="Arial" pitchFamily="34" charset="0"/>
                <a:ea typeface="Arial" pitchFamily="34" charset="-122"/>
                <a:cs typeface="Arial" pitchFamily="34" charset="-120"/>
              </a:rPr>
              <a:t>CORRECTION</a:t>
            </a:r>
            <a:endParaRPr lang="en-US" sz="1000" dirty="0"/>
          </a:p>
        </p:txBody>
      </p:sp>
      <p:sp>
        <p:nvSpPr>
          <p:cNvPr id="28" name="Text 26"/>
          <p:cNvSpPr txBox="1"/>
          <p:nvPr/>
        </p:nvSpPr>
        <p:spPr>
          <a:xfrm>
            <a:off x="4703978"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Leakage-free protocol</a:t>
            </a:r>
            <a:endParaRPr lang="en-US" sz="2000" dirty="0"/>
          </a:p>
        </p:txBody>
      </p:sp>
      <p:sp>
        <p:nvSpPr>
          <p:cNvPr id="29" name="Text 27"/>
          <p:cNvSpPr txBox="1"/>
          <p:nvPr/>
        </p:nvSpPr>
        <p:spPr>
          <a:xfrm>
            <a:off x="4703978"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Split first, balance the training data only; repeated over 5 random seeds</a:t>
            </a:r>
            <a:endParaRPr lang="en-US" sz="1250" dirty="0"/>
          </a:p>
        </p:txBody>
      </p:sp>
      <p:sp>
        <p:nvSpPr>
          <p:cNvPr id="30" name="Shape 28"/>
          <p:cNvSpPr/>
          <p:nvPr/>
        </p:nvSpPr>
        <p:spPr>
          <a:xfrm>
            <a:off x="4703978" y="3547872"/>
            <a:ext cx="1325880" cy="310896"/>
          </a:xfrm>
          <a:prstGeom prst="roundRect">
            <a:avLst>
              <a:gd name="adj" fmla="val 23529"/>
            </a:avLst>
          </a:prstGeom>
          <a:solidFill>
            <a:srgbClr val="FFFFFF"/>
          </a:solidFill>
          <a:ln w="12700">
            <a:solidFill>
              <a:srgbClr val="FFFFFF"/>
            </a:solidFill>
            <a:prstDash val="solid"/>
          </a:ln>
        </p:spPr>
      </p:sp>
      <p:sp>
        <p:nvSpPr>
          <p:cNvPr id="31" name="Text 29"/>
          <p:cNvSpPr txBox="1"/>
          <p:nvPr/>
        </p:nvSpPr>
        <p:spPr>
          <a:xfrm>
            <a:off x="4703978"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32" name="Shape 30"/>
          <p:cNvSpPr/>
          <p:nvPr/>
        </p:nvSpPr>
        <p:spPr>
          <a:xfrm>
            <a:off x="8082077" y="1828800"/>
            <a:ext cx="3423818" cy="2194560"/>
          </a:xfrm>
          <a:prstGeom prst="roundRect">
            <a:avLst>
              <a:gd name="adj" fmla="val 2500"/>
            </a:avLst>
          </a:prstGeom>
          <a:solidFill>
            <a:srgbClr val="F4F6F9"/>
          </a:solidFill>
          <a:ln w="12700">
            <a:solidFill>
              <a:srgbClr val="F4F6F9"/>
            </a:solidFill>
            <a:prstDash val="solid"/>
          </a:ln>
        </p:spPr>
      </p:sp>
      <p:sp>
        <p:nvSpPr>
          <p:cNvPr id="33" name="Text 31"/>
          <p:cNvSpPr txBox="1"/>
          <p:nvPr/>
        </p:nvSpPr>
        <p:spPr>
          <a:xfrm>
            <a:off x="8402117" y="2084832"/>
            <a:ext cx="2783738" cy="256032"/>
          </a:xfrm>
          <a:prstGeom prst="rect">
            <a:avLst/>
          </a:prstGeom>
          <a:noFill/>
          <a:ln/>
        </p:spPr>
        <p:txBody>
          <a:bodyPr wrap="square" lIns="0" tIns="0" rIns="0" bIns="0" rtlCol="0" anchor="t"/>
          <a:lstStyle/>
          <a:p>
            <a:pPr indent="0" marL="0">
              <a:buNone/>
            </a:pPr>
            <a:r>
              <a:rPr lang="en-US" sz="1000" b="1" dirty="0">
                <a:solidFill>
                  <a:srgbClr val="2A78D6"/>
                </a:solidFill>
                <a:latin typeface="Arial" pitchFamily="34" charset="0"/>
                <a:ea typeface="Arial" pitchFamily="34" charset="-122"/>
                <a:cs typeface="Arial" pitchFamily="34" charset="-120"/>
              </a:rPr>
              <a:t>EXTENSION</a:t>
            </a:r>
            <a:endParaRPr lang="en-US" sz="1000" dirty="0"/>
          </a:p>
        </p:txBody>
      </p:sp>
      <p:sp>
        <p:nvSpPr>
          <p:cNvPr id="34" name="Text 32"/>
          <p:cNvSpPr txBox="1"/>
          <p:nvPr/>
        </p:nvSpPr>
        <p:spPr>
          <a:xfrm>
            <a:off x="8402117"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APT-stage classification</a:t>
            </a:r>
            <a:endParaRPr lang="en-US" sz="2000" dirty="0"/>
          </a:p>
        </p:txBody>
      </p:sp>
      <p:sp>
        <p:nvSpPr>
          <p:cNvPr id="35" name="Text 33"/>
          <p:cNvSpPr txBox="1"/>
          <p:nvPr/>
        </p:nvSpPr>
        <p:spPr>
          <a:xfrm>
            <a:off x="8402117"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Predict the stage of every flow, leakage-free, which the paper's datasets cannot support</a:t>
            </a:r>
            <a:endParaRPr lang="en-US" sz="1250" dirty="0"/>
          </a:p>
        </p:txBody>
      </p:sp>
      <p:sp>
        <p:nvSpPr>
          <p:cNvPr id="36" name="Shape 34"/>
          <p:cNvSpPr/>
          <p:nvPr/>
        </p:nvSpPr>
        <p:spPr>
          <a:xfrm>
            <a:off x="8402117" y="3547872"/>
            <a:ext cx="1325880" cy="310896"/>
          </a:xfrm>
          <a:prstGeom prst="roundRect">
            <a:avLst>
              <a:gd name="adj" fmla="val 23529"/>
            </a:avLst>
          </a:prstGeom>
          <a:solidFill>
            <a:srgbClr val="FFFFFF"/>
          </a:solidFill>
          <a:ln w="12700">
            <a:solidFill>
              <a:srgbClr val="FFFFFF"/>
            </a:solidFill>
            <a:prstDash val="solid"/>
          </a:ln>
        </p:spPr>
      </p:sp>
      <p:sp>
        <p:nvSpPr>
          <p:cNvPr id="37" name="Text 35"/>
          <p:cNvSpPr txBox="1"/>
          <p:nvPr/>
        </p:nvSpPr>
        <p:spPr>
          <a:xfrm>
            <a:off x="8402117"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5 classes</a:t>
            </a:r>
            <a:endParaRPr lang="en-US" sz="1050" dirty="0"/>
          </a:p>
        </p:txBody>
      </p:sp>
      <p:sp>
        <p:nvSpPr>
          <p:cNvPr id="38" name="Shape 36"/>
          <p:cNvSpPr/>
          <p:nvPr/>
        </p:nvSpPr>
        <p:spPr>
          <a:xfrm>
            <a:off x="685800" y="4343400"/>
            <a:ext cx="10820095" cy="914"/>
          </a:xfrm>
          <a:prstGeom prst="line">
            <a:avLst/>
          </a:prstGeom>
          <a:noFill/>
          <a:ln w="9525">
            <a:solidFill>
              <a:srgbClr val="E2E6EC"/>
            </a:solidFill>
            <a:prstDash val="solid"/>
          </a:ln>
        </p:spPr>
      </p:sp>
      <p:sp>
        <p:nvSpPr>
          <p:cNvPr id="39" name="Text 37"/>
          <p:cNvSpPr txBox="1"/>
          <p:nvPr/>
        </p:nvSpPr>
        <p:spPr>
          <a:xfrm>
            <a:off x="685800"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PROPOSED</a:t>
            </a:r>
            <a:endParaRPr lang="en-US" sz="1000" dirty="0"/>
          </a:p>
        </p:txBody>
      </p:sp>
      <p:sp>
        <p:nvSpPr>
          <p:cNvPr id="40" name="Text 38"/>
          <p:cNvSpPr txBox="1"/>
          <p:nvPr/>
        </p:nvSpPr>
        <p:spPr>
          <a:xfrm>
            <a:off x="685800"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Hybrid RF + XGBoost (OR rule, as published)</a:t>
            </a:r>
            <a:endParaRPr lang="en-US" sz="1250" dirty="0"/>
          </a:p>
          <a:p>
            <a:pPr indent="0" marL="0">
              <a:buNone/>
            </a:pPr>
            <a:r>
              <a:rPr lang="en-US" sz="1250" dirty="0">
                <a:solidFill>
                  <a:srgbClr val="0F1B2D"/>
                </a:solidFill>
                <a:latin typeface="Arial" pitchFamily="34" charset="0"/>
                <a:ea typeface="Arial" pitchFamily="34" charset="-122"/>
                <a:cs typeface="Arial" pitchFamily="34" charset="-120"/>
              </a:rPr>
              <a:t>Hybrid, soft-vote variant</a:t>
            </a:r>
            <a:endParaRPr lang="en-US" sz="1250" dirty="0"/>
          </a:p>
        </p:txBody>
      </p:sp>
      <p:sp>
        <p:nvSpPr>
          <p:cNvPr id="41" name="Text 39"/>
          <p:cNvSpPr txBox="1"/>
          <p:nvPr/>
        </p:nvSpPr>
        <p:spPr>
          <a:xfrm>
            <a:off x="4383938"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CLASSICAL MACHINE LEARNING</a:t>
            </a:r>
            <a:endParaRPr lang="en-US" sz="1000" dirty="0"/>
          </a:p>
        </p:txBody>
      </p:sp>
      <p:sp>
        <p:nvSpPr>
          <p:cNvPr id="42" name="Text 40"/>
          <p:cNvSpPr txBox="1"/>
          <p:nvPr/>
        </p:nvSpPr>
        <p:spPr>
          <a:xfrm>
            <a:off x="4383938"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KNN · Decision tree · SVM · Kernel SVM · Random forest · XGBoost · Gradient boosting · AdaBoost · Naive Bayes · Logistic regression</a:t>
            </a:r>
            <a:endParaRPr lang="en-US" sz="1250" dirty="0"/>
          </a:p>
        </p:txBody>
      </p:sp>
      <p:sp>
        <p:nvSpPr>
          <p:cNvPr id="43" name="Text 41"/>
          <p:cNvSpPr txBox="1"/>
          <p:nvPr/>
        </p:nvSpPr>
        <p:spPr>
          <a:xfrm>
            <a:off x="8082077"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DEEP LEARNING</a:t>
            </a:r>
            <a:endParaRPr lang="en-US" sz="1000" dirty="0"/>
          </a:p>
        </p:txBody>
      </p:sp>
      <p:sp>
        <p:nvSpPr>
          <p:cNvPr id="44" name="Text 42"/>
          <p:cNvSpPr txBox="1"/>
          <p:nvPr/>
        </p:nvSpPr>
        <p:spPr>
          <a:xfrm>
            <a:off x="8082077"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CNN · ANN · MLP, trained on the GPU for up to 200 epochs with early stopping</a:t>
            </a:r>
            <a:endParaRPr lang="en-US" sz="1250" dirty="0"/>
          </a:p>
        </p:txBody>
      </p:sp>
      <p:sp>
        <p:nvSpPr>
          <p:cNvPr id="45"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6"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351387" y="1163854"/>
            <a:ext cx="20285" cy="558501"/>
          </a:xfrm>
          <a:prstGeom prst="line">
            <a:avLst/>
          </a:prstGeom>
          <a:noFill/>
          <a:ln w="9525">
            <a:solidFill>
              <a:srgbClr val="2C3E5C"/>
            </a:solidFill>
            <a:prstDash val="solid"/>
          </a:ln>
        </p:spPr>
      </p:sp>
      <p:sp>
        <p:nvSpPr>
          <p:cNvPr id="3" name="Shape 1"/>
          <p:cNvSpPr/>
          <p:nvPr/>
        </p:nvSpPr>
        <p:spPr>
          <a:xfrm flipH="1">
            <a:off x="6820618" y="1163854"/>
            <a:ext cx="530769" cy="299396"/>
          </a:xfrm>
          <a:prstGeom prst="line">
            <a:avLst/>
          </a:prstGeom>
          <a:noFill/>
          <a:ln w="12700">
            <a:solidFill>
              <a:srgbClr val="E0533A">
                <a:alpha val="55000"/>
              </a:srgbClr>
            </a:solidFill>
            <a:prstDash val="solid"/>
          </a:ln>
        </p:spPr>
      </p:sp>
      <p:sp>
        <p:nvSpPr>
          <p:cNvPr id="4" name="Shape 2"/>
          <p:cNvSpPr/>
          <p:nvPr/>
        </p:nvSpPr>
        <p:spPr>
          <a:xfrm>
            <a:off x="9174218" y="1030487"/>
            <a:ext cx="108778" cy="797620"/>
          </a:xfrm>
          <a:prstGeom prst="line">
            <a:avLst/>
          </a:prstGeom>
          <a:noFill/>
          <a:ln w="9525">
            <a:solidFill>
              <a:srgbClr val="2C3E5C"/>
            </a:solidFill>
            <a:prstDash val="solid"/>
          </a:ln>
        </p:spPr>
      </p:sp>
      <p:sp>
        <p:nvSpPr>
          <p:cNvPr id="5" name="Shape 3"/>
          <p:cNvSpPr/>
          <p:nvPr/>
        </p:nvSpPr>
        <p:spPr>
          <a:xfrm flipH="1">
            <a:off x="8899852" y="1030487"/>
            <a:ext cx="274366" cy="880036"/>
          </a:xfrm>
          <a:prstGeom prst="line">
            <a:avLst/>
          </a:prstGeom>
          <a:noFill/>
          <a:ln w="9525">
            <a:solidFill>
              <a:srgbClr val="2C3E5C"/>
            </a:solidFill>
            <a:prstDash val="solid"/>
          </a:ln>
        </p:spPr>
      </p:sp>
      <p:sp>
        <p:nvSpPr>
          <p:cNvPr id="6" name="Shape 4"/>
          <p:cNvSpPr/>
          <p:nvPr/>
        </p:nvSpPr>
        <p:spPr>
          <a:xfrm>
            <a:off x="10719002" y="944060"/>
            <a:ext cx="342546" cy="512115"/>
          </a:xfrm>
          <a:prstGeom prst="line">
            <a:avLst/>
          </a:prstGeom>
          <a:noFill/>
          <a:ln w="9525">
            <a:solidFill>
              <a:srgbClr val="2C3E5C"/>
            </a:solidFill>
            <a:prstDash val="solid"/>
          </a:ln>
        </p:spPr>
      </p:sp>
      <p:sp>
        <p:nvSpPr>
          <p:cNvPr id="7" name="Shape 5"/>
          <p:cNvSpPr/>
          <p:nvPr/>
        </p:nvSpPr>
        <p:spPr>
          <a:xfrm flipH="1">
            <a:off x="10127273" y="944060"/>
            <a:ext cx="591729" cy="465048"/>
          </a:xfrm>
          <a:prstGeom prst="line">
            <a:avLst/>
          </a:prstGeom>
          <a:noFill/>
          <a:ln w="9525">
            <a:solidFill>
              <a:srgbClr val="2C3E5C"/>
            </a:solidFill>
            <a:prstDash val="solid"/>
          </a:ln>
        </p:spPr>
      </p:sp>
      <p:sp>
        <p:nvSpPr>
          <p:cNvPr id="8" name="Shape 6"/>
          <p:cNvSpPr/>
          <p:nvPr/>
        </p:nvSpPr>
        <p:spPr>
          <a:xfrm flipH="1">
            <a:off x="11061548" y="1070891"/>
            <a:ext cx="405297" cy="385284"/>
          </a:xfrm>
          <a:prstGeom prst="line">
            <a:avLst/>
          </a:prstGeom>
          <a:noFill/>
          <a:ln w="9525">
            <a:solidFill>
              <a:srgbClr val="2C3E5C"/>
            </a:solidFill>
            <a:prstDash val="solid"/>
          </a:ln>
        </p:spPr>
      </p:sp>
      <p:sp>
        <p:nvSpPr>
          <p:cNvPr id="9" name="Shape 7"/>
          <p:cNvSpPr/>
          <p:nvPr/>
        </p:nvSpPr>
        <p:spPr>
          <a:xfrm>
            <a:off x="10719002" y="944060"/>
            <a:ext cx="747843" cy="126831"/>
          </a:xfrm>
          <a:prstGeom prst="line">
            <a:avLst/>
          </a:prstGeom>
          <a:noFill/>
          <a:ln w="9525">
            <a:solidFill>
              <a:srgbClr val="2C3E5C"/>
            </a:solidFill>
            <a:prstDash val="solid"/>
          </a:ln>
        </p:spPr>
      </p:sp>
      <p:sp>
        <p:nvSpPr>
          <p:cNvPr id="10" name="Shape 8"/>
          <p:cNvSpPr/>
          <p:nvPr/>
        </p:nvSpPr>
        <p:spPr>
          <a:xfrm>
            <a:off x="6820618" y="1463249"/>
            <a:ext cx="551054" cy="259106"/>
          </a:xfrm>
          <a:prstGeom prst="line">
            <a:avLst/>
          </a:prstGeom>
          <a:noFill/>
          <a:ln w="12700">
            <a:solidFill>
              <a:srgbClr val="E0533A">
                <a:alpha val="55000"/>
              </a:srgbClr>
            </a:solidFill>
            <a:prstDash val="solid"/>
          </a:ln>
        </p:spPr>
      </p:sp>
      <p:sp>
        <p:nvSpPr>
          <p:cNvPr id="11" name="Shape 9"/>
          <p:cNvSpPr/>
          <p:nvPr/>
        </p:nvSpPr>
        <p:spPr>
          <a:xfrm flipV="1">
            <a:off x="8899852" y="1828107"/>
            <a:ext cx="383144" cy="82416"/>
          </a:xfrm>
          <a:prstGeom prst="line">
            <a:avLst/>
          </a:prstGeom>
          <a:noFill/>
          <a:ln w="9525">
            <a:solidFill>
              <a:srgbClr val="2C3E5C"/>
            </a:solidFill>
            <a:prstDash val="solid"/>
          </a:ln>
        </p:spPr>
      </p:sp>
      <p:sp>
        <p:nvSpPr>
          <p:cNvPr id="12" name="Shape 10"/>
          <p:cNvSpPr/>
          <p:nvPr/>
        </p:nvSpPr>
        <p:spPr>
          <a:xfrm flipH="1">
            <a:off x="8562466" y="1910524"/>
            <a:ext cx="337386" cy="384192"/>
          </a:xfrm>
          <a:prstGeom prst="line">
            <a:avLst/>
          </a:prstGeom>
          <a:noFill/>
          <a:ln w="9525">
            <a:solidFill>
              <a:srgbClr val="2C3E5C"/>
            </a:solidFill>
            <a:prstDash val="solid"/>
          </a:ln>
        </p:spPr>
      </p:sp>
      <p:sp>
        <p:nvSpPr>
          <p:cNvPr id="13" name="Shape 11"/>
          <p:cNvSpPr/>
          <p:nvPr/>
        </p:nvSpPr>
        <p:spPr>
          <a:xfrm>
            <a:off x="10127273" y="1409107"/>
            <a:ext cx="934275" cy="47067"/>
          </a:xfrm>
          <a:prstGeom prst="line">
            <a:avLst/>
          </a:prstGeom>
          <a:noFill/>
          <a:ln w="9525">
            <a:solidFill>
              <a:srgbClr val="2C3E5C"/>
            </a:solidFill>
            <a:prstDash val="solid"/>
          </a:ln>
        </p:spPr>
      </p:sp>
      <p:sp>
        <p:nvSpPr>
          <p:cNvPr id="14" name="Shape 12"/>
          <p:cNvSpPr/>
          <p:nvPr/>
        </p:nvSpPr>
        <p:spPr>
          <a:xfrm>
            <a:off x="6614901" y="2776206"/>
            <a:ext cx="770234" cy="102833"/>
          </a:xfrm>
          <a:prstGeom prst="line">
            <a:avLst/>
          </a:prstGeom>
          <a:noFill/>
          <a:ln w="9525">
            <a:solidFill>
              <a:srgbClr val="2C3E5C"/>
            </a:solidFill>
            <a:prstDash val="solid"/>
          </a:ln>
        </p:spPr>
      </p:sp>
      <p:sp>
        <p:nvSpPr>
          <p:cNvPr id="15" name="Shape 13"/>
          <p:cNvSpPr/>
          <p:nvPr/>
        </p:nvSpPr>
        <p:spPr>
          <a:xfrm flipH="1">
            <a:off x="6470015" y="2776206"/>
            <a:ext cx="144886" cy="966822"/>
          </a:xfrm>
          <a:prstGeom prst="line">
            <a:avLst/>
          </a:prstGeom>
          <a:noFill/>
          <a:ln w="12700">
            <a:solidFill>
              <a:srgbClr val="E0533A">
                <a:alpha val="55000"/>
              </a:srgbClr>
            </a:solidFill>
            <a:prstDash val="solid"/>
          </a:ln>
        </p:spPr>
      </p:sp>
      <p:sp>
        <p:nvSpPr>
          <p:cNvPr id="16" name="Shape 14"/>
          <p:cNvSpPr/>
          <p:nvPr/>
        </p:nvSpPr>
        <p:spPr>
          <a:xfrm>
            <a:off x="7385135" y="2879038"/>
            <a:ext cx="539756" cy="797478"/>
          </a:xfrm>
          <a:prstGeom prst="line">
            <a:avLst/>
          </a:prstGeom>
          <a:noFill/>
          <a:ln w="9525">
            <a:solidFill>
              <a:srgbClr val="2C3E5C"/>
            </a:solidFill>
            <a:prstDash val="solid"/>
          </a:ln>
        </p:spPr>
      </p:sp>
      <p:sp>
        <p:nvSpPr>
          <p:cNvPr id="17" name="Shape 15"/>
          <p:cNvSpPr/>
          <p:nvPr/>
        </p:nvSpPr>
        <p:spPr>
          <a:xfrm flipH="1">
            <a:off x="8562466" y="1828107"/>
            <a:ext cx="720530" cy="466608"/>
          </a:xfrm>
          <a:prstGeom prst="line">
            <a:avLst/>
          </a:prstGeom>
          <a:noFill/>
          <a:ln w="9525">
            <a:solidFill>
              <a:srgbClr val="2C3E5C"/>
            </a:solidFill>
            <a:prstDash val="solid"/>
          </a:ln>
        </p:spPr>
      </p:sp>
      <p:sp>
        <p:nvSpPr>
          <p:cNvPr id="18" name="Shape 16"/>
          <p:cNvSpPr/>
          <p:nvPr/>
        </p:nvSpPr>
        <p:spPr>
          <a:xfrm>
            <a:off x="9305560" y="2834396"/>
            <a:ext cx="175373" cy="271443"/>
          </a:xfrm>
          <a:prstGeom prst="line">
            <a:avLst/>
          </a:prstGeom>
          <a:noFill/>
          <a:ln w="9525">
            <a:solidFill>
              <a:srgbClr val="2C3E5C"/>
            </a:solidFill>
            <a:prstDash val="solid"/>
          </a:ln>
        </p:spPr>
      </p:sp>
      <p:sp>
        <p:nvSpPr>
          <p:cNvPr id="19" name="Shape 17"/>
          <p:cNvSpPr/>
          <p:nvPr/>
        </p:nvSpPr>
        <p:spPr>
          <a:xfrm>
            <a:off x="8562466" y="2294716"/>
            <a:ext cx="743094" cy="539680"/>
          </a:xfrm>
          <a:prstGeom prst="line">
            <a:avLst/>
          </a:prstGeom>
          <a:noFill/>
          <a:ln w="9525">
            <a:solidFill>
              <a:srgbClr val="2C3E5C"/>
            </a:solidFill>
            <a:prstDash val="solid"/>
          </a:ln>
        </p:spPr>
      </p:sp>
      <p:sp>
        <p:nvSpPr>
          <p:cNvPr id="20" name="Shape 18"/>
          <p:cNvSpPr/>
          <p:nvPr/>
        </p:nvSpPr>
        <p:spPr>
          <a:xfrm>
            <a:off x="11331086" y="2821397"/>
            <a:ext cx="242455" cy="392882"/>
          </a:xfrm>
          <a:prstGeom prst="line">
            <a:avLst/>
          </a:prstGeom>
          <a:noFill/>
          <a:ln w="9525">
            <a:solidFill>
              <a:srgbClr val="2C3E5C"/>
            </a:solidFill>
            <a:prstDash val="solid"/>
          </a:ln>
        </p:spPr>
      </p:sp>
      <p:sp>
        <p:nvSpPr>
          <p:cNvPr id="21" name="Shape 19"/>
          <p:cNvSpPr/>
          <p:nvPr/>
        </p:nvSpPr>
        <p:spPr>
          <a:xfrm>
            <a:off x="11061548" y="1456175"/>
            <a:ext cx="269538" cy="1365222"/>
          </a:xfrm>
          <a:prstGeom prst="line">
            <a:avLst/>
          </a:prstGeom>
          <a:noFill/>
          <a:ln w="9525">
            <a:solidFill>
              <a:srgbClr val="2C3E5C"/>
            </a:solidFill>
            <a:prstDash val="solid"/>
          </a:ln>
        </p:spPr>
      </p:sp>
      <p:sp>
        <p:nvSpPr>
          <p:cNvPr id="22" name="Shape 20"/>
          <p:cNvSpPr/>
          <p:nvPr/>
        </p:nvSpPr>
        <p:spPr>
          <a:xfrm>
            <a:off x="6470015" y="3743027"/>
            <a:ext cx="267439" cy="670222"/>
          </a:xfrm>
          <a:prstGeom prst="line">
            <a:avLst/>
          </a:prstGeom>
          <a:noFill/>
          <a:ln w="12700">
            <a:solidFill>
              <a:srgbClr val="E0533A">
                <a:alpha val="55000"/>
              </a:srgbClr>
            </a:solidFill>
            <a:prstDash val="solid"/>
          </a:ln>
        </p:spPr>
      </p:sp>
      <p:sp>
        <p:nvSpPr>
          <p:cNvPr id="23" name="Shape 21"/>
          <p:cNvSpPr/>
          <p:nvPr/>
        </p:nvSpPr>
        <p:spPr>
          <a:xfrm>
            <a:off x="7924891" y="3676517"/>
            <a:ext cx="442636" cy="607324"/>
          </a:xfrm>
          <a:prstGeom prst="line">
            <a:avLst/>
          </a:prstGeom>
          <a:noFill/>
          <a:ln w="9525">
            <a:solidFill>
              <a:srgbClr val="2C3E5C"/>
            </a:solidFill>
            <a:prstDash val="solid"/>
          </a:ln>
        </p:spPr>
      </p:sp>
      <p:sp>
        <p:nvSpPr>
          <p:cNvPr id="24" name="Shape 22"/>
          <p:cNvSpPr/>
          <p:nvPr/>
        </p:nvSpPr>
        <p:spPr>
          <a:xfrm flipV="1">
            <a:off x="7924891" y="3639407"/>
            <a:ext cx="756407" cy="37109"/>
          </a:xfrm>
          <a:prstGeom prst="line">
            <a:avLst/>
          </a:prstGeom>
          <a:noFill/>
          <a:ln w="9525">
            <a:solidFill>
              <a:srgbClr val="2C3E5C"/>
            </a:solidFill>
            <a:prstDash val="solid"/>
          </a:ln>
        </p:spPr>
      </p:sp>
      <p:sp>
        <p:nvSpPr>
          <p:cNvPr id="25" name="Shape 23"/>
          <p:cNvSpPr/>
          <p:nvPr/>
        </p:nvSpPr>
        <p:spPr>
          <a:xfrm flipH="1">
            <a:off x="8367527" y="3639407"/>
            <a:ext cx="313771" cy="644433"/>
          </a:xfrm>
          <a:prstGeom prst="line">
            <a:avLst/>
          </a:prstGeom>
          <a:noFill/>
          <a:ln w="9525">
            <a:solidFill>
              <a:srgbClr val="2C3E5C"/>
            </a:solidFill>
            <a:prstDash val="solid"/>
          </a:ln>
        </p:spPr>
      </p:sp>
      <p:sp>
        <p:nvSpPr>
          <p:cNvPr id="26" name="Shape 24"/>
          <p:cNvSpPr/>
          <p:nvPr/>
        </p:nvSpPr>
        <p:spPr>
          <a:xfrm>
            <a:off x="9480933" y="3105839"/>
            <a:ext cx="568020" cy="598560"/>
          </a:xfrm>
          <a:prstGeom prst="line">
            <a:avLst/>
          </a:prstGeom>
          <a:noFill/>
          <a:ln w="9525">
            <a:solidFill>
              <a:srgbClr val="2C3E5C"/>
            </a:solidFill>
            <a:prstDash val="solid"/>
          </a:ln>
        </p:spPr>
      </p:sp>
      <p:sp>
        <p:nvSpPr>
          <p:cNvPr id="27" name="Shape 25"/>
          <p:cNvSpPr/>
          <p:nvPr/>
        </p:nvSpPr>
        <p:spPr>
          <a:xfrm>
            <a:off x="10048953" y="3704399"/>
            <a:ext cx="117371" cy="409213"/>
          </a:xfrm>
          <a:prstGeom prst="line">
            <a:avLst/>
          </a:prstGeom>
          <a:noFill/>
          <a:ln w="9525">
            <a:solidFill>
              <a:srgbClr val="2C3E5C"/>
            </a:solidFill>
            <a:prstDash val="solid"/>
          </a:ln>
        </p:spPr>
      </p:sp>
      <p:sp>
        <p:nvSpPr>
          <p:cNvPr id="28" name="Shape 26"/>
          <p:cNvSpPr/>
          <p:nvPr/>
        </p:nvSpPr>
        <p:spPr>
          <a:xfrm flipH="1">
            <a:off x="11230515" y="3214279"/>
            <a:ext cx="343026" cy="1009888"/>
          </a:xfrm>
          <a:prstGeom prst="line">
            <a:avLst/>
          </a:prstGeom>
          <a:noFill/>
          <a:ln w="9525">
            <a:solidFill>
              <a:srgbClr val="2C3E5C"/>
            </a:solidFill>
            <a:prstDash val="solid"/>
          </a:ln>
        </p:spPr>
      </p:sp>
      <p:sp>
        <p:nvSpPr>
          <p:cNvPr id="29" name="Shape 27"/>
          <p:cNvSpPr/>
          <p:nvPr/>
        </p:nvSpPr>
        <p:spPr>
          <a:xfrm>
            <a:off x="6737454" y="4413249"/>
            <a:ext cx="89460" cy="1083477"/>
          </a:xfrm>
          <a:prstGeom prst="line">
            <a:avLst/>
          </a:prstGeom>
          <a:noFill/>
          <a:ln w="9525">
            <a:solidFill>
              <a:srgbClr val="2C3E5C"/>
            </a:solidFill>
            <a:prstDash val="solid"/>
          </a:ln>
        </p:spPr>
      </p:sp>
      <p:sp>
        <p:nvSpPr>
          <p:cNvPr id="30" name="Shape 28"/>
          <p:cNvSpPr/>
          <p:nvPr/>
        </p:nvSpPr>
        <p:spPr>
          <a:xfrm>
            <a:off x="10166324" y="4113612"/>
            <a:ext cx="1064191" cy="110554"/>
          </a:xfrm>
          <a:prstGeom prst="line">
            <a:avLst/>
          </a:prstGeom>
          <a:noFill/>
          <a:ln w="9525">
            <a:solidFill>
              <a:srgbClr val="2C3E5C"/>
            </a:solidFill>
            <a:prstDash val="solid"/>
          </a:ln>
        </p:spPr>
      </p:sp>
      <p:sp>
        <p:nvSpPr>
          <p:cNvPr id="31" name="Shape 29"/>
          <p:cNvSpPr/>
          <p:nvPr/>
        </p:nvSpPr>
        <p:spPr>
          <a:xfrm flipV="1">
            <a:off x="6826914" y="5362052"/>
            <a:ext cx="615581" cy="134674"/>
          </a:xfrm>
          <a:prstGeom prst="line">
            <a:avLst/>
          </a:prstGeom>
          <a:noFill/>
          <a:ln w="9525">
            <a:solidFill>
              <a:srgbClr val="2C3E5C"/>
            </a:solidFill>
            <a:prstDash val="solid"/>
          </a:ln>
        </p:spPr>
      </p:sp>
      <p:sp>
        <p:nvSpPr>
          <p:cNvPr id="32" name="Shape 30"/>
          <p:cNvSpPr/>
          <p:nvPr/>
        </p:nvSpPr>
        <p:spPr>
          <a:xfrm>
            <a:off x="6826914" y="5496727"/>
            <a:ext cx="842535" cy="382840"/>
          </a:xfrm>
          <a:prstGeom prst="line">
            <a:avLst/>
          </a:prstGeom>
          <a:noFill/>
          <a:ln w="9525">
            <a:solidFill>
              <a:srgbClr val="2C3E5C"/>
            </a:solidFill>
            <a:prstDash val="solid"/>
          </a:ln>
        </p:spPr>
      </p:sp>
      <p:sp>
        <p:nvSpPr>
          <p:cNvPr id="33" name="Shape 31"/>
          <p:cNvSpPr/>
          <p:nvPr/>
        </p:nvSpPr>
        <p:spPr>
          <a:xfrm>
            <a:off x="7442495" y="5362052"/>
            <a:ext cx="226954" cy="517514"/>
          </a:xfrm>
          <a:prstGeom prst="line">
            <a:avLst/>
          </a:prstGeom>
          <a:noFill/>
          <a:ln w="9525">
            <a:solidFill>
              <a:srgbClr val="2C3E5C"/>
            </a:solidFill>
            <a:prstDash val="solid"/>
          </a:ln>
        </p:spPr>
      </p:sp>
      <p:sp>
        <p:nvSpPr>
          <p:cNvPr id="34" name="Shape 32"/>
          <p:cNvSpPr/>
          <p:nvPr/>
        </p:nvSpPr>
        <p:spPr>
          <a:xfrm>
            <a:off x="8848683" y="4881217"/>
            <a:ext cx="627598" cy="431747"/>
          </a:xfrm>
          <a:prstGeom prst="line">
            <a:avLst/>
          </a:prstGeom>
          <a:noFill/>
          <a:ln w="9525">
            <a:solidFill>
              <a:srgbClr val="2C3E5C"/>
            </a:solidFill>
            <a:prstDash val="solid"/>
          </a:ln>
        </p:spPr>
      </p:sp>
      <p:sp>
        <p:nvSpPr>
          <p:cNvPr id="35" name="Shape 33"/>
          <p:cNvSpPr/>
          <p:nvPr/>
        </p:nvSpPr>
        <p:spPr>
          <a:xfrm>
            <a:off x="8367527" y="4283840"/>
            <a:ext cx="481155" cy="597377"/>
          </a:xfrm>
          <a:prstGeom prst="line">
            <a:avLst/>
          </a:prstGeom>
          <a:noFill/>
          <a:ln w="9525">
            <a:solidFill>
              <a:srgbClr val="2C3E5C"/>
            </a:solidFill>
            <a:prstDash val="solid"/>
          </a:ln>
        </p:spPr>
      </p:sp>
      <p:sp>
        <p:nvSpPr>
          <p:cNvPr id="36" name="Shape 34"/>
          <p:cNvSpPr/>
          <p:nvPr/>
        </p:nvSpPr>
        <p:spPr>
          <a:xfrm flipH="1">
            <a:off x="9345420" y="5312964"/>
            <a:ext cx="130860" cy="372637"/>
          </a:xfrm>
          <a:prstGeom prst="line">
            <a:avLst/>
          </a:prstGeom>
          <a:noFill/>
          <a:ln w="9525">
            <a:solidFill>
              <a:srgbClr val="2C3E5C"/>
            </a:solidFill>
            <a:prstDash val="solid"/>
          </a:ln>
        </p:spPr>
      </p:sp>
      <p:sp>
        <p:nvSpPr>
          <p:cNvPr id="37" name="Shape 35"/>
          <p:cNvSpPr/>
          <p:nvPr/>
        </p:nvSpPr>
        <p:spPr>
          <a:xfrm flipV="1">
            <a:off x="7669449" y="5815828"/>
            <a:ext cx="711013" cy="63739"/>
          </a:xfrm>
          <a:prstGeom prst="line">
            <a:avLst/>
          </a:prstGeom>
          <a:noFill/>
          <a:ln w="9525">
            <a:solidFill>
              <a:srgbClr val="2C3E5C"/>
            </a:solidFill>
            <a:prstDash val="solid"/>
          </a:ln>
        </p:spPr>
      </p:sp>
      <p:sp>
        <p:nvSpPr>
          <p:cNvPr id="38" name="Shape 36"/>
          <p:cNvSpPr/>
          <p:nvPr/>
        </p:nvSpPr>
        <p:spPr>
          <a:xfrm flipV="1">
            <a:off x="8380462" y="5685601"/>
            <a:ext cx="964958" cy="130227"/>
          </a:xfrm>
          <a:prstGeom prst="line">
            <a:avLst/>
          </a:prstGeom>
          <a:noFill/>
          <a:ln w="9525">
            <a:solidFill>
              <a:srgbClr val="2C3E5C"/>
            </a:solidFill>
            <a:prstDash val="solid"/>
          </a:ln>
        </p:spPr>
      </p:sp>
      <p:sp>
        <p:nvSpPr>
          <p:cNvPr id="39" name="Shape 37"/>
          <p:cNvSpPr/>
          <p:nvPr/>
        </p:nvSpPr>
        <p:spPr>
          <a:xfrm>
            <a:off x="8848683" y="4881217"/>
            <a:ext cx="496738" cy="804384"/>
          </a:xfrm>
          <a:prstGeom prst="line">
            <a:avLst/>
          </a:prstGeom>
          <a:noFill/>
          <a:ln w="9525">
            <a:solidFill>
              <a:srgbClr val="2C3E5C"/>
            </a:solidFill>
            <a:prstDash val="solid"/>
          </a:ln>
        </p:spPr>
      </p:sp>
      <p:sp>
        <p:nvSpPr>
          <p:cNvPr id="40" name="Shape 38"/>
          <p:cNvSpPr/>
          <p:nvPr/>
        </p:nvSpPr>
        <p:spPr>
          <a:xfrm>
            <a:off x="11230515" y="4224167"/>
            <a:ext cx="121713" cy="1871978"/>
          </a:xfrm>
          <a:prstGeom prst="line">
            <a:avLst/>
          </a:prstGeom>
          <a:noFill/>
          <a:ln w="9525">
            <a:solidFill>
              <a:srgbClr val="2C3E5C"/>
            </a:solidFill>
            <a:prstDash val="solid"/>
          </a:ln>
        </p:spPr>
      </p:sp>
      <p:sp>
        <p:nvSpPr>
          <p:cNvPr id="41" name="Shape 39"/>
          <p:cNvSpPr/>
          <p:nvPr/>
        </p:nvSpPr>
        <p:spPr>
          <a:xfrm>
            <a:off x="9476280" y="5312964"/>
            <a:ext cx="1875947" cy="783180"/>
          </a:xfrm>
          <a:prstGeom prst="line">
            <a:avLst/>
          </a:prstGeom>
          <a:noFill/>
          <a:ln w="9525">
            <a:solidFill>
              <a:srgbClr val="2C3E5C"/>
            </a:solidFill>
            <a:prstDash val="solid"/>
          </a:ln>
        </p:spPr>
      </p:sp>
      <p:sp>
        <p:nvSpPr>
          <p:cNvPr id="42" name="Shape 40"/>
          <p:cNvSpPr/>
          <p:nvPr/>
        </p:nvSpPr>
        <p:spPr>
          <a:xfrm>
            <a:off x="7308150" y="1120616"/>
            <a:ext cx="86475" cy="86475"/>
          </a:xfrm>
          <a:prstGeom prst="ellipse">
            <a:avLst/>
          </a:prstGeom>
          <a:solidFill>
            <a:srgbClr val="4B6388"/>
          </a:solidFill>
          <a:ln w="12700">
            <a:solidFill>
              <a:srgbClr val="4B6388"/>
            </a:solidFill>
            <a:prstDash val="solid"/>
          </a:ln>
        </p:spPr>
      </p:sp>
      <p:sp>
        <p:nvSpPr>
          <p:cNvPr id="43" name="Shape 41"/>
          <p:cNvSpPr/>
          <p:nvPr/>
        </p:nvSpPr>
        <p:spPr>
          <a:xfrm>
            <a:off x="9132228" y="988497"/>
            <a:ext cx="83981" cy="83981"/>
          </a:xfrm>
          <a:prstGeom prst="ellipse">
            <a:avLst/>
          </a:prstGeom>
          <a:solidFill>
            <a:srgbClr val="4B6388"/>
          </a:solidFill>
          <a:ln w="12700">
            <a:solidFill>
              <a:srgbClr val="4B6388"/>
            </a:solidFill>
            <a:prstDash val="solid"/>
          </a:ln>
        </p:spPr>
      </p:sp>
      <p:sp>
        <p:nvSpPr>
          <p:cNvPr id="44" name="Shape 42"/>
          <p:cNvSpPr/>
          <p:nvPr/>
        </p:nvSpPr>
        <p:spPr>
          <a:xfrm>
            <a:off x="10668007" y="893065"/>
            <a:ext cx="101989" cy="101989"/>
          </a:xfrm>
          <a:prstGeom prst="ellipse">
            <a:avLst/>
          </a:prstGeom>
          <a:solidFill>
            <a:srgbClr val="4B6388"/>
          </a:solidFill>
          <a:ln w="12700">
            <a:solidFill>
              <a:srgbClr val="4B6388"/>
            </a:solidFill>
            <a:prstDash val="solid"/>
          </a:ln>
        </p:spPr>
      </p:sp>
      <p:sp>
        <p:nvSpPr>
          <p:cNvPr id="45" name="Shape 43"/>
          <p:cNvSpPr/>
          <p:nvPr/>
        </p:nvSpPr>
        <p:spPr>
          <a:xfrm>
            <a:off x="11417968" y="1022014"/>
            <a:ext cx="97754" cy="97754"/>
          </a:xfrm>
          <a:prstGeom prst="ellipse">
            <a:avLst/>
          </a:prstGeom>
          <a:solidFill>
            <a:srgbClr val="4B6388"/>
          </a:solidFill>
          <a:ln w="12700">
            <a:solidFill>
              <a:srgbClr val="4B6388"/>
            </a:solidFill>
            <a:prstDash val="solid"/>
          </a:ln>
        </p:spPr>
      </p:sp>
      <p:sp>
        <p:nvSpPr>
          <p:cNvPr id="46" name="Shape 44"/>
          <p:cNvSpPr/>
          <p:nvPr/>
        </p:nvSpPr>
        <p:spPr>
          <a:xfrm>
            <a:off x="6601162" y="1243793"/>
            <a:ext cx="438912" cy="438912"/>
          </a:xfrm>
          <a:prstGeom prst="ellipse">
            <a:avLst/>
          </a:prstGeom>
          <a:solidFill>
            <a:srgbClr val="E0533A">
              <a:alpha val="20000"/>
            </a:srgbClr>
          </a:solidFill>
          <a:ln w="12700">
            <a:solidFill>
              <a:srgbClr val="E0533A">
                <a:alpha val="20000"/>
              </a:srgbClr>
            </a:solidFill>
            <a:prstDash val="solid"/>
          </a:ln>
        </p:spPr>
      </p:sp>
      <p:sp>
        <p:nvSpPr>
          <p:cNvPr id="47" name="Shape 45"/>
          <p:cNvSpPr/>
          <p:nvPr/>
        </p:nvSpPr>
        <p:spPr>
          <a:xfrm>
            <a:off x="6738322" y="1380953"/>
            <a:ext cx="164592" cy="164592"/>
          </a:xfrm>
          <a:prstGeom prst="ellipse">
            <a:avLst/>
          </a:prstGeom>
          <a:solidFill>
            <a:srgbClr val="E0533A"/>
          </a:solidFill>
          <a:ln w="12700">
            <a:solidFill>
              <a:srgbClr val="E0533A"/>
            </a:solidFill>
            <a:prstDash val="solid"/>
          </a:ln>
        </p:spPr>
      </p:sp>
      <p:sp>
        <p:nvSpPr>
          <p:cNvPr id="48" name="Shape 46"/>
          <p:cNvSpPr/>
          <p:nvPr/>
        </p:nvSpPr>
        <p:spPr>
          <a:xfrm>
            <a:off x="7335537" y="1686220"/>
            <a:ext cx="72271" cy="72271"/>
          </a:xfrm>
          <a:prstGeom prst="ellipse">
            <a:avLst/>
          </a:prstGeom>
          <a:solidFill>
            <a:srgbClr val="4B6388"/>
          </a:solidFill>
          <a:ln w="12700">
            <a:solidFill>
              <a:srgbClr val="4B6388"/>
            </a:solidFill>
            <a:prstDash val="solid"/>
          </a:ln>
        </p:spPr>
      </p:sp>
      <p:sp>
        <p:nvSpPr>
          <p:cNvPr id="49" name="Shape 47"/>
          <p:cNvSpPr/>
          <p:nvPr/>
        </p:nvSpPr>
        <p:spPr>
          <a:xfrm>
            <a:off x="8857362" y="1868034"/>
            <a:ext cx="84980" cy="84980"/>
          </a:xfrm>
          <a:prstGeom prst="ellipse">
            <a:avLst/>
          </a:prstGeom>
          <a:solidFill>
            <a:srgbClr val="4B6388"/>
          </a:solidFill>
          <a:ln w="12700">
            <a:solidFill>
              <a:srgbClr val="4B6388"/>
            </a:solidFill>
            <a:prstDash val="solid"/>
          </a:ln>
        </p:spPr>
      </p:sp>
      <p:sp>
        <p:nvSpPr>
          <p:cNvPr id="50" name="Shape 48"/>
          <p:cNvSpPr/>
          <p:nvPr/>
        </p:nvSpPr>
        <p:spPr>
          <a:xfrm>
            <a:off x="9237594" y="1782705"/>
            <a:ext cx="90805" cy="90805"/>
          </a:xfrm>
          <a:prstGeom prst="ellipse">
            <a:avLst/>
          </a:prstGeom>
          <a:solidFill>
            <a:srgbClr val="4B6388"/>
          </a:solidFill>
          <a:ln w="12700">
            <a:solidFill>
              <a:srgbClr val="4B6388"/>
            </a:solidFill>
            <a:prstDash val="solid"/>
          </a:ln>
        </p:spPr>
      </p:sp>
      <p:sp>
        <p:nvSpPr>
          <p:cNvPr id="51" name="Shape 49"/>
          <p:cNvSpPr/>
          <p:nvPr/>
        </p:nvSpPr>
        <p:spPr>
          <a:xfrm>
            <a:off x="10077691" y="1359525"/>
            <a:ext cx="99164" cy="99164"/>
          </a:xfrm>
          <a:prstGeom prst="ellipse">
            <a:avLst/>
          </a:prstGeom>
          <a:solidFill>
            <a:srgbClr val="4B6388"/>
          </a:solidFill>
          <a:ln w="12700">
            <a:solidFill>
              <a:srgbClr val="4B6388"/>
            </a:solidFill>
            <a:prstDash val="solid"/>
          </a:ln>
        </p:spPr>
      </p:sp>
      <p:sp>
        <p:nvSpPr>
          <p:cNvPr id="52" name="Shape 50"/>
          <p:cNvSpPr/>
          <p:nvPr/>
        </p:nvSpPr>
        <p:spPr>
          <a:xfrm>
            <a:off x="11017347" y="1411973"/>
            <a:ext cx="88403" cy="88403"/>
          </a:xfrm>
          <a:prstGeom prst="ellipse">
            <a:avLst/>
          </a:prstGeom>
          <a:solidFill>
            <a:srgbClr val="4B6388"/>
          </a:solidFill>
          <a:ln w="12700">
            <a:solidFill>
              <a:srgbClr val="4B6388"/>
            </a:solidFill>
            <a:prstDash val="solid"/>
          </a:ln>
        </p:spPr>
      </p:sp>
      <p:sp>
        <p:nvSpPr>
          <p:cNvPr id="53" name="Shape 51"/>
          <p:cNvSpPr/>
          <p:nvPr/>
        </p:nvSpPr>
        <p:spPr>
          <a:xfrm>
            <a:off x="6569065" y="2730370"/>
            <a:ext cx="91672" cy="91672"/>
          </a:xfrm>
          <a:prstGeom prst="ellipse">
            <a:avLst/>
          </a:prstGeom>
          <a:solidFill>
            <a:srgbClr val="4B6388"/>
          </a:solidFill>
          <a:ln w="12700">
            <a:solidFill>
              <a:srgbClr val="4B6388"/>
            </a:solidFill>
            <a:prstDash val="solid"/>
          </a:ln>
        </p:spPr>
      </p:sp>
      <p:sp>
        <p:nvSpPr>
          <p:cNvPr id="54" name="Shape 52"/>
          <p:cNvSpPr/>
          <p:nvPr/>
        </p:nvSpPr>
        <p:spPr>
          <a:xfrm>
            <a:off x="7344635" y="2838538"/>
            <a:ext cx="81000" cy="81000"/>
          </a:xfrm>
          <a:prstGeom prst="ellipse">
            <a:avLst/>
          </a:prstGeom>
          <a:solidFill>
            <a:srgbClr val="4B6388"/>
          </a:solidFill>
          <a:ln w="12700">
            <a:solidFill>
              <a:srgbClr val="4B6388"/>
            </a:solidFill>
            <a:prstDash val="solid"/>
          </a:ln>
        </p:spPr>
      </p:sp>
      <p:sp>
        <p:nvSpPr>
          <p:cNvPr id="55" name="Shape 53"/>
          <p:cNvSpPr/>
          <p:nvPr/>
        </p:nvSpPr>
        <p:spPr>
          <a:xfrm>
            <a:off x="8503594" y="2235843"/>
            <a:ext cx="117745" cy="117745"/>
          </a:xfrm>
          <a:prstGeom prst="ellipse">
            <a:avLst/>
          </a:prstGeom>
          <a:solidFill>
            <a:srgbClr val="4B6388"/>
          </a:solidFill>
          <a:ln w="12700">
            <a:solidFill>
              <a:srgbClr val="4B6388"/>
            </a:solidFill>
            <a:prstDash val="solid"/>
          </a:ln>
        </p:spPr>
      </p:sp>
      <p:sp>
        <p:nvSpPr>
          <p:cNvPr id="56" name="Shape 54"/>
          <p:cNvSpPr/>
          <p:nvPr/>
        </p:nvSpPr>
        <p:spPr>
          <a:xfrm>
            <a:off x="9258694" y="2787530"/>
            <a:ext cx="93732" cy="93732"/>
          </a:xfrm>
          <a:prstGeom prst="ellipse">
            <a:avLst/>
          </a:prstGeom>
          <a:solidFill>
            <a:srgbClr val="4B6388"/>
          </a:solidFill>
          <a:ln w="12700">
            <a:solidFill>
              <a:srgbClr val="4B6388"/>
            </a:solidFill>
            <a:prstDash val="solid"/>
          </a:ln>
        </p:spPr>
      </p:sp>
      <p:sp>
        <p:nvSpPr>
          <p:cNvPr id="57" name="Shape 55"/>
          <p:cNvSpPr/>
          <p:nvPr/>
        </p:nvSpPr>
        <p:spPr>
          <a:xfrm>
            <a:off x="11290307" y="2780618"/>
            <a:ext cx="81558" cy="81558"/>
          </a:xfrm>
          <a:prstGeom prst="ellipse">
            <a:avLst/>
          </a:prstGeom>
          <a:solidFill>
            <a:srgbClr val="4B6388"/>
          </a:solidFill>
          <a:ln w="12700">
            <a:solidFill>
              <a:srgbClr val="4B6388"/>
            </a:solidFill>
            <a:prstDash val="solid"/>
          </a:ln>
        </p:spPr>
      </p:sp>
      <p:sp>
        <p:nvSpPr>
          <p:cNvPr id="58" name="Shape 56"/>
          <p:cNvSpPr/>
          <p:nvPr/>
        </p:nvSpPr>
        <p:spPr>
          <a:xfrm>
            <a:off x="6250559" y="3523571"/>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6387719" y="3660731"/>
            <a:ext cx="164592" cy="164592"/>
          </a:xfrm>
          <a:prstGeom prst="ellipse">
            <a:avLst/>
          </a:prstGeom>
          <a:solidFill>
            <a:srgbClr val="E0533A"/>
          </a:solidFill>
          <a:ln w="12700">
            <a:solidFill>
              <a:srgbClr val="E0533A"/>
            </a:solidFill>
            <a:prstDash val="solid"/>
          </a:ln>
        </p:spPr>
      </p:sp>
      <p:sp>
        <p:nvSpPr>
          <p:cNvPr id="60" name="Shape 58"/>
          <p:cNvSpPr/>
          <p:nvPr/>
        </p:nvSpPr>
        <p:spPr>
          <a:xfrm>
            <a:off x="7889965" y="3641590"/>
            <a:ext cx="69853" cy="69853"/>
          </a:xfrm>
          <a:prstGeom prst="ellipse">
            <a:avLst/>
          </a:prstGeom>
          <a:solidFill>
            <a:srgbClr val="4B6388"/>
          </a:solidFill>
          <a:ln w="12700">
            <a:solidFill>
              <a:srgbClr val="4B6388"/>
            </a:solidFill>
            <a:prstDash val="solid"/>
          </a:ln>
        </p:spPr>
      </p:sp>
      <p:sp>
        <p:nvSpPr>
          <p:cNvPr id="61" name="Shape 59"/>
          <p:cNvSpPr/>
          <p:nvPr/>
        </p:nvSpPr>
        <p:spPr>
          <a:xfrm>
            <a:off x="8643474" y="3601583"/>
            <a:ext cx="75648" cy="75648"/>
          </a:xfrm>
          <a:prstGeom prst="ellipse">
            <a:avLst/>
          </a:prstGeom>
          <a:solidFill>
            <a:srgbClr val="4B6388"/>
          </a:solidFill>
          <a:ln w="12700">
            <a:solidFill>
              <a:srgbClr val="4B6388"/>
            </a:solidFill>
            <a:prstDash val="solid"/>
          </a:ln>
        </p:spPr>
      </p:sp>
      <p:sp>
        <p:nvSpPr>
          <p:cNvPr id="62" name="Shape 60"/>
          <p:cNvSpPr/>
          <p:nvPr/>
        </p:nvSpPr>
        <p:spPr>
          <a:xfrm>
            <a:off x="9422797" y="3047703"/>
            <a:ext cx="116271" cy="116271"/>
          </a:xfrm>
          <a:prstGeom prst="ellipse">
            <a:avLst/>
          </a:prstGeom>
          <a:solidFill>
            <a:srgbClr val="4B6388"/>
          </a:solidFill>
          <a:ln w="12700">
            <a:solidFill>
              <a:srgbClr val="4B6388"/>
            </a:solidFill>
            <a:prstDash val="solid"/>
          </a:ln>
        </p:spPr>
      </p:sp>
      <p:sp>
        <p:nvSpPr>
          <p:cNvPr id="63" name="Shape 61"/>
          <p:cNvSpPr/>
          <p:nvPr/>
        </p:nvSpPr>
        <p:spPr>
          <a:xfrm>
            <a:off x="10007317" y="3662764"/>
            <a:ext cx="83270" cy="83270"/>
          </a:xfrm>
          <a:prstGeom prst="ellipse">
            <a:avLst/>
          </a:prstGeom>
          <a:solidFill>
            <a:srgbClr val="4B6388"/>
          </a:solidFill>
          <a:ln w="12700">
            <a:solidFill>
              <a:srgbClr val="4B6388"/>
            </a:solidFill>
            <a:prstDash val="solid"/>
          </a:ln>
        </p:spPr>
      </p:sp>
      <p:sp>
        <p:nvSpPr>
          <p:cNvPr id="64" name="Shape 62"/>
          <p:cNvSpPr/>
          <p:nvPr/>
        </p:nvSpPr>
        <p:spPr>
          <a:xfrm>
            <a:off x="11529529" y="3170267"/>
            <a:ext cx="88024" cy="88024"/>
          </a:xfrm>
          <a:prstGeom prst="ellipse">
            <a:avLst/>
          </a:prstGeom>
          <a:solidFill>
            <a:srgbClr val="4B6388"/>
          </a:solidFill>
          <a:ln w="12700">
            <a:solidFill>
              <a:srgbClr val="4B6388"/>
            </a:solidFill>
            <a:prstDash val="solid"/>
          </a:ln>
        </p:spPr>
      </p:sp>
      <p:sp>
        <p:nvSpPr>
          <p:cNvPr id="65" name="Shape 63"/>
          <p:cNvSpPr/>
          <p:nvPr/>
        </p:nvSpPr>
        <p:spPr>
          <a:xfrm>
            <a:off x="6705045" y="4380840"/>
            <a:ext cx="64818" cy="64818"/>
          </a:xfrm>
          <a:prstGeom prst="ellipse">
            <a:avLst/>
          </a:prstGeom>
          <a:solidFill>
            <a:srgbClr val="4B6388"/>
          </a:solidFill>
          <a:ln w="12700">
            <a:solidFill>
              <a:srgbClr val="4B6388"/>
            </a:solidFill>
            <a:prstDash val="solid"/>
          </a:ln>
        </p:spPr>
      </p:sp>
      <p:sp>
        <p:nvSpPr>
          <p:cNvPr id="66" name="Shape 64"/>
          <p:cNvSpPr/>
          <p:nvPr/>
        </p:nvSpPr>
        <p:spPr>
          <a:xfrm>
            <a:off x="8321839" y="4238153"/>
            <a:ext cx="91376" cy="91376"/>
          </a:xfrm>
          <a:prstGeom prst="ellipse">
            <a:avLst/>
          </a:prstGeom>
          <a:solidFill>
            <a:srgbClr val="4B6388"/>
          </a:solidFill>
          <a:ln w="12700">
            <a:solidFill>
              <a:srgbClr val="4B6388"/>
            </a:solidFill>
            <a:prstDash val="solid"/>
          </a:ln>
        </p:spPr>
      </p:sp>
      <p:sp>
        <p:nvSpPr>
          <p:cNvPr id="67" name="Shape 65"/>
          <p:cNvSpPr/>
          <p:nvPr/>
        </p:nvSpPr>
        <p:spPr>
          <a:xfrm>
            <a:off x="10114458" y="4061747"/>
            <a:ext cx="103731" cy="103731"/>
          </a:xfrm>
          <a:prstGeom prst="ellipse">
            <a:avLst/>
          </a:prstGeom>
          <a:solidFill>
            <a:srgbClr val="4B6388"/>
          </a:solidFill>
          <a:ln w="12700">
            <a:solidFill>
              <a:srgbClr val="4B6388"/>
            </a:solidFill>
            <a:prstDash val="solid"/>
          </a:ln>
        </p:spPr>
      </p:sp>
      <p:sp>
        <p:nvSpPr>
          <p:cNvPr id="68" name="Shape 66"/>
          <p:cNvSpPr/>
          <p:nvPr/>
        </p:nvSpPr>
        <p:spPr>
          <a:xfrm>
            <a:off x="11187499" y="4181150"/>
            <a:ext cx="86033" cy="86033"/>
          </a:xfrm>
          <a:prstGeom prst="ellipse">
            <a:avLst/>
          </a:prstGeom>
          <a:solidFill>
            <a:srgbClr val="4B6388"/>
          </a:solidFill>
          <a:ln w="12700">
            <a:solidFill>
              <a:srgbClr val="4B6388"/>
            </a:solidFill>
            <a:prstDash val="solid"/>
          </a:ln>
        </p:spPr>
      </p:sp>
      <p:sp>
        <p:nvSpPr>
          <p:cNvPr id="69" name="Shape 67"/>
          <p:cNvSpPr/>
          <p:nvPr/>
        </p:nvSpPr>
        <p:spPr>
          <a:xfrm>
            <a:off x="6774425" y="5444238"/>
            <a:ext cx="104977" cy="104977"/>
          </a:xfrm>
          <a:prstGeom prst="ellipse">
            <a:avLst/>
          </a:prstGeom>
          <a:solidFill>
            <a:srgbClr val="4B6388"/>
          </a:solidFill>
          <a:ln w="12700">
            <a:solidFill>
              <a:srgbClr val="4B6388"/>
            </a:solidFill>
            <a:prstDash val="solid"/>
          </a:ln>
        </p:spPr>
      </p:sp>
      <p:sp>
        <p:nvSpPr>
          <p:cNvPr id="70" name="Shape 68"/>
          <p:cNvSpPr/>
          <p:nvPr/>
        </p:nvSpPr>
        <p:spPr>
          <a:xfrm>
            <a:off x="7399383" y="5318940"/>
            <a:ext cx="86224" cy="86224"/>
          </a:xfrm>
          <a:prstGeom prst="ellipse">
            <a:avLst/>
          </a:prstGeom>
          <a:solidFill>
            <a:srgbClr val="4B6388"/>
          </a:solidFill>
          <a:ln w="12700">
            <a:solidFill>
              <a:srgbClr val="4B6388"/>
            </a:solidFill>
            <a:prstDash val="solid"/>
          </a:ln>
        </p:spPr>
      </p:sp>
      <p:sp>
        <p:nvSpPr>
          <p:cNvPr id="71" name="Shape 69"/>
          <p:cNvSpPr/>
          <p:nvPr/>
        </p:nvSpPr>
        <p:spPr>
          <a:xfrm>
            <a:off x="8789091" y="4821625"/>
            <a:ext cx="119184" cy="119184"/>
          </a:xfrm>
          <a:prstGeom prst="ellipse">
            <a:avLst/>
          </a:prstGeom>
          <a:solidFill>
            <a:srgbClr val="4B6388"/>
          </a:solidFill>
          <a:ln w="12700">
            <a:solidFill>
              <a:srgbClr val="4B6388"/>
            </a:solidFill>
            <a:prstDash val="solid"/>
          </a:ln>
        </p:spPr>
      </p:sp>
      <p:sp>
        <p:nvSpPr>
          <p:cNvPr id="72" name="Shape 70"/>
          <p:cNvSpPr/>
          <p:nvPr/>
        </p:nvSpPr>
        <p:spPr>
          <a:xfrm>
            <a:off x="9425143" y="5261827"/>
            <a:ext cx="102275" cy="102275"/>
          </a:xfrm>
          <a:prstGeom prst="ellipse">
            <a:avLst/>
          </a:prstGeom>
          <a:solidFill>
            <a:srgbClr val="4B6388"/>
          </a:solidFill>
          <a:ln w="12700">
            <a:solidFill>
              <a:srgbClr val="4B6388"/>
            </a:solidFill>
            <a:prstDash val="solid"/>
          </a:ln>
        </p:spPr>
      </p:sp>
      <p:sp>
        <p:nvSpPr>
          <p:cNvPr id="73" name="Shape 71"/>
          <p:cNvSpPr/>
          <p:nvPr/>
        </p:nvSpPr>
        <p:spPr>
          <a:xfrm>
            <a:off x="7612069" y="5822186"/>
            <a:ext cx="114762" cy="114762"/>
          </a:xfrm>
          <a:prstGeom prst="ellipse">
            <a:avLst/>
          </a:prstGeom>
          <a:solidFill>
            <a:srgbClr val="4B6388"/>
          </a:solidFill>
          <a:ln w="12700">
            <a:solidFill>
              <a:srgbClr val="4B6388"/>
            </a:solidFill>
            <a:prstDash val="solid"/>
          </a:ln>
        </p:spPr>
      </p:sp>
      <p:sp>
        <p:nvSpPr>
          <p:cNvPr id="74" name="Shape 72"/>
          <p:cNvSpPr/>
          <p:nvPr/>
        </p:nvSpPr>
        <p:spPr>
          <a:xfrm>
            <a:off x="8344845" y="5780211"/>
            <a:ext cx="71234" cy="71234"/>
          </a:xfrm>
          <a:prstGeom prst="ellipse">
            <a:avLst/>
          </a:prstGeom>
          <a:solidFill>
            <a:srgbClr val="4B6388"/>
          </a:solidFill>
          <a:ln w="12700">
            <a:solidFill>
              <a:srgbClr val="4B6388"/>
            </a:solidFill>
            <a:prstDash val="solid"/>
          </a:ln>
        </p:spPr>
      </p:sp>
      <p:sp>
        <p:nvSpPr>
          <p:cNvPr id="75" name="Shape 73"/>
          <p:cNvSpPr/>
          <p:nvPr/>
        </p:nvSpPr>
        <p:spPr>
          <a:xfrm>
            <a:off x="9307042" y="5647223"/>
            <a:ext cx="76756" cy="76756"/>
          </a:xfrm>
          <a:prstGeom prst="ellipse">
            <a:avLst/>
          </a:prstGeom>
          <a:solidFill>
            <a:srgbClr val="4B6388"/>
          </a:solidFill>
          <a:ln w="12700">
            <a:solidFill>
              <a:srgbClr val="4B6388"/>
            </a:solidFill>
            <a:prstDash val="solid"/>
          </a:ln>
        </p:spPr>
      </p:sp>
      <p:sp>
        <p:nvSpPr>
          <p:cNvPr id="76" name="Shape 74"/>
          <p:cNvSpPr/>
          <p:nvPr/>
        </p:nvSpPr>
        <p:spPr>
          <a:xfrm>
            <a:off x="11311508" y="6055425"/>
            <a:ext cx="81440" cy="81440"/>
          </a:xfrm>
          <a:prstGeom prst="ellipse">
            <a:avLst/>
          </a:prstGeom>
          <a:solidFill>
            <a:srgbClr val="4B6388"/>
          </a:solidFill>
          <a:ln w="12700">
            <a:solidFill>
              <a:srgbClr val="4B6388"/>
            </a:solidFill>
            <a:prstDash val="solid"/>
          </a:ln>
        </p:spPr>
      </p:sp>
      <p:sp>
        <p:nvSpPr>
          <p:cNvPr id="77" name="Text 75"/>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03</a:t>
            </a:r>
            <a:endParaRPr lang="en-US" sz="9600" dirty="0"/>
          </a:p>
        </p:txBody>
      </p:sp>
      <p:sp>
        <p:nvSpPr>
          <p:cNvPr id="78" name="Text 76"/>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Results</a:t>
            </a:r>
            <a:endParaRPr lang="en-US" sz="4400" dirty="0"/>
          </a:p>
        </p:txBody>
      </p:sp>
      <p:sp>
        <p:nvSpPr>
          <p:cNvPr id="79" name="Text 77"/>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Five results on real APT traffic: 15 models, three experiments and five random seeds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On real APT traffic, false alarms rise twelvefold</a:t>
            </a:r>
            <a:endParaRPr lang="en-US" sz="3000" dirty="0"/>
          </a:p>
        </p:txBody>
      </p:sp>
      <p:sp>
        <p:nvSpPr>
          <p:cNvPr id="20" name="Shape 18"/>
          <p:cNvSpPr/>
          <p:nvPr/>
        </p:nvSpPr>
        <p:spPr>
          <a:xfrm>
            <a:off x="685800" y="1828800"/>
            <a:ext cx="3423818" cy="3611880"/>
          </a:xfrm>
          <a:prstGeom prst="roundRect">
            <a:avLst>
              <a:gd name="adj" fmla="val 1602"/>
            </a:avLst>
          </a:prstGeom>
          <a:solidFill>
            <a:srgbClr val="F4F6F9"/>
          </a:solidFill>
          <a:ln w="12700">
            <a:solidFill>
              <a:srgbClr val="F4F6F9"/>
            </a:solidFill>
            <a:prstDash val="solid"/>
          </a:ln>
        </p:spPr>
      </p:sp>
      <p:sp>
        <p:nvSpPr>
          <p:cNvPr id="21" name="Text 19"/>
          <p:cNvSpPr txBox="1"/>
          <p:nvPr/>
        </p:nvSpPr>
        <p:spPr>
          <a:xfrm>
            <a:off x="1051560" y="2103120"/>
            <a:ext cx="2692298" cy="256032"/>
          </a:xfrm>
          <a:prstGeom prst="rect">
            <a:avLst/>
          </a:prstGeom>
          <a:noFill/>
          <a:ln/>
        </p:spPr>
        <p:txBody>
          <a:bodyPr wrap="square" lIns="0" tIns="0" rIns="0" bIns="0" rtlCol="0" anchor="t"/>
          <a:lstStyle/>
          <a:p>
            <a:pPr indent="0" marL="0">
              <a:buNone/>
            </a:pPr>
            <a:r>
              <a:rPr lang="en-US" sz="1050" b="1" dirty="0">
                <a:solidFill>
                  <a:srgbClr val="8A94A3"/>
                </a:solidFill>
                <a:latin typeface="Arial" pitchFamily="34" charset="0"/>
                <a:ea typeface="Arial" pitchFamily="34" charset="-122"/>
                <a:cs typeface="Arial" pitchFamily="34" charset="-120"/>
              </a:rPr>
              <a:t>PAPER'S CLAIM</a:t>
            </a:r>
            <a:endParaRPr lang="en-US" sz="1050" dirty="0"/>
          </a:p>
        </p:txBody>
      </p:sp>
      <p:sp>
        <p:nvSpPr>
          <p:cNvPr id="22" name="Text 20"/>
          <p:cNvSpPr txBox="1"/>
          <p:nvPr/>
        </p:nvSpPr>
        <p:spPr>
          <a:xfrm>
            <a:off x="1051560"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CSE-CIC-IDS2018 (Table 7)</a:t>
            </a:r>
            <a:endParaRPr lang="en-US" sz="1200" dirty="0"/>
          </a:p>
        </p:txBody>
      </p:sp>
      <p:sp>
        <p:nvSpPr>
          <p:cNvPr id="23" name="Text 21"/>
          <p:cNvSpPr txBox="1"/>
          <p:nvPr/>
        </p:nvSpPr>
        <p:spPr>
          <a:xfrm>
            <a:off x="1051560"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98.92%</a:t>
            </a:r>
            <a:endParaRPr lang="en-US" sz="5000" dirty="0"/>
          </a:p>
        </p:txBody>
      </p:sp>
      <p:sp>
        <p:nvSpPr>
          <p:cNvPr id="24" name="Text 22"/>
          <p:cNvSpPr txBox="1"/>
          <p:nvPr/>
        </p:nvSpPr>
        <p:spPr>
          <a:xfrm>
            <a:off x="1051560"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25" name="Shape 23"/>
          <p:cNvSpPr/>
          <p:nvPr/>
        </p:nvSpPr>
        <p:spPr>
          <a:xfrm>
            <a:off x="1051560" y="4160520"/>
            <a:ext cx="2692298" cy="914"/>
          </a:xfrm>
          <a:prstGeom prst="line">
            <a:avLst/>
          </a:prstGeom>
          <a:noFill/>
          <a:ln w="9525">
            <a:solidFill>
              <a:srgbClr val="E2E6EC"/>
            </a:solidFill>
            <a:prstDash val="solid"/>
          </a:ln>
        </p:spPr>
      </p:sp>
      <p:sp>
        <p:nvSpPr>
          <p:cNvPr id="26" name="Text 24"/>
          <p:cNvSpPr txBox="1"/>
          <p:nvPr/>
        </p:nvSpPr>
        <p:spPr>
          <a:xfrm>
            <a:off x="1051560"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27" name="Text 25"/>
          <p:cNvSpPr txBox="1"/>
          <p:nvPr/>
        </p:nvSpPr>
        <p:spPr>
          <a:xfrm>
            <a:off x="2280818"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98.90%</a:t>
            </a:r>
            <a:endParaRPr lang="en-US" sz="1600" dirty="0"/>
          </a:p>
        </p:txBody>
      </p:sp>
      <p:sp>
        <p:nvSpPr>
          <p:cNvPr id="28" name="Text 26"/>
          <p:cNvSpPr txBox="1"/>
          <p:nvPr/>
        </p:nvSpPr>
        <p:spPr>
          <a:xfrm>
            <a:off x="1051560"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29" name="Text 27"/>
          <p:cNvSpPr txBox="1"/>
          <p:nvPr/>
        </p:nvSpPr>
        <p:spPr>
          <a:xfrm>
            <a:off x="2280818" y="48006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0.52%</a:t>
            </a:r>
            <a:endParaRPr lang="en-US" sz="1600" dirty="0"/>
          </a:p>
        </p:txBody>
      </p:sp>
      <p:sp>
        <p:nvSpPr>
          <p:cNvPr id="30" name="Shape 28"/>
          <p:cNvSpPr/>
          <p:nvPr/>
        </p:nvSpPr>
        <p:spPr>
          <a:xfrm>
            <a:off x="4383938" y="1828800"/>
            <a:ext cx="3423818" cy="3611880"/>
          </a:xfrm>
          <a:prstGeom prst="roundRect">
            <a:avLst>
              <a:gd name="adj" fmla="val 1602"/>
            </a:avLst>
          </a:prstGeom>
          <a:solidFill>
            <a:srgbClr val="F4F6F9"/>
          </a:solidFill>
          <a:ln w="12700">
            <a:solidFill>
              <a:srgbClr val="F4F6F9"/>
            </a:solidFill>
            <a:prstDash val="solid"/>
          </a:ln>
        </p:spPr>
      </p:sp>
      <p:sp>
        <p:nvSpPr>
          <p:cNvPr id="31" name="Text 29"/>
          <p:cNvSpPr txBox="1"/>
          <p:nvPr/>
        </p:nvSpPr>
        <p:spPr>
          <a:xfrm>
            <a:off x="4749698" y="2103120"/>
            <a:ext cx="2692298" cy="256032"/>
          </a:xfrm>
          <a:prstGeom prst="rect">
            <a:avLst/>
          </a:prstGeom>
          <a:noFill/>
          <a:ln/>
        </p:spPr>
        <p:txBody>
          <a:bodyPr wrap="square" lIns="0" tIns="0" rIns="0" bIns="0" rtlCol="0" anchor="t"/>
          <a:lstStyle/>
          <a:p>
            <a:pPr indent="0" marL="0">
              <a:buNone/>
            </a:pPr>
            <a:r>
              <a:rPr lang="en-US" sz="1050" b="1" dirty="0">
                <a:solidFill>
                  <a:srgbClr val="E0533A"/>
                </a:solidFill>
                <a:latin typeface="Arial" pitchFamily="34" charset="0"/>
                <a:ea typeface="Arial" pitchFamily="34" charset="-122"/>
                <a:cs typeface="Arial" pitchFamily="34" charset="-120"/>
              </a:rPr>
              <a:t>OUR REPLICATION</a:t>
            </a:r>
            <a:endParaRPr lang="en-US" sz="1050" dirty="0"/>
          </a:p>
        </p:txBody>
      </p:sp>
      <p:sp>
        <p:nvSpPr>
          <p:cNvPr id="32" name="Text 30"/>
          <p:cNvSpPr txBox="1"/>
          <p:nvPr/>
        </p:nvSpPr>
        <p:spPr>
          <a:xfrm>
            <a:off x="4749698"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DAPT2020, paper protocol</a:t>
            </a:r>
            <a:endParaRPr lang="en-US" sz="1200" dirty="0"/>
          </a:p>
        </p:txBody>
      </p:sp>
      <p:sp>
        <p:nvSpPr>
          <p:cNvPr id="33" name="Text 31"/>
          <p:cNvSpPr txBox="1"/>
          <p:nvPr/>
        </p:nvSpPr>
        <p:spPr>
          <a:xfrm>
            <a:off x="4749698"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96.43%</a:t>
            </a:r>
            <a:endParaRPr lang="en-US" sz="5000" dirty="0"/>
          </a:p>
        </p:txBody>
      </p:sp>
      <p:sp>
        <p:nvSpPr>
          <p:cNvPr id="34" name="Text 32"/>
          <p:cNvSpPr txBox="1"/>
          <p:nvPr/>
        </p:nvSpPr>
        <p:spPr>
          <a:xfrm>
            <a:off x="4749698"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35" name="Shape 33"/>
          <p:cNvSpPr/>
          <p:nvPr/>
        </p:nvSpPr>
        <p:spPr>
          <a:xfrm>
            <a:off x="4749698" y="4160520"/>
            <a:ext cx="2692298" cy="914"/>
          </a:xfrm>
          <a:prstGeom prst="line">
            <a:avLst/>
          </a:prstGeom>
          <a:noFill/>
          <a:ln w="9525">
            <a:solidFill>
              <a:srgbClr val="E2E6EC"/>
            </a:solidFill>
            <a:prstDash val="solid"/>
          </a:ln>
        </p:spPr>
      </p:sp>
      <p:sp>
        <p:nvSpPr>
          <p:cNvPr id="36" name="Text 34"/>
          <p:cNvSpPr txBox="1"/>
          <p:nvPr/>
        </p:nvSpPr>
        <p:spPr>
          <a:xfrm>
            <a:off x="4749698"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37" name="Text 35"/>
          <p:cNvSpPr txBox="1"/>
          <p:nvPr/>
        </p:nvSpPr>
        <p:spPr>
          <a:xfrm>
            <a:off x="5978957"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96.49%</a:t>
            </a:r>
            <a:endParaRPr lang="en-US" sz="1600" dirty="0"/>
          </a:p>
        </p:txBody>
      </p:sp>
      <p:sp>
        <p:nvSpPr>
          <p:cNvPr id="38" name="Text 36"/>
          <p:cNvSpPr txBox="1"/>
          <p:nvPr/>
        </p:nvSpPr>
        <p:spPr>
          <a:xfrm>
            <a:off x="4749698"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39" name="Text 37"/>
          <p:cNvSpPr txBox="1"/>
          <p:nvPr/>
        </p:nvSpPr>
        <p:spPr>
          <a:xfrm>
            <a:off x="5978957" y="4800600"/>
            <a:ext cx="1463040" cy="320040"/>
          </a:xfrm>
          <a:prstGeom prst="rect">
            <a:avLst/>
          </a:prstGeom>
          <a:noFill/>
          <a:ln/>
        </p:spPr>
        <p:txBody>
          <a:bodyPr wrap="square" lIns="0" tIns="0" rIns="0" bIns="0" rtlCol="0" anchor="t"/>
          <a:lstStyle/>
          <a:p>
            <a:pPr algn="r" indent="0" marL="0">
              <a:buNone/>
            </a:pPr>
            <a:r>
              <a:rPr lang="en-US" sz="1600" b="1" dirty="0">
                <a:solidFill>
                  <a:srgbClr val="E0533A"/>
                </a:solidFill>
                <a:latin typeface="Arial" pitchFamily="34" charset="0"/>
                <a:ea typeface="Arial" pitchFamily="34" charset="-122"/>
                <a:cs typeface="Arial" pitchFamily="34" charset="-120"/>
              </a:rPr>
              <a:t>6.14%</a:t>
            </a:r>
            <a:endParaRPr lang="en-US" sz="1600" dirty="0"/>
          </a:p>
        </p:txBody>
      </p:sp>
      <p:sp>
        <p:nvSpPr>
          <p:cNvPr id="40" name="Shape 38"/>
          <p:cNvSpPr/>
          <p:nvPr/>
        </p:nvSpPr>
        <p:spPr>
          <a:xfrm>
            <a:off x="8082077" y="1828800"/>
            <a:ext cx="3423818" cy="3611880"/>
          </a:xfrm>
          <a:prstGeom prst="roundRect">
            <a:avLst>
              <a:gd name="adj" fmla="val 1602"/>
            </a:avLst>
          </a:prstGeom>
          <a:solidFill>
            <a:srgbClr val="0B1526"/>
          </a:solidFill>
          <a:ln w="12700">
            <a:solidFill>
              <a:srgbClr val="0B1526"/>
            </a:solidFill>
            <a:prstDash val="solid"/>
          </a:ln>
        </p:spPr>
      </p:sp>
      <p:sp>
        <p:nvSpPr>
          <p:cNvPr id="41" name="Text 39"/>
          <p:cNvSpPr txBox="1"/>
          <p:nvPr/>
        </p:nvSpPr>
        <p:spPr>
          <a:xfrm>
            <a:off x="8447837" y="2103120"/>
            <a:ext cx="2692298" cy="256032"/>
          </a:xfrm>
          <a:prstGeom prst="rect">
            <a:avLst/>
          </a:prstGeom>
          <a:noFill/>
          <a:ln/>
        </p:spPr>
        <p:txBody>
          <a:bodyPr wrap="square" lIns="0" tIns="0" rIns="0" bIns="0" rtlCol="0" anchor="t"/>
          <a:lstStyle/>
          <a:p>
            <a:pPr indent="0" marL="0">
              <a:buNone/>
            </a:pPr>
            <a:r>
              <a:rPr lang="en-US" sz="1050" b="1" dirty="0">
                <a:solidFill>
                  <a:srgbClr val="F08A6E"/>
                </a:solidFill>
                <a:latin typeface="Arial" pitchFamily="34" charset="0"/>
                <a:ea typeface="Arial" pitchFamily="34" charset="-122"/>
                <a:cs typeface="Arial" pitchFamily="34" charset="-120"/>
              </a:rPr>
              <a:t>LEAKAGE-FREE (REALISTIC)</a:t>
            </a:r>
            <a:endParaRPr lang="en-US" sz="1050" dirty="0"/>
          </a:p>
        </p:txBody>
      </p:sp>
      <p:sp>
        <p:nvSpPr>
          <p:cNvPr id="42" name="Text 40"/>
          <p:cNvSpPr txBox="1"/>
          <p:nvPr/>
        </p:nvSpPr>
        <p:spPr>
          <a:xfrm>
            <a:off x="8447837" y="237744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DAPT2020, balance after split</a:t>
            </a:r>
            <a:endParaRPr lang="en-US" sz="1200" dirty="0"/>
          </a:p>
        </p:txBody>
      </p:sp>
      <p:sp>
        <p:nvSpPr>
          <p:cNvPr id="43" name="Text 41"/>
          <p:cNvSpPr txBox="1"/>
          <p:nvPr/>
        </p:nvSpPr>
        <p:spPr>
          <a:xfrm>
            <a:off x="8447837" y="2788920"/>
            <a:ext cx="2692298" cy="868680"/>
          </a:xfrm>
          <a:prstGeom prst="rect">
            <a:avLst/>
          </a:prstGeom>
          <a:noFill/>
          <a:ln/>
        </p:spPr>
        <p:txBody>
          <a:bodyPr wrap="square" lIns="0" tIns="0" rIns="0" bIns="0" rtlCol="0" anchor="t"/>
          <a:lstStyle/>
          <a:p>
            <a:pPr indent="0" marL="0">
              <a:buNone/>
            </a:pPr>
            <a:r>
              <a:rPr lang="en-US" sz="5000" dirty="0">
                <a:solidFill>
                  <a:srgbClr val="FFFFFF"/>
                </a:solidFill>
                <a:latin typeface="Georgia" pitchFamily="34" charset="0"/>
                <a:ea typeface="Georgia" pitchFamily="34" charset="-122"/>
                <a:cs typeface="Georgia" pitchFamily="34" charset="-120"/>
              </a:rPr>
              <a:t>94.68%</a:t>
            </a:r>
            <a:endParaRPr lang="en-US" sz="5000" dirty="0"/>
          </a:p>
        </p:txBody>
      </p:sp>
      <p:sp>
        <p:nvSpPr>
          <p:cNvPr id="44" name="Text 42"/>
          <p:cNvSpPr txBox="1"/>
          <p:nvPr/>
        </p:nvSpPr>
        <p:spPr>
          <a:xfrm>
            <a:off x="8447837" y="365760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accuracy</a:t>
            </a:r>
            <a:endParaRPr lang="en-US" sz="1200" dirty="0"/>
          </a:p>
        </p:txBody>
      </p:sp>
      <p:sp>
        <p:nvSpPr>
          <p:cNvPr id="45" name="Shape 43"/>
          <p:cNvSpPr/>
          <p:nvPr/>
        </p:nvSpPr>
        <p:spPr>
          <a:xfrm>
            <a:off x="8447837" y="4160520"/>
            <a:ext cx="2692298" cy="914"/>
          </a:xfrm>
          <a:prstGeom prst="line">
            <a:avLst/>
          </a:prstGeom>
          <a:noFill/>
          <a:ln w="9525">
            <a:solidFill>
              <a:srgbClr val="2C3E5C"/>
            </a:solidFill>
            <a:prstDash val="solid"/>
          </a:ln>
        </p:spPr>
      </p:sp>
      <p:sp>
        <p:nvSpPr>
          <p:cNvPr id="46" name="Text 44"/>
          <p:cNvSpPr txBox="1"/>
          <p:nvPr/>
        </p:nvSpPr>
        <p:spPr>
          <a:xfrm>
            <a:off x="8447837" y="43434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F1-score</a:t>
            </a:r>
            <a:endParaRPr lang="en-US" sz="1300" dirty="0"/>
          </a:p>
        </p:txBody>
      </p:sp>
      <p:sp>
        <p:nvSpPr>
          <p:cNvPr id="47" name="Text 45"/>
          <p:cNvSpPr txBox="1"/>
          <p:nvPr/>
        </p:nvSpPr>
        <p:spPr>
          <a:xfrm>
            <a:off x="9677095" y="4343400"/>
            <a:ext cx="1463040" cy="320040"/>
          </a:xfrm>
          <a:prstGeom prst="rect">
            <a:avLst/>
          </a:prstGeom>
          <a:noFill/>
          <a:ln/>
        </p:spPr>
        <p:txBody>
          <a:bodyPr wrap="square" lIns="0" tIns="0" rIns="0" bIns="0" rtlCol="0" anchor="t"/>
          <a:lstStyle/>
          <a:p>
            <a:pPr algn="r" indent="0" marL="0">
              <a:buNone/>
            </a:pPr>
            <a:r>
              <a:rPr lang="en-US" sz="1600" b="1" dirty="0">
                <a:solidFill>
                  <a:srgbClr val="FFFFFF"/>
                </a:solidFill>
                <a:latin typeface="Arial" pitchFamily="34" charset="0"/>
                <a:ea typeface="Arial" pitchFamily="34" charset="-122"/>
                <a:cs typeface="Arial" pitchFamily="34" charset="-120"/>
              </a:rPr>
              <a:t>89.46%</a:t>
            </a:r>
            <a:endParaRPr lang="en-US" sz="1600" dirty="0"/>
          </a:p>
        </p:txBody>
      </p:sp>
      <p:sp>
        <p:nvSpPr>
          <p:cNvPr id="48" name="Text 46"/>
          <p:cNvSpPr txBox="1"/>
          <p:nvPr/>
        </p:nvSpPr>
        <p:spPr>
          <a:xfrm>
            <a:off x="8447837" y="48006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False positive rate</a:t>
            </a:r>
            <a:endParaRPr lang="en-US" sz="1300" dirty="0"/>
          </a:p>
        </p:txBody>
      </p:sp>
      <p:sp>
        <p:nvSpPr>
          <p:cNvPr id="49" name="Text 47"/>
          <p:cNvSpPr txBox="1"/>
          <p:nvPr/>
        </p:nvSpPr>
        <p:spPr>
          <a:xfrm>
            <a:off x="9677095" y="4800600"/>
            <a:ext cx="1463040" cy="320040"/>
          </a:xfrm>
          <a:prstGeom prst="rect">
            <a:avLst/>
          </a:prstGeom>
          <a:noFill/>
          <a:ln/>
        </p:spPr>
        <p:txBody>
          <a:bodyPr wrap="square" lIns="0" tIns="0" rIns="0" bIns="0" rtlCol="0" anchor="t"/>
          <a:lstStyle/>
          <a:p>
            <a:pPr algn="r" indent="0" marL="0">
              <a:buNone/>
            </a:pPr>
            <a:r>
              <a:rPr lang="en-US" sz="1600" b="1" dirty="0">
                <a:solidFill>
                  <a:srgbClr val="F08A6E"/>
                </a:solidFill>
                <a:latin typeface="Arial" pitchFamily="34" charset="0"/>
                <a:ea typeface="Arial" pitchFamily="34" charset="-122"/>
                <a:cs typeface="Arial" pitchFamily="34" charset="-120"/>
              </a:rPr>
              <a:t>5.99%</a:t>
            </a:r>
            <a:endParaRPr lang="en-US" sz="1600" dirty="0"/>
          </a:p>
        </p:txBody>
      </p:sp>
      <p:sp>
        <p:nvSpPr>
          <p:cNvPr id="50" name="Text 48"/>
          <p:cNvSpPr txBox="1"/>
          <p:nvPr/>
        </p:nvSpPr>
        <p:spPr>
          <a:xfrm>
            <a:off x="685800" y="5669280"/>
            <a:ext cx="10820095" cy="5486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Takeaway: </a:t>
            </a:r>
            <a:pPr indent="0" marL="0">
              <a:buNone/>
            </a:pPr>
            <a:r>
              <a:rPr lang="en-US" sz="1400" dirty="0">
                <a:solidFill>
                  <a:srgbClr val="0F1B2D"/>
                </a:solidFill>
                <a:latin typeface="Arial" pitchFamily="34" charset="0"/>
                <a:ea typeface="Arial" pitchFamily="34" charset="-122"/>
                <a:cs typeface="Arial" pitchFamily="34" charset="-120"/>
              </a:rPr>
              <a:t>the hybrid still ranks APT flows very well (AUC 99.09%), but raises about 12× more false alarms than claimed, and F1 falls by 7 points once the leak is removed.</a:t>
            </a:r>
            <a:endParaRPr lang="en-US" sz="1400" dirty="0"/>
          </a:p>
        </p:txBody>
      </p:sp>
      <p:sp>
        <p:nvSpPr>
          <p:cNvPr id="51" name="Text 4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2" name="Text 5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Every model loses 7–20 F1 points on real test data</a:t>
            </a:r>
            <a:endParaRPr lang="en-US" sz="3000" dirty="0"/>
          </a:p>
        </p:txBody>
      </p:sp>
      <p:pic>
        <p:nvPicPr>
          <p:cNvPr id="20" name="Image 0" descr="/private/tmp/claude-501/-Users-ashishjain-Documents-RIS-Mid-Eval/4e14a31e-25f5-4016-81db-47057b986f0d/scratchpad/deck/charts/f1_protocols.png">    </p:cNvPr>
          <p:cNvPicPr>
            <a:picLocks noChangeAspect="1"/>
          </p:cNvPicPr>
          <p:nvPr/>
        </p:nvPicPr>
        <p:blipFill>
          <a:blip r:embed="rId1"/>
          <a:stretch>
            <a:fillRect/>
          </a:stretch>
        </p:blipFill>
        <p:spPr>
          <a:xfrm>
            <a:off x="685800" y="1691640"/>
            <a:ext cx="7498080" cy="4526280"/>
          </a:xfrm>
          <a:prstGeom prst="rect">
            <a:avLst/>
          </a:prstGeom>
        </p:spPr>
      </p:pic>
      <p:sp>
        <p:nvSpPr>
          <p:cNvPr id="21" name="Shape 18"/>
          <p:cNvSpPr/>
          <p:nvPr/>
        </p:nvSpPr>
        <p:spPr>
          <a:xfrm>
            <a:off x="8549640" y="1965960"/>
            <a:ext cx="457200" cy="457200"/>
          </a:xfrm>
          <a:prstGeom prst="ellipse">
            <a:avLst/>
          </a:prstGeom>
          <a:solidFill>
            <a:srgbClr val="2A78D6"/>
          </a:solidFill>
          <a:ln w="12700">
            <a:solidFill>
              <a:srgbClr val="2A78D6"/>
            </a:solidFill>
            <a:prstDash val="solid"/>
          </a:ln>
        </p:spPr>
      </p:sp>
      <p:pic>
        <p:nvPicPr>
          <p:cNvPr id="22" name="Image 1" descr="preencoded.png">    </p:cNvPr>
          <p:cNvPicPr>
            <a:picLocks noChangeAspect="1"/>
          </p:cNvPicPr>
          <p:nvPr/>
        </p:nvPicPr>
        <p:blipFill>
          <a:blip r:embed="rId2"/>
          <a:stretch>
            <a:fillRect/>
          </a:stretch>
        </p:blipFill>
        <p:spPr>
          <a:xfrm>
            <a:off x="8673084" y="2089404"/>
            <a:ext cx="210312" cy="210312"/>
          </a:xfrm>
          <a:prstGeom prst="rect">
            <a:avLst/>
          </a:prstGeom>
        </p:spPr>
      </p:pic>
      <p:sp>
        <p:nvSpPr>
          <p:cNvPr id="23" name="Text 19"/>
          <p:cNvSpPr txBox="1"/>
          <p:nvPr/>
        </p:nvSpPr>
        <p:spPr>
          <a:xfrm>
            <a:off x="9171432" y="20116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Tree ensembles lead</a:t>
            </a:r>
            <a:endParaRPr lang="en-US" sz="1400" dirty="0"/>
          </a:p>
        </p:txBody>
      </p:sp>
      <p:sp>
        <p:nvSpPr>
          <p:cNvPr id="24" name="Text 20"/>
          <p:cNvSpPr txBox="1"/>
          <p:nvPr/>
        </p:nvSpPr>
        <p:spPr>
          <a:xfrm>
            <a:off x="8549640" y="25328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Hybrid, Random Forest and XGBoost all reach ≈ 89.5% F1</a:t>
            </a:r>
            <a:endParaRPr lang="en-US" sz="1200" dirty="0"/>
          </a:p>
        </p:txBody>
      </p:sp>
      <p:sp>
        <p:nvSpPr>
          <p:cNvPr id="25" name="Shape 21"/>
          <p:cNvSpPr/>
          <p:nvPr/>
        </p:nvSpPr>
        <p:spPr>
          <a:xfrm>
            <a:off x="8549640" y="3063240"/>
            <a:ext cx="2956255" cy="914"/>
          </a:xfrm>
          <a:prstGeom prst="line">
            <a:avLst/>
          </a:prstGeom>
          <a:noFill/>
          <a:ln w="9525">
            <a:solidFill>
              <a:srgbClr val="E2E6EC"/>
            </a:solidFill>
            <a:prstDash val="solid"/>
          </a:ln>
        </p:spPr>
      </p:sp>
      <p:sp>
        <p:nvSpPr>
          <p:cNvPr id="26" name="Shape 22"/>
          <p:cNvSpPr/>
          <p:nvPr/>
        </p:nvSpPr>
        <p:spPr>
          <a:xfrm>
            <a:off x="8549640" y="3337560"/>
            <a:ext cx="457200" cy="457200"/>
          </a:xfrm>
          <a:prstGeom prst="ellipse">
            <a:avLst/>
          </a:prstGeom>
          <a:solidFill>
            <a:srgbClr val="2A78D6"/>
          </a:solidFill>
          <a:ln w="12700">
            <a:solidFill>
              <a:srgbClr val="2A78D6"/>
            </a:solidFill>
            <a:prstDash val="solid"/>
          </a:ln>
        </p:spPr>
      </p:sp>
      <p:pic>
        <p:nvPicPr>
          <p:cNvPr id="27" name="Image 2" descr="preencoded.png">    </p:cNvPr>
          <p:cNvPicPr>
            <a:picLocks noChangeAspect="1"/>
          </p:cNvPicPr>
          <p:nvPr/>
        </p:nvPicPr>
        <p:blipFill>
          <a:blip r:embed="rId3"/>
          <a:stretch>
            <a:fillRect/>
          </a:stretch>
        </p:blipFill>
        <p:spPr>
          <a:xfrm>
            <a:off x="8673084" y="3461004"/>
            <a:ext cx="210312" cy="210312"/>
          </a:xfrm>
          <a:prstGeom prst="rect">
            <a:avLst/>
          </a:prstGeom>
        </p:spPr>
      </p:pic>
      <p:sp>
        <p:nvSpPr>
          <p:cNvPr id="28" name="Text 23"/>
          <p:cNvSpPr txBox="1"/>
          <p:nvPr/>
        </p:nvSpPr>
        <p:spPr>
          <a:xfrm>
            <a:off x="9171432" y="33832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Deep learning doesn't help</a:t>
            </a:r>
            <a:endParaRPr lang="en-US" sz="1400" dirty="0"/>
          </a:p>
        </p:txBody>
      </p:sp>
      <p:sp>
        <p:nvSpPr>
          <p:cNvPr id="29" name="Text 24"/>
          <p:cNvSpPr txBox="1"/>
          <p:nvPr/>
        </p:nvSpPr>
        <p:spPr>
          <a:xfrm>
            <a:off x="8549640" y="39044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CNN 88.2%, MLP 88.2%, consistent with the paper's own Table 7</a:t>
            </a:r>
            <a:endParaRPr lang="en-US" sz="1200" dirty="0"/>
          </a:p>
        </p:txBody>
      </p:sp>
      <p:sp>
        <p:nvSpPr>
          <p:cNvPr id="30" name="Shape 25"/>
          <p:cNvSpPr/>
          <p:nvPr/>
        </p:nvSpPr>
        <p:spPr>
          <a:xfrm>
            <a:off x="8549640" y="4434840"/>
            <a:ext cx="2956255" cy="914"/>
          </a:xfrm>
          <a:prstGeom prst="line">
            <a:avLst/>
          </a:prstGeom>
          <a:noFill/>
          <a:ln w="9525">
            <a:solidFill>
              <a:srgbClr val="E2E6EC"/>
            </a:solidFill>
            <a:prstDash val="solid"/>
          </a:ln>
        </p:spPr>
      </p:sp>
      <p:sp>
        <p:nvSpPr>
          <p:cNvPr id="31" name="Shape 26"/>
          <p:cNvSpPr/>
          <p:nvPr/>
        </p:nvSpPr>
        <p:spPr>
          <a:xfrm>
            <a:off x="8549640" y="4709160"/>
            <a:ext cx="457200" cy="457200"/>
          </a:xfrm>
          <a:prstGeom prst="ellipse">
            <a:avLst/>
          </a:prstGeom>
          <a:solidFill>
            <a:srgbClr val="E0533A"/>
          </a:solidFill>
          <a:ln w="12700">
            <a:solidFill>
              <a:srgbClr val="E0533A"/>
            </a:solidFill>
            <a:prstDash val="solid"/>
          </a:ln>
        </p:spPr>
      </p:sp>
      <p:pic>
        <p:nvPicPr>
          <p:cNvPr id="32" name="Image 3" descr="preencoded.png">    </p:cNvPr>
          <p:cNvPicPr>
            <a:picLocks noChangeAspect="1"/>
          </p:cNvPicPr>
          <p:nvPr/>
        </p:nvPicPr>
        <p:blipFill>
          <a:blip r:embed="rId4"/>
          <a:stretch>
            <a:fillRect/>
          </a:stretch>
        </p:blipFill>
        <p:spPr>
          <a:xfrm>
            <a:off x="8673084" y="4832604"/>
            <a:ext cx="210312" cy="210312"/>
          </a:xfrm>
          <a:prstGeom prst="rect">
            <a:avLst/>
          </a:prstGeom>
        </p:spPr>
      </p:pic>
      <p:sp>
        <p:nvSpPr>
          <p:cNvPr id="33" name="Text 27"/>
          <p:cNvSpPr txBox="1"/>
          <p:nvPr/>
        </p:nvSpPr>
        <p:spPr>
          <a:xfrm>
            <a:off x="9171432" y="47548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Simple models collapse</a:t>
            </a:r>
            <a:endParaRPr lang="en-US" sz="1400" dirty="0"/>
          </a:p>
        </p:txBody>
      </p:sp>
      <p:sp>
        <p:nvSpPr>
          <p:cNvPr id="34" name="Text 28"/>
          <p:cNvSpPr txBox="1"/>
          <p:nvPr/>
        </p:nvSpPr>
        <p:spPr>
          <a:xfrm>
            <a:off x="8549640" y="52760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Naive Bayes raises alarms on 32% of benign flows</a:t>
            </a:r>
            <a:endParaRPr lang="en-US" sz="1200" dirty="0"/>
          </a:p>
        </p:txBody>
      </p:sp>
      <p:sp>
        <p:nvSpPr>
          <p:cNvPr id="35" name="Text 2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6" name="Text 3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ties its own components on F1</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3593592"/>
                <a:gridCol w="1737360"/>
                <a:gridCol w="1737360"/>
                <a:gridCol w="2011680"/>
                <a:gridCol w="1737360"/>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Recall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False positive rate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r>
              <a:tr h="475488">
                <a:tc>
                  <a:txBody>
                    <a:bodyPr/>
                    <a:lstStyle/>
                    <a:p>
                      <a:pPr indent="0" marL="0">
                        <a:buNone/>
                      </a:pPr>
                      <a:r>
                        <a:rPr lang="en-US" sz="1400" b="1" dirty="0">
                          <a:solidFill>
                            <a:srgbClr val="0F1B2D"/>
                          </a:solidFill>
                          <a:latin typeface="Arial" pitchFamily="34" charset="0"/>
                          <a:ea typeface="Arial" pitchFamily="34" charset="-122"/>
                          <a:cs typeface="Arial" pitchFamily="34" charset="-120"/>
                        </a:rPr>
                        <a:t>Proposed hybrid (OR rule)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89.13 ± 0.22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95.99 ± 0.29</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5.90 ± 0.17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99.04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AF1FB"/>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Hybrid, soft vote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89.48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93.81 ± 0.38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4.82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99.04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Random Forest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89.11 ± 0.12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92.94 ± 0.24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4.76 ± 0.09</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98.86 ± 0.05</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XGBoost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89.25 ± 0.23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93.56 ± 0.52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4.89 ± 0.20</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98.96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685800" y="4251960"/>
            <a:ext cx="10820095" cy="274320"/>
          </a:xfrm>
          <a:prstGeom prst="rect">
            <a:avLst/>
          </a:prstGeom>
          <a:noFill/>
          <a:ln/>
        </p:spPr>
        <p:txBody>
          <a:bodyPr wrap="square" lIns="0" tIns="0" rIns="0" bIns="0" rtlCol="0" anchor="t"/>
          <a:lstStyle/>
          <a:p>
            <a:pPr indent="0" marL="0">
              <a:buNone/>
            </a:pPr>
            <a:r>
              <a:rPr lang="en-US" sz="1100" dirty="0">
                <a:solidFill>
                  <a:srgbClr val="8A94A3"/>
                </a:solidFill>
                <a:latin typeface="Arial" pitchFamily="34" charset="0"/>
                <a:ea typeface="Arial" pitchFamily="34" charset="-122"/>
                <a:cs typeface="Arial" pitchFamily="34" charset="-120"/>
              </a:rPr>
              <a:t>Leakage-free test set, mean ± standard deviation over 5 random seeds (%)</a:t>
            </a:r>
            <a:endParaRPr lang="en-US" sz="1100" dirty="0"/>
          </a:p>
        </p:txBody>
      </p:sp>
      <p:sp>
        <p:nvSpPr>
          <p:cNvPr id="22" name="Shape 19"/>
          <p:cNvSpPr/>
          <p:nvPr/>
        </p:nvSpPr>
        <p:spPr>
          <a:xfrm>
            <a:off x="685800" y="4937760"/>
            <a:ext cx="530352" cy="530352"/>
          </a:xfrm>
          <a:prstGeom prst="ellipse">
            <a:avLst/>
          </a:prstGeom>
          <a:solidFill>
            <a:srgbClr val="2A78D6"/>
          </a:solidFill>
          <a:ln w="12700">
            <a:solidFill>
              <a:srgbClr val="2A78D6"/>
            </a:solidFill>
            <a:prstDash val="solid"/>
          </a:ln>
        </p:spPr>
      </p:sp>
      <p:pic>
        <p:nvPicPr>
          <p:cNvPr id="23" name="Image 0" descr="preencoded.png">    </p:cNvPr>
          <p:cNvPicPr>
            <a:picLocks noChangeAspect="1"/>
          </p:cNvPicPr>
          <p:nvPr/>
        </p:nvPicPr>
        <p:blipFill>
          <a:blip r:embed="rId1"/>
          <a:stretch>
            <a:fillRect/>
          </a:stretch>
        </p:blipFill>
        <p:spPr>
          <a:xfrm>
            <a:off x="828995" y="5080955"/>
            <a:ext cx="243962" cy="243962"/>
          </a:xfrm>
          <a:prstGeom prst="rect">
            <a:avLst/>
          </a:prstGeom>
        </p:spPr>
      </p:pic>
      <p:sp>
        <p:nvSpPr>
          <p:cNvPr id="24" name="Text 20"/>
          <p:cNvSpPr txBox="1"/>
          <p:nvPr/>
        </p:nvSpPr>
        <p:spPr>
          <a:xfrm>
            <a:off x="1417320"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Tied on F1</a:t>
            </a:r>
            <a:endParaRPr lang="en-US" sz="1500" dirty="0"/>
          </a:p>
        </p:txBody>
      </p:sp>
      <p:sp>
        <p:nvSpPr>
          <p:cNvPr id="25" name="Text 21"/>
          <p:cNvSpPr txBox="1"/>
          <p:nvPr/>
        </p:nvSpPr>
        <p:spPr>
          <a:xfrm>
            <a:off x="1417320"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89.1–89.5% for all four; the differences are within run-to-run noise</a:t>
            </a:r>
            <a:endParaRPr lang="en-US" sz="1250" dirty="0"/>
          </a:p>
        </p:txBody>
      </p:sp>
      <p:sp>
        <p:nvSpPr>
          <p:cNvPr id="26" name="Shape 22"/>
          <p:cNvSpPr/>
          <p:nvPr/>
        </p:nvSpPr>
        <p:spPr>
          <a:xfrm>
            <a:off x="4383938" y="4937760"/>
            <a:ext cx="530352" cy="530352"/>
          </a:xfrm>
          <a:prstGeom prst="ellipse">
            <a:avLst/>
          </a:prstGeom>
          <a:solidFill>
            <a:srgbClr val="E0533A"/>
          </a:solidFill>
          <a:ln w="12700">
            <a:solidFill>
              <a:srgbClr val="E0533A"/>
            </a:solidFill>
            <a:prstDash val="solid"/>
          </a:ln>
        </p:spPr>
      </p:sp>
      <p:pic>
        <p:nvPicPr>
          <p:cNvPr id="27" name="Image 1" descr="preencoded.png">    </p:cNvPr>
          <p:cNvPicPr>
            <a:picLocks noChangeAspect="1"/>
          </p:cNvPicPr>
          <p:nvPr/>
        </p:nvPicPr>
        <p:blipFill>
          <a:blip r:embed="rId2"/>
          <a:stretch>
            <a:fillRect/>
          </a:stretch>
        </p:blipFill>
        <p:spPr>
          <a:xfrm>
            <a:off x="4527133" y="5080955"/>
            <a:ext cx="243962" cy="243962"/>
          </a:xfrm>
          <a:prstGeom prst="rect">
            <a:avLst/>
          </a:prstGeom>
        </p:spPr>
      </p:pic>
      <p:sp>
        <p:nvSpPr>
          <p:cNvPr id="28" name="Text 23"/>
          <p:cNvSpPr txBox="1"/>
          <p:nvPr/>
        </p:nvSpPr>
        <p:spPr>
          <a:xfrm>
            <a:off x="5115458"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rule = more alarms</a:t>
            </a:r>
            <a:endParaRPr lang="en-US" sz="1500" dirty="0"/>
          </a:p>
        </p:txBody>
      </p:sp>
      <p:sp>
        <p:nvSpPr>
          <p:cNvPr id="29" name="Text 24"/>
          <p:cNvSpPr txBox="1"/>
          <p:nvPr/>
        </p:nvSpPr>
        <p:spPr>
          <a:xfrm>
            <a:off x="5115458"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recall (96.0% vs ≈ 93%), but FPR 5.9% vs ≈ 4.8%</a:t>
            </a:r>
            <a:endParaRPr lang="en-US" sz="1250" dirty="0"/>
          </a:p>
        </p:txBody>
      </p:sp>
      <p:sp>
        <p:nvSpPr>
          <p:cNvPr id="30" name="Shape 25"/>
          <p:cNvSpPr/>
          <p:nvPr/>
        </p:nvSpPr>
        <p:spPr>
          <a:xfrm>
            <a:off x="8082077" y="4937760"/>
            <a:ext cx="530352" cy="530352"/>
          </a:xfrm>
          <a:prstGeom prst="ellipse">
            <a:avLst/>
          </a:prstGeom>
          <a:solidFill>
            <a:srgbClr val="2A78D6"/>
          </a:solidFill>
          <a:ln w="12700">
            <a:solidFill>
              <a:srgbClr val="2A78D6"/>
            </a:solidFill>
            <a:prstDash val="solid"/>
          </a:ln>
        </p:spPr>
      </p:sp>
      <p:pic>
        <p:nvPicPr>
          <p:cNvPr id="31" name="Image 2" descr="preencoded.png">    </p:cNvPr>
          <p:cNvPicPr>
            <a:picLocks noChangeAspect="1"/>
          </p:cNvPicPr>
          <p:nvPr/>
        </p:nvPicPr>
        <p:blipFill>
          <a:blip r:embed="rId3"/>
          <a:stretch>
            <a:fillRect/>
          </a:stretch>
        </p:blipFill>
        <p:spPr>
          <a:xfrm>
            <a:off x="8225272" y="5080955"/>
            <a:ext cx="243962" cy="243962"/>
          </a:xfrm>
          <a:prstGeom prst="rect">
            <a:avLst/>
          </a:prstGeom>
        </p:spPr>
      </p:pic>
      <p:sp>
        <p:nvSpPr>
          <p:cNvPr id="32" name="Text 26"/>
          <p:cNvSpPr txBox="1"/>
          <p:nvPr/>
        </p:nvSpPr>
        <p:spPr>
          <a:xfrm>
            <a:off x="8813597"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Best ranking</a:t>
            </a:r>
            <a:endParaRPr lang="en-US" sz="1500" dirty="0"/>
          </a:p>
        </p:txBody>
      </p:sp>
      <p:sp>
        <p:nvSpPr>
          <p:cNvPr id="33" name="Text 27"/>
          <p:cNvSpPr txBox="1"/>
          <p:nvPr/>
        </p:nvSpPr>
        <p:spPr>
          <a:xfrm>
            <a:off x="8813597"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AUC: 99.04% vs 98.86% (RF) and 98.96% (XGBoost)</a:t>
            </a:r>
            <a:endParaRPr lang="en-US" sz="1250" dirty="0"/>
          </a:p>
        </p:txBody>
      </p:sp>
      <p:sp>
        <p:nvSpPr>
          <p:cNvPr id="34" name="Text 28"/>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5" name="Text 29"/>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APT stages can be told apart, except exfiltration</a:t>
            </a:r>
            <a:endParaRPr lang="en-US" sz="3000" dirty="0"/>
          </a:p>
        </p:txBody>
      </p:sp>
      <p:pic>
        <p:nvPicPr>
          <p:cNvPr id="20" name="Image 0" descr="/private/tmp/claude-501/-Users-ashishjain-Documents-RIS-Mid-Eval/4e14a31e-25f5-4016-81db-47057b986f0d/scratchpad/deck/charts/stage_confusion.png">    </p:cNvPr>
          <p:cNvPicPr>
            <a:picLocks noChangeAspect="1"/>
          </p:cNvPicPr>
          <p:nvPr/>
        </p:nvPicPr>
        <p:blipFill>
          <a:blip r:embed="rId1"/>
          <a:stretch>
            <a:fillRect/>
          </a:stretch>
        </p:blipFill>
        <p:spPr>
          <a:xfrm>
            <a:off x="685800" y="1691640"/>
            <a:ext cx="4754880" cy="4480560"/>
          </a:xfrm>
          <a:prstGeom prst="rect">
            <a:avLst/>
          </a:prstGeom>
        </p:spPr>
      </p:pic>
      <p:sp>
        <p:nvSpPr>
          <p:cNvPr id="21" name="Text 18"/>
          <p:cNvSpPr txBox="1"/>
          <p:nvPr/>
        </p:nvSpPr>
        <p:spPr>
          <a:xfrm>
            <a:off x="5897880" y="1783080"/>
            <a:ext cx="5608015"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Recall per stage  ·  hybrid, soft vote</a:t>
            </a:r>
            <a:endParaRPr lang="en-US" sz="1400" dirty="0"/>
          </a:p>
        </p:txBody>
      </p:sp>
      <p:sp>
        <p:nvSpPr>
          <p:cNvPr id="22" name="Shape 19"/>
          <p:cNvSpPr/>
          <p:nvPr/>
        </p:nvSpPr>
        <p:spPr>
          <a:xfrm>
            <a:off x="5897880" y="2304288"/>
            <a:ext cx="502920" cy="502920"/>
          </a:xfrm>
          <a:prstGeom prst="ellipse">
            <a:avLst/>
          </a:prstGeom>
          <a:solidFill>
            <a:srgbClr val="0B1526"/>
          </a:solidFill>
          <a:ln w="12700">
            <a:solidFill>
              <a:srgbClr val="0B1526"/>
            </a:solidFill>
            <a:prstDash val="solid"/>
          </a:ln>
        </p:spPr>
      </p:sp>
      <p:pic>
        <p:nvPicPr>
          <p:cNvPr id="23" name="Image 1" descr="preencoded.png">    </p:cNvPr>
          <p:cNvPicPr>
            <a:picLocks noChangeAspect="1"/>
          </p:cNvPicPr>
          <p:nvPr/>
        </p:nvPicPr>
        <p:blipFill>
          <a:blip r:embed="rId2"/>
          <a:stretch>
            <a:fillRect/>
          </a:stretch>
        </p:blipFill>
        <p:spPr>
          <a:xfrm>
            <a:off x="6033668" y="2440076"/>
            <a:ext cx="231343" cy="231343"/>
          </a:xfrm>
          <a:prstGeom prst="rect">
            <a:avLst/>
          </a:prstGeom>
        </p:spPr>
      </p:pic>
      <p:sp>
        <p:nvSpPr>
          <p:cNvPr id="24" name="Text 20"/>
          <p:cNvSpPr txBox="1"/>
          <p:nvPr/>
        </p:nvSpPr>
        <p:spPr>
          <a:xfrm>
            <a:off x="6611112" y="230428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Reconnaissance</a:t>
            </a:r>
            <a:endParaRPr lang="en-US" sz="1450" dirty="0"/>
          </a:p>
        </p:txBody>
      </p:sp>
      <p:sp>
        <p:nvSpPr>
          <p:cNvPr id="25" name="Text 21"/>
          <p:cNvSpPr txBox="1"/>
          <p:nvPr/>
        </p:nvSpPr>
        <p:spPr>
          <a:xfrm>
            <a:off x="6611112" y="259689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3,083 of 3,195 test flows</a:t>
            </a:r>
            <a:endParaRPr lang="en-US" sz="1150" dirty="0"/>
          </a:p>
        </p:txBody>
      </p:sp>
      <p:sp>
        <p:nvSpPr>
          <p:cNvPr id="26" name="Text 22"/>
          <p:cNvSpPr txBox="1"/>
          <p:nvPr/>
        </p:nvSpPr>
        <p:spPr>
          <a:xfrm>
            <a:off x="9464040" y="228600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96.5%</a:t>
            </a:r>
            <a:endParaRPr lang="en-US" sz="2600" dirty="0"/>
          </a:p>
        </p:txBody>
      </p:sp>
      <p:sp>
        <p:nvSpPr>
          <p:cNvPr id="27" name="Shape 23"/>
          <p:cNvSpPr/>
          <p:nvPr/>
        </p:nvSpPr>
        <p:spPr>
          <a:xfrm>
            <a:off x="5897880" y="2944368"/>
            <a:ext cx="5608015" cy="914"/>
          </a:xfrm>
          <a:prstGeom prst="line">
            <a:avLst/>
          </a:prstGeom>
          <a:noFill/>
          <a:ln w="9525">
            <a:solidFill>
              <a:srgbClr val="E2E6EC"/>
            </a:solidFill>
            <a:prstDash val="solid"/>
          </a:ln>
        </p:spPr>
      </p:sp>
      <p:sp>
        <p:nvSpPr>
          <p:cNvPr id="28" name="Shape 24"/>
          <p:cNvSpPr/>
          <p:nvPr/>
        </p:nvSpPr>
        <p:spPr>
          <a:xfrm>
            <a:off x="5897880" y="3081528"/>
            <a:ext cx="502920" cy="502920"/>
          </a:xfrm>
          <a:prstGeom prst="ellipse">
            <a:avLst/>
          </a:prstGeom>
          <a:solidFill>
            <a:srgbClr val="0B1526"/>
          </a:solidFill>
          <a:ln w="12700">
            <a:solidFill>
              <a:srgbClr val="0B1526"/>
            </a:solidFill>
            <a:prstDash val="solid"/>
          </a:ln>
        </p:spPr>
      </p:sp>
      <p:pic>
        <p:nvPicPr>
          <p:cNvPr id="29" name="Image 2" descr="preencoded.png">    </p:cNvPr>
          <p:cNvPicPr>
            <a:picLocks noChangeAspect="1"/>
          </p:cNvPicPr>
          <p:nvPr/>
        </p:nvPicPr>
        <p:blipFill>
          <a:blip r:embed="rId3"/>
          <a:stretch>
            <a:fillRect/>
          </a:stretch>
        </p:blipFill>
        <p:spPr>
          <a:xfrm>
            <a:off x="6033668" y="3217316"/>
            <a:ext cx="231343" cy="231343"/>
          </a:xfrm>
          <a:prstGeom prst="rect">
            <a:avLst/>
          </a:prstGeom>
        </p:spPr>
      </p:pic>
      <p:sp>
        <p:nvSpPr>
          <p:cNvPr id="30" name="Text 25"/>
          <p:cNvSpPr txBox="1"/>
          <p:nvPr/>
        </p:nvSpPr>
        <p:spPr>
          <a:xfrm>
            <a:off x="6611112" y="308152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Establish foothold</a:t>
            </a:r>
            <a:endParaRPr lang="en-US" sz="1450" dirty="0"/>
          </a:p>
        </p:txBody>
      </p:sp>
      <p:sp>
        <p:nvSpPr>
          <p:cNvPr id="31" name="Text 26"/>
          <p:cNvSpPr txBox="1"/>
          <p:nvPr/>
        </p:nvSpPr>
        <p:spPr>
          <a:xfrm>
            <a:off x="6611112" y="337413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1,816 of 1,850</a:t>
            </a:r>
            <a:endParaRPr lang="en-US" sz="1150" dirty="0"/>
          </a:p>
        </p:txBody>
      </p:sp>
      <p:sp>
        <p:nvSpPr>
          <p:cNvPr id="32" name="Text 27"/>
          <p:cNvSpPr txBox="1"/>
          <p:nvPr/>
        </p:nvSpPr>
        <p:spPr>
          <a:xfrm>
            <a:off x="9464040" y="306324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98.2%</a:t>
            </a:r>
            <a:endParaRPr lang="en-US" sz="2600" dirty="0"/>
          </a:p>
        </p:txBody>
      </p:sp>
      <p:sp>
        <p:nvSpPr>
          <p:cNvPr id="33" name="Shape 28"/>
          <p:cNvSpPr/>
          <p:nvPr/>
        </p:nvSpPr>
        <p:spPr>
          <a:xfrm>
            <a:off x="5897880" y="3721608"/>
            <a:ext cx="5608015" cy="914"/>
          </a:xfrm>
          <a:prstGeom prst="line">
            <a:avLst/>
          </a:prstGeom>
          <a:noFill/>
          <a:ln w="9525">
            <a:solidFill>
              <a:srgbClr val="E2E6EC"/>
            </a:solidFill>
            <a:prstDash val="solid"/>
          </a:ln>
        </p:spPr>
      </p:sp>
      <p:sp>
        <p:nvSpPr>
          <p:cNvPr id="34" name="Shape 29"/>
          <p:cNvSpPr/>
          <p:nvPr/>
        </p:nvSpPr>
        <p:spPr>
          <a:xfrm>
            <a:off x="5897880" y="3858768"/>
            <a:ext cx="502920" cy="502920"/>
          </a:xfrm>
          <a:prstGeom prst="ellipse">
            <a:avLst/>
          </a:prstGeom>
          <a:solidFill>
            <a:srgbClr val="0B1526"/>
          </a:solidFill>
          <a:ln w="12700">
            <a:solidFill>
              <a:srgbClr val="0B1526"/>
            </a:solidFill>
            <a:prstDash val="solid"/>
          </a:ln>
        </p:spPr>
      </p:sp>
      <p:pic>
        <p:nvPicPr>
          <p:cNvPr id="35" name="Image 3" descr="preencoded.png">    </p:cNvPr>
          <p:cNvPicPr>
            <a:picLocks noChangeAspect="1"/>
          </p:cNvPicPr>
          <p:nvPr/>
        </p:nvPicPr>
        <p:blipFill>
          <a:blip r:embed="rId4"/>
          <a:stretch>
            <a:fillRect/>
          </a:stretch>
        </p:blipFill>
        <p:spPr>
          <a:xfrm>
            <a:off x="6033668" y="3994556"/>
            <a:ext cx="231343" cy="231343"/>
          </a:xfrm>
          <a:prstGeom prst="rect">
            <a:avLst/>
          </a:prstGeom>
        </p:spPr>
      </p:pic>
      <p:sp>
        <p:nvSpPr>
          <p:cNvPr id="36" name="Text 30"/>
          <p:cNvSpPr txBox="1"/>
          <p:nvPr/>
        </p:nvSpPr>
        <p:spPr>
          <a:xfrm>
            <a:off x="6611112" y="385876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Lateral movement</a:t>
            </a:r>
            <a:endParaRPr lang="en-US" sz="1450" dirty="0"/>
          </a:p>
        </p:txBody>
      </p:sp>
      <p:sp>
        <p:nvSpPr>
          <p:cNvPr id="37" name="Text 31"/>
          <p:cNvSpPr txBox="1"/>
          <p:nvPr/>
        </p:nvSpPr>
        <p:spPr>
          <a:xfrm>
            <a:off x="6611112" y="415137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580 of 644</a:t>
            </a:r>
            <a:endParaRPr lang="en-US" sz="1150" dirty="0"/>
          </a:p>
        </p:txBody>
      </p:sp>
      <p:sp>
        <p:nvSpPr>
          <p:cNvPr id="38" name="Text 32"/>
          <p:cNvSpPr txBox="1"/>
          <p:nvPr/>
        </p:nvSpPr>
        <p:spPr>
          <a:xfrm>
            <a:off x="9464040" y="384048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90.1%</a:t>
            </a:r>
            <a:endParaRPr lang="en-US" sz="2600" dirty="0"/>
          </a:p>
        </p:txBody>
      </p:sp>
      <p:sp>
        <p:nvSpPr>
          <p:cNvPr id="39" name="Shape 33"/>
          <p:cNvSpPr/>
          <p:nvPr/>
        </p:nvSpPr>
        <p:spPr>
          <a:xfrm>
            <a:off x="5897880" y="4498848"/>
            <a:ext cx="5608015" cy="914"/>
          </a:xfrm>
          <a:prstGeom prst="line">
            <a:avLst/>
          </a:prstGeom>
          <a:noFill/>
          <a:ln w="9525">
            <a:solidFill>
              <a:srgbClr val="E2E6EC"/>
            </a:solidFill>
            <a:prstDash val="solid"/>
          </a:ln>
        </p:spPr>
      </p:sp>
      <p:sp>
        <p:nvSpPr>
          <p:cNvPr id="40" name="Shape 34"/>
          <p:cNvSpPr/>
          <p:nvPr/>
        </p:nvSpPr>
        <p:spPr>
          <a:xfrm>
            <a:off x="5897880" y="4636008"/>
            <a:ext cx="502920" cy="502920"/>
          </a:xfrm>
          <a:prstGeom prst="ellipse">
            <a:avLst/>
          </a:prstGeom>
          <a:solidFill>
            <a:srgbClr val="E0533A"/>
          </a:solidFill>
          <a:ln w="12700">
            <a:solidFill>
              <a:srgbClr val="E0533A"/>
            </a:solidFill>
            <a:prstDash val="solid"/>
          </a:ln>
        </p:spPr>
      </p:sp>
      <p:pic>
        <p:nvPicPr>
          <p:cNvPr id="41" name="Image 4" descr="preencoded.png">    </p:cNvPr>
          <p:cNvPicPr>
            <a:picLocks noChangeAspect="1"/>
          </p:cNvPicPr>
          <p:nvPr/>
        </p:nvPicPr>
        <p:blipFill>
          <a:blip r:embed="rId5"/>
          <a:stretch>
            <a:fillRect/>
          </a:stretch>
        </p:blipFill>
        <p:spPr>
          <a:xfrm>
            <a:off x="6033668" y="4771796"/>
            <a:ext cx="231343" cy="231343"/>
          </a:xfrm>
          <a:prstGeom prst="rect">
            <a:avLst/>
          </a:prstGeom>
        </p:spPr>
      </p:pic>
      <p:sp>
        <p:nvSpPr>
          <p:cNvPr id="42" name="Text 35"/>
          <p:cNvSpPr txBox="1"/>
          <p:nvPr/>
        </p:nvSpPr>
        <p:spPr>
          <a:xfrm>
            <a:off x="6611112" y="463600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Data exfiltration</a:t>
            </a:r>
            <a:endParaRPr lang="en-US" sz="1450" dirty="0"/>
          </a:p>
        </p:txBody>
      </p:sp>
      <p:sp>
        <p:nvSpPr>
          <p:cNvPr id="43" name="Text 36"/>
          <p:cNvSpPr txBox="1"/>
          <p:nvPr/>
        </p:nvSpPr>
        <p:spPr>
          <a:xfrm>
            <a:off x="6611112" y="492861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only 15 flows in the whole dataset</a:t>
            </a:r>
            <a:endParaRPr lang="en-US" sz="1150" dirty="0"/>
          </a:p>
        </p:txBody>
      </p:sp>
      <p:sp>
        <p:nvSpPr>
          <p:cNvPr id="44" name="Text 37"/>
          <p:cNvSpPr txBox="1"/>
          <p:nvPr/>
        </p:nvSpPr>
        <p:spPr>
          <a:xfrm>
            <a:off x="9464040" y="4617720"/>
            <a:ext cx="2041855" cy="548640"/>
          </a:xfrm>
          <a:prstGeom prst="rect">
            <a:avLst/>
          </a:prstGeom>
          <a:noFill/>
          <a:ln/>
        </p:spPr>
        <p:txBody>
          <a:bodyPr wrap="square" lIns="0" tIns="0" rIns="0" bIns="0" rtlCol="0" anchor="ctr"/>
          <a:lstStyle/>
          <a:p>
            <a:pPr algn="r" indent="0" marL="0">
              <a:buNone/>
            </a:pPr>
            <a:r>
              <a:rPr lang="en-US" sz="2600" dirty="0">
                <a:solidFill>
                  <a:srgbClr val="E0533A"/>
                </a:solidFill>
                <a:latin typeface="Georgia" pitchFamily="34" charset="0"/>
                <a:ea typeface="Georgia" pitchFamily="34" charset="-122"/>
                <a:cs typeface="Georgia" pitchFamily="34" charset="-120"/>
              </a:rPr>
              <a:t>2 of 5</a:t>
            </a:r>
            <a:endParaRPr lang="en-US" sz="2600" dirty="0"/>
          </a:p>
        </p:txBody>
      </p:sp>
      <p:sp>
        <p:nvSpPr>
          <p:cNvPr id="45" name="Shape 38"/>
          <p:cNvSpPr/>
          <p:nvPr/>
        </p:nvSpPr>
        <p:spPr>
          <a:xfrm>
            <a:off x="5897880" y="5486400"/>
            <a:ext cx="5608015" cy="658368"/>
          </a:xfrm>
          <a:prstGeom prst="roundRect">
            <a:avLst>
              <a:gd name="adj" fmla="val 8333"/>
            </a:avLst>
          </a:prstGeom>
          <a:solidFill>
            <a:srgbClr val="EAF1FB"/>
          </a:solidFill>
          <a:ln w="12700">
            <a:solidFill>
              <a:srgbClr val="EAF1FB"/>
            </a:solidFill>
            <a:prstDash val="solid"/>
          </a:ln>
        </p:spPr>
      </p:sp>
      <p:sp>
        <p:nvSpPr>
          <p:cNvPr id="46" name="Text 39"/>
          <p:cNvSpPr txBox="1"/>
          <p:nvPr/>
        </p:nvSpPr>
        <p:spPr>
          <a:xfrm>
            <a:off x="6126480" y="5486400"/>
            <a:ext cx="5150815" cy="658368"/>
          </a:xfrm>
          <a:prstGeom prst="rect">
            <a:avLst/>
          </a:prstGeom>
          <a:noFill/>
          <a:ln/>
        </p:spPr>
        <p:txBody>
          <a:bodyPr wrap="square" lIns="0" tIns="0" rIns="0" bIns="0" rtlCol="0" anchor="ctr"/>
          <a:lstStyle/>
          <a:p>
            <a:pPr indent="0" marL="0">
              <a:buNone/>
            </a:pPr>
            <a:r>
              <a:rPr lang="en-US" sz="1200" dirty="0">
                <a:solidFill>
                  <a:srgbClr val="0F1B2D"/>
                </a:solidFill>
                <a:latin typeface="Arial" pitchFamily="34" charset="0"/>
                <a:ea typeface="Arial" pitchFamily="34" charset="-122"/>
                <a:cs typeface="Arial" pitchFamily="34" charset="-120"/>
              </a:rPr>
              <a:t>Best macro F1: Random Forest 78.9%, hybrid (soft vote) 77.9%. 96.9% of APT flows are flagged as some stage.</a:t>
            </a:r>
            <a:endParaRPr lang="en-US" sz="120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About half the false alarms point to label noise</a:t>
            </a:r>
            <a:endParaRPr lang="en-US" sz="3000" dirty="0"/>
          </a:p>
        </p:txBody>
      </p:sp>
      <p:sp>
        <p:nvSpPr>
          <p:cNvPr id="20" name="Shape 18"/>
          <p:cNvSpPr/>
          <p:nvPr/>
        </p:nvSpPr>
        <p:spPr>
          <a:xfrm>
            <a:off x="685800" y="1783080"/>
            <a:ext cx="4983480" cy="2103120"/>
          </a:xfrm>
          <a:prstGeom prst="roundRect">
            <a:avLst>
              <a:gd name="adj" fmla="val 2609"/>
            </a:avLst>
          </a:prstGeom>
          <a:solidFill>
            <a:srgbClr val="FDEEEA"/>
          </a:solidFill>
          <a:ln w="12700">
            <a:solidFill>
              <a:srgbClr val="FDEEEA"/>
            </a:solidFill>
            <a:prstDash val="solid"/>
          </a:ln>
        </p:spPr>
      </p:sp>
      <p:sp>
        <p:nvSpPr>
          <p:cNvPr id="21" name="Text 19"/>
          <p:cNvSpPr txBox="1"/>
          <p:nvPr/>
        </p:nvSpPr>
        <p:spPr>
          <a:xfrm>
            <a:off x="1051560" y="1965960"/>
            <a:ext cx="2743200" cy="777240"/>
          </a:xfrm>
          <a:prstGeom prst="rect">
            <a:avLst/>
          </a:prstGeom>
          <a:noFill/>
          <a:ln/>
        </p:spPr>
        <p:txBody>
          <a:bodyPr wrap="square" lIns="0" tIns="0" rIns="0" bIns="0" rtlCol="0" anchor="t"/>
          <a:lstStyle/>
          <a:p>
            <a:pPr indent="0" marL="0">
              <a:buNone/>
            </a:pPr>
            <a:r>
              <a:rPr lang="en-US" sz="4400" dirty="0">
                <a:solidFill>
                  <a:srgbClr val="E0533A"/>
                </a:solidFill>
                <a:latin typeface="Georgia" pitchFamily="34" charset="0"/>
                <a:ea typeface="Georgia" pitchFamily="34" charset="-122"/>
                <a:cs typeface="Georgia" pitchFamily="34" charset="-120"/>
              </a:rPr>
              <a:t>54.9%</a:t>
            </a:r>
            <a:endParaRPr lang="en-US" sz="4400" dirty="0"/>
          </a:p>
        </p:txBody>
      </p:sp>
      <p:sp>
        <p:nvSpPr>
          <p:cNvPr id="22" name="Text 20"/>
          <p:cNvSpPr txBox="1"/>
          <p:nvPr/>
        </p:nvSpPr>
        <p:spPr>
          <a:xfrm>
            <a:off x="1051560" y="2788920"/>
            <a:ext cx="4297680" cy="9144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the hybrid's false alarms are 'benign'-labelled flows to or from the attacker's own hosts, mostly in the reconnaissance capture</a:t>
            </a:r>
            <a:endParaRPr lang="en-US" sz="1300" dirty="0"/>
          </a:p>
        </p:txBody>
      </p:sp>
      <p:sp>
        <p:nvSpPr>
          <p:cNvPr id="23" name="Shape 21"/>
          <p:cNvSpPr/>
          <p:nvPr/>
        </p:nvSpPr>
        <p:spPr>
          <a:xfrm>
            <a:off x="685800" y="4069080"/>
            <a:ext cx="4983480" cy="2057400"/>
          </a:xfrm>
          <a:prstGeom prst="roundRect">
            <a:avLst>
              <a:gd name="adj" fmla="val 2667"/>
            </a:avLst>
          </a:prstGeom>
          <a:solidFill>
            <a:srgbClr val="EAF1FB"/>
          </a:solidFill>
          <a:ln w="12700">
            <a:solidFill>
              <a:srgbClr val="EAF1FB"/>
            </a:solidFill>
            <a:prstDash val="solid"/>
          </a:ln>
        </p:spPr>
      </p:sp>
      <p:sp>
        <p:nvSpPr>
          <p:cNvPr id="24" name="Text 22"/>
          <p:cNvSpPr txBox="1"/>
          <p:nvPr/>
        </p:nvSpPr>
        <p:spPr>
          <a:xfrm>
            <a:off x="1051560" y="4251960"/>
            <a:ext cx="2743200" cy="777240"/>
          </a:xfrm>
          <a:prstGeom prst="rect">
            <a:avLst/>
          </a:prstGeom>
          <a:noFill/>
          <a:ln/>
        </p:spPr>
        <p:txBody>
          <a:bodyPr wrap="square" lIns="0" tIns="0" rIns="0" bIns="0" rtlCol="0" anchor="t"/>
          <a:lstStyle/>
          <a:p>
            <a:pPr indent="0" marL="0">
              <a:buNone/>
            </a:pPr>
            <a:r>
              <a:rPr lang="en-US" sz="4400" dirty="0">
                <a:solidFill>
                  <a:srgbClr val="2A78D6"/>
                </a:solidFill>
                <a:latin typeface="Georgia" pitchFamily="34" charset="0"/>
                <a:ea typeface="Georgia" pitchFamily="34" charset="-122"/>
                <a:cs typeface="Georgia" pitchFamily="34" charset="-120"/>
              </a:rPr>
              <a:t>3.07%</a:t>
            </a:r>
            <a:endParaRPr lang="en-US" sz="4400" dirty="0"/>
          </a:p>
        </p:txBody>
      </p:sp>
      <p:sp>
        <p:nvSpPr>
          <p:cNvPr id="25" name="Text 23"/>
          <p:cNvSpPr txBox="1"/>
          <p:nvPr/>
        </p:nvSpPr>
        <p:spPr>
          <a:xfrm>
            <a:off x="1051560" y="5074920"/>
            <a:ext cx="4297680"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false positive rate on benign traffic that does not involve an attacker host (5.99% overall)</a:t>
            </a:r>
            <a:endParaRPr lang="en-US" sz="1300" dirty="0"/>
          </a:p>
        </p:txBody>
      </p:sp>
      <p:sp>
        <p:nvSpPr>
          <p:cNvPr id="26" name="Text 24"/>
          <p:cNvSpPr txBox="1"/>
          <p:nvPr/>
        </p:nvSpPr>
        <p:spPr>
          <a:xfrm>
            <a:off x="6016752" y="1783080"/>
            <a:ext cx="5489143"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Missed APT flows by activity</a:t>
            </a:r>
            <a:pPr indent="0" marL="0">
              <a:buNone/>
            </a:pPr>
            <a:r>
              <a:rPr lang="en-US" sz="1150" dirty="0">
                <a:solidFill>
                  <a:srgbClr val="8A94A3"/>
                </a:solidFill>
                <a:latin typeface="Arial" pitchFamily="34" charset="0"/>
                <a:ea typeface="Arial" pitchFamily="34" charset="-122"/>
                <a:cs typeface="Arial" pitchFamily="34" charset="-120"/>
              </a:rPr>
              <a:t>   ·   red = rare, low-volume steps</a:t>
            </a:r>
            <a:endParaRPr lang="en-US" sz="1400" dirty="0"/>
          </a:p>
        </p:txBody>
      </p:sp>
      <p:pic>
        <p:nvPicPr>
          <p:cNvPr id="27" name="Image 0" descr="/private/tmp/claude-501/-Users-ashishjain-Documents-RIS-Mid-Eval/4e14a31e-25f5-4016-81db-47057b986f0d/scratchpad/deck/charts/missed_by_activity.png">    </p:cNvPr>
          <p:cNvPicPr>
            <a:picLocks noChangeAspect="1"/>
          </p:cNvPicPr>
          <p:nvPr/>
        </p:nvPicPr>
        <p:blipFill>
          <a:blip r:embed="rId1"/>
          <a:stretch>
            <a:fillRect/>
          </a:stretch>
        </p:blipFill>
        <p:spPr>
          <a:xfrm>
            <a:off x="6016752" y="2148840"/>
            <a:ext cx="5486400" cy="4023360"/>
          </a:xfrm>
          <a:prstGeom prst="rect">
            <a:avLst/>
          </a:prstGeom>
        </p:spPr>
      </p:pic>
      <p:sp>
        <p:nvSpPr>
          <p:cNvPr id="28" name="Text 2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9" name="Text 2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515821" y="914941"/>
            <a:ext cx="277059" cy="946649"/>
          </a:xfrm>
          <a:prstGeom prst="line">
            <a:avLst/>
          </a:prstGeom>
          <a:noFill/>
          <a:ln w="9525">
            <a:solidFill>
              <a:srgbClr val="2C3E5C"/>
            </a:solidFill>
            <a:prstDash val="solid"/>
          </a:ln>
        </p:spPr>
      </p:sp>
      <p:sp>
        <p:nvSpPr>
          <p:cNvPr id="3" name="Shape 1"/>
          <p:cNvSpPr/>
          <p:nvPr/>
        </p:nvSpPr>
        <p:spPr>
          <a:xfrm flipV="1">
            <a:off x="6515821" y="607319"/>
            <a:ext cx="1145935" cy="307622"/>
          </a:xfrm>
          <a:prstGeom prst="line">
            <a:avLst/>
          </a:prstGeom>
          <a:noFill/>
          <a:ln w="9525">
            <a:solidFill>
              <a:srgbClr val="2C3E5C"/>
            </a:solidFill>
            <a:prstDash val="solid"/>
          </a:ln>
        </p:spPr>
      </p:sp>
      <p:sp>
        <p:nvSpPr>
          <p:cNvPr id="4" name="Shape 2"/>
          <p:cNvSpPr/>
          <p:nvPr/>
        </p:nvSpPr>
        <p:spPr>
          <a:xfrm>
            <a:off x="7661756" y="607319"/>
            <a:ext cx="1042580" cy="100068"/>
          </a:xfrm>
          <a:prstGeom prst="line">
            <a:avLst/>
          </a:prstGeom>
          <a:noFill/>
          <a:ln w="9525">
            <a:solidFill>
              <a:srgbClr val="2C3E5C"/>
            </a:solidFill>
            <a:prstDash val="solid"/>
          </a:ln>
        </p:spPr>
      </p:sp>
      <p:sp>
        <p:nvSpPr>
          <p:cNvPr id="5" name="Shape 3"/>
          <p:cNvSpPr/>
          <p:nvPr/>
        </p:nvSpPr>
        <p:spPr>
          <a:xfrm flipH="1">
            <a:off x="8687252" y="707387"/>
            <a:ext cx="17084" cy="700563"/>
          </a:xfrm>
          <a:prstGeom prst="line">
            <a:avLst/>
          </a:prstGeom>
          <a:noFill/>
          <a:ln w="12700">
            <a:solidFill>
              <a:srgbClr val="E0533A">
                <a:alpha val="55000"/>
              </a:srgbClr>
            </a:solidFill>
            <a:prstDash val="solid"/>
          </a:ln>
        </p:spPr>
      </p:sp>
      <p:sp>
        <p:nvSpPr>
          <p:cNvPr id="6" name="Shape 4"/>
          <p:cNvSpPr/>
          <p:nvPr/>
        </p:nvSpPr>
        <p:spPr>
          <a:xfrm>
            <a:off x="9804542" y="977341"/>
            <a:ext cx="617824" cy="92223"/>
          </a:xfrm>
          <a:prstGeom prst="line">
            <a:avLst/>
          </a:prstGeom>
          <a:noFill/>
          <a:ln w="9525">
            <a:solidFill>
              <a:srgbClr val="2C3E5C"/>
            </a:solidFill>
            <a:prstDash val="solid"/>
          </a:ln>
        </p:spPr>
      </p:sp>
      <p:sp>
        <p:nvSpPr>
          <p:cNvPr id="7" name="Shape 5"/>
          <p:cNvSpPr/>
          <p:nvPr/>
        </p:nvSpPr>
        <p:spPr>
          <a:xfrm>
            <a:off x="9804542" y="977341"/>
            <a:ext cx="716046" cy="481486"/>
          </a:xfrm>
          <a:prstGeom prst="line">
            <a:avLst/>
          </a:prstGeom>
          <a:noFill/>
          <a:ln w="9525">
            <a:solidFill>
              <a:srgbClr val="2C3E5C"/>
            </a:solidFill>
            <a:prstDash val="solid"/>
          </a:ln>
        </p:spPr>
      </p:sp>
      <p:sp>
        <p:nvSpPr>
          <p:cNvPr id="8" name="Shape 6"/>
          <p:cNvSpPr/>
          <p:nvPr/>
        </p:nvSpPr>
        <p:spPr>
          <a:xfrm>
            <a:off x="10422366" y="1069563"/>
            <a:ext cx="98222" cy="389263"/>
          </a:xfrm>
          <a:prstGeom prst="line">
            <a:avLst/>
          </a:prstGeom>
          <a:noFill/>
          <a:ln w="9525">
            <a:solidFill>
              <a:srgbClr val="2C3E5C"/>
            </a:solidFill>
            <a:prstDash val="solid"/>
          </a:ln>
        </p:spPr>
      </p:sp>
      <p:sp>
        <p:nvSpPr>
          <p:cNvPr id="9" name="Shape 7"/>
          <p:cNvSpPr/>
          <p:nvPr/>
        </p:nvSpPr>
        <p:spPr>
          <a:xfrm flipH="1">
            <a:off x="10964788" y="814890"/>
            <a:ext cx="662161" cy="803818"/>
          </a:xfrm>
          <a:prstGeom prst="line">
            <a:avLst/>
          </a:prstGeom>
          <a:noFill/>
          <a:ln w="9525">
            <a:solidFill>
              <a:srgbClr val="2C3E5C"/>
            </a:solidFill>
            <a:prstDash val="solid"/>
          </a:ln>
        </p:spPr>
      </p:sp>
      <p:sp>
        <p:nvSpPr>
          <p:cNvPr id="10" name="Shape 8"/>
          <p:cNvSpPr/>
          <p:nvPr/>
        </p:nvSpPr>
        <p:spPr>
          <a:xfrm flipV="1">
            <a:off x="10422366" y="814890"/>
            <a:ext cx="1204583" cy="254673"/>
          </a:xfrm>
          <a:prstGeom prst="line">
            <a:avLst/>
          </a:prstGeom>
          <a:noFill/>
          <a:ln w="9525">
            <a:solidFill>
              <a:srgbClr val="2C3E5C"/>
            </a:solidFill>
            <a:prstDash val="solid"/>
          </a:ln>
        </p:spPr>
      </p:sp>
      <p:sp>
        <p:nvSpPr>
          <p:cNvPr id="11" name="Shape 9"/>
          <p:cNvSpPr/>
          <p:nvPr/>
        </p:nvSpPr>
        <p:spPr>
          <a:xfrm>
            <a:off x="6792880" y="1861590"/>
            <a:ext cx="826485" cy="511415"/>
          </a:xfrm>
          <a:prstGeom prst="line">
            <a:avLst/>
          </a:prstGeom>
          <a:noFill/>
          <a:ln w="9525">
            <a:solidFill>
              <a:srgbClr val="2C3E5C"/>
            </a:solidFill>
            <a:prstDash val="solid"/>
          </a:ln>
        </p:spPr>
      </p:sp>
      <p:sp>
        <p:nvSpPr>
          <p:cNvPr id="12" name="Shape 10"/>
          <p:cNvSpPr/>
          <p:nvPr/>
        </p:nvSpPr>
        <p:spPr>
          <a:xfrm flipH="1">
            <a:off x="8394481" y="1407950"/>
            <a:ext cx="292772" cy="1141601"/>
          </a:xfrm>
          <a:prstGeom prst="line">
            <a:avLst/>
          </a:prstGeom>
          <a:noFill/>
          <a:ln w="12700">
            <a:solidFill>
              <a:srgbClr val="E0533A">
                <a:alpha val="55000"/>
              </a:srgbClr>
            </a:solidFill>
            <a:prstDash val="solid"/>
          </a:ln>
        </p:spPr>
      </p:sp>
      <p:sp>
        <p:nvSpPr>
          <p:cNvPr id="13" name="Shape 11"/>
          <p:cNvSpPr/>
          <p:nvPr/>
        </p:nvSpPr>
        <p:spPr>
          <a:xfrm>
            <a:off x="10520588" y="1458826"/>
            <a:ext cx="444200" cy="159881"/>
          </a:xfrm>
          <a:prstGeom prst="line">
            <a:avLst/>
          </a:prstGeom>
          <a:noFill/>
          <a:ln w="9525">
            <a:solidFill>
              <a:srgbClr val="2C3E5C"/>
            </a:solidFill>
            <a:prstDash val="solid"/>
          </a:ln>
        </p:spPr>
      </p:sp>
      <p:sp>
        <p:nvSpPr>
          <p:cNvPr id="14" name="Shape 12"/>
          <p:cNvSpPr/>
          <p:nvPr/>
        </p:nvSpPr>
        <p:spPr>
          <a:xfrm>
            <a:off x="10422366" y="1069563"/>
            <a:ext cx="542422" cy="549144"/>
          </a:xfrm>
          <a:prstGeom prst="line">
            <a:avLst/>
          </a:prstGeom>
          <a:noFill/>
          <a:ln w="9525">
            <a:solidFill>
              <a:srgbClr val="2C3E5C"/>
            </a:solidFill>
            <a:prstDash val="solid"/>
          </a:ln>
        </p:spPr>
      </p:sp>
      <p:sp>
        <p:nvSpPr>
          <p:cNvPr id="15" name="Shape 13"/>
          <p:cNvSpPr/>
          <p:nvPr/>
        </p:nvSpPr>
        <p:spPr>
          <a:xfrm>
            <a:off x="7619365" y="2373005"/>
            <a:ext cx="775115" cy="176546"/>
          </a:xfrm>
          <a:prstGeom prst="line">
            <a:avLst/>
          </a:prstGeom>
          <a:noFill/>
          <a:ln w="9525">
            <a:solidFill>
              <a:srgbClr val="2C3E5C"/>
            </a:solidFill>
            <a:prstDash val="solid"/>
          </a:ln>
        </p:spPr>
      </p:sp>
      <p:sp>
        <p:nvSpPr>
          <p:cNvPr id="16" name="Shape 14"/>
          <p:cNvSpPr/>
          <p:nvPr/>
        </p:nvSpPr>
        <p:spPr>
          <a:xfrm>
            <a:off x="8394481" y="2549551"/>
            <a:ext cx="30952" cy="679828"/>
          </a:xfrm>
          <a:prstGeom prst="line">
            <a:avLst/>
          </a:prstGeom>
          <a:noFill/>
          <a:ln w="9525">
            <a:solidFill>
              <a:srgbClr val="2C3E5C"/>
            </a:solidFill>
            <a:prstDash val="solid"/>
          </a:ln>
        </p:spPr>
      </p:sp>
      <p:sp>
        <p:nvSpPr>
          <p:cNvPr id="17" name="Shape 15"/>
          <p:cNvSpPr/>
          <p:nvPr/>
        </p:nvSpPr>
        <p:spPr>
          <a:xfrm flipH="1">
            <a:off x="9275770" y="2853794"/>
            <a:ext cx="84906" cy="731213"/>
          </a:xfrm>
          <a:prstGeom prst="line">
            <a:avLst/>
          </a:prstGeom>
          <a:noFill/>
          <a:ln w="9525">
            <a:solidFill>
              <a:srgbClr val="2C3E5C"/>
            </a:solidFill>
            <a:prstDash val="solid"/>
          </a:ln>
        </p:spPr>
      </p:sp>
      <p:sp>
        <p:nvSpPr>
          <p:cNvPr id="18" name="Shape 16"/>
          <p:cNvSpPr/>
          <p:nvPr/>
        </p:nvSpPr>
        <p:spPr>
          <a:xfrm flipV="1">
            <a:off x="9360676" y="2752313"/>
            <a:ext cx="937852" cy="101481"/>
          </a:xfrm>
          <a:prstGeom prst="line">
            <a:avLst/>
          </a:prstGeom>
          <a:noFill/>
          <a:ln w="9525">
            <a:solidFill>
              <a:srgbClr val="2C3E5C"/>
            </a:solidFill>
            <a:prstDash val="solid"/>
          </a:ln>
        </p:spPr>
      </p:sp>
      <p:sp>
        <p:nvSpPr>
          <p:cNvPr id="19" name="Shape 17"/>
          <p:cNvSpPr/>
          <p:nvPr/>
        </p:nvSpPr>
        <p:spPr>
          <a:xfrm>
            <a:off x="10298528" y="2752313"/>
            <a:ext cx="132550" cy="443989"/>
          </a:xfrm>
          <a:prstGeom prst="line">
            <a:avLst/>
          </a:prstGeom>
          <a:noFill/>
          <a:ln w="12700">
            <a:solidFill>
              <a:srgbClr val="E0533A">
                <a:alpha val="55000"/>
              </a:srgbClr>
            </a:solidFill>
            <a:prstDash val="solid"/>
          </a:ln>
        </p:spPr>
      </p:sp>
      <p:sp>
        <p:nvSpPr>
          <p:cNvPr id="20" name="Shape 18"/>
          <p:cNvSpPr/>
          <p:nvPr/>
        </p:nvSpPr>
        <p:spPr>
          <a:xfrm>
            <a:off x="10298528" y="2752313"/>
            <a:ext cx="713014" cy="73097"/>
          </a:xfrm>
          <a:prstGeom prst="line">
            <a:avLst/>
          </a:prstGeom>
          <a:noFill/>
          <a:ln w="9525">
            <a:solidFill>
              <a:srgbClr val="2C3E5C"/>
            </a:solidFill>
            <a:prstDash val="solid"/>
          </a:ln>
        </p:spPr>
      </p:sp>
      <p:sp>
        <p:nvSpPr>
          <p:cNvPr id="21" name="Shape 19"/>
          <p:cNvSpPr/>
          <p:nvPr/>
        </p:nvSpPr>
        <p:spPr>
          <a:xfrm>
            <a:off x="11011542" y="2825410"/>
            <a:ext cx="171653" cy="370086"/>
          </a:xfrm>
          <a:prstGeom prst="line">
            <a:avLst/>
          </a:prstGeom>
          <a:noFill/>
          <a:ln w="9525">
            <a:solidFill>
              <a:srgbClr val="2C3E5C"/>
            </a:solidFill>
            <a:prstDash val="solid"/>
          </a:ln>
        </p:spPr>
      </p:sp>
      <p:sp>
        <p:nvSpPr>
          <p:cNvPr id="22" name="Shape 20"/>
          <p:cNvSpPr/>
          <p:nvPr/>
        </p:nvSpPr>
        <p:spPr>
          <a:xfrm flipH="1">
            <a:off x="10431078" y="2825410"/>
            <a:ext cx="580464" cy="370892"/>
          </a:xfrm>
          <a:prstGeom prst="line">
            <a:avLst/>
          </a:prstGeom>
          <a:noFill/>
          <a:ln w="12700">
            <a:solidFill>
              <a:srgbClr val="E0533A">
                <a:alpha val="55000"/>
              </a:srgbClr>
            </a:solidFill>
            <a:prstDash val="solid"/>
          </a:ln>
        </p:spPr>
      </p:sp>
      <p:sp>
        <p:nvSpPr>
          <p:cNvPr id="23" name="Shape 21"/>
          <p:cNvSpPr/>
          <p:nvPr/>
        </p:nvSpPr>
        <p:spPr>
          <a:xfrm flipH="1">
            <a:off x="6533097" y="3475266"/>
            <a:ext cx="24389" cy="758460"/>
          </a:xfrm>
          <a:prstGeom prst="line">
            <a:avLst/>
          </a:prstGeom>
          <a:noFill/>
          <a:ln w="9525">
            <a:solidFill>
              <a:srgbClr val="2C3E5C"/>
            </a:solidFill>
            <a:prstDash val="solid"/>
          </a:ln>
        </p:spPr>
      </p:sp>
      <p:sp>
        <p:nvSpPr>
          <p:cNvPr id="24" name="Shape 22"/>
          <p:cNvSpPr/>
          <p:nvPr/>
        </p:nvSpPr>
        <p:spPr>
          <a:xfrm>
            <a:off x="6557486" y="3475266"/>
            <a:ext cx="1049274" cy="107222"/>
          </a:xfrm>
          <a:prstGeom prst="line">
            <a:avLst/>
          </a:prstGeom>
          <a:noFill/>
          <a:ln w="9525">
            <a:solidFill>
              <a:srgbClr val="2C3E5C"/>
            </a:solidFill>
            <a:prstDash val="solid"/>
          </a:ln>
        </p:spPr>
      </p:sp>
      <p:sp>
        <p:nvSpPr>
          <p:cNvPr id="25" name="Shape 23"/>
          <p:cNvSpPr/>
          <p:nvPr/>
        </p:nvSpPr>
        <p:spPr>
          <a:xfrm flipV="1">
            <a:off x="7606760" y="3229378"/>
            <a:ext cx="818673" cy="353110"/>
          </a:xfrm>
          <a:prstGeom prst="line">
            <a:avLst/>
          </a:prstGeom>
          <a:noFill/>
          <a:ln w="9525">
            <a:solidFill>
              <a:srgbClr val="2C3E5C"/>
            </a:solidFill>
            <a:prstDash val="solid"/>
          </a:ln>
        </p:spPr>
      </p:sp>
      <p:sp>
        <p:nvSpPr>
          <p:cNvPr id="26" name="Shape 24"/>
          <p:cNvSpPr/>
          <p:nvPr/>
        </p:nvSpPr>
        <p:spPr>
          <a:xfrm flipH="1">
            <a:off x="7520127" y="3582488"/>
            <a:ext cx="86632" cy="929919"/>
          </a:xfrm>
          <a:prstGeom prst="line">
            <a:avLst/>
          </a:prstGeom>
          <a:noFill/>
          <a:ln w="9525">
            <a:solidFill>
              <a:srgbClr val="2C3E5C"/>
            </a:solidFill>
            <a:prstDash val="solid"/>
          </a:ln>
        </p:spPr>
      </p:sp>
      <p:sp>
        <p:nvSpPr>
          <p:cNvPr id="27" name="Shape 25"/>
          <p:cNvSpPr/>
          <p:nvPr/>
        </p:nvSpPr>
        <p:spPr>
          <a:xfrm>
            <a:off x="9275770" y="3585007"/>
            <a:ext cx="473909" cy="559045"/>
          </a:xfrm>
          <a:prstGeom prst="line">
            <a:avLst/>
          </a:prstGeom>
          <a:noFill/>
          <a:ln w="9525">
            <a:solidFill>
              <a:srgbClr val="2C3E5C"/>
            </a:solidFill>
            <a:prstDash val="solid"/>
          </a:ln>
        </p:spPr>
      </p:sp>
      <p:sp>
        <p:nvSpPr>
          <p:cNvPr id="28" name="Shape 26"/>
          <p:cNvSpPr/>
          <p:nvPr/>
        </p:nvSpPr>
        <p:spPr>
          <a:xfrm flipV="1">
            <a:off x="10431078" y="3195496"/>
            <a:ext cx="752117" cy="914"/>
          </a:xfrm>
          <a:prstGeom prst="line">
            <a:avLst/>
          </a:prstGeom>
          <a:noFill/>
          <a:ln w="12700">
            <a:solidFill>
              <a:srgbClr val="E0533A">
                <a:alpha val="55000"/>
              </a:srgbClr>
            </a:solidFill>
            <a:prstDash val="solid"/>
          </a:ln>
        </p:spPr>
      </p:sp>
      <p:sp>
        <p:nvSpPr>
          <p:cNvPr id="29" name="Shape 27"/>
          <p:cNvSpPr/>
          <p:nvPr/>
        </p:nvSpPr>
        <p:spPr>
          <a:xfrm>
            <a:off x="6533097" y="4233726"/>
            <a:ext cx="577482" cy="810873"/>
          </a:xfrm>
          <a:prstGeom prst="line">
            <a:avLst/>
          </a:prstGeom>
          <a:noFill/>
          <a:ln w="9525">
            <a:solidFill>
              <a:srgbClr val="2C3E5C"/>
            </a:solidFill>
            <a:prstDash val="solid"/>
          </a:ln>
        </p:spPr>
      </p:sp>
      <p:sp>
        <p:nvSpPr>
          <p:cNvPr id="30" name="Shape 28"/>
          <p:cNvSpPr/>
          <p:nvPr/>
        </p:nvSpPr>
        <p:spPr>
          <a:xfrm flipH="1">
            <a:off x="7110579" y="4512408"/>
            <a:ext cx="409548" cy="532191"/>
          </a:xfrm>
          <a:prstGeom prst="line">
            <a:avLst/>
          </a:prstGeom>
          <a:noFill/>
          <a:ln w="9525">
            <a:solidFill>
              <a:srgbClr val="2C3E5C"/>
            </a:solidFill>
            <a:prstDash val="solid"/>
          </a:ln>
        </p:spPr>
      </p:sp>
      <p:sp>
        <p:nvSpPr>
          <p:cNvPr id="31" name="Shape 29"/>
          <p:cNvSpPr/>
          <p:nvPr/>
        </p:nvSpPr>
        <p:spPr>
          <a:xfrm flipH="1">
            <a:off x="8811265" y="4485644"/>
            <a:ext cx="26758" cy="585179"/>
          </a:xfrm>
          <a:prstGeom prst="line">
            <a:avLst/>
          </a:prstGeom>
          <a:noFill/>
          <a:ln w="9525">
            <a:solidFill>
              <a:srgbClr val="2C3E5C"/>
            </a:solidFill>
            <a:prstDash val="solid"/>
          </a:ln>
        </p:spPr>
      </p:sp>
      <p:sp>
        <p:nvSpPr>
          <p:cNvPr id="32" name="Shape 30"/>
          <p:cNvSpPr/>
          <p:nvPr/>
        </p:nvSpPr>
        <p:spPr>
          <a:xfrm flipV="1">
            <a:off x="8838023" y="4144052"/>
            <a:ext cx="911655" cy="341593"/>
          </a:xfrm>
          <a:prstGeom prst="line">
            <a:avLst/>
          </a:prstGeom>
          <a:noFill/>
          <a:ln w="9525">
            <a:solidFill>
              <a:srgbClr val="2C3E5C"/>
            </a:solidFill>
            <a:prstDash val="solid"/>
          </a:ln>
        </p:spPr>
      </p:sp>
      <p:sp>
        <p:nvSpPr>
          <p:cNvPr id="33" name="Shape 31"/>
          <p:cNvSpPr/>
          <p:nvPr/>
        </p:nvSpPr>
        <p:spPr>
          <a:xfrm>
            <a:off x="9749678" y="4144052"/>
            <a:ext cx="785833" cy="124337"/>
          </a:xfrm>
          <a:prstGeom prst="line">
            <a:avLst/>
          </a:prstGeom>
          <a:noFill/>
          <a:ln w="9525">
            <a:solidFill>
              <a:srgbClr val="2C3E5C"/>
            </a:solidFill>
            <a:prstDash val="solid"/>
          </a:ln>
        </p:spPr>
      </p:sp>
      <p:sp>
        <p:nvSpPr>
          <p:cNvPr id="34" name="Shape 32"/>
          <p:cNvSpPr/>
          <p:nvPr/>
        </p:nvSpPr>
        <p:spPr>
          <a:xfrm>
            <a:off x="10535511" y="4268388"/>
            <a:ext cx="741706" cy="153559"/>
          </a:xfrm>
          <a:prstGeom prst="line">
            <a:avLst/>
          </a:prstGeom>
          <a:noFill/>
          <a:ln w="9525">
            <a:solidFill>
              <a:srgbClr val="2C3E5C"/>
            </a:solidFill>
            <a:prstDash val="solid"/>
          </a:ln>
        </p:spPr>
      </p:sp>
      <p:sp>
        <p:nvSpPr>
          <p:cNvPr id="35" name="Shape 33"/>
          <p:cNvSpPr/>
          <p:nvPr/>
        </p:nvSpPr>
        <p:spPr>
          <a:xfrm>
            <a:off x="11277217" y="4421948"/>
            <a:ext cx="224219" cy="1050993"/>
          </a:xfrm>
          <a:prstGeom prst="line">
            <a:avLst/>
          </a:prstGeom>
          <a:noFill/>
          <a:ln w="9525">
            <a:solidFill>
              <a:srgbClr val="2C3E5C"/>
            </a:solidFill>
            <a:prstDash val="solid"/>
          </a:ln>
        </p:spPr>
      </p:sp>
      <p:sp>
        <p:nvSpPr>
          <p:cNvPr id="36" name="Shape 34"/>
          <p:cNvSpPr/>
          <p:nvPr/>
        </p:nvSpPr>
        <p:spPr>
          <a:xfrm flipH="1">
            <a:off x="6694596" y="5044599"/>
            <a:ext cx="415982" cy="744302"/>
          </a:xfrm>
          <a:prstGeom prst="line">
            <a:avLst/>
          </a:prstGeom>
          <a:noFill/>
          <a:ln w="9525">
            <a:solidFill>
              <a:srgbClr val="2C3E5C"/>
            </a:solidFill>
            <a:prstDash val="solid"/>
          </a:ln>
        </p:spPr>
      </p:sp>
      <p:sp>
        <p:nvSpPr>
          <p:cNvPr id="37" name="Shape 35"/>
          <p:cNvSpPr/>
          <p:nvPr/>
        </p:nvSpPr>
        <p:spPr>
          <a:xfrm flipH="1">
            <a:off x="7962413" y="5070824"/>
            <a:ext cx="848852" cy="657588"/>
          </a:xfrm>
          <a:prstGeom prst="line">
            <a:avLst/>
          </a:prstGeom>
          <a:noFill/>
          <a:ln w="9525">
            <a:solidFill>
              <a:srgbClr val="2C3E5C"/>
            </a:solidFill>
            <a:prstDash val="solid"/>
          </a:ln>
        </p:spPr>
      </p:sp>
      <p:sp>
        <p:nvSpPr>
          <p:cNvPr id="38" name="Shape 36"/>
          <p:cNvSpPr/>
          <p:nvPr/>
        </p:nvSpPr>
        <p:spPr>
          <a:xfrm>
            <a:off x="10106127" y="5217368"/>
            <a:ext cx="180178" cy="754272"/>
          </a:xfrm>
          <a:prstGeom prst="line">
            <a:avLst/>
          </a:prstGeom>
          <a:noFill/>
          <a:ln w="9525">
            <a:solidFill>
              <a:srgbClr val="2C3E5C"/>
            </a:solidFill>
            <a:prstDash val="solid"/>
          </a:ln>
        </p:spPr>
      </p:sp>
      <p:sp>
        <p:nvSpPr>
          <p:cNvPr id="39" name="Shape 37"/>
          <p:cNvSpPr/>
          <p:nvPr/>
        </p:nvSpPr>
        <p:spPr>
          <a:xfrm flipH="1">
            <a:off x="10106127" y="4268388"/>
            <a:ext cx="429384" cy="948980"/>
          </a:xfrm>
          <a:prstGeom prst="line">
            <a:avLst/>
          </a:prstGeom>
          <a:noFill/>
          <a:ln w="9525">
            <a:solidFill>
              <a:srgbClr val="2C3E5C"/>
            </a:solidFill>
            <a:prstDash val="solid"/>
          </a:ln>
        </p:spPr>
      </p:sp>
      <p:sp>
        <p:nvSpPr>
          <p:cNvPr id="40" name="Shape 38"/>
          <p:cNvSpPr/>
          <p:nvPr/>
        </p:nvSpPr>
        <p:spPr>
          <a:xfrm flipH="1">
            <a:off x="11368442" y="5472940"/>
            <a:ext cx="132994" cy="639508"/>
          </a:xfrm>
          <a:prstGeom prst="line">
            <a:avLst/>
          </a:prstGeom>
          <a:noFill/>
          <a:ln w="9525">
            <a:solidFill>
              <a:srgbClr val="2C3E5C"/>
            </a:solidFill>
            <a:prstDash val="solid"/>
          </a:ln>
        </p:spPr>
      </p:sp>
      <p:sp>
        <p:nvSpPr>
          <p:cNvPr id="41" name="Shape 39"/>
          <p:cNvSpPr/>
          <p:nvPr/>
        </p:nvSpPr>
        <p:spPr>
          <a:xfrm flipV="1">
            <a:off x="6694596" y="5728412"/>
            <a:ext cx="1267817" cy="60488"/>
          </a:xfrm>
          <a:prstGeom prst="line">
            <a:avLst/>
          </a:prstGeom>
          <a:noFill/>
          <a:ln w="9525">
            <a:solidFill>
              <a:srgbClr val="2C3E5C"/>
            </a:solidFill>
            <a:prstDash val="solid"/>
          </a:ln>
        </p:spPr>
      </p:sp>
      <p:sp>
        <p:nvSpPr>
          <p:cNvPr id="42" name="Shape 40"/>
          <p:cNvSpPr/>
          <p:nvPr/>
        </p:nvSpPr>
        <p:spPr>
          <a:xfrm>
            <a:off x="7962413" y="5728412"/>
            <a:ext cx="856860" cy="585899"/>
          </a:xfrm>
          <a:prstGeom prst="line">
            <a:avLst/>
          </a:prstGeom>
          <a:noFill/>
          <a:ln w="9525">
            <a:solidFill>
              <a:srgbClr val="2C3E5C"/>
            </a:solidFill>
            <a:prstDash val="solid"/>
          </a:ln>
        </p:spPr>
      </p:sp>
      <p:sp>
        <p:nvSpPr>
          <p:cNvPr id="43" name="Shape 41"/>
          <p:cNvSpPr/>
          <p:nvPr/>
        </p:nvSpPr>
        <p:spPr>
          <a:xfrm flipV="1">
            <a:off x="8819273" y="6313091"/>
            <a:ext cx="924784" cy="1220"/>
          </a:xfrm>
          <a:prstGeom prst="line">
            <a:avLst/>
          </a:prstGeom>
          <a:noFill/>
          <a:ln w="9525">
            <a:solidFill>
              <a:srgbClr val="2C3E5C"/>
            </a:solidFill>
            <a:prstDash val="solid"/>
          </a:ln>
        </p:spPr>
      </p:sp>
      <p:sp>
        <p:nvSpPr>
          <p:cNvPr id="44" name="Shape 42"/>
          <p:cNvSpPr/>
          <p:nvPr/>
        </p:nvSpPr>
        <p:spPr>
          <a:xfrm flipV="1">
            <a:off x="9744057" y="5971640"/>
            <a:ext cx="542248" cy="341451"/>
          </a:xfrm>
          <a:prstGeom prst="line">
            <a:avLst/>
          </a:prstGeom>
          <a:noFill/>
          <a:ln w="9525">
            <a:solidFill>
              <a:srgbClr val="2C3E5C"/>
            </a:solidFill>
            <a:prstDash val="solid"/>
          </a:ln>
        </p:spPr>
      </p:sp>
      <p:sp>
        <p:nvSpPr>
          <p:cNvPr id="45" name="Shape 43"/>
          <p:cNvSpPr/>
          <p:nvPr/>
        </p:nvSpPr>
        <p:spPr>
          <a:xfrm>
            <a:off x="10286305" y="5971640"/>
            <a:ext cx="1082137" cy="140808"/>
          </a:xfrm>
          <a:prstGeom prst="line">
            <a:avLst/>
          </a:prstGeom>
          <a:noFill/>
          <a:ln w="9525">
            <a:solidFill>
              <a:srgbClr val="2C3E5C"/>
            </a:solidFill>
            <a:prstDash val="solid"/>
          </a:ln>
        </p:spPr>
      </p:sp>
      <p:sp>
        <p:nvSpPr>
          <p:cNvPr id="46" name="Shape 44"/>
          <p:cNvSpPr/>
          <p:nvPr/>
        </p:nvSpPr>
        <p:spPr>
          <a:xfrm>
            <a:off x="6458361" y="857481"/>
            <a:ext cx="114920" cy="114920"/>
          </a:xfrm>
          <a:prstGeom prst="ellipse">
            <a:avLst/>
          </a:prstGeom>
          <a:solidFill>
            <a:srgbClr val="4B6388"/>
          </a:solidFill>
          <a:ln w="12700">
            <a:solidFill>
              <a:srgbClr val="4B6388"/>
            </a:solidFill>
            <a:prstDash val="solid"/>
          </a:ln>
        </p:spPr>
      </p:sp>
      <p:sp>
        <p:nvSpPr>
          <p:cNvPr id="47" name="Shape 45"/>
          <p:cNvSpPr/>
          <p:nvPr/>
        </p:nvSpPr>
        <p:spPr>
          <a:xfrm>
            <a:off x="7625472" y="571036"/>
            <a:ext cx="72568" cy="72568"/>
          </a:xfrm>
          <a:prstGeom prst="ellipse">
            <a:avLst/>
          </a:prstGeom>
          <a:solidFill>
            <a:srgbClr val="4B6388"/>
          </a:solidFill>
          <a:ln w="12700">
            <a:solidFill>
              <a:srgbClr val="4B6388"/>
            </a:solidFill>
            <a:prstDash val="solid"/>
          </a:ln>
        </p:spPr>
      </p:sp>
      <p:sp>
        <p:nvSpPr>
          <p:cNvPr id="48" name="Shape 46"/>
          <p:cNvSpPr/>
          <p:nvPr/>
        </p:nvSpPr>
        <p:spPr>
          <a:xfrm>
            <a:off x="8647090" y="650141"/>
            <a:ext cx="114492" cy="114492"/>
          </a:xfrm>
          <a:prstGeom prst="ellipse">
            <a:avLst/>
          </a:prstGeom>
          <a:solidFill>
            <a:srgbClr val="4B6388"/>
          </a:solidFill>
          <a:ln w="12700">
            <a:solidFill>
              <a:srgbClr val="4B6388"/>
            </a:solidFill>
            <a:prstDash val="solid"/>
          </a:ln>
        </p:spPr>
      </p:sp>
      <p:sp>
        <p:nvSpPr>
          <p:cNvPr id="49" name="Shape 47"/>
          <p:cNvSpPr/>
          <p:nvPr/>
        </p:nvSpPr>
        <p:spPr>
          <a:xfrm>
            <a:off x="9748082" y="920881"/>
            <a:ext cx="112919" cy="112919"/>
          </a:xfrm>
          <a:prstGeom prst="ellipse">
            <a:avLst/>
          </a:prstGeom>
          <a:solidFill>
            <a:srgbClr val="4B6388"/>
          </a:solidFill>
          <a:ln w="12700">
            <a:solidFill>
              <a:srgbClr val="4B6388"/>
            </a:solidFill>
            <a:prstDash val="solid"/>
          </a:ln>
        </p:spPr>
      </p:sp>
      <p:sp>
        <p:nvSpPr>
          <p:cNvPr id="50" name="Shape 48"/>
          <p:cNvSpPr/>
          <p:nvPr/>
        </p:nvSpPr>
        <p:spPr>
          <a:xfrm>
            <a:off x="10381844" y="1029041"/>
            <a:ext cx="81045" cy="81045"/>
          </a:xfrm>
          <a:prstGeom prst="ellipse">
            <a:avLst/>
          </a:prstGeom>
          <a:solidFill>
            <a:srgbClr val="4B6388"/>
          </a:solidFill>
          <a:ln w="12700">
            <a:solidFill>
              <a:srgbClr val="4B6388"/>
            </a:solidFill>
            <a:prstDash val="solid"/>
          </a:ln>
        </p:spPr>
      </p:sp>
      <p:sp>
        <p:nvSpPr>
          <p:cNvPr id="51" name="Shape 49"/>
          <p:cNvSpPr/>
          <p:nvPr/>
        </p:nvSpPr>
        <p:spPr>
          <a:xfrm>
            <a:off x="11577625" y="765567"/>
            <a:ext cx="98647" cy="98647"/>
          </a:xfrm>
          <a:prstGeom prst="ellipse">
            <a:avLst/>
          </a:prstGeom>
          <a:solidFill>
            <a:srgbClr val="4B6388"/>
          </a:solidFill>
          <a:ln w="12700">
            <a:solidFill>
              <a:srgbClr val="4B6388"/>
            </a:solidFill>
            <a:prstDash val="solid"/>
          </a:ln>
        </p:spPr>
      </p:sp>
      <p:sp>
        <p:nvSpPr>
          <p:cNvPr id="52" name="Shape 50"/>
          <p:cNvSpPr/>
          <p:nvPr/>
        </p:nvSpPr>
        <p:spPr>
          <a:xfrm>
            <a:off x="6739270" y="1807979"/>
            <a:ext cx="107221" cy="107221"/>
          </a:xfrm>
          <a:prstGeom prst="ellipse">
            <a:avLst/>
          </a:prstGeom>
          <a:solidFill>
            <a:srgbClr val="4B6388"/>
          </a:solidFill>
          <a:ln w="12700">
            <a:solidFill>
              <a:srgbClr val="4B6388"/>
            </a:solidFill>
            <a:prstDash val="solid"/>
          </a:ln>
        </p:spPr>
      </p:sp>
      <p:sp>
        <p:nvSpPr>
          <p:cNvPr id="53" name="Shape 51"/>
          <p:cNvSpPr/>
          <p:nvPr/>
        </p:nvSpPr>
        <p:spPr>
          <a:xfrm>
            <a:off x="8467796" y="1188494"/>
            <a:ext cx="438912" cy="438912"/>
          </a:xfrm>
          <a:prstGeom prst="ellipse">
            <a:avLst/>
          </a:prstGeom>
          <a:solidFill>
            <a:srgbClr val="E0533A">
              <a:alpha val="20000"/>
            </a:srgbClr>
          </a:solidFill>
          <a:ln w="12700">
            <a:solidFill>
              <a:srgbClr val="E0533A">
                <a:alpha val="20000"/>
              </a:srgbClr>
            </a:solidFill>
            <a:prstDash val="solid"/>
          </a:ln>
        </p:spPr>
      </p:sp>
      <p:sp>
        <p:nvSpPr>
          <p:cNvPr id="54" name="Shape 52"/>
          <p:cNvSpPr/>
          <p:nvPr/>
        </p:nvSpPr>
        <p:spPr>
          <a:xfrm>
            <a:off x="8604956" y="1325654"/>
            <a:ext cx="164592" cy="164592"/>
          </a:xfrm>
          <a:prstGeom prst="ellipse">
            <a:avLst/>
          </a:prstGeom>
          <a:solidFill>
            <a:srgbClr val="E0533A"/>
          </a:solidFill>
          <a:ln w="12700">
            <a:solidFill>
              <a:srgbClr val="E0533A"/>
            </a:solidFill>
            <a:prstDash val="solid"/>
          </a:ln>
        </p:spPr>
      </p:sp>
      <p:sp>
        <p:nvSpPr>
          <p:cNvPr id="55" name="Shape 53"/>
          <p:cNvSpPr/>
          <p:nvPr/>
        </p:nvSpPr>
        <p:spPr>
          <a:xfrm>
            <a:off x="10480357" y="1418595"/>
            <a:ext cx="80462" cy="80462"/>
          </a:xfrm>
          <a:prstGeom prst="ellipse">
            <a:avLst/>
          </a:prstGeom>
          <a:solidFill>
            <a:srgbClr val="4B6388"/>
          </a:solidFill>
          <a:ln w="12700">
            <a:solidFill>
              <a:srgbClr val="4B6388"/>
            </a:solidFill>
            <a:prstDash val="solid"/>
          </a:ln>
        </p:spPr>
      </p:sp>
      <p:sp>
        <p:nvSpPr>
          <p:cNvPr id="56" name="Shape 54"/>
          <p:cNvSpPr/>
          <p:nvPr/>
        </p:nvSpPr>
        <p:spPr>
          <a:xfrm>
            <a:off x="10912363" y="1566283"/>
            <a:ext cx="104849" cy="104849"/>
          </a:xfrm>
          <a:prstGeom prst="ellipse">
            <a:avLst/>
          </a:prstGeom>
          <a:solidFill>
            <a:srgbClr val="4B6388"/>
          </a:solidFill>
          <a:ln w="12700">
            <a:solidFill>
              <a:srgbClr val="4B6388"/>
            </a:solidFill>
            <a:prstDash val="solid"/>
          </a:ln>
        </p:spPr>
      </p:sp>
      <p:sp>
        <p:nvSpPr>
          <p:cNvPr id="57" name="Shape 55"/>
          <p:cNvSpPr/>
          <p:nvPr/>
        </p:nvSpPr>
        <p:spPr>
          <a:xfrm>
            <a:off x="7580142" y="2333781"/>
            <a:ext cx="78447" cy="78447"/>
          </a:xfrm>
          <a:prstGeom prst="ellipse">
            <a:avLst/>
          </a:prstGeom>
          <a:solidFill>
            <a:srgbClr val="4B6388"/>
          </a:solidFill>
          <a:ln w="12700">
            <a:solidFill>
              <a:srgbClr val="4B6388"/>
            </a:solidFill>
            <a:prstDash val="solid"/>
          </a:ln>
        </p:spPr>
      </p:sp>
      <p:sp>
        <p:nvSpPr>
          <p:cNvPr id="58" name="Shape 56"/>
          <p:cNvSpPr/>
          <p:nvPr/>
        </p:nvSpPr>
        <p:spPr>
          <a:xfrm>
            <a:off x="8353647" y="2508717"/>
            <a:ext cx="81667" cy="81667"/>
          </a:xfrm>
          <a:prstGeom prst="ellipse">
            <a:avLst/>
          </a:prstGeom>
          <a:solidFill>
            <a:srgbClr val="4B6388"/>
          </a:solidFill>
          <a:ln w="12700">
            <a:solidFill>
              <a:srgbClr val="4B6388"/>
            </a:solidFill>
            <a:prstDash val="solid"/>
          </a:ln>
        </p:spPr>
      </p:sp>
      <p:sp>
        <p:nvSpPr>
          <p:cNvPr id="59" name="Shape 57"/>
          <p:cNvSpPr/>
          <p:nvPr/>
        </p:nvSpPr>
        <p:spPr>
          <a:xfrm>
            <a:off x="9307095" y="2800213"/>
            <a:ext cx="107162" cy="107162"/>
          </a:xfrm>
          <a:prstGeom prst="ellipse">
            <a:avLst/>
          </a:prstGeom>
          <a:solidFill>
            <a:srgbClr val="4B6388"/>
          </a:solidFill>
          <a:ln w="12700">
            <a:solidFill>
              <a:srgbClr val="4B6388"/>
            </a:solidFill>
            <a:prstDash val="solid"/>
          </a:ln>
        </p:spPr>
      </p:sp>
      <p:sp>
        <p:nvSpPr>
          <p:cNvPr id="60" name="Shape 58"/>
          <p:cNvSpPr/>
          <p:nvPr/>
        </p:nvSpPr>
        <p:spPr>
          <a:xfrm>
            <a:off x="10246485" y="2700270"/>
            <a:ext cx="104086" cy="104086"/>
          </a:xfrm>
          <a:prstGeom prst="ellipse">
            <a:avLst/>
          </a:prstGeom>
          <a:solidFill>
            <a:srgbClr val="4B6388"/>
          </a:solidFill>
          <a:ln w="12700">
            <a:solidFill>
              <a:srgbClr val="4B6388"/>
            </a:solidFill>
            <a:prstDash val="solid"/>
          </a:ln>
        </p:spPr>
      </p:sp>
      <p:sp>
        <p:nvSpPr>
          <p:cNvPr id="61" name="Shape 59"/>
          <p:cNvSpPr/>
          <p:nvPr/>
        </p:nvSpPr>
        <p:spPr>
          <a:xfrm>
            <a:off x="10976394" y="2790262"/>
            <a:ext cx="70296" cy="70296"/>
          </a:xfrm>
          <a:prstGeom prst="ellipse">
            <a:avLst/>
          </a:prstGeom>
          <a:solidFill>
            <a:srgbClr val="4B6388"/>
          </a:solidFill>
          <a:ln w="12700">
            <a:solidFill>
              <a:srgbClr val="4B6388"/>
            </a:solidFill>
            <a:prstDash val="solid"/>
          </a:ln>
        </p:spPr>
      </p:sp>
      <p:sp>
        <p:nvSpPr>
          <p:cNvPr id="62" name="Shape 60"/>
          <p:cNvSpPr/>
          <p:nvPr/>
        </p:nvSpPr>
        <p:spPr>
          <a:xfrm>
            <a:off x="6501938" y="3419718"/>
            <a:ext cx="111096" cy="111096"/>
          </a:xfrm>
          <a:prstGeom prst="ellipse">
            <a:avLst/>
          </a:prstGeom>
          <a:solidFill>
            <a:srgbClr val="4B6388"/>
          </a:solidFill>
          <a:ln w="12700">
            <a:solidFill>
              <a:srgbClr val="4B6388"/>
            </a:solidFill>
            <a:prstDash val="solid"/>
          </a:ln>
        </p:spPr>
      </p:sp>
      <p:sp>
        <p:nvSpPr>
          <p:cNvPr id="63" name="Shape 61"/>
          <p:cNvSpPr/>
          <p:nvPr/>
        </p:nvSpPr>
        <p:spPr>
          <a:xfrm>
            <a:off x="7573128" y="3548856"/>
            <a:ext cx="67264" cy="67264"/>
          </a:xfrm>
          <a:prstGeom prst="ellipse">
            <a:avLst/>
          </a:prstGeom>
          <a:solidFill>
            <a:srgbClr val="4B6388"/>
          </a:solidFill>
          <a:ln w="12700">
            <a:solidFill>
              <a:srgbClr val="4B6388"/>
            </a:solidFill>
            <a:prstDash val="solid"/>
          </a:ln>
        </p:spPr>
      </p:sp>
      <p:sp>
        <p:nvSpPr>
          <p:cNvPr id="64" name="Shape 62"/>
          <p:cNvSpPr/>
          <p:nvPr/>
        </p:nvSpPr>
        <p:spPr>
          <a:xfrm>
            <a:off x="8374023" y="3177969"/>
            <a:ext cx="102819" cy="102819"/>
          </a:xfrm>
          <a:prstGeom prst="ellipse">
            <a:avLst/>
          </a:prstGeom>
          <a:solidFill>
            <a:srgbClr val="4B6388"/>
          </a:solidFill>
          <a:ln w="12700">
            <a:solidFill>
              <a:srgbClr val="4B6388"/>
            </a:solidFill>
            <a:prstDash val="solid"/>
          </a:ln>
        </p:spPr>
      </p:sp>
      <p:sp>
        <p:nvSpPr>
          <p:cNvPr id="65" name="Shape 63"/>
          <p:cNvSpPr/>
          <p:nvPr/>
        </p:nvSpPr>
        <p:spPr>
          <a:xfrm>
            <a:off x="9225622" y="3534860"/>
            <a:ext cx="100295" cy="100295"/>
          </a:xfrm>
          <a:prstGeom prst="ellipse">
            <a:avLst/>
          </a:prstGeom>
          <a:solidFill>
            <a:srgbClr val="4B6388"/>
          </a:solidFill>
          <a:ln w="12700">
            <a:solidFill>
              <a:srgbClr val="4B6388"/>
            </a:solidFill>
            <a:prstDash val="solid"/>
          </a:ln>
        </p:spPr>
      </p:sp>
      <p:sp>
        <p:nvSpPr>
          <p:cNvPr id="66" name="Shape 64"/>
          <p:cNvSpPr/>
          <p:nvPr/>
        </p:nvSpPr>
        <p:spPr>
          <a:xfrm>
            <a:off x="10211622" y="2976846"/>
            <a:ext cx="438912" cy="438912"/>
          </a:xfrm>
          <a:prstGeom prst="ellipse">
            <a:avLst/>
          </a:prstGeom>
          <a:solidFill>
            <a:srgbClr val="E0533A">
              <a:alpha val="20000"/>
            </a:srgbClr>
          </a:solidFill>
          <a:ln w="12700">
            <a:solidFill>
              <a:srgbClr val="E0533A">
                <a:alpha val="20000"/>
              </a:srgbClr>
            </a:solidFill>
            <a:prstDash val="solid"/>
          </a:ln>
        </p:spPr>
      </p:sp>
      <p:sp>
        <p:nvSpPr>
          <p:cNvPr id="67" name="Shape 65"/>
          <p:cNvSpPr/>
          <p:nvPr/>
        </p:nvSpPr>
        <p:spPr>
          <a:xfrm>
            <a:off x="10348782" y="3114006"/>
            <a:ext cx="164592" cy="164592"/>
          </a:xfrm>
          <a:prstGeom prst="ellipse">
            <a:avLst/>
          </a:prstGeom>
          <a:solidFill>
            <a:srgbClr val="E0533A"/>
          </a:solidFill>
          <a:ln w="12700">
            <a:solidFill>
              <a:srgbClr val="E0533A"/>
            </a:solidFill>
            <a:prstDash val="solid"/>
          </a:ln>
        </p:spPr>
      </p:sp>
      <p:sp>
        <p:nvSpPr>
          <p:cNvPr id="68" name="Shape 66"/>
          <p:cNvSpPr/>
          <p:nvPr/>
        </p:nvSpPr>
        <p:spPr>
          <a:xfrm>
            <a:off x="11123474" y="3135776"/>
            <a:ext cx="119441" cy="119441"/>
          </a:xfrm>
          <a:prstGeom prst="ellipse">
            <a:avLst/>
          </a:prstGeom>
          <a:solidFill>
            <a:srgbClr val="4B6388"/>
          </a:solidFill>
          <a:ln w="12700">
            <a:solidFill>
              <a:srgbClr val="4B6388"/>
            </a:solidFill>
            <a:prstDash val="solid"/>
          </a:ln>
        </p:spPr>
      </p:sp>
      <p:sp>
        <p:nvSpPr>
          <p:cNvPr id="69" name="Shape 67"/>
          <p:cNvSpPr/>
          <p:nvPr/>
        </p:nvSpPr>
        <p:spPr>
          <a:xfrm>
            <a:off x="6481051" y="4181680"/>
            <a:ext cx="104091" cy="104091"/>
          </a:xfrm>
          <a:prstGeom prst="ellipse">
            <a:avLst/>
          </a:prstGeom>
          <a:solidFill>
            <a:srgbClr val="4B6388"/>
          </a:solidFill>
          <a:ln w="12700">
            <a:solidFill>
              <a:srgbClr val="4B6388"/>
            </a:solidFill>
            <a:prstDash val="solid"/>
          </a:ln>
        </p:spPr>
      </p:sp>
      <p:sp>
        <p:nvSpPr>
          <p:cNvPr id="70" name="Shape 68"/>
          <p:cNvSpPr/>
          <p:nvPr/>
        </p:nvSpPr>
        <p:spPr>
          <a:xfrm>
            <a:off x="7485370" y="4477650"/>
            <a:ext cx="69515" cy="69515"/>
          </a:xfrm>
          <a:prstGeom prst="ellipse">
            <a:avLst/>
          </a:prstGeom>
          <a:solidFill>
            <a:srgbClr val="4B6388"/>
          </a:solidFill>
          <a:ln w="12700">
            <a:solidFill>
              <a:srgbClr val="4B6388"/>
            </a:solidFill>
            <a:prstDash val="solid"/>
          </a:ln>
        </p:spPr>
      </p:sp>
      <p:sp>
        <p:nvSpPr>
          <p:cNvPr id="71" name="Shape 69"/>
          <p:cNvSpPr/>
          <p:nvPr/>
        </p:nvSpPr>
        <p:spPr>
          <a:xfrm>
            <a:off x="8805526" y="4453147"/>
            <a:ext cx="64995" cy="64995"/>
          </a:xfrm>
          <a:prstGeom prst="ellipse">
            <a:avLst/>
          </a:prstGeom>
          <a:solidFill>
            <a:srgbClr val="4B6388"/>
          </a:solidFill>
          <a:ln w="12700">
            <a:solidFill>
              <a:srgbClr val="4B6388"/>
            </a:solidFill>
            <a:prstDash val="solid"/>
          </a:ln>
        </p:spPr>
      </p:sp>
      <p:sp>
        <p:nvSpPr>
          <p:cNvPr id="72" name="Shape 70"/>
          <p:cNvSpPr/>
          <p:nvPr/>
        </p:nvSpPr>
        <p:spPr>
          <a:xfrm>
            <a:off x="9714594" y="4108968"/>
            <a:ext cx="70168" cy="70168"/>
          </a:xfrm>
          <a:prstGeom prst="ellipse">
            <a:avLst/>
          </a:prstGeom>
          <a:solidFill>
            <a:srgbClr val="4B6388"/>
          </a:solidFill>
          <a:ln w="12700">
            <a:solidFill>
              <a:srgbClr val="4B6388"/>
            </a:solidFill>
            <a:prstDash val="solid"/>
          </a:ln>
        </p:spPr>
      </p:sp>
      <p:sp>
        <p:nvSpPr>
          <p:cNvPr id="73" name="Shape 71"/>
          <p:cNvSpPr/>
          <p:nvPr/>
        </p:nvSpPr>
        <p:spPr>
          <a:xfrm>
            <a:off x="10486602" y="4219479"/>
            <a:ext cx="97819" cy="97819"/>
          </a:xfrm>
          <a:prstGeom prst="ellipse">
            <a:avLst/>
          </a:prstGeom>
          <a:solidFill>
            <a:srgbClr val="4B6388"/>
          </a:solidFill>
          <a:ln w="12700">
            <a:solidFill>
              <a:srgbClr val="4B6388"/>
            </a:solidFill>
            <a:prstDash val="solid"/>
          </a:ln>
        </p:spPr>
      </p:sp>
      <p:sp>
        <p:nvSpPr>
          <p:cNvPr id="74" name="Shape 72"/>
          <p:cNvSpPr/>
          <p:nvPr/>
        </p:nvSpPr>
        <p:spPr>
          <a:xfrm>
            <a:off x="11218461" y="4363191"/>
            <a:ext cx="117513" cy="117513"/>
          </a:xfrm>
          <a:prstGeom prst="ellipse">
            <a:avLst/>
          </a:prstGeom>
          <a:solidFill>
            <a:srgbClr val="4B6388"/>
          </a:solidFill>
          <a:ln w="12700">
            <a:solidFill>
              <a:srgbClr val="4B6388"/>
            </a:solidFill>
            <a:prstDash val="solid"/>
          </a:ln>
        </p:spPr>
      </p:sp>
      <p:sp>
        <p:nvSpPr>
          <p:cNvPr id="75" name="Shape 73"/>
          <p:cNvSpPr/>
          <p:nvPr/>
        </p:nvSpPr>
        <p:spPr>
          <a:xfrm>
            <a:off x="7050056" y="4984076"/>
            <a:ext cx="121046" cy="121046"/>
          </a:xfrm>
          <a:prstGeom prst="ellipse">
            <a:avLst/>
          </a:prstGeom>
          <a:solidFill>
            <a:srgbClr val="4B6388"/>
          </a:solidFill>
          <a:ln w="12700">
            <a:solidFill>
              <a:srgbClr val="4B6388"/>
            </a:solidFill>
            <a:prstDash val="solid"/>
          </a:ln>
        </p:spPr>
      </p:sp>
      <p:sp>
        <p:nvSpPr>
          <p:cNvPr id="76" name="Shape 74"/>
          <p:cNvSpPr/>
          <p:nvPr/>
        </p:nvSpPr>
        <p:spPr>
          <a:xfrm>
            <a:off x="8770405" y="5029963"/>
            <a:ext cx="81722" cy="81722"/>
          </a:xfrm>
          <a:prstGeom prst="ellipse">
            <a:avLst/>
          </a:prstGeom>
          <a:solidFill>
            <a:srgbClr val="4B6388"/>
          </a:solidFill>
          <a:ln w="12700">
            <a:solidFill>
              <a:srgbClr val="4B6388"/>
            </a:solidFill>
            <a:prstDash val="solid"/>
          </a:ln>
        </p:spPr>
      </p:sp>
      <p:sp>
        <p:nvSpPr>
          <p:cNvPr id="77" name="Shape 75"/>
          <p:cNvSpPr/>
          <p:nvPr/>
        </p:nvSpPr>
        <p:spPr>
          <a:xfrm>
            <a:off x="10044054" y="5155295"/>
            <a:ext cx="124146" cy="124146"/>
          </a:xfrm>
          <a:prstGeom prst="ellipse">
            <a:avLst/>
          </a:prstGeom>
          <a:solidFill>
            <a:srgbClr val="4B6388"/>
          </a:solidFill>
          <a:ln w="12700">
            <a:solidFill>
              <a:srgbClr val="4B6388"/>
            </a:solidFill>
            <a:prstDash val="solid"/>
          </a:ln>
        </p:spPr>
      </p:sp>
      <p:sp>
        <p:nvSpPr>
          <p:cNvPr id="78" name="Shape 76"/>
          <p:cNvSpPr/>
          <p:nvPr/>
        </p:nvSpPr>
        <p:spPr>
          <a:xfrm>
            <a:off x="11454750" y="5426254"/>
            <a:ext cx="93372" cy="93372"/>
          </a:xfrm>
          <a:prstGeom prst="ellipse">
            <a:avLst/>
          </a:prstGeom>
          <a:solidFill>
            <a:srgbClr val="4B6388"/>
          </a:solidFill>
          <a:ln w="12700">
            <a:solidFill>
              <a:srgbClr val="4B6388"/>
            </a:solidFill>
            <a:prstDash val="solid"/>
          </a:ln>
        </p:spPr>
      </p:sp>
      <p:sp>
        <p:nvSpPr>
          <p:cNvPr id="79" name="Shape 77"/>
          <p:cNvSpPr/>
          <p:nvPr/>
        </p:nvSpPr>
        <p:spPr>
          <a:xfrm>
            <a:off x="6640742" y="5735046"/>
            <a:ext cx="107708" cy="107708"/>
          </a:xfrm>
          <a:prstGeom prst="ellipse">
            <a:avLst/>
          </a:prstGeom>
          <a:solidFill>
            <a:srgbClr val="4B6388"/>
          </a:solidFill>
          <a:ln w="12700">
            <a:solidFill>
              <a:srgbClr val="4B6388"/>
            </a:solidFill>
            <a:prstDash val="solid"/>
          </a:ln>
        </p:spPr>
      </p:sp>
      <p:sp>
        <p:nvSpPr>
          <p:cNvPr id="80" name="Shape 78"/>
          <p:cNvSpPr/>
          <p:nvPr/>
        </p:nvSpPr>
        <p:spPr>
          <a:xfrm>
            <a:off x="7912089" y="5678088"/>
            <a:ext cx="100648" cy="100648"/>
          </a:xfrm>
          <a:prstGeom prst="ellipse">
            <a:avLst/>
          </a:prstGeom>
          <a:solidFill>
            <a:srgbClr val="4B6388"/>
          </a:solidFill>
          <a:ln w="12700">
            <a:solidFill>
              <a:srgbClr val="4B6388"/>
            </a:solidFill>
            <a:prstDash val="solid"/>
          </a:ln>
        </p:spPr>
      </p:sp>
      <p:sp>
        <p:nvSpPr>
          <p:cNvPr id="81" name="Shape 79"/>
          <p:cNvSpPr/>
          <p:nvPr/>
        </p:nvSpPr>
        <p:spPr>
          <a:xfrm>
            <a:off x="8786029" y="6281068"/>
            <a:ext cx="66488" cy="66488"/>
          </a:xfrm>
          <a:prstGeom prst="ellipse">
            <a:avLst/>
          </a:prstGeom>
          <a:solidFill>
            <a:srgbClr val="4B6388"/>
          </a:solidFill>
          <a:ln w="12700">
            <a:solidFill>
              <a:srgbClr val="4B6388"/>
            </a:solidFill>
            <a:prstDash val="solid"/>
          </a:ln>
        </p:spPr>
      </p:sp>
      <p:sp>
        <p:nvSpPr>
          <p:cNvPr id="82" name="Shape 80"/>
          <p:cNvSpPr/>
          <p:nvPr/>
        </p:nvSpPr>
        <p:spPr>
          <a:xfrm>
            <a:off x="9707754" y="6276788"/>
            <a:ext cx="72606" cy="72606"/>
          </a:xfrm>
          <a:prstGeom prst="ellipse">
            <a:avLst/>
          </a:prstGeom>
          <a:solidFill>
            <a:srgbClr val="4B6388"/>
          </a:solidFill>
          <a:ln w="12700">
            <a:solidFill>
              <a:srgbClr val="4B6388"/>
            </a:solidFill>
            <a:prstDash val="solid"/>
          </a:ln>
        </p:spPr>
      </p:sp>
      <p:sp>
        <p:nvSpPr>
          <p:cNvPr id="83" name="Shape 81"/>
          <p:cNvSpPr/>
          <p:nvPr/>
        </p:nvSpPr>
        <p:spPr>
          <a:xfrm>
            <a:off x="10231289" y="5916625"/>
            <a:ext cx="110031" cy="110031"/>
          </a:xfrm>
          <a:prstGeom prst="ellipse">
            <a:avLst/>
          </a:prstGeom>
          <a:solidFill>
            <a:srgbClr val="4B6388"/>
          </a:solidFill>
          <a:ln w="12700">
            <a:solidFill>
              <a:srgbClr val="4B6388"/>
            </a:solidFill>
            <a:prstDash val="solid"/>
          </a:ln>
        </p:spPr>
      </p:sp>
      <p:sp>
        <p:nvSpPr>
          <p:cNvPr id="84" name="Shape 82"/>
          <p:cNvSpPr/>
          <p:nvPr/>
        </p:nvSpPr>
        <p:spPr>
          <a:xfrm>
            <a:off x="11307968" y="6051975"/>
            <a:ext cx="120947" cy="120947"/>
          </a:xfrm>
          <a:prstGeom prst="ellipse">
            <a:avLst/>
          </a:prstGeom>
          <a:solidFill>
            <a:srgbClr val="4B6388"/>
          </a:solidFill>
          <a:ln w="12700">
            <a:solidFill>
              <a:srgbClr val="4B6388"/>
            </a:solidFill>
            <a:prstDash val="solid"/>
          </a:ln>
        </p:spPr>
      </p:sp>
      <p:sp>
        <p:nvSpPr>
          <p:cNvPr id="85" name="Text 83"/>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04</a:t>
            </a:r>
            <a:endParaRPr lang="en-US" sz="9600" dirty="0"/>
          </a:p>
        </p:txBody>
      </p:sp>
      <p:sp>
        <p:nvSpPr>
          <p:cNvPr id="86" name="Text 84"/>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Conclusions</a:t>
            </a:r>
            <a:endParaRPr lang="en-US" sz="4400" dirty="0"/>
          </a:p>
        </p:txBody>
      </p:sp>
      <p:sp>
        <p:nvSpPr>
          <p:cNvPr id="87" name="Text 85"/>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What we have shown so far, and the plan for the final evaluation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What we have shown so far</a:t>
            </a:r>
            <a:endParaRPr lang="en-US" sz="3000" dirty="0"/>
          </a:p>
        </p:txBody>
      </p:sp>
      <p:sp>
        <p:nvSpPr>
          <p:cNvPr id="20" name="Text 18"/>
          <p:cNvSpPr txBox="1"/>
          <p:nvPr/>
        </p:nvSpPr>
        <p:spPr>
          <a:xfrm>
            <a:off x="685800"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01</a:t>
            </a:r>
            <a:endParaRPr lang="en-US" sz="2600" dirty="0"/>
          </a:p>
        </p:txBody>
      </p:sp>
      <p:sp>
        <p:nvSpPr>
          <p:cNvPr id="21" name="Text 19"/>
          <p:cNvSpPr txBox="1"/>
          <p:nvPr/>
        </p:nvSpPr>
        <p:spPr>
          <a:xfrm>
            <a:off x="1508760"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It works on APT data, but not as claimed</a:t>
            </a:r>
            <a:endParaRPr lang="en-US" sz="1550" dirty="0"/>
          </a:p>
        </p:txBody>
      </p:sp>
      <p:sp>
        <p:nvSpPr>
          <p:cNvPr id="22" name="Text 20"/>
          <p:cNvSpPr txBox="1"/>
          <p:nvPr/>
        </p:nvSpPr>
        <p:spPr>
          <a:xfrm>
            <a:off x="1508760"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AUC ≈ 99%, but the false positive rate is ≈ 6%, not 0.52%</a:t>
            </a:r>
            <a:endParaRPr lang="en-US" sz="1250" dirty="0"/>
          </a:p>
        </p:txBody>
      </p:sp>
      <p:sp>
        <p:nvSpPr>
          <p:cNvPr id="23" name="Text 21"/>
          <p:cNvSpPr txBox="1"/>
          <p:nvPr/>
        </p:nvSpPr>
        <p:spPr>
          <a:xfrm>
            <a:off x="6370168"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02</a:t>
            </a:r>
            <a:endParaRPr lang="en-US" sz="2600" dirty="0"/>
          </a:p>
        </p:txBody>
      </p:sp>
      <p:sp>
        <p:nvSpPr>
          <p:cNvPr id="24" name="Text 22"/>
          <p:cNvSpPr txBox="1"/>
          <p:nvPr/>
        </p:nvSpPr>
        <p:spPr>
          <a:xfrm>
            <a:off x="7193128"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paper's protocol inflates results</a:t>
            </a:r>
            <a:endParaRPr lang="en-US" sz="1550" dirty="0"/>
          </a:p>
        </p:txBody>
      </p:sp>
      <p:sp>
        <p:nvSpPr>
          <p:cNvPr id="25" name="Text 23"/>
          <p:cNvSpPr txBox="1"/>
          <p:nvPr/>
        </p:nvSpPr>
        <p:spPr>
          <a:xfrm>
            <a:off x="7193128"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Balancing before splitting: F1 96.5% → 89.5%, missed APT flows ×3</a:t>
            </a:r>
            <a:endParaRPr lang="en-US" sz="1250" dirty="0"/>
          </a:p>
        </p:txBody>
      </p:sp>
      <p:sp>
        <p:nvSpPr>
          <p:cNvPr id="26" name="Shape 24"/>
          <p:cNvSpPr/>
          <p:nvPr/>
        </p:nvSpPr>
        <p:spPr>
          <a:xfrm>
            <a:off x="685800" y="3200400"/>
            <a:ext cx="5135728" cy="914"/>
          </a:xfrm>
          <a:prstGeom prst="line">
            <a:avLst/>
          </a:prstGeom>
          <a:noFill/>
          <a:ln w="9525">
            <a:solidFill>
              <a:srgbClr val="E2E6EC"/>
            </a:solidFill>
            <a:prstDash val="solid"/>
          </a:ln>
        </p:spPr>
      </p:sp>
      <p:sp>
        <p:nvSpPr>
          <p:cNvPr id="27" name="Text 25"/>
          <p:cNvSpPr txBox="1"/>
          <p:nvPr/>
        </p:nvSpPr>
        <p:spPr>
          <a:xfrm>
            <a:off x="685800"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03</a:t>
            </a:r>
            <a:endParaRPr lang="en-US" sz="2600" dirty="0"/>
          </a:p>
        </p:txBody>
      </p:sp>
      <p:sp>
        <p:nvSpPr>
          <p:cNvPr id="28" name="Text 26"/>
          <p:cNvSpPr txBox="1"/>
          <p:nvPr/>
        </p:nvSpPr>
        <p:spPr>
          <a:xfrm>
            <a:off x="1508760"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hybrid ≈ its own components</a:t>
            </a:r>
            <a:endParaRPr lang="en-US" sz="1550" dirty="0"/>
          </a:p>
        </p:txBody>
      </p:sp>
      <p:sp>
        <p:nvSpPr>
          <p:cNvPr id="29" name="Text 27"/>
          <p:cNvSpPr txBox="1"/>
          <p:nvPr/>
        </p:nvSpPr>
        <p:spPr>
          <a:xfrm>
            <a:off x="1508760"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Tied with RF and XGBoost on F1; the OR rule trades false alarms for recall</a:t>
            </a:r>
            <a:endParaRPr lang="en-US" sz="1250" dirty="0"/>
          </a:p>
        </p:txBody>
      </p:sp>
      <p:sp>
        <p:nvSpPr>
          <p:cNvPr id="30" name="Shape 28"/>
          <p:cNvSpPr/>
          <p:nvPr/>
        </p:nvSpPr>
        <p:spPr>
          <a:xfrm>
            <a:off x="6370168" y="3200400"/>
            <a:ext cx="5135728" cy="914"/>
          </a:xfrm>
          <a:prstGeom prst="line">
            <a:avLst/>
          </a:prstGeom>
          <a:noFill/>
          <a:ln w="9525">
            <a:solidFill>
              <a:srgbClr val="E2E6EC"/>
            </a:solidFill>
            <a:prstDash val="solid"/>
          </a:ln>
        </p:spPr>
      </p:sp>
      <p:sp>
        <p:nvSpPr>
          <p:cNvPr id="31" name="Text 29"/>
          <p:cNvSpPr txBox="1"/>
          <p:nvPr/>
        </p:nvSpPr>
        <p:spPr>
          <a:xfrm>
            <a:off x="6370168"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04</a:t>
            </a:r>
            <a:endParaRPr lang="en-US" sz="2600" dirty="0"/>
          </a:p>
        </p:txBody>
      </p:sp>
      <p:sp>
        <p:nvSpPr>
          <p:cNvPr id="32" name="Text 30"/>
          <p:cNvSpPr txBox="1"/>
          <p:nvPr/>
        </p:nvSpPr>
        <p:spPr>
          <a:xfrm>
            <a:off x="7193128"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Trees beat deep learning here</a:t>
            </a:r>
            <a:endParaRPr lang="en-US" sz="1550" dirty="0"/>
          </a:p>
        </p:txBody>
      </p:sp>
      <p:sp>
        <p:nvSpPr>
          <p:cNvPr id="33" name="Text 31"/>
          <p:cNvSpPr txBox="1"/>
          <p:nvPr/>
        </p:nvSpPr>
        <p:spPr>
          <a:xfrm>
            <a:off x="7193128"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CNN, ANN and MLP do not outperform tree ensembles on flow features</a:t>
            </a:r>
            <a:endParaRPr lang="en-US" sz="1250" dirty="0"/>
          </a:p>
        </p:txBody>
      </p:sp>
      <p:sp>
        <p:nvSpPr>
          <p:cNvPr id="34" name="Shape 32"/>
          <p:cNvSpPr/>
          <p:nvPr/>
        </p:nvSpPr>
        <p:spPr>
          <a:xfrm>
            <a:off x="685800" y="4709160"/>
            <a:ext cx="5135728" cy="914"/>
          </a:xfrm>
          <a:prstGeom prst="line">
            <a:avLst/>
          </a:prstGeom>
          <a:noFill/>
          <a:ln w="9525">
            <a:solidFill>
              <a:srgbClr val="E2E6EC"/>
            </a:solidFill>
            <a:prstDash val="solid"/>
          </a:ln>
        </p:spPr>
      </p:sp>
      <p:sp>
        <p:nvSpPr>
          <p:cNvPr id="35" name="Text 33"/>
          <p:cNvSpPr txBox="1"/>
          <p:nvPr/>
        </p:nvSpPr>
        <p:spPr>
          <a:xfrm>
            <a:off x="685800"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05</a:t>
            </a:r>
            <a:endParaRPr lang="en-US" sz="2600" dirty="0"/>
          </a:p>
        </p:txBody>
      </p:sp>
      <p:sp>
        <p:nvSpPr>
          <p:cNvPr id="36" name="Text 34"/>
          <p:cNvSpPr txBox="1"/>
          <p:nvPr/>
        </p:nvSpPr>
        <p:spPr>
          <a:xfrm>
            <a:off x="1508760"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APT stages can be identified</a:t>
            </a:r>
            <a:endParaRPr lang="en-US" sz="1550" dirty="0"/>
          </a:p>
        </p:txBody>
      </p:sp>
      <p:sp>
        <p:nvSpPr>
          <p:cNvPr id="37" name="Text 35"/>
          <p:cNvSpPr txBox="1"/>
          <p:nvPr/>
        </p:nvSpPr>
        <p:spPr>
          <a:xfrm>
            <a:off x="1508760"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Reconnaissance and foothold ≥ 96%, lateral movement 90%</a:t>
            </a:r>
            <a:endParaRPr lang="en-US" sz="1250" dirty="0"/>
          </a:p>
        </p:txBody>
      </p:sp>
      <p:sp>
        <p:nvSpPr>
          <p:cNvPr id="38" name="Shape 36"/>
          <p:cNvSpPr/>
          <p:nvPr/>
        </p:nvSpPr>
        <p:spPr>
          <a:xfrm>
            <a:off x="6370168" y="4709160"/>
            <a:ext cx="5135728" cy="914"/>
          </a:xfrm>
          <a:prstGeom prst="line">
            <a:avLst/>
          </a:prstGeom>
          <a:noFill/>
          <a:ln w="9525">
            <a:solidFill>
              <a:srgbClr val="E2E6EC"/>
            </a:solidFill>
            <a:prstDash val="solid"/>
          </a:ln>
        </p:spPr>
      </p:sp>
      <p:sp>
        <p:nvSpPr>
          <p:cNvPr id="39" name="Text 37"/>
          <p:cNvSpPr txBox="1"/>
          <p:nvPr/>
        </p:nvSpPr>
        <p:spPr>
          <a:xfrm>
            <a:off x="6370168"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06</a:t>
            </a:r>
            <a:endParaRPr lang="en-US" sz="2600" dirty="0"/>
          </a:p>
        </p:txBody>
      </p:sp>
      <p:sp>
        <p:nvSpPr>
          <p:cNvPr id="40" name="Text 38"/>
          <p:cNvSpPr txBox="1"/>
          <p:nvPr/>
        </p:nvSpPr>
        <p:spPr>
          <a:xfrm>
            <a:off x="7193128"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Rare, quiet steps remain hard</a:t>
            </a:r>
            <a:endParaRPr lang="en-US" sz="1550" dirty="0"/>
          </a:p>
        </p:txBody>
      </p:sp>
      <p:sp>
        <p:nvSpPr>
          <p:cNvPr id="41" name="Text 39"/>
          <p:cNvSpPr txBox="1"/>
          <p:nvPr/>
        </p:nvSpPr>
        <p:spPr>
          <a:xfrm>
            <a:off x="7193128"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SQL injection, privilege escalation, exfiltration; plus label noise in DAPT2020</a:t>
            </a:r>
            <a:endParaRPr lang="en-US" sz="1250" dirty="0"/>
          </a:p>
        </p:txBody>
      </p:sp>
      <p:sp>
        <p:nvSpPr>
          <p:cNvPr id="42"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3"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Plan for the final evaluation</a:t>
            </a:r>
            <a:endParaRPr lang="en-US" sz="3000" dirty="0"/>
          </a:p>
        </p:txBody>
      </p:sp>
      <p:sp>
        <p:nvSpPr>
          <p:cNvPr id="20" name="Shape 18"/>
          <p:cNvSpPr/>
          <p:nvPr/>
        </p:nvSpPr>
        <p:spPr>
          <a:xfrm>
            <a:off x="2038312" y="2514600"/>
            <a:ext cx="8115071" cy="914"/>
          </a:xfrm>
          <a:prstGeom prst="line">
            <a:avLst/>
          </a:prstGeom>
          <a:noFill/>
          <a:ln w="19050">
            <a:solidFill>
              <a:srgbClr val="E2E6EC"/>
            </a:solidFill>
            <a:prstDash val="solid"/>
          </a:ln>
        </p:spPr>
      </p:sp>
      <p:sp>
        <p:nvSpPr>
          <p:cNvPr id="21" name="Shape 19"/>
          <p:cNvSpPr/>
          <p:nvPr/>
        </p:nvSpPr>
        <p:spPr>
          <a:xfrm>
            <a:off x="1603972" y="2080260"/>
            <a:ext cx="868680" cy="86868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838515" y="2314804"/>
            <a:ext cx="399593" cy="399593"/>
          </a:xfrm>
          <a:prstGeom prst="rect">
            <a:avLst/>
          </a:prstGeom>
        </p:spPr>
      </p:pic>
      <p:sp>
        <p:nvSpPr>
          <p:cNvPr id="23" name="Text 20"/>
          <p:cNvSpPr txBox="1"/>
          <p:nvPr/>
        </p:nvSpPr>
        <p:spPr>
          <a:xfrm>
            <a:off x="941032"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1</a:t>
            </a:r>
            <a:endParaRPr lang="en-US" sz="1000" dirty="0"/>
          </a:p>
        </p:txBody>
      </p:sp>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Second APT dataset</a:t>
            </a:r>
            <a:endParaRPr lang="en-US" sz="1600" dirty="0"/>
          </a:p>
        </p:txBody>
      </p:sp>
      <p:sp>
        <p:nvSpPr>
          <p:cNvPr id="25" name="Text 22"/>
          <p:cNvSpPr txBox="1"/>
          <p:nvPr/>
        </p:nvSpPr>
        <p:spPr>
          <a:xfrm>
            <a:off x="849592"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Validate on Unraveled (2023) or SCVIC-APT-2021</a:t>
            </a:r>
            <a:endParaRPr lang="en-US" sz="1250" dirty="0"/>
          </a:p>
        </p:txBody>
      </p:sp>
      <p:sp>
        <p:nvSpPr>
          <p:cNvPr id="26" name="Shape 23"/>
          <p:cNvSpPr/>
          <p:nvPr/>
        </p:nvSpPr>
        <p:spPr>
          <a:xfrm>
            <a:off x="4308996" y="2080260"/>
            <a:ext cx="868680" cy="868680"/>
          </a:xfrm>
          <a:prstGeom prst="ellipse">
            <a:avLst/>
          </a:prstGeom>
          <a:solidFill>
            <a:srgbClr val="0B1526"/>
          </a:solidFill>
          <a:ln w="12700">
            <a:solidFill>
              <a:srgbClr val="0B1526"/>
            </a:solidFill>
            <a:prstDash val="solid"/>
          </a:ln>
        </p:spPr>
      </p:sp>
      <p:pic>
        <p:nvPicPr>
          <p:cNvPr id="27" name="Image 1" descr="preencoded.png">    </p:cNvPr>
          <p:cNvPicPr>
            <a:picLocks noChangeAspect="1"/>
          </p:cNvPicPr>
          <p:nvPr/>
        </p:nvPicPr>
        <p:blipFill>
          <a:blip r:embed="rId2"/>
          <a:stretch>
            <a:fillRect/>
          </a:stretch>
        </p:blipFill>
        <p:spPr>
          <a:xfrm>
            <a:off x="4543539" y="2314804"/>
            <a:ext cx="399593" cy="399593"/>
          </a:xfrm>
          <a:prstGeom prst="rect">
            <a:avLst/>
          </a:prstGeom>
        </p:spPr>
      </p:pic>
      <p:sp>
        <p:nvSpPr>
          <p:cNvPr id="28" name="Text 24"/>
          <p:cNvSpPr txBox="1"/>
          <p:nvPr/>
        </p:nvSpPr>
        <p:spPr>
          <a:xfrm>
            <a:off x="3646056"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2</a:t>
            </a:r>
            <a:endParaRPr lang="en-US" sz="1000" dirty="0"/>
          </a:p>
        </p:txBody>
      </p:sp>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Time-based evaluation</a:t>
            </a:r>
            <a:endParaRPr lang="en-US" sz="1600" dirty="0"/>
          </a:p>
        </p:txBody>
      </p:sp>
      <p:sp>
        <p:nvSpPr>
          <p:cNvPr id="30" name="Text 26"/>
          <p:cNvSpPr txBox="1"/>
          <p:nvPr/>
        </p:nvSpPr>
        <p:spPr>
          <a:xfrm>
            <a:off x="3554616"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Train on earlier days, test on later days: an unseen campaign</a:t>
            </a:r>
            <a:endParaRPr lang="en-US" sz="1250" dirty="0"/>
          </a:p>
        </p:txBody>
      </p:sp>
      <p:sp>
        <p:nvSpPr>
          <p:cNvPr id="31" name="Shape 27"/>
          <p:cNvSpPr/>
          <p:nvPr/>
        </p:nvSpPr>
        <p:spPr>
          <a:xfrm>
            <a:off x="7014019"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7248563" y="2314804"/>
            <a:ext cx="399593" cy="399593"/>
          </a:xfrm>
          <a:prstGeom prst="rect">
            <a:avLst/>
          </a:prstGeom>
        </p:spPr>
      </p:pic>
      <p:sp>
        <p:nvSpPr>
          <p:cNvPr id="33" name="Text 28"/>
          <p:cNvSpPr txBox="1"/>
          <p:nvPr/>
        </p:nvSpPr>
        <p:spPr>
          <a:xfrm>
            <a:off x="6351079"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3</a:t>
            </a:r>
            <a:endParaRPr lang="en-US" sz="1000" dirty="0"/>
          </a:p>
        </p:txBody>
      </p:sp>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Improve the hybrid</a:t>
            </a:r>
            <a:endParaRPr lang="en-US" sz="1600" dirty="0"/>
          </a:p>
        </p:txBody>
      </p:sp>
      <p:sp>
        <p:nvSpPr>
          <p:cNvPr id="35" name="Text 30"/>
          <p:cNvSpPr txBox="1"/>
          <p:nvPr/>
        </p:nvSpPr>
        <p:spPr>
          <a:xfrm>
            <a:off x="6259639"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Tune model weights and threshold; handle rare stages better</a:t>
            </a:r>
            <a:endParaRPr lang="en-US" sz="1250" dirty="0"/>
          </a:p>
        </p:txBody>
      </p:sp>
      <p:sp>
        <p:nvSpPr>
          <p:cNvPr id="36" name="Shape 31"/>
          <p:cNvSpPr/>
          <p:nvPr/>
        </p:nvSpPr>
        <p:spPr>
          <a:xfrm>
            <a:off x="9719043"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9953587" y="2314804"/>
            <a:ext cx="399593" cy="399593"/>
          </a:xfrm>
          <a:prstGeom prst="rect">
            <a:avLst/>
          </a:prstGeom>
        </p:spPr>
      </p:pic>
      <p:sp>
        <p:nvSpPr>
          <p:cNvPr id="38" name="Text 32"/>
          <p:cNvSpPr txBox="1"/>
          <p:nvPr/>
        </p:nvSpPr>
        <p:spPr>
          <a:xfrm>
            <a:off x="9056103"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4</a:t>
            </a:r>
            <a:endParaRPr lang="en-US" sz="1000" dirty="0"/>
          </a:p>
        </p:txBody>
      </p:sp>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Explainability</a:t>
            </a:r>
            <a:endParaRPr lang="en-US" sz="1600" dirty="0"/>
          </a:p>
        </p:txBody>
      </p:sp>
      <p:sp>
        <p:nvSpPr>
          <p:cNvPr id="40" name="Text 34"/>
          <p:cNvSpPr txBox="1"/>
          <p:nvPr/>
        </p:nvSpPr>
        <p:spPr>
          <a:xfrm>
            <a:off x="8964663"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SHAP analysis of the hybrid, as in the paper's Figures 25–26</a:t>
            </a:r>
            <a:endParaRPr lang="en-US" sz="1250" dirty="0"/>
          </a:p>
        </p:txBody>
      </p:sp>
      <p:sp>
        <p:nvSpPr>
          <p:cNvPr id="41" name="Shape 35"/>
          <p:cNvSpPr/>
          <p:nvPr/>
        </p:nvSpPr>
        <p:spPr>
          <a:xfrm>
            <a:off x="685800" y="5257800"/>
            <a:ext cx="10820095" cy="731520"/>
          </a:xfrm>
          <a:prstGeom prst="roundRect">
            <a:avLst>
              <a:gd name="adj" fmla="val 7500"/>
            </a:avLst>
          </a:prstGeom>
          <a:solidFill>
            <a:srgbClr val="E7F4ED"/>
          </a:solidFill>
          <a:ln w="12700">
            <a:solidFill>
              <a:srgbClr val="E7F4ED"/>
            </a:solidFill>
            <a:prstDash val="solid"/>
          </a:ln>
        </p:spPr>
      </p:sp>
      <p:pic>
        <p:nvPicPr>
          <p:cNvPr id="42" name="Image 4" descr="preencoded.png">    </p:cNvPr>
          <p:cNvPicPr>
            <a:picLocks noChangeAspect="1"/>
          </p:cNvPicPr>
          <p:nvPr/>
        </p:nvPicPr>
        <p:blipFill>
          <a:blip r:embed="rId5"/>
          <a:stretch>
            <a:fillRect/>
          </a:stretch>
        </p:blipFill>
        <p:spPr>
          <a:xfrm>
            <a:off x="960120" y="5449824"/>
            <a:ext cx="347472" cy="347472"/>
          </a:xfrm>
          <a:prstGeom prst="rect">
            <a:avLst/>
          </a:prstGeom>
        </p:spPr>
      </p:pic>
      <p:sp>
        <p:nvSpPr>
          <p:cNvPr id="43" name="Text 36"/>
          <p:cNvSpPr txBox="1"/>
          <p:nvPr/>
        </p:nvSpPr>
        <p:spPr>
          <a:xfrm>
            <a:off x="1463040" y="5257800"/>
            <a:ext cx="9814255" cy="73152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Already in place: </a:t>
            </a:r>
            <a:pPr indent="0" marL="0">
              <a:buNone/>
            </a:pPr>
            <a:r>
              <a:rPr lang="en-US" sz="1350" dirty="0">
                <a:solidFill>
                  <a:srgbClr val="0F1B2D"/>
                </a:solidFill>
                <a:latin typeface="Arial" pitchFamily="34" charset="0"/>
                <a:ea typeface="Arial" pitchFamily="34" charset="-122"/>
                <a:cs typeface="Arial" pitchFamily="34" charset="-120"/>
              </a:rPr>
              <a:t>reproducible code for every experiment, results for all 15 models, figures and a full written report.</a:t>
            </a:r>
            <a:endParaRPr lang="en-US" sz="1350" dirty="0"/>
          </a:p>
        </p:txBody>
      </p:sp>
      <p:sp>
        <p:nvSpPr>
          <p:cNvPr id="44" name="Text 3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5" name="Text 3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REFERENCES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References</a:t>
            </a:r>
            <a:endParaRPr lang="en-US" sz="3000" dirty="0"/>
          </a:p>
        </p:txBody>
      </p:sp>
      <p:sp>
        <p:nvSpPr>
          <p:cNvPr id="20" name="Text 18"/>
          <p:cNvSpPr txBox="1"/>
          <p:nvPr/>
        </p:nvSpPr>
        <p:spPr>
          <a:xfrm>
            <a:off x="685800" y="1783080"/>
            <a:ext cx="10820095" cy="4480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Saini, V. Bhat Kasaragod, K. Prakasha, A. K. Das. A hybrid ensemble machine learning model for detecting APT attacks based on network behavior anomaly detection. Concurrency and Computation: Practice and Experience, 35(28):e7865, 2023. doi:10.1002/cpe.7865</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S. Myneni, A. Chowdhary, A. Sabur, S. Sengupta, G. Agrawal, D. Huang, M. Kang. DAPT 2020 – Constructing a benchmark dataset for advanced persistent threats. Deployable Machine Learning for Security Defense (MLHat 2020), Springer CCIS, 2020. doi:10.1007/978-3-030-59621-7_8</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DAPT2020 dataset. kaggle.com/datasets/sowmyamyneni/dapt2020</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V. Chawla, K. W. Bowyer, L. O. Hall, W. P. Kegelmeyer. SMOTE: Synthetic minority over-sampling technique. Journal of Artificial Intelligence Research, 16:321–357, 2002.</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G. E. Batista, R. C. Prati, M. C. Monard. A study of the behavior of several methods for balancing machine learning training data. ACM SIGKDD Explorations, 6(1):20–29, 2004.</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L. Breiman. Random forests. Machine Learning, 45:5–32, 2001.</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T. Chen, C. Guestrin. XGBoost: A scalable tree boosting system. Proceedings of ACM SIGKDD, 2016.</a:t>
            </a:r>
            <a:endParaRPr lang="en-US" sz="1200" dirty="0"/>
          </a:p>
        </p:txBody>
      </p:sp>
      <p:sp>
        <p:nvSpPr>
          <p:cNvPr id="21" name="Text 1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2" name="Text 2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97568" y="1108585"/>
            <a:ext cx="339251" cy="535553"/>
          </a:xfrm>
          <a:prstGeom prst="line">
            <a:avLst/>
          </a:prstGeom>
          <a:noFill/>
          <a:ln w="9525">
            <a:solidFill>
              <a:srgbClr val="2C3E5C"/>
            </a:solidFill>
            <a:prstDash val="solid"/>
          </a:ln>
        </p:spPr>
      </p:sp>
      <p:sp>
        <p:nvSpPr>
          <p:cNvPr id="3" name="Shape 1"/>
          <p:cNvSpPr/>
          <p:nvPr/>
        </p:nvSpPr>
        <p:spPr>
          <a:xfrm flipV="1">
            <a:off x="6997568" y="871335"/>
            <a:ext cx="906965" cy="237250"/>
          </a:xfrm>
          <a:prstGeom prst="line">
            <a:avLst/>
          </a:prstGeom>
          <a:noFill/>
          <a:ln w="9525">
            <a:solidFill>
              <a:srgbClr val="2C3E5C"/>
            </a:solidFill>
            <a:prstDash val="solid"/>
          </a:ln>
        </p:spPr>
      </p:sp>
      <p:sp>
        <p:nvSpPr>
          <p:cNvPr id="4" name="Shape 2"/>
          <p:cNvSpPr/>
          <p:nvPr/>
        </p:nvSpPr>
        <p:spPr>
          <a:xfrm>
            <a:off x="7904533" y="871335"/>
            <a:ext cx="239104" cy="736086"/>
          </a:xfrm>
          <a:prstGeom prst="line">
            <a:avLst/>
          </a:prstGeom>
          <a:noFill/>
          <a:ln w="9525">
            <a:solidFill>
              <a:srgbClr val="2C3E5C"/>
            </a:solidFill>
            <a:prstDash val="solid"/>
          </a:ln>
        </p:spPr>
      </p:sp>
      <p:sp>
        <p:nvSpPr>
          <p:cNvPr id="5" name="Shape 3"/>
          <p:cNvSpPr/>
          <p:nvPr/>
        </p:nvSpPr>
        <p:spPr>
          <a:xfrm flipV="1">
            <a:off x="7904533" y="667019"/>
            <a:ext cx="989824" cy="204316"/>
          </a:xfrm>
          <a:prstGeom prst="line">
            <a:avLst/>
          </a:prstGeom>
          <a:noFill/>
          <a:ln w="9525">
            <a:solidFill>
              <a:srgbClr val="2C3E5C"/>
            </a:solidFill>
            <a:prstDash val="solid"/>
          </a:ln>
        </p:spPr>
      </p:sp>
      <p:sp>
        <p:nvSpPr>
          <p:cNvPr id="6" name="Shape 4"/>
          <p:cNvSpPr/>
          <p:nvPr/>
        </p:nvSpPr>
        <p:spPr>
          <a:xfrm>
            <a:off x="8894357" y="667019"/>
            <a:ext cx="993653" cy="351353"/>
          </a:xfrm>
          <a:prstGeom prst="line">
            <a:avLst/>
          </a:prstGeom>
          <a:noFill/>
          <a:ln w="9525">
            <a:solidFill>
              <a:srgbClr val="2C3E5C"/>
            </a:solidFill>
            <a:prstDash val="solid"/>
          </a:ln>
        </p:spPr>
      </p:sp>
      <p:sp>
        <p:nvSpPr>
          <p:cNvPr id="7" name="Shape 5"/>
          <p:cNvSpPr/>
          <p:nvPr/>
        </p:nvSpPr>
        <p:spPr>
          <a:xfrm>
            <a:off x="9888010" y="1018372"/>
            <a:ext cx="318907" cy="157625"/>
          </a:xfrm>
          <a:prstGeom prst="line">
            <a:avLst/>
          </a:prstGeom>
          <a:noFill/>
          <a:ln w="9525">
            <a:solidFill>
              <a:srgbClr val="2C3E5C"/>
            </a:solidFill>
            <a:prstDash val="solid"/>
          </a:ln>
        </p:spPr>
      </p:sp>
      <p:sp>
        <p:nvSpPr>
          <p:cNvPr id="8" name="Shape 6"/>
          <p:cNvSpPr/>
          <p:nvPr/>
        </p:nvSpPr>
        <p:spPr>
          <a:xfrm>
            <a:off x="9888010" y="1018372"/>
            <a:ext cx="350452" cy="644002"/>
          </a:xfrm>
          <a:prstGeom prst="line">
            <a:avLst/>
          </a:prstGeom>
          <a:noFill/>
          <a:ln w="9525">
            <a:solidFill>
              <a:srgbClr val="2C3E5C"/>
            </a:solidFill>
            <a:prstDash val="solid"/>
          </a:ln>
        </p:spPr>
      </p:sp>
      <p:sp>
        <p:nvSpPr>
          <p:cNvPr id="9" name="Shape 7"/>
          <p:cNvSpPr/>
          <p:nvPr/>
        </p:nvSpPr>
        <p:spPr>
          <a:xfrm>
            <a:off x="10206917" y="1175998"/>
            <a:ext cx="31545" cy="486377"/>
          </a:xfrm>
          <a:prstGeom prst="line">
            <a:avLst/>
          </a:prstGeom>
          <a:noFill/>
          <a:ln w="9525">
            <a:solidFill>
              <a:srgbClr val="2C3E5C"/>
            </a:solidFill>
            <a:prstDash val="solid"/>
          </a:ln>
        </p:spPr>
      </p:sp>
      <p:sp>
        <p:nvSpPr>
          <p:cNvPr id="10" name="Shape 8"/>
          <p:cNvSpPr/>
          <p:nvPr/>
        </p:nvSpPr>
        <p:spPr>
          <a:xfrm>
            <a:off x="11531883" y="918277"/>
            <a:ext cx="90883" cy="1110908"/>
          </a:xfrm>
          <a:prstGeom prst="line">
            <a:avLst/>
          </a:prstGeom>
          <a:noFill/>
          <a:ln w="12700">
            <a:solidFill>
              <a:srgbClr val="E0533A">
                <a:alpha val="55000"/>
              </a:srgbClr>
            </a:solidFill>
            <a:prstDash val="solid"/>
          </a:ln>
        </p:spPr>
      </p:sp>
      <p:sp>
        <p:nvSpPr>
          <p:cNvPr id="11" name="Shape 9"/>
          <p:cNvSpPr/>
          <p:nvPr/>
        </p:nvSpPr>
        <p:spPr>
          <a:xfrm flipV="1">
            <a:off x="10206917" y="918277"/>
            <a:ext cx="1324967" cy="257720"/>
          </a:xfrm>
          <a:prstGeom prst="line">
            <a:avLst/>
          </a:prstGeom>
          <a:noFill/>
          <a:ln w="9525">
            <a:solidFill>
              <a:srgbClr val="2C3E5C"/>
            </a:solidFill>
            <a:prstDash val="solid"/>
          </a:ln>
        </p:spPr>
      </p:sp>
      <p:sp>
        <p:nvSpPr>
          <p:cNvPr id="12" name="Shape 10"/>
          <p:cNvSpPr/>
          <p:nvPr/>
        </p:nvSpPr>
        <p:spPr>
          <a:xfrm flipV="1">
            <a:off x="7336819" y="1607421"/>
            <a:ext cx="806817" cy="36717"/>
          </a:xfrm>
          <a:prstGeom prst="line">
            <a:avLst/>
          </a:prstGeom>
          <a:noFill/>
          <a:ln w="9525">
            <a:solidFill>
              <a:srgbClr val="2C3E5C"/>
            </a:solidFill>
            <a:prstDash val="solid"/>
          </a:ln>
        </p:spPr>
      </p:sp>
      <p:sp>
        <p:nvSpPr>
          <p:cNvPr id="13" name="Shape 11"/>
          <p:cNvSpPr/>
          <p:nvPr/>
        </p:nvSpPr>
        <p:spPr>
          <a:xfrm>
            <a:off x="9153297" y="1975864"/>
            <a:ext cx="270535" cy="712051"/>
          </a:xfrm>
          <a:prstGeom prst="line">
            <a:avLst/>
          </a:prstGeom>
          <a:noFill/>
          <a:ln w="9525">
            <a:solidFill>
              <a:srgbClr val="2C3E5C"/>
            </a:solidFill>
            <a:prstDash val="solid"/>
          </a:ln>
        </p:spPr>
      </p:sp>
      <p:sp>
        <p:nvSpPr>
          <p:cNvPr id="14" name="Shape 12"/>
          <p:cNvSpPr/>
          <p:nvPr/>
        </p:nvSpPr>
        <p:spPr>
          <a:xfrm flipH="1">
            <a:off x="8752147" y="1975864"/>
            <a:ext cx="401150" cy="717211"/>
          </a:xfrm>
          <a:prstGeom prst="line">
            <a:avLst/>
          </a:prstGeom>
          <a:noFill/>
          <a:ln w="9525">
            <a:solidFill>
              <a:srgbClr val="2C3E5C"/>
            </a:solidFill>
            <a:prstDash val="solid"/>
          </a:ln>
        </p:spPr>
      </p:sp>
      <p:sp>
        <p:nvSpPr>
          <p:cNvPr id="15" name="Shape 13"/>
          <p:cNvSpPr/>
          <p:nvPr/>
        </p:nvSpPr>
        <p:spPr>
          <a:xfrm flipH="1">
            <a:off x="11149437" y="2029186"/>
            <a:ext cx="473329" cy="689083"/>
          </a:xfrm>
          <a:prstGeom prst="line">
            <a:avLst/>
          </a:prstGeom>
          <a:noFill/>
          <a:ln w="12700">
            <a:solidFill>
              <a:srgbClr val="E0533A">
                <a:alpha val="55000"/>
              </a:srgbClr>
            </a:solidFill>
            <a:prstDash val="solid"/>
          </a:ln>
        </p:spPr>
      </p:sp>
      <p:sp>
        <p:nvSpPr>
          <p:cNvPr id="16" name="Shape 14"/>
          <p:cNvSpPr/>
          <p:nvPr/>
        </p:nvSpPr>
        <p:spPr>
          <a:xfrm flipH="1">
            <a:off x="7318260" y="2455786"/>
            <a:ext cx="474599" cy="709846"/>
          </a:xfrm>
          <a:prstGeom prst="line">
            <a:avLst/>
          </a:prstGeom>
          <a:noFill/>
          <a:ln w="9525">
            <a:solidFill>
              <a:srgbClr val="2C3E5C"/>
            </a:solidFill>
            <a:prstDash val="solid"/>
          </a:ln>
        </p:spPr>
      </p:sp>
      <p:sp>
        <p:nvSpPr>
          <p:cNvPr id="17" name="Shape 15"/>
          <p:cNvSpPr/>
          <p:nvPr/>
        </p:nvSpPr>
        <p:spPr>
          <a:xfrm flipH="1">
            <a:off x="7792859" y="1607421"/>
            <a:ext cx="350778" cy="848365"/>
          </a:xfrm>
          <a:prstGeom prst="line">
            <a:avLst/>
          </a:prstGeom>
          <a:noFill/>
          <a:ln w="9525">
            <a:solidFill>
              <a:srgbClr val="2C3E5C"/>
            </a:solidFill>
            <a:prstDash val="solid"/>
          </a:ln>
        </p:spPr>
      </p:sp>
      <p:sp>
        <p:nvSpPr>
          <p:cNvPr id="18" name="Shape 16"/>
          <p:cNvSpPr/>
          <p:nvPr/>
        </p:nvSpPr>
        <p:spPr>
          <a:xfrm flipV="1">
            <a:off x="8752147" y="2687915"/>
            <a:ext cx="671685" cy="5160"/>
          </a:xfrm>
          <a:prstGeom prst="line">
            <a:avLst/>
          </a:prstGeom>
          <a:noFill/>
          <a:ln w="9525">
            <a:solidFill>
              <a:srgbClr val="2C3E5C"/>
            </a:solidFill>
            <a:prstDash val="solid"/>
          </a:ln>
        </p:spPr>
      </p:sp>
      <p:sp>
        <p:nvSpPr>
          <p:cNvPr id="19" name="Shape 17"/>
          <p:cNvSpPr/>
          <p:nvPr/>
        </p:nvSpPr>
        <p:spPr>
          <a:xfrm>
            <a:off x="9423832" y="2687915"/>
            <a:ext cx="147478" cy="554338"/>
          </a:xfrm>
          <a:prstGeom prst="line">
            <a:avLst/>
          </a:prstGeom>
          <a:noFill/>
          <a:ln w="9525">
            <a:solidFill>
              <a:srgbClr val="2C3E5C"/>
            </a:solidFill>
            <a:prstDash val="solid"/>
          </a:ln>
        </p:spPr>
      </p:sp>
      <p:sp>
        <p:nvSpPr>
          <p:cNvPr id="20" name="Shape 18"/>
          <p:cNvSpPr/>
          <p:nvPr/>
        </p:nvSpPr>
        <p:spPr>
          <a:xfrm>
            <a:off x="10469432" y="2397497"/>
            <a:ext cx="680005" cy="320772"/>
          </a:xfrm>
          <a:prstGeom prst="line">
            <a:avLst/>
          </a:prstGeom>
          <a:noFill/>
          <a:ln w="9525">
            <a:solidFill>
              <a:srgbClr val="2C3E5C"/>
            </a:solidFill>
            <a:prstDash val="solid"/>
          </a:ln>
        </p:spPr>
      </p:sp>
      <p:sp>
        <p:nvSpPr>
          <p:cNvPr id="21" name="Shape 19"/>
          <p:cNvSpPr/>
          <p:nvPr/>
        </p:nvSpPr>
        <p:spPr>
          <a:xfrm>
            <a:off x="10238462" y="1662375"/>
            <a:ext cx="230970" cy="735122"/>
          </a:xfrm>
          <a:prstGeom prst="line">
            <a:avLst/>
          </a:prstGeom>
          <a:noFill/>
          <a:ln w="9525">
            <a:solidFill>
              <a:srgbClr val="2C3E5C"/>
            </a:solidFill>
            <a:prstDash val="solid"/>
          </a:ln>
        </p:spPr>
      </p:sp>
      <p:sp>
        <p:nvSpPr>
          <p:cNvPr id="22" name="Shape 20"/>
          <p:cNvSpPr/>
          <p:nvPr/>
        </p:nvSpPr>
        <p:spPr>
          <a:xfrm>
            <a:off x="7318260" y="3165632"/>
            <a:ext cx="505747" cy="474985"/>
          </a:xfrm>
          <a:prstGeom prst="line">
            <a:avLst/>
          </a:prstGeom>
          <a:noFill/>
          <a:ln w="9525">
            <a:solidFill>
              <a:srgbClr val="2C3E5C"/>
            </a:solidFill>
            <a:prstDash val="solid"/>
          </a:ln>
        </p:spPr>
      </p:sp>
      <p:sp>
        <p:nvSpPr>
          <p:cNvPr id="23" name="Shape 21"/>
          <p:cNvSpPr/>
          <p:nvPr/>
        </p:nvSpPr>
        <p:spPr>
          <a:xfrm>
            <a:off x="7824006" y="3640617"/>
            <a:ext cx="206564" cy="825665"/>
          </a:xfrm>
          <a:prstGeom prst="line">
            <a:avLst/>
          </a:prstGeom>
          <a:noFill/>
          <a:ln w="9525">
            <a:solidFill>
              <a:srgbClr val="2C3E5C"/>
            </a:solidFill>
            <a:prstDash val="solid"/>
          </a:ln>
        </p:spPr>
      </p:sp>
      <p:sp>
        <p:nvSpPr>
          <p:cNvPr id="24" name="Shape 22"/>
          <p:cNvSpPr/>
          <p:nvPr/>
        </p:nvSpPr>
        <p:spPr>
          <a:xfrm flipV="1">
            <a:off x="8998122" y="3242253"/>
            <a:ext cx="573188" cy="397622"/>
          </a:xfrm>
          <a:prstGeom prst="line">
            <a:avLst/>
          </a:prstGeom>
          <a:noFill/>
          <a:ln w="9525">
            <a:solidFill>
              <a:srgbClr val="2C3E5C"/>
            </a:solidFill>
            <a:prstDash val="solid"/>
          </a:ln>
        </p:spPr>
      </p:sp>
      <p:sp>
        <p:nvSpPr>
          <p:cNvPr id="25" name="Shape 23"/>
          <p:cNvSpPr/>
          <p:nvPr/>
        </p:nvSpPr>
        <p:spPr>
          <a:xfrm flipH="1">
            <a:off x="8743972" y="3639875"/>
            <a:ext cx="254150" cy="862163"/>
          </a:xfrm>
          <a:prstGeom prst="line">
            <a:avLst/>
          </a:prstGeom>
          <a:noFill/>
          <a:ln w="9525">
            <a:solidFill>
              <a:srgbClr val="2C3E5C"/>
            </a:solidFill>
            <a:prstDash val="solid"/>
          </a:ln>
        </p:spPr>
      </p:sp>
      <p:sp>
        <p:nvSpPr>
          <p:cNvPr id="26" name="Shape 24"/>
          <p:cNvSpPr/>
          <p:nvPr/>
        </p:nvSpPr>
        <p:spPr>
          <a:xfrm>
            <a:off x="9571310" y="3242253"/>
            <a:ext cx="718522" cy="324456"/>
          </a:xfrm>
          <a:prstGeom prst="line">
            <a:avLst/>
          </a:prstGeom>
          <a:noFill/>
          <a:ln w="9525">
            <a:solidFill>
              <a:srgbClr val="2C3E5C"/>
            </a:solidFill>
            <a:prstDash val="solid"/>
          </a:ln>
        </p:spPr>
      </p:sp>
      <p:sp>
        <p:nvSpPr>
          <p:cNvPr id="27" name="Shape 25"/>
          <p:cNvSpPr/>
          <p:nvPr/>
        </p:nvSpPr>
        <p:spPr>
          <a:xfrm>
            <a:off x="10289832" y="3566709"/>
            <a:ext cx="1000440" cy="180479"/>
          </a:xfrm>
          <a:prstGeom prst="line">
            <a:avLst/>
          </a:prstGeom>
          <a:noFill/>
          <a:ln w="9525">
            <a:solidFill>
              <a:srgbClr val="2C3E5C"/>
            </a:solidFill>
            <a:prstDash val="solid"/>
          </a:ln>
        </p:spPr>
      </p:sp>
      <p:sp>
        <p:nvSpPr>
          <p:cNvPr id="28" name="Shape 26"/>
          <p:cNvSpPr/>
          <p:nvPr/>
        </p:nvSpPr>
        <p:spPr>
          <a:xfrm>
            <a:off x="11290272" y="3747188"/>
            <a:ext cx="30071" cy="237161"/>
          </a:xfrm>
          <a:prstGeom prst="line">
            <a:avLst/>
          </a:prstGeom>
          <a:noFill/>
          <a:ln w="12700">
            <a:solidFill>
              <a:srgbClr val="E0533A">
                <a:alpha val="55000"/>
              </a:srgbClr>
            </a:solidFill>
            <a:prstDash val="solid"/>
          </a:ln>
        </p:spPr>
      </p:sp>
      <p:sp>
        <p:nvSpPr>
          <p:cNvPr id="29" name="Shape 27"/>
          <p:cNvSpPr/>
          <p:nvPr/>
        </p:nvSpPr>
        <p:spPr>
          <a:xfrm flipH="1">
            <a:off x="6919630" y="3640617"/>
            <a:ext cx="904376" cy="485451"/>
          </a:xfrm>
          <a:prstGeom prst="line">
            <a:avLst/>
          </a:prstGeom>
          <a:noFill/>
          <a:ln w="9525">
            <a:solidFill>
              <a:srgbClr val="2C3E5C"/>
            </a:solidFill>
            <a:prstDash val="solid"/>
          </a:ln>
        </p:spPr>
      </p:sp>
      <p:sp>
        <p:nvSpPr>
          <p:cNvPr id="30" name="Shape 28"/>
          <p:cNvSpPr/>
          <p:nvPr/>
        </p:nvSpPr>
        <p:spPr>
          <a:xfrm flipH="1">
            <a:off x="6919630" y="3165632"/>
            <a:ext cx="398630" cy="960436"/>
          </a:xfrm>
          <a:prstGeom prst="line">
            <a:avLst/>
          </a:prstGeom>
          <a:noFill/>
          <a:ln w="9525">
            <a:solidFill>
              <a:srgbClr val="2C3E5C"/>
            </a:solidFill>
            <a:prstDash val="solid"/>
          </a:ln>
        </p:spPr>
      </p:sp>
      <p:sp>
        <p:nvSpPr>
          <p:cNvPr id="31" name="Shape 29"/>
          <p:cNvSpPr/>
          <p:nvPr/>
        </p:nvSpPr>
        <p:spPr>
          <a:xfrm flipH="1">
            <a:off x="7880226" y="4466282"/>
            <a:ext cx="150344" cy="456205"/>
          </a:xfrm>
          <a:prstGeom prst="line">
            <a:avLst/>
          </a:prstGeom>
          <a:noFill/>
          <a:ln w="9525">
            <a:solidFill>
              <a:srgbClr val="2C3E5C"/>
            </a:solidFill>
            <a:prstDash val="solid"/>
          </a:ln>
        </p:spPr>
      </p:sp>
      <p:sp>
        <p:nvSpPr>
          <p:cNvPr id="32" name="Shape 30"/>
          <p:cNvSpPr/>
          <p:nvPr/>
        </p:nvSpPr>
        <p:spPr>
          <a:xfrm>
            <a:off x="8030570" y="4466282"/>
            <a:ext cx="713402" cy="35756"/>
          </a:xfrm>
          <a:prstGeom prst="line">
            <a:avLst/>
          </a:prstGeom>
          <a:noFill/>
          <a:ln w="9525">
            <a:solidFill>
              <a:srgbClr val="2C3E5C"/>
            </a:solidFill>
            <a:prstDash val="solid"/>
          </a:ln>
        </p:spPr>
      </p:sp>
      <p:sp>
        <p:nvSpPr>
          <p:cNvPr id="33" name="Shape 31"/>
          <p:cNvSpPr/>
          <p:nvPr/>
        </p:nvSpPr>
        <p:spPr>
          <a:xfrm>
            <a:off x="8743972" y="4502038"/>
            <a:ext cx="109040" cy="312804"/>
          </a:xfrm>
          <a:prstGeom prst="line">
            <a:avLst/>
          </a:prstGeom>
          <a:noFill/>
          <a:ln w="9525">
            <a:solidFill>
              <a:srgbClr val="2C3E5C"/>
            </a:solidFill>
            <a:prstDash val="solid"/>
          </a:ln>
        </p:spPr>
      </p:sp>
      <p:sp>
        <p:nvSpPr>
          <p:cNvPr id="34" name="Shape 32"/>
          <p:cNvSpPr/>
          <p:nvPr/>
        </p:nvSpPr>
        <p:spPr>
          <a:xfrm>
            <a:off x="9706424" y="4594632"/>
            <a:ext cx="1155" cy="306139"/>
          </a:xfrm>
          <a:prstGeom prst="line">
            <a:avLst/>
          </a:prstGeom>
          <a:noFill/>
          <a:ln w="9525">
            <a:solidFill>
              <a:srgbClr val="2C3E5C"/>
            </a:solidFill>
            <a:prstDash val="solid"/>
          </a:ln>
        </p:spPr>
      </p:sp>
      <p:sp>
        <p:nvSpPr>
          <p:cNvPr id="35" name="Shape 33"/>
          <p:cNvSpPr/>
          <p:nvPr/>
        </p:nvSpPr>
        <p:spPr>
          <a:xfrm flipH="1">
            <a:off x="8853012" y="4594632"/>
            <a:ext cx="853412" cy="220210"/>
          </a:xfrm>
          <a:prstGeom prst="line">
            <a:avLst/>
          </a:prstGeom>
          <a:noFill/>
          <a:ln w="9525">
            <a:solidFill>
              <a:srgbClr val="2C3E5C"/>
            </a:solidFill>
            <a:prstDash val="solid"/>
          </a:ln>
        </p:spPr>
      </p:sp>
      <p:sp>
        <p:nvSpPr>
          <p:cNvPr id="36" name="Shape 34"/>
          <p:cNvSpPr/>
          <p:nvPr/>
        </p:nvSpPr>
        <p:spPr>
          <a:xfrm>
            <a:off x="10289832" y="3566709"/>
            <a:ext cx="1030512" cy="417640"/>
          </a:xfrm>
          <a:prstGeom prst="line">
            <a:avLst/>
          </a:prstGeom>
          <a:noFill/>
          <a:ln w="12700">
            <a:solidFill>
              <a:srgbClr val="E0533A">
                <a:alpha val="55000"/>
              </a:srgbClr>
            </a:solidFill>
            <a:prstDash val="solid"/>
          </a:ln>
        </p:spPr>
      </p:sp>
      <p:sp>
        <p:nvSpPr>
          <p:cNvPr id="37" name="Shape 35"/>
          <p:cNvSpPr/>
          <p:nvPr/>
        </p:nvSpPr>
        <p:spPr>
          <a:xfrm flipV="1">
            <a:off x="6889268" y="4922487"/>
            <a:ext cx="990957" cy="288721"/>
          </a:xfrm>
          <a:prstGeom prst="line">
            <a:avLst/>
          </a:prstGeom>
          <a:noFill/>
          <a:ln w="9525">
            <a:solidFill>
              <a:srgbClr val="2C3E5C"/>
            </a:solidFill>
            <a:prstDash val="solid"/>
          </a:ln>
        </p:spPr>
      </p:sp>
      <p:sp>
        <p:nvSpPr>
          <p:cNvPr id="38" name="Shape 36"/>
          <p:cNvSpPr/>
          <p:nvPr/>
        </p:nvSpPr>
        <p:spPr>
          <a:xfrm>
            <a:off x="6889268" y="5211209"/>
            <a:ext cx="594298" cy="906503"/>
          </a:xfrm>
          <a:prstGeom prst="line">
            <a:avLst/>
          </a:prstGeom>
          <a:noFill/>
          <a:ln w="9525">
            <a:solidFill>
              <a:srgbClr val="2C3E5C"/>
            </a:solidFill>
            <a:prstDash val="solid"/>
          </a:ln>
        </p:spPr>
      </p:sp>
      <p:sp>
        <p:nvSpPr>
          <p:cNvPr id="39" name="Shape 37"/>
          <p:cNvSpPr/>
          <p:nvPr/>
        </p:nvSpPr>
        <p:spPr>
          <a:xfrm flipH="1">
            <a:off x="7880226" y="4502038"/>
            <a:ext cx="863746" cy="420449"/>
          </a:xfrm>
          <a:prstGeom prst="line">
            <a:avLst/>
          </a:prstGeom>
          <a:noFill/>
          <a:ln w="9525">
            <a:solidFill>
              <a:srgbClr val="2C3E5C"/>
            </a:solidFill>
            <a:prstDash val="solid"/>
          </a:ln>
        </p:spPr>
      </p:sp>
      <p:sp>
        <p:nvSpPr>
          <p:cNvPr id="40" name="Shape 38"/>
          <p:cNvSpPr/>
          <p:nvPr/>
        </p:nvSpPr>
        <p:spPr>
          <a:xfrm>
            <a:off x="8853012" y="4814842"/>
            <a:ext cx="854567" cy="85929"/>
          </a:xfrm>
          <a:prstGeom prst="line">
            <a:avLst/>
          </a:prstGeom>
          <a:noFill/>
          <a:ln w="9525">
            <a:solidFill>
              <a:srgbClr val="2C3E5C"/>
            </a:solidFill>
            <a:prstDash val="solid"/>
          </a:ln>
        </p:spPr>
      </p:sp>
      <p:sp>
        <p:nvSpPr>
          <p:cNvPr id="41" name="Shape 39"/>
          <p:cNvSpPr/>
          <p:nvPr/>
        </p:nvSpPr>
        <p:spPr>
          <a:xfrm>
            <a:off x="10819209" y="5074879"/>
            <a:ext cx="341415" cy="308013"/>
          </a:xfrm>
          <a:prstGeom prst="line">
            <a:avLst/>
          </a:prstGeom>
          <a:noFill/>
          <a:ln w="9525">
            <a:solidFill>
              <a:srgbClr val="2C3E5C"/>
            </a:solidFill>
            <a:prstDash val="solid"/>
          </a:ln>
        </p:spPr>
      </p:sp>
      <p:sp>
        <p:nvSpPr>
          <p:cNvPr id="42" name="Shape 40"/>
          <p:cNvSpPr/>
          <p:nvPr/>
        </p:nvSpPr>
        <p:spPr>
          <a:xfrm flipH="1">
            <a:off x="10319396" y="5074879"/>
            <a:ext cx="499813" cy="964926"/>
          </a:xfrm>
          <a:prstGeom prst="line">
            <a:avLst/>
          </a:prstGeom>
          <a:noFill/>
          <a:ln w="9525">
            <a:solidFill>
              <a:srgbClr val="2C3E5C"/>
            </a:solidFill>
            <a:prstDash val="solid"/>
          </a:ln>
        </p:spPr>
      </p:sp>
      <p:sp>
        <p:nvSpPr>
          <p:cNvPr id="43" name="Shape 41"/>
          <p:cNvSpPr/>
          <p:nvPr/>
        </p:nvSpPr>
        <p:spPr>
          <a:xfrm flipH="1">
            <a:off x="10319396" y="5382892"/>
            <a:ext cx="841228" cy="656913"/>
          </a:xfrm>
          <a:prstGeom prst="line">
            <a:avLst/>
          </a:prstGeom>
          <a:noFill/>
          <a:ln w="9525">
            <a:solidFill>
              <a:srgbClr val="2C3E5C"/>
            </a:solidFill>
            <a:prstDash val="solid"/>
          </a:ln>
        </p:spPr>
      </p:sp>
      <p:sp>
        <p:nvSpPr>
          <p:cNvPr id="44" name="Shape 42"/>
          <p:cNvSpPr/>
          <p:nvPr/>
        </p:nvSpPr>
        <p:spPr>
          <a:xfrm>
            <a:off x="7483567" y="6117711"/>
            <a:ext cx="394495" cy="197638"/>
          </a:xfrm>
          <a:prstGeom prst="line">
            <a:avLst/>
          </a:prstGeom>
          <a:noFill/>
          <a:ln w="9525">
            <a:solidFill>
              <a:srgbClr val="2C3E5C"/>
            </a:solidFill>
            <a:prstDash val="solid"/>
          </a:ln>
        </p:spPr>
      </p:sp>
      <p:sp>
        <p:nvSpPr>
          <p:cNvPr id="45" name="Shape 43"/>
          <p:cNvSpPr/>
          <p:nvPr/>
        </p:nvSpPr>
        <p:spPr>
          <a:xfrm flipV="1">
            <a:off x="7878062" y="5955748"/>
            <a:ext cx="1023924" cy="359601"/>
          </a:xfrm>
          <a:prstGeom prst="line">
            <a:avLst/>
          </a:prstGeom>
          <a:noFill/>
          <a:ln w="9525">
            <a:solidFill>
              <a:srgbClr val="2C3E5C"/>
            </a:solidFill>
            <a:prstDash val="solid"/>
          </a:ln>
        </p:spPr>
      </p:sp>
      <p:sp>
        <p:nvSpPr>
          <p:cNvPr id="46" name="Shape 44"/>
          <p:cNvSpPr/>
          <p:nvPr/>
        </p:nvSpPr>
        <p:spPr>
          <a:xfrm>
            <a:off x="8901986" y="5955748"/>
            <a:ext cx="566360" cy="293116"/>
          </a:xfrm>
          <a:prstGeom prst="line">
            <a:avLst/>
          </a:prstGeom>
          <a:noFill/>
          <a:ln w="9525">
            <a:solidFill>
              <a:srgbClr val="2C3E5C"/>
            </a:solidFill>
            <a:prstDash val="solid"/>
          </a:ln>
        </p:spPr>
      </p:sp>
      <p:sp>
        <p:nvSpPr>
          <p:cNvPr id="47" name="Shape 45"/>
          <p:cNvSpPr/>
          <p:nvPr/>
        </p:nvSpPr>
        <p:spPr>
          <a:xfrm flipV="1">
            <a:off x="9468346" y="6039805"/>
            <a:ext cx="851049" cy="209059"/>
          </a:xfrm>
          <a:prstGeom prst="line">
            <a:avLst/>
          </a:prstGeom>
          <a:noFill/>
          <a:ln w="9525">
            <a:solidFill>
              <a:srgbClr val="2C3E5C"/>
            </a:solidFill>
            <a:prstDash val="solid"/>
          </a:ln>
        </p:spPr>
      </p:sp>
      <p:sp>
        <p:nvSpPr>
          <p:cNvPr id="48" name="Shape 46"/>
          <p:cNvSpPr/>
          <p:nvPr/>
        </p:nvSpPr>
        <p:spPr>
          <a:xfrm>
            <a:off x="6940027" y="1051045"/>
            <a:ext cx="115082" cy="115082"/>
          </a:xfrm>
          <a:prstGeom prst="ellipse">
            <a:avLst/>
          </a:prstGeom>
          <a:solidFill>
            <a:srgbClr val="4B6388"/>
          </a:solidFill>
          <a:ln w="12700">
            <a:solidFill>
              <a:srgbClr val="4B6388"/>
            </a:solidFill>
            <a:prstDash val="solid"/>
          </a:ln>
        </p:spPr>
      </p:sp>
      <p:sp>
        <p:nvSpPr>
          <p:cNvPr id="49" name="Shape 47"/>
          <p:cNvSpPr/>
          <p:nvPr/>
        </p:nvSpPr>
        <p:spPr>
          <a:xfrm>
            <a:off x="7866125" y="832928"/>
            <a:ext cx="76815" cy="76815"/>
          </a:xfrm>
          <a:prstGeom prst="ellipse">
            <a:avLst/>
          </a:prstGeom>
          <a:solidFill>
            <a:srgbClr val="4B6388"/>
          </a:solidFill>
          <a:ln w="12700">
            <a:solidFill>
              <a:srgbClr val="4B6388"/>
            </a:solidFill>
            <a:prstDash val="solid"/>
          </a:ln>
        </p:spPr>
      </p:sp>
      <p:sp>
        <p:nvSpPr>
          <p:cNvPr id="50" name="Shape 48"/>
          <p:cNvSpPr/>
          <p:nvPr/>
        </p:nvSpPr>
        <p:spPr>
          <a:xfrm>
            <a:off x="8854571" y="627234"/>
            <a:ext cx="79571" cy="79571"/>
          </a:xfrm>
          <a:prstGeom prst="ellipse">
            <a:avLst/>
          </a:prstGeom>
          <a:solidFill>
            <a:srgbClr val="4B6388"/>
          </a:solidFill>
          <a:ln w="12700">
            <a:solidFill>
              <a:srgbClr val="4B6388"/>
            </a:solidFill>
            <a:prstDash val="solid"/>
          </a:ln>
        </p:spPr>
      </p:sp>
      <p:sp>
        <p:nvSpPr>
          <p:cNvPr id="51" name="Shape 49"/>
          <p:cNvSpPr/>
          <p:nvPr/>
        </p:nvSpPr>
        <p:spPr>
          <a:xfrm>
            <a:off x="9854108" y="984471"/>
            <a:ext cx="67803" cy="67803"/>
          </a:xfrm>
          <a:prstGeom prst="ellipse">
            <a:avLst/>
          </a:prstGeom>
          <a:solidFill>
            <a:srgbClr val="4B6388"/>
          </a:solidFill>
          <a:ln w="12700">
            <a:solidFill>
              <a:srgbClr val="4B6388"/>
            </a:solidFill>
            <a:prstDash val="solid"/>
          </a:ln>
        </p:spPr>
      </p:sp>
      <p:sp>
        <p:nvSpPr>
          <p:cNvPr id="52" name="Shape 50"/>
          <p:cNvSpPr/>
          <p:nvPr/>
        </p:nvSpPr>
        <p:spPr>
          <a:xfrm>
            <a:off x="10147415" y="1116496"/>
            <a:ext cx="119004" cy="119004"/>
          </a:xfrm>
          <a:prstGeom prst="ellipse">
            <a:avLst/>
          </a:prstGeom>
          <a:solidFill>
            <a:srgbClr val="4B6388"/>
          </a:solidFill>
          <a:ln w="12700">
            <a:solidFill>
              <a:srgbClr val="4B6388"/>
            </a:solidFill>
            <a:prstDash val="solid"/>
          </a:ln>
        </p:spPr>
      </p:sp>
      <p:sp>
        <p:nvSpPr>
          <p:cNvPr id="53" name="Shape 51"/>
          <p:cNvSpPr/>
          <p:nvPr/>
        </p:nvSpPr>
        <p:spPr>
          <a:xfrm>
            <a:off x="11480289" y="866683"/>
            <a:ext cx="103189" cy="103189"/>
          </a:xfrm>
          <a:prstGeom prst="ellipse">
            <a:avLst/>
          </a:prstGeom>
          <a:solidFill>
            <a:srgbClr val="4B6388"/>
          </a:solidFill>
          <a:ln w="12700">
            <a:solidFill>
              <a:srgbClr val="4B6388"/>
            </a:solidFill>
            <a:prstDash val="solid"/>
          </a:ln>
        </p:spPr>
      </p:sp>
      <p:sp>
        <p:nvSpPr>
          <p:cNvPr id="54" name="Shape 52"/>
          <p:cNvSpPr/>
          <p:nvPr/>
        </p:nvSpPr>
        <p:spPr>
          <a:xfrm>
            <a:off x="7300437" y="1607756"/>
            <a:ext cx="72764" cy="72764"/>
          </a:xfrm>
          <a:prstGeom prst="ellipse">
            <a:avLst/>
          </a:prstGeom>
          <a:solidFill>
            <a:srgbClr val="4B6388"/>
          </a:solidFill>
          <a:ln w="12700">
            <a:solidFill>
              <a:srgbClr val="4B6388"/>
            </a:solidFill>
            <a:prstDash val="solid"/>
          </a:ln>
        </p:spPr>
      </p:sp>
      <p:sp>
        <p:nvSpPr>
          <p:cNvPr id="55" name="Shape 53"/>
          <p:cNvSpPr/>
          <p:nvPr/>
        </p:nvSpPr>
        <p:spPr>
          <a:xfrm>
            <a:off x="8098418" y="1562203"/>
            <a:ext cx="90437" cy="90437"/>
          </a:xfrm>
          <a:prstGeom prst="ellipse">
            <a:avLst/>
          </a:prstGeom>
          <a:solidFill>
            <a:srgbClr val="4B6388"/>
          </a:solidFill>
          <a:ln w="12700">
            <a:solidFill>
              <a:srgbClr val="4B6388"/>
            </a:solidFill>
            <a:prstDash val="solid"/>
          </a:ln>
        </p:spPr>
      </p:sp>
      <p:sp>
        <p:nvSpPr>
          <p:cNvPr id="56" name="Shape 54"/>
          <p:cNvSpPr/>
          <p:nvPr/>
        </p:nvSpPr>
        <p:spPr>
          <a:xfrm>
            <a:off x="9116215" y="1938781"/>
            <a:ext cx="74164" cy="74164"/>
          </a:xfrm>
          <a:prstGeom prst="ellipse">
            <a:avLst/>
          </a:prstGeom>
          <a:solidFill>
            <a:srgbClr val="4B6388"/>
          </a:solidFill>
          <a:ln w="12700">
            <a:solidFill>
              <a:srgbClr val="4B6388"/>
            </a:solidFill>
            <a:prstDash val="solid"/>
          </a:ln>
        </p:spPr>
      </p:sp>
      <p:sp>
        <p:nvSpPr>
          <p:cNvPr id="57" name="Shape 55"/>
          <p:cNvSpPr/>
          <p:nvPr/>
        </p:nvSpPr>
        <p:spPr>
          <a:xfrm>
            <a:off x="10186128" y="1610041"/>
            <a:ext cx="104667" cy="104667"/>
          </a:xfrm>
          <a:prstGeom prst="ellipse">
            <a:avLst/>
          </a:prstGeom>
          <a:solidFill>
            <a:srgbClr val="4B6388"/>
          </a:solidFill>
          <a:ln w="12700">
            <a:solidFill>
              <a:srgbClr val="4B6388"/>
            </a:solidFill>
            <a:prstDash val="solid"/>
          </a:ln>
        </p:spPr>
      </p:sp>
      <p:sp>
        <p:nvSpPr>
          <p:cNvPr id="58" name="Shape 56"/>
          <p:cNvSpPr/>
          <p:nvPr/>
        </p:nvSpPr>
        <p:spPr>
          <a:xfrm>
            <a:off x="11403310" y="1809730"/>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11540470" y="1946890"/>
            <a:ext cx="164592" cy="164592"/>
          </a:xfrm>
          <a:prstGeom prst="ellipse">
            <a:avLst/>
          </a:prstGeom>
          <a:solidFill>
            <a:srgbClr val="E0533A"/>
          </a:solidFill>
          <a:ln w="12700">
            <a:solidFill>
              <a:srgbClr val="E0533A"/>
            </a:solidFill>
            <a:prstDash val="solid"/>
          </a:ln>
        </p:spPr>
      </p:sp>
      <p:sp>
        <p:nvSpPr>
          <p:cNvPr id="60" name="Shape 58"/>
          <p:cNvSpPr/>
          <p:nvPr/>
        </p:nvSpPr>
        <p:spPr>
          <a:xfrm>
            <a:off x="7738055" y="2400982"/>
            <a:ext cx="109608" cy="109608"/>
          </a:xfrm>
          <a:prstGeom prst="ellipse">
            <a:avLst/>
          </a:prstGeom>
          <a:solidFill>
            <a:srgbClr val="4B6388"/>
          </a:solidFill>
          <a:ln w="12700">
            <a:solidFill>
              <a:srgbClr val="4B6388"/>
            </a:solidFill>
            <a:prstDash val="solid"/>
          </a:ln>
        </p:spPr>
      </p:sp>
      <p:sp>
        <p:nvSpPr>
          <p:cNvPr id="61" name="Shape 59"/>
          <p:cNvSpPr/>
          <p:nvPr/>
        </p:nvSpPr>
        <p:spPr>
          <a:xfrm>
            <a:off x="8706298" y="2647226"/>
            <a:ext cx="91698" cy="91698"/>
          </a:xfrm>
          <a:prstGeom prst="ellipse">
            <a:avLst/>
          </a:prstGeom>
          <a:solidFill>
            <a:srgbClr val="4B6388"/>
          </a:solidFill>
          <a:ln w="12700">
            <a:solidFill>
              <a:srgbClr val="4B6388"/>
            </a:solidFill>
            <a:prstDash val="solid"/>
          </a:ln>
        </p:spPr>
      </p:sp>
      <p:sp>
        <p:nvSpPr>
          <p:cNvPr id="62" name="Shape 60"/>
          <p:cNvSpPr/>
          <p:nvPr/>
        </p:nvSpPr>
        <p:spPr>
          <a:xfrm>
            <a:off x="9377144" y="2641226"/>
            <a:ext cx="93377" cy="93377"/>
          </a:xfrm>
          <a:prstGeom prst="ellipse">
            <a:avLst/>
          </a:prstGeom>
          <a:solidFill>
            <a:srgbClr val="4B6388"/>
          </a:solidFill>
          <a:ln w="12700">
            <a:solidFill>
              <a:srgbClr val="4B6388"/>
            </a:solidFill>
            <a:prstDash val="solid"/>
          </a:ln>
        </p:spPr>
      </p:sp>
      <p:sp>
        <p:nvSpPr>
          <p:cNvPr id="63" name="Shape 61"/>
          <p:cNvSpPr/>
          <p:nvPr/>
        </p:nvSpPr>
        <p:spPr>
          <a:xfrm>
            <a:off x="10422983" y="2351047"/>
            <a:ext cx="92899" cy="92899"/>
          </a:xfrm>
          <a:prstGeom prst="ellipse">
            <a:avLst/>
          </a:prstGeom>
          <a:solidFill>
            <a:srgbClr val="4B6388"/>
          </a:solidFill>
          <a:ln w="12700">
            <a:solidFill>
              <a:srgbClr val="4B6388"/>
            </a:solidFill>
            <a:prstDash val="solid"/>
          </a:ln>
        </p:spPr>
      </p:sp>
      <p:sp>
        <p:nvSpPr>
          <p:cNvPr id="64" name="Shape 62"/>
          <p:cNvSpPr/>
          <p:nvPr/>
        </p:nvSpPr>
        <p:spPr>
          <a:xfrm>
            <a:off x="11106080" y="2674911"/>
            <a:ext cx="86714" cy="86714"/>
          </a:xfrm>
          <a:prstGeom prst="ellipse">
            <a:avLst/>
          </a:prstGeom>
          <a:solidFill>
            <a:srgbClr val="4B6388"/>
          </a:solidFill>
          <a:ln w="12700">
            <a:solidFill>
              <a:srgbClr val="4B6388"/>
            </a:solidFill>
            <a:prstDash val="solid"/>
          </a:ln>
        </p:spPr>
      </p:sp>
      <p:sp>
        <p:nvSpPr>
          <p:cNvPr id="65" name="Shape 63"/>
          <p:cNvSpPr/>
          <p:nvPr/>
        </p:nvSpPr>
        <p:spPr>
          <a:xfrm>
            <a:off x="7278029" y="3125401"/>
            <a:ext cx="80462" cy="80462"/>
          </a:xfrm>
          <a:prstGeom prst="ellipse">
            <a:avLst/>
          </a:prstGeom>
          <a:solidFill>
            <a:srgbClr val="4B6388"/>
          </a:solidFill>
          <a:ln w="12700">
            <a:solidFill>
              <a:srgbClr val="4B6388"/>
            </a:solidFill>
            <a:prstDash val="solid"/>
          </a:ln>
        </p:spPr>
      </p:sp>
      <p:sp>
        <p:nvSpPr>
          <p:cNvPr id="66" name="Shape 64"/>
          <p:cNvSpPr/>
          <p:nvPr/>
        </p:nvSpPr>
        <p:spPr>
          <a:xfrm>
            <a:off x="7784390" y="3601000"/>
            <a:ext cx="79234" cy="79234"/>
          </a:xfrm>
          <a:prstGeom prst="ellipse">
            <a:avLst/>
          </a:prstGeom>
          <a:solidFill>
            <a:srgbClr val="4B6388"/>
          </a:solidFill>
          <a:ln w="12700">
            <a:solidFill>
              <a:srgbClr val="4B6388"/>
            </a:solidFill>
            <a:prstDash val="solid"/>
          </a:ln>
        </p:spPr>
      </p:sp>
      <p:sp>
        <p:nvSpPr>
          <p:cNvPr id="67" name="Shape 65"/>
          <p:cNvSpPr/>
          <p:nvPr/>
        </p:nvSpPr>
        <p:spPr>
          <a:xfrm>
            <a:off x="8941875" y="3583627"/>
            <a:ext cx="112495" cy="112495"/>
          </a:xfrm>
          <a:prstGeom prst="ellipse">
            <a:avLst/>
          </a:prstGeom>
          <a:solidFill>
            <a:srgbClr val="4B6388"/>
          </a:solidFill>
          <a:ln w="12700">
            <a:solidFill>
              <a:srgbClr val="4B6388"/>
            </a:solidFill>
            <a:prstDash val="solid"/>
          </a:ln>
        </p:spPr>
      </p:sp>
      <p:sp>
        <p:nvSpPr>
          <p:cNvPr id="68" name="Shape 66"/>
          <p:cNvSpPr/>
          <p:nvPr/>
        </p:nvSpPr>
        <p:spPr>
          <a:xfrm>
            <a:off x="9527360" y="3198302"/>
            <a:ext cx="87901" cy="87901"/>
          </a:xfrm>
          <a:prstGeom prst="ellipse">
            <a:avLst/>
          </a:prstGeom>
          <a:solidFill>
            <a:srgbClr val="4B6388"/>
          </a:solidFill>
          <a:ln w="12700">
            <a:solidFill>
              <a:srgbClr val="4B6388"/>
            </a:solidFill>
            <a:prstDash val="solid"/>
          </a:ln>
        </p:spPr>
      </p:sp>
      <p:sp>
        <p:nvSpPr>
          <p:cNvPr id="69" name="Shape 67"/>
          <p:cNvSpPr/>
          <p:nvPr/>
        </p:nvSpPr>
        <p:spPr>
          <a:xfrm>
            <a:off x="10233349" y="3510226"/>
            <a:ext cx="112967" cy="112967"/>
          </a:xfrm>
          <a:prstGeom prst="ellipse">
            <a:avLst/>
          </a:prstGeom>
          <a:solidFill>
            <a:srgbClr val="4B6388"/>
          </a:solidFill>
          <a:ln w="12700">
            <a:solidFill>
              <a:srgbClr val="4B6388"/>
            </a:solidFill>
            <a:prstDash val="solid"/>
          </a:ln>
        </p:spPr>
      </p:sp>
      <p:sp>
        <p:nvSpPr>
          <p:cNvPr id="70" name="Shape 68"/>
          <p:cNvSpPr/>
          <p:nvPr/>
        </p:nvSpPr>
        <p:spPr>
          <a:xfrm>
            <a:off x="11249628" y="3706543"/>
            <a:ext cx="81290" cy="81290"/>
          </a:xfrm>
          <a:prstGeom prst="ellipse">
            <a:avLst/>
          </a:prstGeom>
          <a:solidFill>
            <a:srgbClr val="4B6388"/>
          </a:solidFill>
          <a:ln w="12700">
            <a:solidFill>
              <a:srgbClr val="4B6388"/>
            </a:solidFill>
            <a:prstDash val="solid"/>
          </a:ln>
        </p:spPr>
      </p:sp>
      <p:sp>
        <p:nvSpPr>
          <p:cNvPr id="71" name="Shape 69"/>
          <p:cNvSpPr/>
          <p:nvPr/>
        </p:nvSpPr>
        <p:spPr>
          <a:xfrm>
            <a:off x="6856717" y="4063155"/>
            <a:ext cx="125826" cy="125826"/>
          </a:xfrm>
          <a:prstGeom prst="ellipse">
            <a:avLst/>
          </a:prstGeom>
          <a:solidFill>
            <a:srgbClr val="4B6388"/>
          </a:solidFill>
          <a:ln w="12700">
            <a:solidFill>
              <a:srgbClr val="4B6388"/>
            </a:solidFill>
            <a:prstDash val="solid"/>
          </a:ln>
        </p:spPr>
      </p:sp>
      <p:sp>
        <p:nvSpPr>
          <p:cNvPr id="72" name="Shape 70"/>
          <p:cNvSpPr/>
          <p:nvPr/>
        </p:nvSpPr>
        <p:spPr>
          <a:xfrm>
            <a:off x="7986446" y="4422158"/>
            <a:ext cx="88247" cy="88247"/>
          </a:xfrm>
          <a:prstGeom prst="ellipse">
            <a:avLst/>
          </a:prstGeom>
          <a:solidFill>
            <a:srgbClr val="4B6388"/>
          </a:solidFill>
          <a:ln w="12700">
            <a:solidFill>
              <a:srgbClr val="4B6388"/>
            </a:solidFill>
            <a:prstDash val="solid"/>
          </a:ln>
        </p:spPr>
      </p:sp>
      <p:sp>
        <p:nvSpPr>
          <p:cNvPr id="73" name="Shape 71"/>
          <p:cNvSpPr/>
          <p:nvPr/>
        </p:nvSpPr>
        <p:spPr>
          <a:xfrm>
            <a:off x="8697387" y="4455453"/>
            <a:ext cx="93170" cy="93170"/>
          </a:xfrm>
          <a:prstGeom prst="ellipse">
            <a:avLst/>
          </a:prstGeom>
          <a:solidFill>
            <a:srgbClr val="4B6388"/>
          </a:solidFill>
          <a:ln w="12700">
            <a:solidFill>
              <a:srgbClr val="4B6388"/>
            </a:solidFill>
            <a:prstDash val="solid"/>
          </a:ln>
        </p:spPr>
      </p:sp>
      <p:sp>
        <p:nvSpPr>
          <p:cNvPr id="74" name="Shape 72"/>
          <p:cNvSpPr/>
          <p:nvPr/>
        </p:nvSpPr>
        <p:spPr>
          <a:xfrm>
            <a:off x="9667443" y="4555651"/>
            <a:ext cx="77962" cy="77962"/>
          </a:xfrm>
          <a:prstGeom prst="ellipse">
            <a:avLst/>
          </a:prstGeom>
          <a:solidFill>
            <a:srgbClr val="4B6388"/>
          </a:solidFill>
          <a:ln w="12700">
            <a:solidFill>
              <a:srgbClr val="4B6388"/>
            </a:solidFill>
            <a:prstDash val="solid"/>
          </a:ln>
        </p:spPr>
      </p:sp>
      <p:sp>
        <p:nvSpPr>
          <p:cNvPr id="75" name="Shape 73"/>
          <p:cNvSpPr/>
          <p:nvPr/>
        </p:nvSpPr>
        <p:spPr>
          <a:xfrm>
            <a:off x="11100888" y="3764893"/>
            <a:ext cx="438912" cy="438912"/>
          </a:xfrm>
          <a:prstGeom prst="ellipse">
            <a:avLst/>
          </a:prstGeom>
          <a:solidFill>
            <a:srgbClr val="E0533A">
              <a:alpha val="20000"/>
            </a:srgbClr>
          </a:solidFill>
          <a:ln w="12700">
            <a:solidFill>
              <a:srgbClr val="E0533A">
                <a:alpha val="20000"/>
              </a:srgbClr>
            </a:solidFill>
            <a:prstDash val="solid"/>
          </a:ln>
        </p:spPr>
      </p:sp>
      <p:sp>
        <p:nvSpPr>
          <p:cNvPr id="76" name="Shape 74"/>
          <p:cNvSpPr/>
          <p:nvPr/>
        </p:nvSpPr>
        <p:spPr>
          <a:xfrm>
            <a:off x="11238048" y="3902053"/>
            <a:ext cx="164592" cy="164592"/>
          </a:xfrm>
          <a:prstGeom prst="ellipse">
            <a:avLst/>
          </a:prstGeom>
          <a:solidFill>
            <a:srgbClr val="E0533A"/>
          </a:solidFill>
          <a:ln w="12700">
            <a:solidFill>
              <a:srgbClr val="E0533A"/>
            </a:solidFill>
            <a:prstDash val="solid"/>
          </a:ln>
        </p:spPr>
      </p:sp>
      <p:sp>
        <p:nvSpPr>
          <p:cNvPr id="77" name="Shape 75"/>
          <p:cNvSpPr/>
          <p:nvPr/>
        </p:nvSpPr>
        <p:spPr>
          <a:xfrm>
            <a:off x="6847143" y="5169083"/>
            <a:ext cx="84251" cy="84251"/>
          </a:xfrm>
          <a:prstGeom prst="ellipse">
            <a:avLst/>
          </a:prstGeom>
          <a:solidFill>
            <a:srgbClr val="4B6388"/>
          </a:solidFill>
          <a:ln w="12700">
            <a:solidFill>
              <a:srgbClr val="4B6388"/>
            </a:solidFill>
            <a:prstDash val="solid"/>
          </a:ln>
        </p:spPr>
      </p:sp>
      <p:sp>
        <p:nvSpPr>
          <p:cNvPr id="78" name="Shape 76"/>
          <p:cNvSpPr/>
          <p:nvPr/>
        </p:nvSpPr>
        <p:spPr>
          <a:xfrm>
            <a:off x="7837222" y="4879483"/>
            <a:ext cx="86008" cy="86008"/>
          </a:xfrm>
          <a:prstGeom prst="ellipse">
            <a:avLst/>
          </a:prstGeom>
          <a:solidFill>
            <a:srgbClr val="4B6388"/>
          </a:solidFill>
          <a:ln w="12700">
            <a:solidFill>
              <a:srgbClr val="4B6388"/>
            </a:solidFill>
            <a:prstDash val="solid"/>
          </a:ln>
        </p:spPr>
      </p:sp>
      <p:sp>
        <p:nvSpPr>
          <p:cNvPr id="79" name="Shape 77"/>
          <p:cNvSpPr/>
          <p:nvPr/>
        </p:nvSpPr>
        <p:spPr>
          <a:xfrm>
            <a:off x="8795407" y="4757237"/>
            <a:ext cx="115210" cy="115210"/>
          </a:xfrm>
          <a:prstGeom prst="ellipse">
            <a:avLst/>
          </a:prstGeom>
          <a:solidFill>
            <a:srgbClr val="4B6388"/>
          </a:solidFill>
          <a:ln w="12700">
            <a:solidFill>
              <a:srgbClr val="4B6388"/>
            </a:solidFill>
            <a:prstDash val="solid"/>
          </a:ln>
        </p:spPr>
      </p:sp>
      <p:sp>
        <p:nvSpPr>
          <p:cNvPr id="80" name="Shape 78"/>
          <p:cNvSpPr/>
          <p:nvPr/>
        </p:nvSpPr>
        <p:spPr>
          <a:xfrm>
            <a:off x="9661731" y="4854923"/>
            <a:ext cx="91695" cy="91695"/>
          </a:xfrm>
          <a:prstGeom prst="ellipse">
            <a:avLst/>
          </a:prstGeom>
          <a:solidFill>
            <a:srgbClr val="4B6388"/>
          </a:solidFill>
          <a:ln w="12700">
            <a:solidFill>
              <a:srgbClr val="4B6388"/>
            </a:solidFill>
            <a:prstDash val="solid"/>
          </a:ln>
        </p:spPr>
      </p:sp>
      <p:sp>
        <p:nvSpPr>
          <p:cNvPr id="81" name="Shape 79"/>
          <p:cNvSpPr/>
          <p:nvPr/>
        </p:nvSpPr>
        <p:spPr>
          <a:xfrm>
            <a:off x="10772325" y="5027994"/>
            <a:ext cx="93769" cy="93769"/>
          </a:xfrm>
          <a:prstGeom prst="ellipse">
            <a:avLst/>
          </a:prstGeom>
          <a:solidFill>
            <a:srgbClr val="4B6388"/>
          </a:solidFill>
          <a:ln w="12700">
            <a:solidFill>
              <a:srgbClr val="4B6388"/>
            </a:solidFill>
            <a:prstDash val="solid"/>
          </a:ln>
        </p:spPr>
      </p:sp>
      <p:sp>
        <p:nvSpPr>
          <p:cNvPr id="82" name="Shape 80"/>
          <p:cNvSpPr/>
          <p:nvPr/>
        </p:nvSpPr>
        <p:spPr>
          <a:xfrm>
            <a:off x="11124486" y="5346754"/>
            <a:ext cx="72275" cy="72275"/>
          </a:xfrm>
          <a:prstGeom prst="ellipse">
            <a:avLst/>
          </a:prstGeom>
          <a:solidFill>
            <a:srgbClr val="4B6388"/>
          </a:solidFill>
          <a:ln w="12700">
            <a:solidFill>
              <a:srgbClr val="4B6388"/>
            </a:solidFill>
            <a:prstDash val="solid"/>
          </a:ln>
        </p:spPr>
      </p:sp>
      <p:sp>
        <p:nvSpPr>
          <p:cNvPr id="83" name="Shape 81"/>
          <p:cNvSpPr/>
          <p:nvPr/>
        </p:nvSpPr>
        <p:spPr>
          <a:xfrm>
            <a:off x="7428122" y="6062267"/>
            <a:ext cx="110889" cy="110889"/>
          </a:xfrm>
          <a:prstGeom prst="ellipse">
            <a:avLst/>
          </a:prstGeom>
          <a:solidFill>
            <a:srgbClr val="4B6388"/>
          </a:solidFill>
          <a:ln w="12700">
            <a:solidFill>
              <a:srgbClr val="4B6388"/>
            </a:solidFill>
            <a:prstDash val="solid"/>
          </a:ln>
        </p:spPr>
      </p:sp>
      <p:sp>
        <p:nvSpPr>
          <p:cNvPr id="84" name="Shape 82"/>
          <p:cNvSpPr/>
          <p:nvPr/>
        </p:nvSpPr>
        <p:spPr>
          <a:xfrm>
            <a:off x="7838698" y="6275986"/>
            <a:ext cx="78727" cy="78727"/>
          </a:xfrm>
          <a:prstGeom prst="ellipse">
            <a:avLst/>
          </a:prstGeom>
          <a:solidFill>
            <a:srgbClr val="4B6388"/>
          </a:solidFill>
          <a:ln w="12700">
            <a:solidFill>
              <a:srgbClr val="4B6388"/>
            </a:solidFill>
            <a:prstDash val="solid"/>
          </a:ln>
        </p:spPr>
      </p:sp>
      <p:sp>
        <p:nvSpPr>
          <p:cNvPr id="85" name="Shape 83"/>
          <p:cNvSpPr/>
          <p:nvPr/>
        </p:nvSpPr>
        <p:spPr>
          <a:xfrm>
            <a:off x="8858464" y="5912225"/>
            <a:ext cx="87045" cy="87045"/>
          </a:xfrm>
          <a:prstGeom prst="ellipse">
            <a:avLst/>
          </a:prstGeom>
          <a:solidFill>
            <a:srgbClr val="4B6388"/>
          </a:solidFill>
          <a:ln w="12700">
            <a:solidFill>
              <a:srgbClr val="4B6388"/>
            </a:solidFill>
            <a:prstDash val="solid"/>
          </a:ln>
        </p:spPr>
      </p:sp>
      <p:sp>
        <p:nvSpPr>
          <p:cNvPr id="86" name="Shape 84"/>
          <p:cNvSpPr/>
          <p:nvPr/>
        </p:nvSpPr>
        <p:spPr>
          <a:xfrm>
            <a:off x="9429456" y="6209974"/>
            <a:ext cx="77781" cy="77781"/>
          </a:xfrm>
          <a:prstGeom prst="ellipse">
            <a:avLst/>
          </a:prstGeom>
          <a:solidFill>
            <a:srgbClr val="4B6388"/>
          </a:solidFill>
          <a:ln w="12700">
            <a:solidFill>
              <a:srgbClr val="4B6388"/>
            </a:solidFill>
            <a:prstDash val="solid"/>
          </a:ln>
        </p:spPr>
      </p:sp>
      <p:sp>
        <p:nvSpPr>
          <p:cNvPr id="87" name="Shape 85"/>
          <p:cNvSpPr/>
          <p:nvPr/>
        </p:nvSpPr>
        <p:spPr>
          <a:xfrm>
            <a:off x="10280035" y="6000444"/>
            <a:ext cx="78722" cy="78722"/>
          </a:xfrm>
          <a:prstGeom prst="ellipse">
            <a:avLst/>
          </a:prstGeom>
          <a:solidFill>
            <a:srgbClr val="4B6388"/>
          </a:solidFill>
          <a:ln w="12700">
            <a:solidFill>
              <a:srgbClr val="4B6388"/>
            </a:solidFill>
            <a:prstDash val="solid"/>
          </a:ln>
        </p:spPr>
      </p:sp>
      <p:sp>
        <p:nvSpPr>
          <p:cNvPr id="88" name="Text 86"/>
          <p:cNvSpPr txBox="1"/>
          <p:nvPr/>
        </p:nvSpPr>
        <p:spPr>
          <a:xfrm>
            <a:off x="685800" y="2103120"/>
            <a:ext cx="5943600" cy="1097280"/>
          </a:xfrm>
          <a:prstGeom prst="rect">
            <a:avLst/>
          </a:prstGeom>
          <a:noFill/>
          <a:ln/>
        </p:spPr>
        <p:txBody>
          <a:bodyPr wrap="square" lIns="0" tIns="0" rIns="0" bIns="0" rtlCol="0" anchor="t"/>
          <a:lstStyle/>
          <a:p>
            <a:pPr indent="0" marL="0">
              <a:buNone/>
            </a:pPr>
            <a:r>
              <a:rPr lang="en-US" sz="6000" dirty="0">
                <a:solidFill>
                  <a:srgbClr val="FFFFFF"/>
                </a:solidFill>
                <a:latin typeface="Georgia" pitchFamily="34" charset="0"/>
                <a:ea typeface="Georgia" pitchFamily="34" charset="-122"/>
                <a:cs typeface="Georgia" pitchFamily="34" charset="-120"/>
              </a:rPr>
              <a:t>Thank you</a:t>
            </a:r>
            <a:endParaRPr lang="en-US" sz="6000" dirty="0"/>
          </a:p>
        </p:txBody>
      </p:sp>
      <p:sp>
        <p:nvSpPr>
          <p:cNvPr id="89" name="Text 87"/>
          <p:cNvSpPr txBox="1"/>
          <p:nvPr/>
        </p:nvSpPr>
        <p:spPr>
          <a:xfrm>
            <a:off x="685800" y="3246120"/>
            <a:ext cx="5943600" cy="457200"/>
          </a:xfrm>
          <a:prstGeom prst="rect">
            <a:avLst/>
          </a:prstGeom>
          <a:noFill/>
          <a:ln/>
        </p:spPr>
        <p:txBody>
          <a:bodyPr wrap="square" lIns="0" tIns="0" rIns="0" bIns="0" rtlCol="0" anchor="t"/>
          <a:lstStyle/>
          <a:p>
            <a:pPr indent="0" marL="0">
              <a:buNone/>
            </a:pPr>
            <a:r>
              <a:rPr lang="en-US" sz="2200" dirty="0">
                <a:solidFill>
                  <a:srgbClr val="A9B6C8"/>
                </a:solidFill>
                <a:latin typeface="Arial" pitchFamily="34" charset="0"/>
                <a:ea typeface="Arial" pitchFamily="34" charset="-122"/>
                <a:cs typeface="Arial" pitchFamily="34" charset="-120"/>
              </a:rPr>
              <a:t>Questions and discussion</a:t>
            </a:r>
            <a:endParaRPr lang="en-US" sz="2200" dirty="0"/>
          </a:p>
        </p:txBody>
      </p:sp>
      <p:sp>
        <p:nvSpPr>
          <p:cNvPr id="90" name="Text 88"/>
          <p:cNvSpPr txBox="1"/>
          <p:nvPr/>
        </p:nvSpPr>
        <p:spPr>
          <a:xfrm>
            <a:off x="685800" y="4754880"/>
            <a:ext cx="5669280" cy="822960"/>
          </a:xfrm>
          <a:prstGeom prst="rect">
            <a:avLst/>
          </a:prstGeom>
          <a:noFill/>
          <a:ln/>
        </p:spPr>
        <p:txBody>
          <a:bodyPr wrap="square" lIns="0" tIns="0" rIns="0" bIns="0" rtlCol="0" anchor="t"/>
          <a:lstStyle/>
          <a:p>
            <a:pPr indent="0" marL="0">
              <a:buNone/>
            </a:pPr>
            <a:r>
              <a:rPr lang="en-US" sz="1300" dirty="0">
                <a:solidFill>
                  <a:srgbClr val="6F7F96"/>
                </a:solidFill>
                <a:latin typeface="Arial" pitchFamily="34" charset="0"/>
                <a:ea typeface="Arial" pitchFamily="34" charset="-122"/>
                <a:cs typeface="Arial" pitchFamily="34" charset="-120"/>
              </a:rPr>
              <a:t>On real APT traffic the hybrid ranks threats well (AUC ≈ 99%), but raises ≈ 6% false alarms, and the paper's protocol inflates its reported results.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Anomaly Detection Using Machine Learning for Advanced Persistent Threats</dc:title>
  <dc:subject>PptxGenJS Presentation</dc:subject>
  <dc:creator>PptxGenJS</dc:creator>
  <cp:lastModifiedBy>PptxGenJS</cp:lastModifiedBy>
  <cp:revision>1</cp:revision>
  <dcterms:created xsi:type="dcterms:W3CDTF">2026-09-30T15:26:52Z</dcterms:created>
  <dcterms:modified xsi:type="dcterms:W3CDTF">2026-09-30T15:26:52Z</dcterms:modified>
</cp:coreProperties>
</file>